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12/16/2024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12/16/2024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895F0-32D8-4B16-5080-8F5BDE3A3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0171" y="1409546"/>
            <a:ext cx="5931015" cy="3035808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2800" b="1" i="0" dirty="0">
                <a:solidFill>
                  <a:srgbClr val="7030A0"/>
                </a:solidFill>
                <a:effectLst/>
                <a:latin typeface="SegoeuiPc"/>
              </a:rPr>
              <a:t>10 CÁCH LÃNH ĐẠO </a:t>
            </a:r>
            <a:br>
              <a:rPr lang="en-US" sz="2800" b="1" i="0" dirty="0">
                <a:solidFill>
                  <a:srgbClr val="7030A0"/>
                </a:solidFill>
                <a:effectLst/>
                <a:latin typeface="SegoeuiPc"/>
              </a:rPr>
            </a:br>
            <a:r>
              <a:rPr lang="en-US" sz="2800" b="1" i="0" dirty="0">
                <a:solidFill>
                  <a:srgbClr val="7030A0"/>
                </a:solidFill>
                <a:effectLst/>
                <a:latin typeface="SegoeuiPc"/>
              </a:rPr>
              <a:t>KHIẾN NHÂN VIÊN CẢM THẤY AN TOÀN VÀ CÓ ĐỘNG LỰC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07E55-84D1-EC93-DDC9-DA155C47CF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20 câu nói truyền cảm hứng thành công cho nhà lãnh đạo">
            <a:extLst>
              <a:ext uri="{FF2B5EF4-FFF2-40B4-BE49-F238E27FC236}">
                <a16:creationId xmlns:a16="http://schemas.microsoft.com/office/drawing/2014/main" id="{6F12C7A5-5431-1938-D395-D9614F82BF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58"/>
          <a:stretch/>
        </p:blipFill>
        <p:spPr bwMode="auto">
          <a:xfrm>
            <a:off x="1222248" y="1768334"/>
            <a:ext cx="4256919" cy="2134135"/>
          </a:xfrm>
          <a:prstGeom prst="rect">
            <a:avLst/>
          </a:prstGeom>
          <a:noFill/>
          <a:effectLst>
            <a:glow rad="101600">
              <a:schemeClr val="accent3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39700" prst="cross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400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53BC-6D48-F6A3-0B2D-E1F11715E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7030A0"/>
                </a:solidFill>
                <a:effectLst/>
                <a:latin typeface="SegoeuiPc"/>
              </a:rPr>
              <a:t>1. </a:t>
            </a:r>
            <a:r>
              <a:rPr lang="en-US" b="1" i="0" dirty="0" err="1">
                <a:solidFill>
                  <a:srgbClr val="7030A0"/>
                </a:solidFill>
                <a:effectLst/>
                <a:latin typeface="SegoeuiPc"/>
              </a:rPr>
              <a:t>Phát</a:t>
            </a:r>
            <a:r>
              <a:rPr lang="en-US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b="1" i="0" dirty="0" err="1">
                <a:solidFill>
                  <a:srgbClr val="7030A0"/>
                </a:solidFill>
                <a:effectLst/>
                <a:latin typeface="SegoeuiPc"/>
              </a:rPr>
              <a:t>triển</a:t>
            </a:r>
            <a:r>
              <a:rPr lang="en-US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b="1" i="0" dirty="0" err="1">
                <a:solidFill>
                  <a:srgbClr val="7030A0"/>
                </a:solidFill>
                <a:effectLst/>
                <a:latin typeface="SegoeuiPc"/>
              </a:rPr>
              <a:t>sự</a:t>
            </a:r>
            <a:r>
              <a:rPr lang="en-US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b="1" i="0" dirty="0" err="1">
                <a:solidFill>
                  <a:srgbClr val="7030A0"/>
                </a:solidFill>
                <a:effectLst/>
                <a:latin typeface="SegoeuiPc"/>
              </a:rPr>
              <a:t>nghiệp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CCACF-B770-C916-33E0-C47BCBC56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296" y="2633136"/>
            <a:ext cx="4836002" cy="405079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Cung cấp lộ trình thăng tiến rõ ràng để giúp nhân viên thấy được tương lai với công ty. </a:t>
            </a:r>
            <a:endParaRPr lang="en-US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70% nhân viên cảm thấy an toàn hơn khi thấy có con đường sự nghiệp rõ ràng (Bersin by Deloitte).</a:t>
            </a:r>
            <a:endParaRPr lang="en-US" dirty="0"/>
          </a:p>
        </p:txBody>
      </p:sp>
      <p:pic>
        <p:nvPicPr>
          <p:cNvPr id="2050" name="Picture 2" descr="Những câu nói hay về nghệ thuật lãnh đạo">
            <a:extLst>
              <a:ext uri="{FF2B5EF4-FFF2-40B4-BE49-F238E27FC236}">
                <a16:creationId xmlns:a16="http://schemas.microsoft.com/office/drawing/2014/main" id="{C59574EE-093C-9B9D-79F6-B09FD9F3C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012" y="2271320"/>
            <a:ext cx="3571876" cy="2967038"/>
          </a:xfrm>
          <a:prstGeom prst="rect">
            <a:avLst/>
          </a:prstGeom>
          <a:noFill/>
          <a:effectLst>
            <a:glow rad="101600">
              <a:schemeClr val="accent3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43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11A0-D1A6-D53B-ADD5-D38A619B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0" dirty="0">
                <a:solidFill>
                  <a:srgbClr val="7030A0"/>
                </a:solidFill>
                <a:effectLst/>
                <a:latin typeface="SegoeuiPc"/>
              </a:rPr>
              <a:t>2. </a:t>
            </a:r>
            <a:r>
              <a:rPr lang="en-US" sz="3600" b="1" i="0" dirty="0" err="1">
                <a:solidFill>
                  <a:srgbClr val="7030A0"/>
                </a:solidFill>
                <a:effectLst/>
                <a:latin typeface="SegoeuiPc"/>
              </a:rPr>
              <a:t>Rõ</a:t>
            </a:r>
            <a:r>
              <a:rPr lang="en-US" sz="36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3600" b="1" i="0" dirty="0" err="1">
                <a:solidFill>
                  <a:srgbClr val="7030A0"/>
                </a:solidFill>
                <a:effectLst/>
                <a:latin typeface="SegoeuiPc"/>
              </a:rPr>
              <a:t>ràng</a:t>
            </a:r>
            <a:r>
              <a:rPr lang="en-US" sz="36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3600" b="1" i="0" dirty="0" err="1">
                <a:solidFill>
                  <a:srgbClr val="7030A0"/>
                </a:solidFill>
                <a:effectLst/>
                <a:latin typeface="SegoeuiPc"/>
              </a:rPr>
              <a:t>về</a:t>
            </a:r>
            <a:r>
              <a:rPr lang="en-US" sz="36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3600" b="1" i="0" dirty="0" err="1">
                <a:solidFill>
                  <a:srgbClr val="7030A0"/>
                </a:solidFill>
                <a:effectLst/>
                <a:latin typeface="SegoeuiPc"/>
              </a:rPr>
              <a:t>vai</a:t>
            </a:r>
            <a:r>
              <a:rPr lang="en-US" sz="36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3600" b="1" i="0" dirty="0" err="1">
                <a:solidFill>
                  <a:srgbClr val="7030A0"/>
                </a:solidFill>
                <a:effectLst/>
                <a:latin typeface="SegoeuiPc"/>
              </a:rPr>
              <a:t>trò</a:t>
            </a:r>
            <a:r>
              <a:rPr lang="en-US" sz="36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3600" b="1" i="0" dirty="0" err="1">
                <a:solidFill>
                  <a:srgbClr val="7030A0"/>
                </a:solidFill>
                <a:effectLst/>
                <a:latin typeface="SegoeuiPc"/>
              </a:rPr>
              <a:t>công</a:t>
            </a:r>
            <a:r>
              <a:rPr lang="en-US" sz="36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3600" b="1" i="0" dirty="0" err="1">
                <a:solidFill>
                  <a:srgbClr val="7030A0"/>
                </a:solidFill>
                <a:effectLst/>
                <a:latin typeface="SegoeuiPc"/>
              </a:rPr>
              <a:t>việc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D3441-533E-E533-B46A-A4A7FD527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565" y="2807208"/>
            <a:ext cx="6044520" cy="4050792"/>
          </a:xfrm>
        </p:spPr>
        <p:txBody>
          <a:bodyPr/>
          <a:lstStyle/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 Làm rõ vai trò và kỳ vọng công việc. Khi nhân viên biết được kỳ vọng, họ làm việc tốt hơn và biết mình đứng ở đâu. </a:t>
            </a:r>
            <a:endParaRPr lang="en-US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 60% nhân viên cảm thấy an toàn hơn khi có vai trò rõ ràng (Tổ chức Lao động Quốc tế).</a:t>
            </a:r>
            <a:endParaRPr lang="en-US" dirty="0"/>
          </a:p>
        </p:txBody>
      </p:sp>
      <p:pic>
        <p:nvPicPr>
          <p:cNvPr id="3074" name="Picture 2" descr="Những câu nói hay về nghệ thuật lãnh đạo">
            <a:extLst>
              <a:ext uri="{FF2B5EF4-FFF2-40B4-BE49-F238E27FC236}">
                <a16:creationId xmlns:a16="http://schemas.microsoft.com/office/drawing/2014/main" id="{C10225F6-2E6E-B874-E46A-10F83A2F4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01" y="2121408"/>
            <a:ext cx="4611227" cy="382424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39700" prst="cross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83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7415-6936-DD0A-B2EB-F8C0C20D1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33387"/>
            <a:ext cx="10058400" cy="1609344"/>
          </a:xfrm>
        </p:spPr>
        <p:txBody>
          <a:bodyPr>
            <a:normAutofit/>
          </a:bodyPr>
          <a:lstStyle/>
          <a:p>
            <a:br>
              <a:rPr lang="en-US" sz="4400" b="1" dirty="0">
                <a:solidFill>
                  <a:srgbClr val="7030A0"/>
                </a:solidFill>
              </a:rPr>
            </a:b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3. Giao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tiếp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rõ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ràng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DB5F4-CE3C-E17C-C066-263777F4A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761080"/>
            <a:ext cx="4726945" cy="4050792"/>
          </a:xfrm>
        </p:spPr>
        <p:txBody>
          <a:bodyPr/>
          <a:lstStyle/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Thông báo cho đội ngũ về các mục tiêu và kế hoạch của công ty. </a:t>
            </a:r>
            <a:endParaRPr lang="en-US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Các công ty có giao tiếp rõ ràng có tỷ lệ nhân viên nghỉ việc thấp hơn 50% (Gallup).</a:t>
            </a:r>
            <a:endParaRPr lang="en-US" dirty="0"/>
          </a:p>
        </p:txBody>
      </p:sp>
      <p:pic>
        <p:nvPicPr>
          <p:cNvPr id="4098" name="Picture 2" descr="Những câu nói hay về nghệ thuật lãnh đạo">
            <a:extLst>
              <a:ext uri="{FF2B5EF4-FFF2-40B4-BE49-F238E27FC236}">
                <a16:creationId xmlns:a16="http://schemas.microsoft.com/office/drawing/2014/main" id="{BF1367AE-3F5B-7A70-628F-A06AA6932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509" y="2182239"/>
            <a:ext cx="4161126" cy="3489797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87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D39EA-FE25-BF1A-FF06-5FC4EDE8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4.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Phát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triển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chuyên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môn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99284-F86C-0C51-4068-5063A210A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2850" y="2951918"/>
            <a:ext cx="4936669" cy="4050792"/>
          </a:xfrm>
        </p:spPr>
        <p:txBody>
          <a:bodyPr/>
          <a:lstStyle/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Đầu tư vào việc phát triển kỹ năng mới cho đội ngũ.</a:t>
            </a:r>
            <a:endParaRPr lang="en-US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74% nhân viên cảm thấy an toàn hơn khi có cơ hội học kỹ năng mới (SHRM).</a:t>
            </a:r>
            <a:endParaRPr lang="en-US" dirty="0"/>
          </a:p>
        </p:txBody>
      </p:sp>
      <p:pic>
        <p:nvPicPr>
          <p:cNvPr id="5122" name="Picture 2" descr="Những câu nói hay về nghệ thuật lãnh đạo">
            <a:extLst>
              <a:ext uri="{FF2B5EF4-FFF2-40B4-BE49-F238E27FC236}">
                <a16:creationId xmlns:a16="http://schemas.microsoft.com/office/drawing/2014/main" id="{83826508-600E-CF5D-9A8D-CF2C46C6D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62" y="2093976"/>
            <a:ext cx="4504078" cy="375940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24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08BAF-0D31-B74A-F202-4F1D0E70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5.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Tham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gia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của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nhân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viên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232DE-A622-78FB-553B-AB726B07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230" y="2591191"/>
            <a:ext cx="5570289" cy="4050792"/>
          </a:xfrm>
        </p:spPr>
        <p:txBody>
          <a:bodyPr/>
          <a:lstStyle/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Khuyến khích đội ngũ tham gia vào các quyết định. Khi nhân viên có tiếng nói, họ cảm thấy được coi trọng hơn.</a:t>
            </a:r>
            <a:endParaRPr lang="en-US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65% nhân viên cảm thấy an toàn hơn khi tham gia vào các quyết định (Academy of Management Journal).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0F85B9-13DB-B0FE-6EB2-FDFD1AA9E941}"/>
              </a:ext>
            </a:extLst>
          </p:cNvPr>
          <p:cNvGrpSpPr/>
          <p:nvPr/>
        </p:nvGrpSpPr>
        <p:grpSpPr>
          <a:xfrm>
            <a:off x="6723845" y="2093976"/>
            <a:ext cx="4491093" cy="3122986"/>
            <a:chOff x="6723845" y="2093976"/>
            <a:chExt cx="4491093" cy="3122986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CC3A750A-19A5-9B07-F67F-5A94D7A6C440}"/>
                </a:ext>
              </a:extLst>
            </p:cNvPr>
            <p:cNvSpPr/>
            <p:nvPr/>
          </p:nvSpPr>
          <p:spPr>
            <a:xfrm>
              <a:off x="6836240" y="3136763"/>
              <a:ext cx="2923225" cy="2080199"/>
            </a:xfrm>
            <a:prstGeom prst="frame">
              <a:avLst>
                <a:gd name="adj1" fmla="val 545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 descr="Những câu nói hay về nghệ thuật lãnh đạo">
              <a:extLst>
                <a:ext uri="{FF2B5EF4-FFF2-40B4-BE49-F238E27FC236}">
                  <a16:creationId xmlns:a16="http://schemas.microsoft.com/office/drawing/2014/main" id="{093349DC-5CD9-6338-A0A7-A710E81F7B5E}"/>
                </a:ext>
              </a:extLst>
            </p:cNvPr>
            <p:cNvSpPr/>
            <p:nvPr/>
          </p:nvSpPr>
          <p:spPr>
            <a:xfrm>
              <a:off x="6723845" y="2093976"/>
              <a:ext cx="4089564" cy="2761223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9000" b="-9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175B71D-163C-B8DC-B717-79D853582381}"/>
                </a:ext>
              </a:extLst>
            </p:cNvPr>
            <p:cNvSpPr/>
            <p:nvPr/>
          </p:nvSpPr>
          <p:spPr>
            <a:xfrm>
              <a:off x="6950524" y="4855898"/>
              <a:ext cx="2696545" cy="246921"/>
            </a:xfrm>
            <a:custGeom>
              <a:avLst/>
              <a:gdLst>
                <a:gd name="connsiteX0" fmla="*/ 0 w 2696545"/>
                <a:gd name="connsiteY0" fmla="*/ 0 h 246921"/>
                <a:gd name="connsiteX1" fmla="*/ 2696545 w 2696545"/>
                <a:gd name="connsiteY1" fmla="*/ 0 h 246921"/>
                <a:gd name="connsiteX2" fmla="*/ 2696545 w 2696545"/>
                <a:gd name="connsiteY2" fmla="*/ 246921 h 246921"/>
                <a:gd name="connsiteX3" fmla="*/ 0 w 2696545"/>
                <a:gd name="connsiteY3" fmla="*/ 246921 h 246921"/>
                <a:gd name="connsiteX4" fmla="*/ 0 w 2696545"/>
                <a:gd name="connsiteY4" fmla="*/ 0 h 246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6545" h="246921">
                  <a:moveTo>
                    <a:pt x="0" y="0"/>
                  </a:moveTo>
                  <a:lnTo>
                    <a:pt x="2696545" y="0"/>
                  </a:lnTo>
                  <a:lnTo>
                    <a:pt x="2696545" y="246921"/>
                  </a:lnTo>
                  <a:lnTo>
                    <a:pt x="0" y="24692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760" tIns="41910" rIns="111760" bIns="41910" numCol="1" spcCol="1270" anchor="ctr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100" kern="12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E701C3-FD10-C50E-73C2-551AA010D05D}"/>
                </a:ext>
              </a:extLst>
            </p:cNvPr>
            <p:cNvSpPr/>
            <p:nvPr/>
          </p:nvSpPr>
          <p:spPr>
            <a:xfrm>
              <a:off x="9878472" y="3136763"/>
              <a:ext cx="1336466" cy="208019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</p:spTree>
    <p:extLst>
      <p:ext uri="{BB962C8B-B14F-4D97-AF65-F5344CB8AC3E}">
        <p14:creationId xmlns:p14="http://schemas.microsoft.com/office/powerpoint/2010/main" val="410247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976B-1384-C2E3-9EB0-AC49B208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12064"/>
            <a:ext cx="10058400" cy="1609344"/>
          </a:xfrm>
        </p:spPr>
        <p:txBody>
          <a:bodyPr>
            <a:normAutofit/>
          </a:bodyPr>
          <a:lstStyle/>
          <a:p>
            <a:r>
              <a:rPr lang="vi-VN" sz="4000" b="1" i="0" dirty="0">
                <a:solidFill>
                  <a:srgbClr val="7030A0"/>
                </a:solidFill>
                <a:effectLst/>
                <a:latin typeface="SegoeuiPc"/>
              </a:rPr>
              <a:t>6. Môi trường làm việc hỗ trợ</a:t>
            </a: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443C6-1FFB-22F8-0058-EDEF92583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2121408"/>
            <a:ext cx="4525609" cy="4050792"/>
          </a:xfrm>
        </p:spPr>
        <p:txBody>
          <a:bodyPr/>
          <a:lstStyle/>
          <a:p>
            <a:pPr algn="just"/>
            <a:endParaRPr lang="en-US" dirty="0">
              <a:solidFill>
                <a:srgbClr val="081C36"/>
              </a:solidFill>
              <a:latin typeface="SegoeuiPc"/>
            </a:endParaRPr>
          </a:p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Tạo môi trường tích cực và hỗ trợ, để nhân viên thực sự cảm thấy được hỗ trợ. </a:t>
            </a:r>
            <a:endParaRPr lang="en-US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67% nhân viên cảm thấy an toàn hơn khi làm việc trong môi trường hỗ trợ (Great Place to Work Institute).</a:t>
            </a:r>
            <a:endParaRPr lang="en-US" dirty="0"/>
          </a:p>
        </p:txBody>
      </p:sp>
      <p:pic>
        <p:nvPicPr>
          <p:cNvPr id="7170" name="Picture 2" descr="Những câu nói hay về nghệ thuật lãnh đạo">
            <a:extLst>
              <a:ext uri="{FF2B5EF4-FFF2-40B4-BE49-F238E27FC236}">
                <a16:creationId xmlns:a16="http://schemas.microsoft.com/office/drawing/2014/main" id="{0D50CCBA-D16D-3351-B585-C8BFA9822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312" y="2016876"/>
            <a:ext cx="4104768" cy="334401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65100" prst="coolSlant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98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D3FC-3D17-738D-D674-E815109C3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78726"/>
            <a:ext cx="10058400" cy="1609344"/>
          </a:xfrm>
        </p:spPr>
        <p:txBody>
          <a:bodyPr>
            <a:normAutofit/>
          </a:bodyPr>
          <a:lstStyle/>
          <a:p>
            <a:r>
              <a:rPr lang="vi-VN" sz="4400" b="1" i="0" dirty="0">
                <a:solidFill>
                  <a:srgbClr val="7030A0"/>
                </a:solidFill>
                <a:effectLst/>
                <a:latin typeface="SegoeuiPc"/>
              </a:rPr>
              <a:t>7. Ghi nhận và khen thưởng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4F4B2-6174-A518-2F3F-6354BA0FB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659" y="2121408"/>
            <a:ext cx="6185648" cy="4050792"/>
          </a:xfrm>
        </p:spPr>
        <p:txBody>
          <a:bodyPr/>
          <a:lstStyle/>
          <a:p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Đánh giá cao những nỗ lực của nhân viên khi họ vượt qua mong đợi. </a:t>
            </a:r>
            <a:endParaRPr lang="en-US" b="0" i="0" dirty="0">
              <a:solidFill>
                <a:srgbClr val="081C36"/>
              </a:solidFill>
              <a:effectLst/>
              <a:latin typeface="SegoeuiPc"/>
            </a:endParaRPr>
          </a:p>
          <a:p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69% nhân viên cảm thấy an toàn hơn khi công việc của họ được ghi nhận (Gallup).</a:t>
            </a:r>
            <a:endParaRPr lang="en-US" dirty="0"/>
          </a:p>
        </p:txBody>
      </p:sp>
      <p:pic>
        <p:nvPicPr>
          <p:cNvPr id="8194" name="Picture 2" descr="Những câu nói hay về nghệ thuật lãnh đạo">
            <a:extLst>
              <a:ext uri="{FF2B5EF4-FFF2-40B4-BE49-F238E27FC236}">
                <a16:creationId xmlns:a16="http://schemas.microsoft.com/office/drawing/2014/main" id="{AED8A6ED-4713-F2D2-98B2-014A1F7DB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484" y="3307977"/>
            <a:ext cx="3758344" cy="3162020"/>
          </a:xfrm>
          <a:prstGeom prst="rect">
            <a:avLst/>
          </a:prstGeom>
          <a:noFill/>
          <a:effectLst>
            <a:glow rad="228600">
              <a:schemeClr val="accent3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32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CC98-4B9D-9F3B-B5D3-33E456D3A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4400" b="1" i="0" dirty="0">
                <a:solidFill>
                  <a:srgbClr val="7030A0"/>
                </a:solidFill>
                <a:effectLst/>
                <a:latin typeface="SegoeuiPc"/>
              </a:rPr>
              <a:t>8. Trả lương công bằng</a:t>
            </a: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3CDBF-0ECA-9728-E458-02F29512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592" y="2072281"/>
            <a:ext cx="5579095" cy="4050792"/>
          </a:xfrm>
        </p:spPr>
        <p:txBody>
          <a:bodyPr/>
          <a:lstStyle/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Trả lương xứng đáng cho nhân viên. Lương và phúc lợi tốt cho thấy giá trị của nhân viên trong tổ chức.</a:t>
            </a:r>
            <a:endParaRPr lang="en-US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 63% nhân viên cảm thấy an toàn hơn khi được trả lương và phúc lợi cạnh tranh (WorldatWork).</a:t>
            </a:r>
            <a:endParaRPr lang="en-US" dirty="0"/>
          </a:p>
        </p:txBody>
      </p:sp>
      <p:sp>
        <p:nvSpPr>
          <p:cNvPr id="6" name="Rectangle 5" descr="Những câu nói hay về nghệ thuật lãnh đạo">
            <a:extLst>
              <a:ext uri="{FF2B5EF4-FFF2-40B4-BE49-F238E27FC236}">
                <a16:creationId xmlns:a16="http://schemas.microsoft.com/office/drawing/2014/main" id="{920EBDAF-16B1-D8D3-9226-C938F0CA1B70}"/>
              </a:ext>
            </a:extLst>
          </p:cNvPr>
          <p:cNvSpPr/>
          <p:nvPr/>
        </p:nvSpPr>
        <p:spPr>
          <a:xfrm>
            <a:off x="1111313" y="3745920"/>
            <a:ext cx="3434519" cy="2145725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2000" b="-12000"/>
            </a:stretch>
          </a:blipFill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5EA3A2-1AA2-6FE8-2049-74AAD7D1AF4B}"/>
              </a:ext>
            </a:extLst>
          </p:cNvPr>
          <p:cNvGrpSpPr/>
          <p:nvPr/>
        </p:nvGrpSpPr>
        <p:grpSpPr>
          <a:xfrm>
            <a:off x="573742" y="3429001"/>
            <a:ext cx="4393580" cy="2770632"/>
            <a:chOff x="2276421" y="3913119"/>
            <a:chExt cx="2577407" cy="172952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E766EAA-AE8B-D073-944C-7B8F007F6C80}"/>
                </a:ext>
              </a:extLst>
            </p:cNvPr>
            <p:cNvSpPr/>
            <p:nvPr/>
          </p:nvSpPr>
          <p:spPr>
            <a:xfrm>
              <a:off x="2468580" y="4105114"/>
              <a:ext cx="2177938" cy="1345274"/>
            </a:xfrm>
            <a:custGeom>
              <a:avLst/>
              <a:gdLst>
                <a:gd name="connsiteX0" fmla="*/ 0 w 2177938"/>
                <a:gd name="connsiteY0" fmla="*/ 0 h 1345274"/>
                <a:gd name="connsiteX1" fmla="*/ 2177938 w 2177938"/>
                <a:gd name="connsiteY1" fmla="*/ 0 h 1345274"/>
                <a:gd name="connsiteX2" fmla="*/ 2177938 w 2177938"/>
                <a:gd name="connsiteY2" fmla="*/ 1345274 h 1345274"/>
                <a:gd name="connsiteX3" fmla="*/ 0 w 2177938"/>
                <a:gd name="connsiteY3" fmla="*/ 1345274 h 1345274"/>
                <a:gd name="connsiteX4" fmla="*/ 0 w 2177938"/>
                <a:gd name="connsiteY4" fmla="*/ 0 h 1345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7938" h="1345274">
                  <a:moveTo>
                    <a:pt x="0" y="0"/>
                  </a:moveTo>
                  <a:lnTo>
                    <a:pt x="2177938" y="0"/>
                  </a:lnTo>
                  <a:lnTo>
                    <a:pt x="2177938" y="1345274"/>
                  </a:lnTo>
                  <a:lnTo>
                    <a:pt x="0" y="134527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8120" tIns="198120" rIns="198120" bIns="198120" numCol="1" spcCol="1270" anchor="ctr" anchorCtr="0">
              <a:noAutofit/>
            </a:bodyPr>
            <a:lstStyle/>
            <a:p>
              <a:pPr marL="0" lvl="0" indent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200" kern="1200"/>
            </a:p>
          </p:txBody>
        </p:sp>
        <p:sp>
          <p:nvSpPr>
            <p:cNvPr id="8" name="Half Frame 7">
              <a:extLst>
                <a:ext uri="{FF2B5EF4-FFF2-40B4-BE49-F238E27FC236}">
                  <a16:creationId xmlns:a16="http://schemas.microsoft.com/office/drawing/2014/main" id="{81961F98-E17F-7840-28A6-9C11BE4CCE8B}"/>
                </a:ext>
              </a:extLst>
            </p:cNvPr>
            <p:cNvSpPr/>
            <p:nvPr/>
          </p:nvSpPr>
          <p:spPr>
            <a:xfrm>
              <a:off x="2276421" y="3913120"/>
              <a:ext cx="523056" cy="523191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Half Frame 8">
              <a:extLst>
                <a:ext uri="{FF2B5EF4-FFF2-40B4-BE49-F238E27FC236}">
                  <a16:creationId xmlns:a16="http://schemas.microsoft.com/office/drawing/2014/main" id="{F63535D8-EADE-B162-97DD-E31EBE67A1AB}"/>
                </a:ext>
              </a:extLst>
            </p:cNvPr>
            <p:cNvSpPr/>
            <p:nvPr/>
          </p:nvSpPr>
          <p:spPr>
            <a:xfrm rot="5400000">
              <a:off x="4330704" y="3913187"/>
              <a:ext cx="523191" cy="523056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Half Frame 9">
              <a:extLst>
                <a:ext uri="{FF2B5EF4-FFF2-40B4-BE49-F238E27FC236}">
                  <a16:creationId xmlns:a16="http://schemas.microsoft.com/office/drawing/2014/main" id="{AAB4E2CF-C1BC-1FA5-F124-D72624882DB8}"/>
                </a:ext>
              </a:extLst>
            </p:cNvPr>
            <p:cNvSpPr/>
            <p:nvPr/>
          </p:nvSpPr>
          <p:spPr>
            <a:xfrm rot="16200000">
              <a:off x="2276353" y="5119522"/>
              <a:ext cx="523191" cy="523056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Half Frame 10">
              <a:extLst>
                <a:ext uri="{FF2B5EF4-FFF2-40B4-BE49-F238E27FC236}">
                  <a16:creationId xmlns:a16="http://schemas.microsoft.com/office/drawing/2014/main" id="{A6B824FF-C24B-F974-60C6-F3CBC8F0B946}"/>
                </a:ext>
              </a:extLst>
            </p:cNvPr>
            <p:cNvSpPr/>
            <p:nvPr/>
          </p:nvSpPr>
          <p:spPr>
            <a:xfrm rot="10800000">
              <a:off x="4330771" y="5119454"/>
              <a:ext cx="523056" cy="523191"/>
            </a:xfrm>
            <a:prstGeom prst="halfFrame">
              <a:avLst>
                <a:gd name="adj1" fmla="val 25770"/>
                <a:gd name="adj2" fmla="val 257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412337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881D-087E-E5A4-8B5A-5BE8889E3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7030A0"/>
                </a:solidFill>
                <a:effectLst/>
                <a:latin typeface="SegoeuiPc"/>
              </a:rPr>
              <a:t>9. </a:t>
            </a:r>
            <a:r>
              <a:rPr lang="en-US" sz="4000" b="1" i="0" dirty="0" err="1">
                <a:solidFill>
                  <a:srgbClr val="7030A0"/>
                </a:solidFill>
                <a:effectLst/>
                <a:latin typeface="SegoeuiPc"/>
              </a:rPr>
              <a:t>Lãnh</a:t>
            </a:r>
            <a:r>
              <a:rPr lang="en-US" sz="40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000" b="1" i="0" dirty="0" err="1">
                <a:solidFill>
                  <a:srgbClr val="7030A0"/>
                </a:solidFill>
                <a:effectLst/>
                <a:latin typeface="SegoeuiPc"/>
              </a:rPr>
              <a:t>đạo</a:t>
            </a:r>
            <a:r>
              <a:rPr lang="en-US" sz="40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000" b="1" i="0" dirty="0" err="1">
                <a:solidFill>
                  <a:srgbClr val="7030A0"/>
                </a:solidFill>
                <a:effectLst/>
                <a:latin typeface="SegoeuiPc"/>
              </a:rPr>
              <a:t>mạnh</a:t>
            </a:r>
            <a:r>
              <a:rPr lang="en-US" sz="40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000" b="1" i="0" dirty="0" err="1">
                <a:solidFill>
                  <a:srgbClr val="7030A0"/>
                </a:solidFill>
                <a:effectLst/>
                <a:latin typeface="SegoeuiPc"/>
              </a:rPr>
              <a:t>mẽ</a:t>
            </a:r>
            <a:endParaRPr lang="en-US" sz="40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83E6-606F-A820-A5D9-EAC8D389F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2" y="2054352"/>
            <a:ext cx="5047131" cy="4050792"/>
          </a:xfrm>
        </p:spPr>
        <p:txBody>
          <a:bodyPr/>
          <a:lstStyle/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Lãnh đạo bằng hành động và tạo sự ổn định cho nhân viên với sự rõ ràng và định hướng.</a:t>
            </a:r>
            <a:endParaRPr lang="en-US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64% nhân viên cảm thấy an toàn hơn khi có lãnh đạo mạnh mẽ và hỗ trợ (Tạp chí Tâm lý Ứng dụng).</a:t>
            </a:r>
            <a:endParaRPr lang="en-US" dirty="0"/>
          </a:p>
        </p:txBody>
      </p:sp>
      <p:pic>
        <p:nvPicPr>
          <p:cNvPr id="10242" name="Picture 2" descr="Những câu nói hay về nghệ thuật lãnh đạo - Phần 1">
            <a:extLst>
              <a:ext uri="{FF2B5EF4-FFF2-40B4-BE49-F238E27FC236}">
                <a16:creationId xmlns:a16="http://schemas.microsoft.com/office/drawing/2014/main" id="{31404F4B-F03B-F7A1-1594-E54E6A0240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62"/>
          <a:stretch/>
        </p:blipFill>
        <p:spPr bwMode="auto">
          <a:xfrm>
            <a:off x="6539753" y="2904028"/>
            <a:ext cx="4172703" cy="3398162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9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EC80-E0C6-7E01-7AD7-3BC8BC837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10.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Phản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hồi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liên</a:t>
            </a:r>
            <a:r>
              <a:rPr lang="en-US" sz="44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en-US" sz="4400" b="1" i="0" dirty="0" err="1">
                <a:solidFill>
                  <a:srgbClr val="7030A0"/>
                </a:solidFill>
                <a:effectLst/>
                <a:latin typeface="SegoeuiPc"/>
              </a:rPr>
              <a:t>tục</a:t>
            </a:r>
            <a:br>
              <a:rPr lang="en-US" sz="4400" b="1" dirty="0">
                <a:solidFill>
                  <a:srgbClr val="7030A0"/>
                </a:solidFill>
              </a:rPr>
            </a:br>
            <a:endParaRPr lang="en-US" sz="44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E50CA-6505-D10D-C20A-14792D09B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023" y="3594578"/>
            <a:ext cx="5032248" cy="2389094"/>
          </a:xfrm>
        </p:spPr>
        <p:txBody>
          <a:bodyPr/>
          <a:lstStyle/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Đừng chờ đến đánh giá hằng năm - hãy phản hồi thường xuyên. Để nhân viên biết họ đang làm như thế nào hàng ngày.</a:t>
            </a:r>
            <a:endParaRPr lang="en-US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/>
            <a:r>
              <a:rPr lang="vi-VN" b="0" i="0" dirty="0">
                <a:solidFill>
                  <a:srgbClr val="081C36"/>
                </a:solidFill>
                <a:effectLst/>
                <a:latin typeface="SegoeuiPc"/>
              </a:rPr>
              <a:t>68% nhân viên cảm thấy an toàn hơn khi nhận phản hồi liên tục từ lãnh đạo (Harvard Business Review).</a:t>
            </a:r>
            <a:endParaRPr lang="en-US" dirty="0"/>
          </a:p>
        </p:txBody>
      </p:sp>
      <p:pic>
        <p:nvPicPr>
          <p:cNvPr id="11266" name="Picture 2" descr="Những câu nói hay về nghệ thuật lãnh đạo">
            <a:extLst>
              <a:ext uri="{FF2B5EF4-FFF2-40B4-BE49-F238E27FC236}">
                <a16:creationId xmlns:a16="http://schemas.microsoft.com/office/drawing/2014/main" id="{AFFA03E5-EE00-89FE-793C-CADDEDC17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2" y="1792941"/>
            <a:ext cx="4330858" cy="3603274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96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85ED-6CEF-D717-E3E9-4A2A5A44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200" b="1" i="0" dirty="0">
                <a:solidFill>
                  <a:srgbClr val="7030A0"/>
                </a:solidFill>
                <a:effectLst/>
                <a:latin typeface="SegoeuiPc"/>
              </a:rPr>
              <a:t>7 Thói Quen</a:t>
            </a:r>
            <a:r>
              <a:rPr lang="en-US" sz="3200" b="1" i="0" dirty="0">
                <a:solidFill>
                  <a:srgbClr val="7030A0"/>
                </a:solidFill>
                <a:effectLst/>
                <a:latin typeface="SegoeuiPc"/>
              </a:rPr>
              <a:t> </a:t>
            </a:r>
            <a:r>
              <a:rPr lang="vi-VN" sz="3200" b="1" i="0" dirty="0">
                <a:solidFill>
                  <a:srgbClr val="7030A0"/>
                </a:solidFill>
                <a:effectLst/>
                <a:latin typeface="SegoeuiPc"/>
              </a:rPr>
              <a:t>của Nhà Lãnh Đạo Đích Thực</a:t>
            </a: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C3469-5B8D-9663-4E70-3CD2CCBE7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748" y="2093976"/>
            <a:ext cx="7312152" cy="405079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vi-VN" sz="1400" b="0" i="0" dirty="0">
                <a:solidFill>
                  <a:srgbClr val="081C36"/>
                </a:solidFill>
                <a:effectLst/>
                <a:latin typeface="SegoeuiPc"/>
              </a:rPr>
              <a:t>1. Lắng Nghe Nhiều Hơn, </a:t>
            </a:r>
            <a:r>
              <a:rPr lang="en-US" sz="1400" dirty="0">
                <a:solidFill>
                  <a:srgbClr val="081C36"/>
                </a:solidFill>
                <a:latin typeface="SegoeuiPc"/>
              </a:rPr>
              <a:t>n</a:t>
            </a:r>
            <a:r>
              <a:rPr lang="vi-VN" sz="1400" b="0" i="0" dirty="0">
                <a:solidFill>
                  <a:srgbClr val="081C36"/>
                </a:solidFill>
                <a:effectLst/>
                <a:latin typeface="SegoeuiPc"/>
              </a:rPr>
              <a:t>ói </a:t>
            </a:r>
            <a:r>
              <a:rPr lang="en-US" sz="1400" dirty="0">
                <a:solidFill>
                  <a:srgbClr val="081C36"/>
                </a:solidFill>
                <a:latin typeface="SegoeuiPc"/>
              </a:rPr>
              <a:t>í</a:t>
            </a:r>
            <a:r>
              <a:rPr lang="vi-VN" sz="1400" b="0" i="0" dirty="0">
                <a:solidFill>
                  <a:srgbClr val="081C36"/>
                </a:solidFill>
                <a:effectLst/>
                <a:latin typeface="SegoeuiPc"/>
              </a:rPr>
              <a:t>t </a:t>
            </a:r>
            <a:r>
              <a:rPr lang="en-US" sz="1400" dirty="0">
                <a:solidFill>
                  <a:srgbClr val="081C36"/>
                </a:solidFill>
                <a:latin typeface="SegoeuiPc"/>
              </a:rPr>
              <a:t>l</a:t>
            </a:r>
            <a:r>
              <a:rPr lang="vi-VN" sz="1400" b="0" i="0" dirty="0">
                <a:solidFill>
                  <a:srgbClr val="081C36"/>
                </a:solidFill>
                <a:effectLst/>
                <a:latin typeface="SegoeuiPc"/>
              </a:rPr>
              <a:t>ại: Tập trung vào việc hiểu vấn đề, không chỉ đơn thuần là phản hồi. </a:t>
            </a:r>
            <a:endParaRPr lang="en-US" sz="1400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>
              <a:lnSpc>
                <a:spcPct val="100000"/>
              </a:lnSpc>
            </a:pPr>
            <a:r>
              <a:rPr lang="vi-VN" sz="1400" b="0" i="0" dirty="0">
                <a:solidFill>
                  <a:srgbClr val="081C36"/>
                </a:solidFill>
                <a:effectLst/>
                <a:latin typeface="SegoeuiPc"/>
              </a:rPr>
              <a:t>2. Lãnh Đạo Với Sự Khiêm Tốn: Không cần thiết phải là người thông minh nhất trong phòng. 3. </a:t>
            </a:r>
            <a:endParaRPr lang="en-US" sz="1400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>
              <a:lnSpc>
                <a:spcPct val="100000"/>
              </a:lnSpc>
            </a:pPr>
            <a:r>
              <a:rPr lang="vi-VN" sz="1400" b="0" i="0" dirty="0">
                <a:solidFill>
                  <a:srgbClr val="081C36"/>
                </a:solidFill>
                <a:effectLst/>
                <a:latin typeface="SegoeuiPc"/>
              </a:rPr>
              <a:t>Chấp Nhận Sự Mong Manh: Khi cần, hãy nói “Tôi không biết” hoặc tìm kiếm lời khuyên. </a:t>
            </a:r>
            <a:endParaRPr lang="en-US" sz="1400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>
              <a:lnSpc>
                <a:spcPct val="100000"/>
              </a:lnSpc>
            </a:pPr>
            <a:r>
              <a:rPr lang="vi-VN" sz="1400" b="0" i="0" dirty="0">
                <a:solidFill>
                  <a:srgbClr val="081C36"/>
                </a:solidFill>
                <a:effectLst/>
                <a:latin typeface="SegoeuiPc"/>
              </a:rPr>
              <a:t>4. Giữ Lời Hứa: Thực hiện các lời hứa, dù là nhỏ nhặt nhất. </a:t>
            </a:r>
            <a:endParaRPr lang="en-US" sz="1400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>
              <a:lnSpc>
                <a:spcPct val="100000"/>
              </a:lnSpc>
            </a:pPr>
            <a:r>
              <a:rPr lang="vi-VN" sz="1400" b="0" i="0" dirty="0">
                <a:solidFill>
                  <a:srgbClr val="081C36"/>
                </a:solidFill>
                <a:effectLst/>
                <a:latin typeface="SegoeuiPc"/>
              </a:rPr>
              <a:t>5. Tìm Kiếm Phản Hồi Trung Thực: Chủ động tiếp nhận phê bình để tiếp tục phát triển.</a:t>
            </a:r>
            <a:endParaRPr lang="en-US" sz="1400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>
              <a:lnSpc>
                <a:spcPct val="100000"/>
              </a:lnSpc>
            </a:pPr>
            <a:r>
              <a:rPr lang="vi-VN" sz="1400" b="0" i="0" dirty="0">
                <a:solidFill>
                  <a:srgbClr val="081C36"/>
                </a:solidFill>
                <a:effectLst/>
                <a:latin typeface="SegoeuiPc"/>
              </a:rPr>
              <a:t>6. Đẩy Mạnh Sự Phát Triển của Người Khác: Khuyến khích mọi người tiến xa hơn trong khi vẫn cung cấp một mạng lưới an toàn. </a:t>
            </a:r>
            <a:endParaRPr lang="en-US" sz="1400" b="0" i="0" dirty="0">
              <a:solidFill>
                <a:srgbClr val="081C36"/>
              </a:solidFill>
              <a:effectLst/>
              <a:latin typeface="SegoeuiPc"/>
            </a:endParaRPr>
          </a:p>
          <a:p>
            <a:pPr algn="just">
              <a:lnSpc>
                <a:spcPct val="100000"/>
              </a:lnSpc>
            </a:pPr>
            <a:r>
              <a:rPr lang="vi-VN" sz="1400" b="0" i="0" dirty="0">
                <a:solidFill>
                  <a:srgbClr val="081C36"/>
                </a:solidFill>
                <a:effectLst/>
                <a:latin typeface="SegoeuiPc"/>
              </a:rPr>
              <a:t>7. Trao Công Nhận: Đề cao thành công của đội nhóm thay vì nhận công trạng về mình.</a:t>
            </a:r>
            <a:endParaRPr lang="en-US" sz="1400" dirty="0"/>
          </a:p>
        </p:txBody>
      </p:sp>
      <p:pic>
        <p:nvPicPr>
          <p:cNvPr id="13314" name="Picture 2" descr="20 câu nói truyền cảm hứng thành công cho nhà lãnh đạo">
            <a:extLst>
              <a:ext uri="{FF2B5EF4-FFF2-40B4-BE49-F238E27FC236}">
                <a16:creationId xmlns:a16="http://schemas.microsoft.com/office/drawing/2014/main" id="{23C74337-4D3F-6C65-5E54-E98D4987AB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7" b="22863"/>
          <a:stretch/>
        </p:blipFill>
        <p:spPr bwMode="auto">
          <a:xfrm>
            <a:off x="7886700" y="2641475"/>
            <a:ext cx="4119444" cy="2133600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1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53609-AB5B-29C5-ECFB-7FC0DEC31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THANKS!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18B3A-DF54-2152-0EB6-E76BBB8B1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DBC9B-8CEA-E0F5-9622-6F000280CC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74" t="8941" r="-151" b="14960"/>
          <a:stretch/>
        </p:blipFill>
        <p:spPr>
          <a:xfrm>
            <a:off x="3424518" y="2303930"/>
            <a:ext cx="5952563" cy="2899366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perspectiveContrastingLef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7670039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34</TotalTime>
  <Words>700</Words>
  <Application>Microsoft Office PowerPoint</Application>
  <PresentationFormat>Widescreen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Rockwell</vt:lpstr>
      <vt:lpstr>Rockwell Condensed</vt:lpstr>
      <vt:lpstr>SegoeuiPc</vt:lpstr>
      <vt:lpstr>Wingdings</vt:lpstr>
      <vt:lpstr>Wood Type</vt:lpstr>
      <vt:lpstr>10 CÁCH LÃNH ĐẠO  KHIẾN NHÂN VIÊN CẢM THẤY AN TOÀN VÀ CÓ ĐỘNG LỰC</vt:lpstr>
      <vt:lpstr>1. Phát triển sự nghiệp</vt:lpstr>
      <vt:lpstr>2. Rõ ràng về vai trò công việc</vt:lpstr>
      <vt:lpstr> 3. Giao tiếp rõ ràng</vt:lpstr>
      <vt:lpstr>4. Phát triển chuyên môn</vt:lpstr>
      <vt:lpstr>5. Tham gia của nhân viên</vt:lpstr>
      <vt:lpstr>6. Môi trường làm việc hỗ trợ</vt:lpstr>
      <vt:lpstr>7. Ghi nhận và khen thưởng</vt:lpstr>
      <vt:lpstr>8. Trả lương công bằng</vt:lpstr>
      <vt:lpstr>9. Lãnh đạo mạnh mẽ</vt:lpstr>
      <vt:lpstr>10. Phản hồi liên tục </vt:lpstr>
      <vt:lpstr>7 Thói Quen của Nhà Lãnh Đạo Đích Thực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CÁCH LÃNH ĐẠO  KHIẾN NHÂN VIÊN CẢM THẤY AN TOÀN VÀ CÓ ĐỘNG LỰC</dc:title>
  <dc:creator>Administrator</dc:creator>
  <cp:lastModifiedBy>Administrator</cp:lastModifiedBy>
  <cp:revision>2</cp:revision>
  <dcterms:created xsi:type="dcterms:W3CDTF">2024-12-16T11:53:28Z</dcterms:created>
  <dcterms:modified xsi:type="dcterms:W3CDTF">2024-12-16T12:28:18Z</dcterms:modified>
</cp:coreProperties>
</file>