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9" r:id="rId4"/>
    <p:sldId id="258" r:id="rId5"/>
    <p:sldId id="259" r:id="rId6"/>
    <p:sldId id="260" r:id="rId7"/>
    <p:sldId id="261" r:id="rId8"/>
    <p:sldId id="262" r:id="rId9"/>
    <p:sldId id="263" r:id="rId10"/>
    <p:sldId id="264" r:id="rId11"/>
    <p:sldId id="265" r:id="rId12"/>
    <p:sldId id="266" r:id="rId13"/>
    <p:sldId id="267"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7" d="100"/>
          <a:sy n="107" d="100"/>
        </p:scale>
        <p:origin x="138" y="2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2F8FF-E505-5A66-68D2-66098BEE73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2D4F93F-9E03-4D50-98FC-0A04BE2B71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D36AABA-D894-35EF-6267-DC9C8DEA0CB2}"/>
              </a:ext>
            </a:extLst>
          </p:cNvPr>
          <p:cNvSpPr>
            <a:spLocks noGrp="1"/>
          </p:cNvSpPr>
          <p:nvPr>
            <p:ph type="dt" sz="half" idx="10"/>
          </p:nvPr>
        </p:nvSpPr>
        <p:spPr/>
        <p:txBody>
          <a:bodyPr/>
          <a:lstStyle/>
          <a:p>
            <a:fld id="{B60543EC-CD1A-4D26-9AB9-A34E87DBE30A}" type="datetimeFigureOut">
              <a:rPr lang="en-US" smtClean="0"/>
              <a:t>12/17/2024</a:t>
            </a:fld>
            <a:endParaRPr lang="en-US"/>
          </a:p>
        </p:txBody>
      </p:sp>
      <p:sp>
        <p:nvSpPr>
          <p:cNvPr id="5" name="Footer Placeholder 4">
            <a:extLst>
              <a:ext uri="{FF2B5EF4-FFF2-40B4-BE49-F238E27FC236}">
                <a16:creationId xmlns:a16="http://schemas.microsoft.com/office/drawing/2014/main" id="{0AC14296-0401-8BD3-30B0-B774E03737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329E3C-3921-4A0C-EA3B-30DE46197A77}"/>
              </a:ext>
            </a:extLst>
          </p:cNvPr>
          <p:cNvSpPr>
            <a:spLocks noGrp="1"/>
          </p:cNvSpPr>
          <p:nvPr>
            <p:ph type="sldNum" sz="quarter" idx="12"/>
          </p:nvPr>
        </p:nvSpPr>
        <p:spPr/>
        <p:txBody>
          <a:bodyPr/>
          <a:lstStyle/>
          <a:p>
            <a:fld id="{3F04251C-0299-4DEF-A8B0-C465CB609392}" type="slidenum">
              <a:rPr lang="en-US" smtClean="0"/>
              <a:t>‹#›</a:t>
            </a:fld>
            <a:endParaRPr lang="en-US"/>
          </a:p>
        </p:txBody>
      </p:sp>
    </p:spTree>
    <p:extLst>
      <p:ext uri="{BB962C8B-B14F-4D97-AF65-F5344CB8AC3E}">
        <p14:creationId xmlns:p14="http://schemas.microsoft.com/office/powerpoint/2010/main" val="707787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46893-4E15-7B9A-3EDE-51DD3E96BD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BF38BE-E8F5-9B17-5812-8BDFE34D36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0FE479-F6EC-C163-234F-229447D62B6D}"/>
              </a:ext>
            </a:extLst>
          </p:cNvPr>
          <p:cNvSpPr>
            <a:spLocks noGrp="1"/>
          </p:cNvSpPr>
          <p:nvPr>
            <p:ph type="dt" sz="half" idx="10"/>
          </p:nvPr>
        </p:nvSpPr>
        <p:spPr/>
        <p:txBody>
          <a:bodyPr/>
          <a:lstStyle/>
          <a:p>
            <a:fld id="{B60543EC-CD1A-4D26-9AB9-A34E87DBE30A}" type="datetimeFigureOut">
              <a:rPr lang="en-US" smtClean="0"/>
              <a:t>12/17/2024</a:t>
            </a:fld>
            <a:endParaRPr lang="en-US"/>
          </a:p>
        </p:txBody>
      </p:sp>
      <p:sp>
        <p:nvSpPr>
          <p:cNvPr id="5" name="Footer Placeholder 4">
            <a:extLst>
              <a:ext uri="{FF2B5EF4-FFF2-40B4-BE49-F238E27FC236}">
                <a16:creationId xmlns:a16="http://schemas.microsoft.com/office/drawing/2014/main" id="{A4DEDBAB-7C9D-D536-E2B3-C22DA91DF0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91A51E-0BE1-DDBD-648C-1F1D89C8D22C}"/>
              </a:ext>
            </a:extLst>
          </p:cNvPr>
          <p:cNvSpPr>
            <a:spLocks noGrp="1"/>
          </p:cNvSpPr>
          <p:nvPr>
            <p:ph type="sldNum" sz="quarter" idx="12"/>
          </p:nvPr>
        </p:nvSpPr>
        <p:spPr/>
        <p:txBody>
          <a:bodyPr/>
          <a:lstStyle/>
          <a:p>
            <a:fld id="{3F04251C-0299-4DEF-A8B0-C465CB609392}" type="slidenum">
              <a:rPr lang="en-US" smtClean="0"/>
              <a:t>‹#›</a:t>
            </a:fld>
            <a:endParaRPr lang="en-US"/>
          </a:p>
        </p:txBody>
      </p:sp>
    </p:spTree>
    <p:extLst>
      <p:ext uri="{BB962C8B-B14F-4D97-AF65-F5344CB8AC3E}">
        <p14:creationId xmlns:p14="http://schemas.microsoft.com/office/powerpoint/2010/main" val="680643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911A0-B3A5-FF25-D764-743F024842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76FC0E2-2101-2973-B53E-6D4E67BA48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8AC2DD-4188-BFA1-ABC3-E56C7949D5FC}"/>
              </a:ext>
            </a:extLst>
          </p:cNvPr>
          <p:cNvSpPr>
            <a:spLocks noGrp="1"/>
          </p:cNvSpPr>
          <p:nvPr>
            <p:ph type="dt" sz="half" idx="10"/>
          </p:nvPr>
        </p:nvSpPr>
        <p:spPr/>
        <p:txBody>
          <a:bodyPr/>
          <a:lstStyle/>
          <a:p>
            <a:fld id="{B60543EC-CD1A-4D26-9AB9-A34E87DBE30A}" type="datetimeFigureOut">
              <a:rPr lang="en-US" smtClean="0"/>
              <a:t>12/17/2024</a:t>
            </a:fld>
            <a:endParaRPr lang="en-US"/>
          </a:p>
        </p:txBody>
      </p:sp>
      <p:sp>
        <p:nvSpPr>
          <p:cNvPr id="5" name="Footer Placeholder 4">
            <a:extLst>
              <a:ext uri="{FF2B5EF4-FFF2-40B4-BE49-F238E27FC236}">
                <a16:creationId xmlns:a16="http://schemas.microsoft.com/office/drawing/2014/main" id="{7C20BF6C-89F9-A00A-4116-78E8288855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C8D0CA-0F31-B4CC-9CCD-BF6F8D97B73A}"/>
              </a:ext>
            </a:extLst>
          </p:cNvPr>
          <p:cNvSpPr>
            <a:spLocks noGrp="1"/>
          </p:cNvSpPr>
          <p:nvPr>
            <p:ph type="sldNum" sz="quarter" idx="12"/>
          </p:nvPr>
        </p:nvSpPr>
        <p:spPr/>
        <p:txBody>
          <a:bodyPr/>
          <a:lstStyle/>
          <a:p>
            <a:fld id="{3F04251C-0299-4DEF-A8B0-C465CB609392}" type="slidenum">
              <a:rPr lang="en-US" smtClean="0"/>
              <a:t>‹#›</a:t>
            </a:fld>
            <a:endParaRPr lang="en-US"/>
          </a:p>
        </p:txBody>
      </p:sp>
    </p:spTree>
    <p:extLst>
      <p:ext uri="{BB962C8B-B14F-4D97-AF65-F5344CB8AC3E}">
        <p14:creationId xmlns:p14="http://schemas.microsoft.com/office/powerpoint/2010/main" val="329781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C905B-D348-6B7D-3155-05FA3CA1EF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F6570A-B524-273E-B805-317276D1AF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4E8F71-3738-574E-7F4D-1B5A549EA1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A62D30-B981-0754-4598-5CA414BC4079}"/>
              </a:ext>
            </a:extLst>
          </p:cNvPr>
          <p:cNvSpPr>
            <a:spLocks noGrp="1"/>
          </p:cNvSpPr>
          <p:nvPr>
            <p:ph type="dt" sz="half" idx="10"/>
          </p:nvPr>
        </p:nvSpPr>
        <p:spPr/>
        <p:txBody>
          <a:bodyPr/>
          <a:lstStyle/>
          <a:p>
            <a:fld id="{B60543EC-CD1A-4D26-9AB9-A34E87DBE30A}" type="datetimeFigureOut">
              <a:rPr lang="en-US" smtClean="0"/>
              <a:t>12/17/2024</a:t>
            </a:fld>
            <a:endParaRPr lang="en-US"/>
          </a:p>
        </p:txBody>
      </p:sp>
      <p:sp>
        <p:nvSpPr>
          <p:cNvPr id="6" name="Footer Placeholder 5">
            <a:extLst>
              <a:ext uri="{FF2B5EF4-FFF2-40B4-BE49-F238E27FC236}">
                <a16:creationId xmlns:a16="http://schemas.microsoft.com/office/drawing/2014/main" id="{A2DB1A36-D1B8-E943-033F-D04A72D783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670759-54D0-63CA-E597-9D6BC1EA3890}"/>
              </a:ext>
            </a:extLst>
          </p:cNvPr>
          <p:cNvSpPr>
            <a:spLocks noGrp="1"/>
          </p:cNvSpPr>
          <p:nvPr>
            <p:ph type="sldNum" sz="quarter" idx="12"/>
          </p:nvPr>
        </p:nvSpPr>
        <p:spPr/>
        <p:txBody>
          <a:bodyPr/>
          <a:lstStyle/>
          <a:p>
            <a:fld id="{3F04251C-0299-4DEF-A8B0-C465CB609392}" type="slidenum">
              <a:rPr lang="en-US" smtClean="0"/>
              <a:t>‹#›</a:t>
            </a:fld>
            <a:endParaRPr lang="en-US"/>
          </a:p>
        </p:txBody>
      </p:sp>
    </p:spTree>
    <p:extLst>
      <p:ext uri="{BB962C8B-B14F-4D97-AF65-F5344CB8AC3E}">
        <p14:creationId xmlns:p14="http://schemas.microsoft.com/office/powerpoint/2010/main" val="137049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60BB2-FFF9-1F17-A78E-2AB6C04ED31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6333131-4EC1-4924-5373-78571F8066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A441A2-4B8B-1D38-C54A-CE6DF57F94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DEF16F-4407-EA90-108E-335E5F3B64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52D405-6C62-D150-41B3-EC482075A4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FC5DA6-1960-6A99-7C35-B91ED5EC1D1A}"/>
              </a:ext>
            </a:extLst>
          </p:cNvPr>
          <p:cNvSpPr>
            <a:spLocks noGrp="1"/>
          </p:cNvSpPr>
          <p:nvPr>
            <p:ph type="dt" sz="half" idx="10"/>
          </p:nvPr>
        </p:nvSpPr>
        <p:spPr/>
        <p:txBody>
          <a:bodyPr/>
          <a:lstStyle/>
          <a:p>
            <a:fld id="{B60543EC-CD1A-4D26-9AB9-A34E87DBE30A}" type="datetimeFigureOut">
              <a:rPr lang="en-US" smtClean="0"/>
              <a:t>12/17/2024</a:t>
            </a:fld>
            <a:endParaRPr lang="en-US"/>
          </a:p>
        </p:txBody>
      </p:sp>
      <p:sp>
        <p:nvSpPr>
          <p:cNvPr id="8" name="Footer Placeholder 7">
            <a:extLst>
              <a:ext uri="{FF2B5EF4-FFF2-40B4-BE49-F238E27FC236}">
                <a16:creationId xmlns:a16="http://schemas.microsoft.com/office/drawing/2014/main" id="{46DC36F5-441C-5CFB-80CA-A9B627DE8E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D8BD8-2BDC-9715-ABFC-62FDE4FF3B1D}"/>
              </a:ext>
            </a:extLst>
          </p:cNvPr>
          <p:cNvSpPr>
            <a:spLocks noGrp="1"/>
          </p:cNvSpPr>
          <p:nvPr>
            <p:ph type="sldNum" sz="quarter" idx="12"/>
          </p:nvPr>
        </p:nvSpPr>
        <p:spPr/>
        <p:txBody>
          <a:bodyPr/>
          <a:lstStyle/>
          <a:p>
            <a:fld id="{3F04251C-0299-4DEF-A8B0-C465CB609392}" type="slidenum">
              <a:rPr lang="en-US" smtClean="0"/>
              <a:t>‹#›</a:t>
            </a:fld>
            <a:endParaRPr lang="en-US"/>
          </a:p>
        </p:txBody>
      </p:sp>
    </p:spTree>
    <p:extLst>
      <p:ext uri="{BB962C8B-B14F-4D97-AF65-F5344CB8AC3E}">
        <p14:creationId xmlns:p14="http://schemas.microsoft.com/office/powerpoint/2010/main" val="912098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57F50-38FA-E130-9202-D1D65A1CEC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3ACEB2-DCDE-B4DC-1C15-D07DCEB6E7A4}"/>
              </a:ext>
            </a:extLst>
          </p:cNvPr>
          <p:cNvSpPr>
            <a:spLocks noGrp="1"/>
          </p:cNvSpPr>
          <p:nvPr>
            <p:ph type="dt" sz="half" idx="10"/>
          </p:nvPr>
        </p:nvSpPr>
        <p:spPr/>
        <p:txBody>
          <a:bodyPr/>
          <a:lstStyle/>
          <a:p>
            <a:fld id="{B60543EC-CD1A-4D26-9AB9-A34E87DBE30A}" type="datetimeFigureOut">
              <a:rPr lang="en-US" smtClean="0"/>
              <a:t>12/17/2024</a:t>
            </a:fld>
            <a:endParaRPr lang="en-US"/>
          </a:p>
        </p:txBody>
      </p:sp>
      <p:sp>
        <p:nvSpPr>
          <p:cNvPr id="4" name="Footer Placeholder 3">
            <a:extLst>
              <a:ext uri="{FF2B5EF4-FFF2-40B4-BE49-F238E27FC236}">
                <a16:creationId xmlns:a16="http://schemas.microsoft.com/office/drawing/2014/main" id="{DD49B6B9-0091-EE92-BF42-CB4049C261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07AFC80-686A-73B5-C310-7EDAF6B738B6}"/>
              </a:ext>
            </a:extLst>
          </p:cNvPr>
          <p:cNvSpPr>
            <a:spLocks noGrp="1"/>
          </p:cNvSpPr>
          <p:nvPr>
            <p:ph type="sldNum" sz="quarter" idx="12"/>
          </p:nvPr>
        </p:nvSpPr>
        <p:spPr/>
        <p:txBody>
          <a:bodyPr/>
          <a:lstStyle/>
          <a:p>
            <a:fld id="{3F04251C-0299-4DEF-A8B0-C465CB609392}" type="slidenum">
              <a:rPr lang="en-US" smtClean="0"/>
              <a:t>‹#›</a:t>
            </a:fld>
            <a:endParaRPr lang="en-US"/>
          </a:p>
        </p:txBody>
      </p:sp>
    </p:spTree>
    <p:extLst>
      <p:ext uri="{BB962C8B-B14F-4D97-AF65-F5344CB8AC3E}">
        <p14:creationId xmlns:p14="http://schemas.microsoft.com/office/powerpoint/2010/main" val="570929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B87B35-335A-5567-0940-0FD4E84E2214}"/>
              </a:ext>
            </a:extLst>
          </p:cNvPr>
          <p:cNvSpPr>
            <a:spLocks noGrp="1"/>
          </p:cNvSpPr>
          <p:nvPr>
            <p:ph type="dt" sz="half" idx="10"/>
          </p:nvPr>
        </p:nvSpPr>
        <p:spPr/>
        <p:txBody>
          <a:bodyPr/>
          <a:lstStyle/>
          <a:p>
            <a:fld id="{B60543EC-CD1A-4D26-9AB9-A34E87DBE30A}" type="datetimeFigureOut">
              <a:rPr lang="en-US" smtClean="0"/>
              <a:t>12/17/2024</a:t>
            </a:fld>
            <a:endParaRPr lang="en-US"/>
          </a:p>
        </p:txBody>
      </p:sp>
      <p:sp>
        <p:nvSpPr>
          <p:cNvPr id="3" name="Footer Placeholder 2">
            <a:extLst>
              <a:ext uri="{FF2B5EF4-FFF2-40B4-BE49-F238E27FC236}">
                <a16:creationId xmlns:a16="http://schemas.microsoft.com/office/drawing/2014/main" id="{B1CE9B8F-651A-DD21-7380-EE08E08B9E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80E0C2-FA27-FEEC-7365-4C07A37F28E1}"/>
              </a:ext>
            </a:extLst>
          </p:cNvPr>
          <p:cNvSpPr>
            <a:spLocks noGrp="1"/>
          </p:cNvSpPr>
          <p:nvPr>
            <p:ph type="sldNum" sz="quarter" idx="12"/>
          </p:nvPr>
        </p:nvSpPr>
        <p:spPr/>
        <p:txBody>
          <a:bodyPr/>
          <a:lstStyle/>
          <a:p>
            <a:fld id="{3F04251C-0299-4DEF-A8B0-C465CB609392}" type="slidenum">
              <a:rPr lang="en-US" smtClean="0"/>
              <a:t>‹#›</a:t>
            </a:fld>
            <a:endParaRPr lang="en-US"/>
          </a:p>
        </p:txBody>
      </p:sp>
    </p:spTree>
    <p:extLst>
      <p:ext uri="{BB962C8B-B14F-4D97-AF65-F5344CB8AC3E}">
        <p14:creationId xmlns:p14="http://schemas.microsoft.com/office/powerpoint/2010/main" val="32061122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051AA-28AE-71F3-FA20-54AF074457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7E6B5D0-A58F-6B9F-408D-502EB4B4FC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7E15A0-F970-C56A-F1A6-68375C9F0C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403A1D-7533-A688-4362-4C1C50A58C78}"/>
              </a:ext>
            </a:extLst>
          </p:cNvPr>
          <p:cNvSpPr>
            <a:spLocks noGrp="1"/>
          </p:cNvSpPr>
          <p:nvPr>
            <p:ph type="dt" sz="half" idx="10"/>
          </p:nvPr>
        </p:nvSpPr>
        <p:spPr/>
        <p:txBody>
          <a:bodyPr/>
          <a:lstStyle/>
          <a:p>
            <a:fld id="{B60543EC-CD1A-4D26-9AB9-A34E87DBE30A}" type="datetimeFigureOut">
              <a:rPr lang="en-US" smtClean="0"/>
              <a:t>12/17/2024</a:t>
            </a:fld>
            <a:endParaRPr lang="en-US"/>
          </a:p>
        </p:txBody>
      </p:sp>
      <p:sp>
        <p:nvSpPr>
          <p:cNvPr id="6" name="Footer Placeholder 5">
            <a:extLst>
              <a:ext uri="{FF2B5EF4-FFF2-40B4-BE49-F238E27FC236}">
                <a16:creationId xmlns:a16="http://schemas.microsoft.com/office/drawing/2014/main" id="{C0114AD3-4C67-2372-C128-E2875D9491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0DF9FC-F545-F44E-409F-4EAFC4E8C358}"/>
              </a:ext>
            </a:extLst>
          </p:cNvPr>
          <p:cNvSpPr>
            <a:spLocks noGrp="1"/>
          </p:cNvSpPr>
          <p:nvPr>
            <p:ph type="sldNum" sz="quarter" idx="12"/>
          </p:nvPr>
        </p:nvSpPr>
        <p:spPr/>
        <p:txBody>
          <a:bodyPr/>
          <a:lstStyle/>
          <a:p>
            <a:fld id="{3F04251C-0299-4DEF-A8B0-C465CB609392}" type="slidenum">
              <a:rPr lang="en-US" smtClean="0"/>
              <a:t>‹#›</a:t>
            </a:fld>
            <a:endParaRPr lang="en-US"/>
          </a:p>
        </p:txBody>
      </p:sp>
    </p:spTree>
    <p:extLst>
      <p:ext uri="{BB962C8B-B14F-4D97-AF65-F5344CB8AC3E}">
        <p14:creationId xmlns:p14="http://schemas.microsoft.com/office/powerpoint/2010/main" val="471216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59082-AACC-663A-96DF-44E6517D82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0B9F767-65CA-F78A-5DA0-238A6B68F8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0D03C59-E805-B97D-6036-41DCAA1245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F7112F-34DF-217A-8409-C67404164CBB}"/>
              </a:ext>
            </a:extLst>
          </p:cNvPr>
          <p:cNvSpPr>
            <a:spLocks noGrp="1"/>
          </p:cNvSpPr>
          <p:nvPr>
            <p:ph type="dt" sz="half" idx="10"/>
          </p:nvPr>
        </p:nvSpPr>
        <p:spPr/>
        <p:txBody>
          <a:bodyPr/>
          <a:lstStyle/>
          <a:p>
            <a:fld id="{B60543EC-CD1A-4D26-9AB9-A34E87DBE30A}" type="datetimeFigureOut">
              <a:rPr lang="en-US" smtClean="0"/>
              <a:t>12/17/2024</a:t>
            </a:fld>
            <a:endParaRPr lang="en-US"/>
          </a:p>
        </p:txBody>
      </p:sp>
      <p:sp>
        <p:nvSpPr>
          <p:cNvPr id="6" name="Footer Placeholder 5">
            <a:extLst>
              <a:ext uri="{FF2B5EF4-FFF2-40B4-BE49-F238E27FC236}">
                <a16:creationId xmlns:a16="http://schemas.microsoft.com/office/drawing/2014/main" id="{233D3D8C-8023-490F-5768-FD58BFD863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C4A111-CA65-CE5F-0102-E4BD73677FF7}"/>
              </a:ext>
            </a:extLst>
          </p:cNvPr>
          <p:cNvSpPr>
            <a:spLocks noGrp="1"/>
          </p:cNvSpPr>
          <p:nvPr>
            <p:ph type="sldNum" sz="quarter" idx="12"/>
          </p:nvPr>
        </p:nvSpPr>
        <p:spPr/>
        <p:txBody>
          <a:bodyPr/>
          <a:lstStyle/>
          <a:p>
            <a:fld id="{3F04251C-0299-4DEF-A8B0-C465CB609392}" type="slidenum">
              <a:rPr lang="en-US" smtClean="0"/>
              <a:t>‹#›</a:t>
            </a:fld>
            <a:endParaRPr lang="en-US"/>
          </a:p>
        </p:txBody>
      </p:sp>
    </p:spTree>
    <p:extLst>
      <p:ext uri="{BB962C8B-B14F-4D97-AF65-F5344CB8AC3E}">
        <p14:creationId xmlns:p14="http://schemas.microsoft.com/office/powerpoint/2010/main" val="1954589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A1FE1-0788-9CA7-7890-EB946C1AB0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8A40DA-A5F4-955F-EBC5-68960100A6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891741-699E-F152-468F-0AA7821245A8}"/>
              </a:ext>
            </a:extLst>
          </p:cNvPr>
          <p:cNvSpPr>
            <a:spLocks noGrp="1"/>
          </p:cNvSpPr>
          <p:nvPr>
            <p:ph type="dt" sz="half" idx="10"/>
          </p:nvPr>
        </p:nvSpPr>
        <p:spPr/>
        <p:txBody>
          <a:bodyPr/>
          <a:lstStyle/>
          <a:p>
            <a:fld id="{B60543EC-CD1A-4D26-9AB9-A34E87DBE30A}" type="datetimeFigureOut">
              <a:rPr lang="en-US" smtClean="0"/>
              <a:t>12/17/2024</a:t>
            </a:fld>
            <a:endParaRPr lang="en-US"/>
          </a:p>
        </p:txBody>
      </p:sp>
      <p:sp>
        <p:nvSpPr>
          <p:cNvPr id="5" name="Footer Placeholder 4">
            <a:extLst>
              <a:ext uri="{FF2B5EF4-FFF2-40B4-BE49-F238E27FC236}">
                <a16:creationId xmlns:a16="http://schemas.microsoft.com/office/drawing/2014/main" id="{22551B98-99A0-0BFE-5189-EE4BAAB7A4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BAA474-FE4F-B3D5-2807-278544CDC0A4}"/>
              </a:ext>
            </a:extLst>
          </p:cNvPr>
          <p:cNvSpPr>
            <a:spLocks noGrp="1"/>
          </p:cNvSpPr>
          <p:nvPr>
            <p:ph type="sldNum" sz="quarter" idx="12"/>
          </p:nvPr>
        </p:nvSpPr>
        <p:spPr/>
        <p:txBody>
          <a:bodyPr/>
          <a:lstStyle/>
          <a:p>
            <a:fld id="{3F04251C-0299-4DEF-A8B0-C465CB609392}" type="slidenum">
              <a:rPr lang="en-US" smtClean="0"/>
              <a:t>‹#›</a:t>
            </a:fld>
            <a:endParaRPr lang="en-US"/>
          </a:p>
        </p:txBody>
      </p:sp>
    </p:spTree>
    <p:extLst>
      <p:ext uri="{BB962C8B-B14F-4D97-AF65-F5344CB8AC3E}">
        <p14:creationId xmlns:p14="http://schemas.microsoft.com/office/powerpoint/2010/main" val="233324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EE647A-8AED-91E8-1E32-4D0A785FF7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A57A89D-7F36-0A77-ACB4-9870A1A4CF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F8A54F-52C9-79E0-944E-A9BD988998B8}"/>
              </a:ext>
            </a:extLst>
          </p:cNvPr>
          <p:cNvSpPr>
            <a:spLocks noGrp="1"/>
          </p:cNvSpPr>
          <p:nvPr>
            <p:ph type="dt" sz="half" idx="10"/>
          </p:nvPr>
        </p:nvSpPr>
        <p:spPr/>
        <p:txBody>
          <a:bodyPr/>
          <a:lstStyle/>
          <a:p>
            <a:fld id="{B60543EC-CD1A-4D26-9AB9-A34E87DBE30A}" type="datetimeFigureOut">
              <a:rPr lang="en-US" smtClean="0"/>
              <a:t>12/17/2024</a:t>
            </a:fld>
            <a:endParaRPr lang="en-US"/>
          </a:p>
        </p:txBody>
      </p:sp>
      <p:sp>
        <p:nvSpPr>
          <p:cNvPr id="5" name="Footer Placeholder 4">
            <a:extLst>
              <a:ext uri="{FF2B5EF4-FFF2-40B4-BE49-F238E27FC236}">
                <a16:creationId xmlns:a16="http://schemas.microsoft.com/office/drawing/2014/main" id="{42C7D6C1-42A4-2B55-A63D-F5BE0AF896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02D41F-2BBD-F38A-B082-209DA79161A4}"/>
              </a:ext>
            </a:extLst>
          </p:cNvPr>
          <p:cNvSpPr>
            <a:spLocks noGrp="1"/>
          </p:cNvSpPr>
          <p:nvPr>
            <p:ph type="sldNum" sz="quarter" idx="12"/>
          </p:nvPr>
        </p:nvSpPr>
        <p:spPr/>
        <p:txBody>
          <a:bodyPr/>
          <a:lstStyle/>
          <a:p>
            <a:fld id="{3F04251C-0299-4DEF-A8B0-C465CB609392}" type="slidenum">
              <a:rPr lang="en-US" smtClean="0"/>
              <a:t>‹#›</a:t>
            </a:fld>
            <a:endParaRPr lang="en-US"/>
          </a:p>
        </p:txBody>
      </p:sp>
    </p:spTree>
    <p:extLst>
      <p:ext uri="{BB962C8B-B14F-4D97-AF65-F5344CB8AC3E}">
        <p14:creationId xmlns:p14="http://schemas.microsoft.com/office/powerpoint/2010/main" val="1319007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1BE18F-A262-154A-8FD2-A3EFA83D22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8A08127-532F-194A-7FAF-57EABAF8B0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FFEE99-E71C-6F56-19E4-25ECF8A7CB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0543EC-CD1A-4D26-9AB9-A34E87DBE30A}" type="datetimeFigureOut">
              <a:rPr lang="en-US" smtClean="0"/>
              <a:t>12/17/2024</a:t>
            </a:fld>
            <a:endParaRPr lang="en-US"/>
          </a:p>
        </p:txBody>
      </p:sp>
      <p:sp>
        <p:nvSpPr>
          <p:cNvPr id="5" name="Footer Placeholder 4">
            <a:extLst>
              <a:ext uri="{FF2B5EF4-FFF2-40B4-BE49-F238E27FC236}">
                <a16:creationId xmlns:a16="http://schemas.microsoft.com/office/drawing/2014/main" id="{E960276E-7317-9485-45D8-FBA70F5C42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8D5D607-2582-6E7C-74F8-40B2FAA03E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04251C-0299-4DEF-A8B0-C465CB609392}" type="slidenum">
              <a:rPr lang="en-US" smtClean="0"/>
              <a:t>‹#›</a:t>
            </a:fld>
            <a:endParaRPr lang="en-US"/>
          </a:p>
        </p:txBody>
      </p:sp>
    </p:spTree>
    <p:extLst>
      <p:ext uri="{BB962C8B-B14F-4D97-AF65-F5344CB8AC3E}">
        <p14:creationId xmlns:p14="http://schemas.microsoft.com/office/powerpoint/2010/main" val="4638654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E629F-C262-6859-5015-7369F8A3DE51}"/>
              </a:ext>
            </a:extLst>
          </p:cNvPr>
          <p:cNvSpPr>
            <a:spLocks noGrp="1"/>
          </p:cNvSpPr>
          <p:nvPr>
            <p:ph type="ctrTitle"/>
          </p:nvPr>
        </p:nvSpPr>
        <p:spPr>
          <a:xfrm>
            <a:off x="6662057" y="1972523"/>
            <a:ext cx="4973217" cy="2387600"/>
          </a:xfrm>
        </p:spPr>
        <p:txBody>
          <a:bodyPr>
            <a:normAutofit/>
          </a:bodyPr>
          <a:lstStyle/>
          <a:p>
            <a:r>
              <a:rPr lang="en-US" sz="4000" b="1" dirty="0">
                <a:solidFill>
                  <a:srgbClr val="7030A0"/>
                </a:solidFill>
              </a:rPr>
              <a:t>10 MÔ HÌNH</a:t>
            </a:r>
            <a:br>
              <a:rPr lang="en-US" sz="4000" b="1" dirty="0">
                <a:solidFill>
                  <a:srgbClr val="7030A0"/>
                </a:solidFill>
              </a:rPr>
            </a:br>
            <a:r>
              <a:rPr lang="en-US" sz="4000" b="1" dirty="0">
                <a:solidFill>
                  <a:srgbClr val="7030A0"/>
                </a:solidFill>
              </a:rPr>
              <a:t> QUẢN LÝ SỰ THAY ĐỔI</a:t>
            </a:r>
          </a:p>
        </p:txBody>
      </p:sp>
      <p:grpSp>
        <p:nvGrpSpPr>
          <p:cNvPr id="5" name="Group 4">
            <a:extLst>
              <a:ext uri="{FF2B5EF4-FFF2-40B4-BE49-F238E27FC236}">
                <a16:creationId xmlns:a16="http://schemas.microsoft.com/office/drawing/2014/main" id="{DA014640-E48C-147B-4364-71E25D2ABFEE}"/>
              </a:ext>
            </a:extLst>
          </p:cNvPr>
          <p:cNvGrpSpPr/>
          <p:nvPr/>
        </p:nvGrpSpPr>
        <p:grpSpPr>
          <a:xfrm>
            <a:off x="1817914" y="1737588"/>
            <a:ext cx="6521958" cy="3382824"/>
            <a:chOff x="427653" y="1523275"/>
            <a:chExt cx="6521958" cy="3382824"/>
          </a:xfrm>
        </p:grpSpPr>
        <p:sp>
          <p:nvSpPr>
            <p:cNvPr id="6" name="Frame 5">
              <a:extLst>
                <a:ext uri="{FF2B5EF4-FFF2-40B4-BE49-F238E27FC236}">
                  <a16:creationId xmlns:a16="http://schemas.microsoft.com/office/drawing/2014/main" id="{B13CA29B-A3BA-E800-EB2B-6F3DF9DBD6FC}"/>
                </a:ext>
              </a:extLst>
            </p:cNvPr>
            <p:cNvSpPr/>
            <p:nvPr/>
          </p:nvSpPr>
          <p:spPr>
            <a:xfrm>
              <a:off x="590873" y="1885237"/>
              <a:ext cx="4245102" cy="3020862"/>
            </a:xfrm>
            <a:prstGeom prst="frame">
              <a:avLst>
                <a:gd name="adj1" fmla="val 5450"/>
              </a:avLst>
            </a:prstGeom>
          </p:spPr>
          <p:style>
            <a:lnRef idx="0">
              <a:schemeClr val="accent2">
                <a:hueOff val="0"/>
                <a:satOff val="0"/>
                <a:lumOff val="0"/>
                <a:alphaOff val="0"/>
              </a:schemeClr>
            </a:lnRef>
            <a:fillRef idx="1">
              <a:schemeClr val="accent2">
                <a:tint val="50000"/>
                <a:alpha val="40000"/>
                <a:hueOff val="0"/>
                <a:satOff val="0"/>
                <a:lumOff val="0"/>
                <a:alphaOff val="0"/>
              </a:schemeClr>
            </a:fillRef>
            <a:effectRef idx="0">
              <a:schemeClr val="accent2">
                <a:tint val="50000"/>
                <a:alpha val="40000"/>
                <a:hueOff val="0"/>
                <a:satOff val="0"/>
                <a:lumOff val="0"/>
                <a:alphaOff val="0"/>
              </a:schemeClr>
            </a:effectRef>
            <a:fontRef idx="minor">
              <a:schemeClr val="lt1">
                <a:hueOff val="0"/>
                <a:satOff val="0"/>
                <a:lumOff val="0"/>
                <a:alphaOff val="0"/>
              </a:schemeClr>
            </a:fontRef>
          </p:style>
        </p:sp>
        <p:sp>
          <p:nvSpPr>
            <p:cNvPr id="7" name="Rectangle 6" descr="Quản lý sự thay đổi và những phương pháp tối ưu trong doanh nghiệp">
              <a:extLst>
                <a:ext uri="{FF2B5EF4-FFF2-40B4-BE49-F238E27FC236}">
                  <a16:creationId xmlns:a16="http://schemas.microsoft.com/office/drawing/2014/main" id="{ADB75DA4-6241-5A16-AD28-4A0E135E1F04}"/>
                </a:ext>
              </a:extLst>
            </p:cNvPr>
            <p:cNvSpPr/>
            <p:nvPr/>
          </p:nvSpPr>
          <p:spPr>
            <a:xfrm>
              <a:off x="427653" y="1523275"/>
              <a:ext cx="4081881" cy="2857471"/>
            </a:xfrm>
            <a:prstGeom prst="rect">
              <a:avLst/>
            </a:prstGeom>
            <a:blipFill>
              <a:blip r:embed="rId2">
                <a:extLst>
                  <a:ext uri="{28A0092B-C50C-407E-A947-70E740481C1C}">
                    <a14:useLocalDpi xmlns:a14="http://schemas.microsoft.com/office/drawing/2010/main" val="0"/>
                  </a:ext>
                </a:extLst>
              </a:blip>
              <a:srcRect/>
              <a:stretch>
                <a:fillRect l="-9000" r="-9000"/>
              </a:stretch>
            </a:blipFill>
          </p:spPr>
          <p:style>
            <a:lnRef idx="2">
              <a:schemeClr val="accent2">
                <a:shade val="80000"/>
                <a:hueOff val="0"/>
                <a:satOff val="0"/>
                <a:lumOff val="0"/>
                <a:alphaOff val="0"/>
              </a:schemeClr>
            </a:lnRef>
            <a:fillRef idx="1">
              <a:scrgbClr r="0" g="0" b="0"/>
            </a:fillRef>
            <a:effectRef idx="0">
              <a:schemeClr val="accent2">
                <a:tint val="40000"/>
                <a:hueOff val="0"/>
                <a:satOff val="0"/>
                <a:lumOff val="0"/>
                <a:alphaOff val="0"/>
              </a:schemeClr>
            </a:effectRef>
            <a:fontRef idx="minor">
              <a:schemeClr val="lt1">
                <a:hueOff val="0"/>
                <a:satOff val="0"/>
                <a:lumOff val="0"/>
                <a:alphaOff val="0"/>
              </a:schemeClr>
            </a:fontRef>
          </p:style>
        </p:sp>
        <p:sp>
          <p:nvSpPr>
            <p:cNvPr id="8" name="Freeform: Shape 7">
              <a:extLst>
                <a:ext uri="{FF2B5EF4-FFF2-40B4-BE49-F238E27FC236}">
                  <a16:creationId xmlns:a16="http://schemas.microsoft.com/office/drawing/2014/main" id="{24102D1C-D7C4-DF0D-1733-054A240F5F84}"/>
                </a:ext>
              </a:extLst>
            </p:cNvPr>
            <p:cNvSpPr/>
            <p:nvPr/>
          </p:nvSpPr>
          <p:spPr>
            <a:xfrm>
              <a:off x="756837" y="4381761"/>
              <a:ext cx="3915918" cy="358579"/>
            </a:xfrm>
            <a:custGeom>
              <a:avLst/>
              <a:gdLst>
                <a:gd name="connsiteX0" fmla="*/ 0 w 3915918"/>
                <a:gd name="connsiteY0" fmla="*/ 0 h 358579"/>
                <a:gd name="connsiteX1" fmla="*/ 3915918 w 3915918"/>
                <a:gd name="connsiteY1" fmla="*/ 0 h 358579"/>
                <a:gd name="connsiteX2" fmla="*/ 3915918 w 3915918"/>
                <a:gd name="connsiteY2" fmla="*/ 358579 h 358579"/>
                <a:gd name="connsiteX3" fmla="*/ 0 w 3915918"/>
                <a:gd name="connsiteY3" fmla="*/ 358579 h 358579"/>
                <a:gd name="connsiteX4" fmla="*/ 0 w 3915918"/>
                <a:gd name="connsiteY4" fmla="*/ 0 h 358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5918" h="358579">
                  <a:moveTo>
                    <a:pt x="0" y="0"/>
                  </a:moveTo>
                  <a:lnTo>
                    <a:pt x="3915918" y="0"/>
                  </a:lnTo>
                  <a:lnTo>
                    <a:pt x="3915918" y="358579"/>
                  </a:lnTo>
                  <a:lnTo>
                    <a:pt x="0" y="35857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62560" tIns="60960" rIns="162560" bIns="60960" numCol="1" spcCol="1270" anchor="ctr" anchorCtr="0">
              <a:noAutofit/>
            </a:bodyPr>
            <a:lstStyle/>
            <a:p>
              <a:pPr marL="0" lvl="0" indent="0" algn="l" defTabSz="711200">
                <a:lnSpc>
                  <a:spcPct val="90000"/>
                </a:lnSpc>
                <a:spcBef>
                  <a:spcPct val="0"/>
                </a:spcBef>
                <a:spcAft>
                  <a:spcPct val="35000"/>
                </a:spcAft>
                <a:buNone/>
              </a:pPr>
              <a:endParaRPr lang="en-US" sz="1600" kern="1200"/>
            </a:p>
          </p:txBody>
        </p:sp>
        <p:sp>
          <p:nvSpPr>
            <p:cNvPr id="9" name="Rectangle 8">
              <a:extLst>
                <a:ext uri="{FF2B5EF4-FFF2-40B4-BE49-F238E27FC236}">
                  <a16:creationId xmlns:a16="http://schemas.microsoft.com/office/drawing/2014/main" id="{51B90ED3-DEAA-32C8-A584-086E0AF7884A}"/>
                </a:ext>
              </a:extLst>
            </p:cNvPr>
            <p:cNvSpPr/>
            <p:nvPr/>
          </p:nvSpPr>
          <p:spPr>
            <a:xfrm>
              <a:off x="5008797" y="1885237"/>
              <a:ext cx="1940814" cy="3020862"/>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grpSp>
    </p:spTree>
    <p:extLst>
      <p:ext uri="{BB962C8B-B14F-4D97-AF65-F5344CB8AC3E}">
        <p14:creationId xmlns:p14="http://schemas.microsoft.com/office/powerpoint/2010/main" val="1626056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B4F64-7F54-0B5E-0D93-2841654A1C93}"/>
              </a:ext>
            </a:extLst>
          </p:cNvPr>
          <p:cNvSpPr>
            <a:spLocks noGrp="1"/>
          </p:cNvSpPr>
          <p:nvPr>
            <p:ph type="title"/>
          </p:nvPr>
        </p:nvSpPr>
        <p:spPr>
          <a:xfrm>
            <a:off x="838200" y="337133"/>
            <a:ext cx="10515600" cy="1325563"/>
          </a:xfrm>
        </p:spPr>
        <p:txBody>
          <a:bodyPr>
            <a:noAutofit/>
          </a:bodyPr>
          <a:lstStyle/>
          <a:p>
            <a:r>
              <a:rPr lang="en-US" sz="3200" b="1" i="0" dirty="0" err="1">
                <a:solidFill>
                  <a:schemeClr val="accent4">
                    <a:lumMod val="75000"/>
                  </a:schemeClr>
                </a:solidFill>
                <a:effectLst/>
                <a:latin typeface="arial" panose="020B0604020202020204" pitchFamily="34" charset="0"/>
              </a:rPr>
              <a:t>Tại</a:t>
            </a:r>
            <a:r>
              <a:rPr lang="en-US" sz="3200" b="1" i="0" dirty="0">
                <a:solidFill>
                  <a:schemeClr val="accent4">
                    <a:lumMod val="75000"/>
                  </a:schemeClr>
                </a:solidFill>
                <a:effectLst/>
                <a:latin typeface="arial" panose="020B0604020202020204" pitchFamily="34" charset="0"/>
              </a:rPr>
              <a:t> </a:t>
            </a:r>
            <a:r>
              <a:rPr lang="en-US" sz="3200" b="1" i="0" dirty="0" err="1">
                <a:solidFill>
                  <a:schemeClr val="accent4">
                    <a:lumMod val="75000"/>
                  </a:schemeClr>
                </a:solidFill>
                <a:effectLst/>
                <a:latin typeface="arial" panose="020B0604020202020204" pitchFamily="34" charset="0"/>
              </a:rPr>
              <a:t>sao</a:t>
            </a:r>
            <a:r>
              <a:rPr lang="en-US" sz="3200" b="1" i="0" dirty="0">
                <a:solidFill>
                  <a:schemeClr val="accent4">
                    <a:lumMod val="75000"/>
                  </a:schemeClr>
                </a:solidFill>
                <a:effectLst/>
                <a:latin typeface="arial" panose="020B0604020202020204" pitchFamily="34" charset="0"/>
              </a:rPr>
              <a:t> </a:t>
            </a:r>
            <a:r>
              <a:rPr lang="en-US" sz="3200" b="1" i="0" dirty="0" err="1">
                <a:solidFill>
                  <a:schemeClr val="accent4">
                    <a:lumMod val="75000"/>
                  </a:schemeClr>
                </a:solidFill>
                <a:effectLst/>
                <a:latin typeface="arial" panose="020B0604020202020204" pitchFamily="34" charset="0"/>
              </a:rPr>
              <a:t>cần</a:t>
            </a:r>
            <a:r>
              <a:rPr lang="en-US" sz="3200" b="1" i="0" dirty="0">
                <a:solidFill>
                  <a:schemeClr val="accent4">
                    <a:lumMod val="75000"/>
                  </a:schemeClr>
                </a:solidFill>
                <a:effectLst/>
                <a:latin typeface="arial" panose="020B0604020202020204" pitchFamily="34" charset="0"/>
              </a:rPr>
              <a:t> </a:t>
            </a:r>
            <a:r>
              <a:rPr lang="en-US" sz="3200" b="1" i="0" dirty="0" err="1">
                <a:solidFill>
                  <a:schemeClr val="accent4">
                    <a:lumMod val="75000"/>
                  </a:schemeClr>
                </a:solidFill>
                <a:effectLst/>
                <a:latin typeface="arial" panose="020B0604020202020204" pitchFamily="34" charset="0"/>
              </a:rPr>
              <a:t>chọn</a:t>
            </a:r>
            <a:r>
              <a:rPr lang="en-US" sz="3200" b="1" i="0" dirty="0">
                <a:solidFill>
                  <a:schemeClr val="accent4">
                    <a:lumMod val="75000"/>
                  </a:schemeClr>
                </a:solidFill>
                <a:effectLst/>
                <a:latin typeface="arial" panose="020B0604020202020204" pitchFamily="34" charset="0"/>
              </a:rPr>
              <a:t> </a:t>
            </a:r>
            <a:r>
              <a:rPr lang="en-US" sz="3200" b="1" i="0" dirty="0" err="1">
                <a:solidFill>
                  <a:schemeClr val="accent4">
                    <a:lumMod val="75000"/>
                  </a:schemeClr>
                </a:solidFill>
                <a:effectLst/>
                <a:latin typeface="arial" panose="020B0604020202020204" pitchFamily="34" charset="0"/>
              </a:rPr>
              <a:t>đúng</a:t>
            </a:r>
            <a:r>
              <a:rPr lang="en-US" sz="3200" b="1" i="0" dirty="0">
                <a:solidFill>
                  <a:schemeClr val="accent4">
                    <a:lumMod val="75000"/>
                  </a:schemeClr>
                </a:solidFill>
                <a:effectLst/>
                <a:latin typeface="arial" panose="020B0604020202020204" pitchFamily="34" charset="0"/>
              </a:rPr>
              <a:t> </a:t>
            </a:r>
            <a:r>
              <a:rPr lang="en-US" sz="3200" b="1" i="0" dirty="0" err="1">
                <a:solidFill>
                  <a:schemeClr val="accent4">
                    <a:lumMod val="75000"/>
                  </a:schemeClr>
                </a:solidFill>
                <a:effectLst/>
                <a:latin typeface="arial" panose="020B0604020202020204" pitchFamily="34" charset="0"/>
              </a:rPr>
              <a:t>mô</a:t>
            </a:r>
            <a:r>
              <a:rPr lang="en-US" sz="3200" b="1" i="0" dirty="0">
                <a:solidFill>
                  <a:schemeClr val="accent4">
                    <a:lumMod val="75000"/>
                  </a:schemeClr>
                </a:solidFill>
                <a:effectLst/>
                <a:latin typeface="arial" panose="020B0604020202020204" pitchFamily="34" charset="0"/>
              </a:rPr>
              <a:t> </a:t>
            </a:r>
            <a:r>
              <a:rPr lang="en-US" sz="3200" b="1" i="0" dirty="0" err="1">
                <a:solidFill>
                  <a:schemeClr val="accent4">
                    <a:lumMod val="75000"/>
                  </a:schemeClr>
                </a:solidFill>
                <a:effectLst/>
                <a:latin typeface="arial" panose="020B0604020202020204" pitchFamily="34" charset="0"/>
              </a:rPr>
              <a:t>hình</a:t>
            </a:r>
            <a:r>
              <a:rPr lang="en-US" sz="3200" b="1" i="0" dirty="0">
                <a:solidFill>
                  <a:schemeClr val="accent4">
                    <a:lumMod val="75000"/>
                  </a:schemeClr>
                </a:solidFill>
                <a:effectLst/>
                <a:latin typeface="arial" panose="020B0604020202020204" pitchFamily="34" charset="0"/>
              </a:rPr>
              <a:t> </a:t>
            </a:r>
            <a:r>
              <a:rPr lang="en-US" sz="3200" b="1" i="0" dirty="0" err="1">
                <a:solidFill>
                  <a:schemeClr val="accent4">
                    <a:lumMod val="75000"/>
                  </a:schemeClr>
                </a:solidFill>
                <a:effectLst/>
                <a:latin typeface="arial" panose="020B0604020202020204" pitchFamily="34" charset="0"/>
              </a:rPr>
              <a:t>quản</a:t>
            </a:r>
            <a:r>
              <a:rPr lang="en-US" sz="3200" b="1" i="0" dirty="0">
                <a:solidFill>
                  <a:schemeClr val="accent4">
                    <a:lumMod val="75000"/>
                  </a:schemeClr>
                </a:solidFill>
                <a:effectLst/>
                <a:latin typeface="arial" panose="020B0604020202020204" pitchFamily="34" charset="0"/>
              </a:rPr>
              <a:t> </a:t>
            </a:r>
            <a:r>
              <a:rPr lang="en-US" sz="3200" b="1" i="0" dirty="0" err="1">
                <a:solidFill>
                  <a:schemeClr val="accent4">
                    <a:lumMod val="75000"/>
                  </a:schemeClr>
                </a:solidFill>
                <a:effectLst/>
                <a:latin typeface="arial" panose="020B0604020202020204" pitchFamily="34" charset="0"/>
              </a:rPr>
              <a:t>lý</a:t>
            </a:r>
            <a:r>
              <a:rPr lang="en-US" sz="3200" b="1" i="0" dirty="0">
                <a:solidFill>
                  <a:schemeClr val="accent4">
                    <a:lumMod val="75000"/>
                  </a:schemeClr>
                </a:solidFill>
                <a:effectLst/>
                <a:latin typeface="arial" panose="020B0604020202020204" pitchFamily="34" charset="0"/>
              </a:rPr>
              <a:t> </a:t>
            </a:r>
            <a:r>
              <a:rPr lang="en-US" sz="3200" b="1" i="0" dirty="0" err="1">
                <a:solidFill>
                  <a:schemeClr val="accent4">
                    <a:lumMod val="75000"/>
                  </a:schemeClr>
                </a:solidFill>
                <a:effectLst/>
                <a:latin typeface="arial" panose="020B0604020202020204" pitchFamily="34" charset="0"/>
              </a:rPr>
              <a:t>sự</a:t>
            </a:r>
            <a:r>
              <a:rPr lang="en-US" sz="3200" b="1" i="0" dirty="0">
                <a:solidFill>
                  <a:schemeClr val="accent4">
                    <a:lumMod val="75000"/>
                  </a:schemeClr>
                </a:solidFill>
                <a:effectLst/>
                <a:latin typeface="arial" panose="020B0604020202020204" pitchFamily="34" charset="0"/>
              </a:rPr>
              <a:t> </a:t>
            </a:r>
            <a:r>
              <a:rPr lang="en-US" sz="3200" b="1" i="0" dirty="0" err="1">
                <a:solidFill>
                  <a:schemeClr val="accent4">
                    <a:lumMod val="75000"/>
                  </a:schemeClr>
                </a:solidFill>
                <a:effectLst/>
                <a:latin typeface="arial" panose="020B0604020202020204" pitchFamily="34" charset="0"/>
              </a:rPr>
              <a:t>thay</a:t>
            </a:r>
            <a:r>
              <a:rPr lang="en-US" sz="3200" b="1" i="0" dirty="0">
                <a:solidFill>
                  <a:schemeClr val="accent4">
                    <a:lumMod val="75000"/>
                  </a:schemeClr>
                </a:solidFill>
                <a:effectLst/>
                <a:latin typeface="arial" panose="020B0604020202020204" pitchFamily="34" charset="0"/>
              </a:rPr>
              <a:t> </a:t>
            </a:r>
            <a:r>
              <a:rPr lang="en-US" sz="3200" b="1" i="0" dirty="0" err="1">
                <a:solidFill>
                  <a:schemeClr val="accent4">
                    <a:lumMod val="75000"/>
                  </a:schemeClr>
                </a:solidFill>
                <a:effectLst/>
                <a:latin typeface="arial" panose="020B0604020202020204" pitchFamily="34" charset="0"/>
              </a:rPr>
              <a:t>đổi</a:t>
            </a:r>
            <a:r>
              <a:rPr lang="en-US" sz="3200" b="1" i="0" dirty="0">
                <a:solidFill>
                  <a:schemeClr val="accent4">
                    <a:lumMod val="75000"/>
                  </a:schemeClr>
                </a:solidFill>
                <a:effectLst/>
                <a:latin typeface="arial" panose="020B0604020202020204" pitchFamily="34" charset="0"/>
              </a:rPr>
              <a:t>?</a:t>
            </a:r>
            <a:br>
              <a:rPr lang="en-US" sz="3200" b="1" i="0" dirty="0">
                <a:solidFill>
                  <a:schemeClr val="accent4">
                    <a:lumMod val="75000"/>
                  </a:schemeClr>
                </a:solidFill>
                <a:effectLst/>
                <a:latin typeface="Arial" panose="020B0604020202020204" pitchFamily="34" charset="0"/>
              </a:rPr>
            </a:br>
            <a:endParaRPr lang="en-US" sz="3200" dirty="0">
              <a:solidFill>
                <a:schemeClr val="accent4">
                  <a:lumMod val="75000"/>
                </a:schemeClr>
              </a:solidFill>
            </a:endParaRPr>
          </a:p>
        </p:txBody>
      </p:sp>
      <p:sp>
        <p:nvSpPr>
          <p:cNvPr id="3" name="Content Placeholder 2">
            <a:extLst>
              <a:ext uri="{FF2B5EF4-FFF2-40B4-BE49-F238E27FC236}">
                <a16:creationId xmlns:a16="http://schemas.microsoft.com/office/drawing/2014/main" id="{480F4458-9FCB-328A-B488-324D64934DA6}"/>
              </a:ext>
            </a:extLst>
          </p:cNvPr>
          <p:cNvSpPr>
            <a:spLocks noGrp="1"/>
          </p:cNvSpPr>
          <p:nvPr>
            <p:ph idx="1"/>
          </p:nvPr>
        </p:nvSpPr>
        <p:spPr>
          <a:xfrm>
            <a:off x="838200" y="1825625"/>
            <a:ext cx="6253065" cy="4351338"/>
          </a:xfrm>
        </p:spPr>
        <p:txBody>
          <a:bodyPr>
            <a:normAutofit/>
          </a:bodyPr>
          <a:lstStyle/>
          <a:p>
            <a:pPr algn="just">
              <a:buFont typeface="Wingdings" panose="05000000000000000000" pitchFamily="2" charset="2"/>
              <a:buChar char="Ø"/>
            </a:pPr>
            <a:r>
              <a:rPr lang="vi-VN" sz="1800" b="0" i="0" dirty="0">
                <a:solidFill>
                  <a:srgbClr val="002060"/>
                </a:solidFill>
                <a:effectLst/>
                <a:latin typeface="arial" panose="020B0604020202020204" pitchFamily="34" charset="0"/>
              </a:rPr>
              <a:t>Trong thế giới kinh doanh ngày nay, sự thay đổi không chỉ là một phần tất yếu mà còn là động lực thúc đẩy sự phát triển. Từ việc áp dụng công nghệ mới đến việc tái cấu trúc tổ chức, các doanh nghiệp luôn tìm kiếm cách để thích ứng và vượt trội</a:t>
            </a:r>
            <a:endParaRPr lang="en-US" sz="1800" b="0" i="0" dirty="0">
              <a:solidFill>
                <a:srgbClr val="002060"/>
              </a:solidFill>
              <a:effectLst/>
              <a:latin typeface="arial" panose="020B0604020202020204" pitchFamily="34" charset="0"/>
            </a:endParaRPr>
          </a:p>
          <a:p>
            <a:pPr algn="just">
              <a:buFont typeface="Wingdings" panose="05000000000000000000" pitchFamily="2" charset="2"/>
              <a:buChar char="Ø"/>
            </a:pPr>
            <a:r>
              <a:rPr lang="vi-VN" sz="1800" b="0" i="0" dirty="0">
                <a:solidFill>
                  <a:srgbClr val="002060"/>
                </a:solidFill>
                <a:effectLst/>
                <a:latin typeface="arial" panose="020B0604020202020204" pitchFamily="34" charset="0"/>
              </a:rPr>
              <a:t>Khoảng </a:t>
            </a:r>
            <a:r>
              <a:rPr lang="vi-VN" sz="1800" b="0" i="0" u="none" strike="noStrike" dirty="0">
                <a:solidFill>
                  <a:srgbClr val="002060"/>
                </a:solidFill>
                <a:effectLst/>
                <a:latin typeface="arial" panose="020B0604020202020204" pitchFamily="34" charset="0"/>
              </a:rPr>
              <a:t>70% các sáng kiến thay đổi đều thất bại</a:t>
            </a:r>
            <a:r>
              <a:rPr lang="vi-VN" sz="1800" b="0" i="0" dirty="0">
                <a:solidFill>
                  <a:srgbClr val="002060"/>
                </a:solidFill>
                <a:effectLst/>
                <a:latin typeface="arial" panose="020B0604020202020204" pitchFamily="34" charset="0"/>
              </a:rPr>
              <a:t>, một phần nguyên nhân là do áp dụng sai Mô hình quản lý sự thay đổi hoặc họ bị choáng ngợp bởi quá trình thực hiện quá phức tạp. Chọn đúng mô hình sẽ giúp các nhà quản lý tập trung và có phương pháp hơn trong quá trình triển khai thay đổi.</a:t>
            </a:r>
            <a:endParaRPr lang="en-US" sz="1800" dirty="0">
              <a:solidFill>
                <a:srgbClr val="002060"/>
              </a:solidFill>
            </a:endParaRPr>
          </a:p>
        </p:txBody>
      </p:sp>
      <p:pic>
        <p:nvPicPr>
          <p:cNvPr id="11266" name="Picture 2" descr="Phương pháp quản lý sự thay đổi của nhà quản lý - MISA SME">
            <a:extLst>
              <a:ext uri="{FF2B5EF4-FFF2-40B4-BE49-F238E27FC236}">
                <a16:creationId xmlns:a16="http://schemas.microsoft.com/office/drawing/2014/main" id="{D147CE68-BDCE-B845-F46F-CDB10EA16B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8572" y="1662696"/>
            <a:ext cx="4476750" cy="3114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9910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B2B0F-F766-1C79-8C1E-B90E2361B014}"/>
              </a:ext>
            </a:extLst>
          </p:cNvPr>
          <p:cNvSpPr>
            <a:spLocks noGrp="1"/>
          </p:cNvSpPr>
          <p:nvPr>
            <p:ph type="title"/>
          </p:nvPr>
        </p:nvSpPr>
        <p:spPr/>
        <p:txBody>
          <a:bodyPr>
            <a:normAutofit/>
          </a:bodyPr>
          <a:lstStyle/>
          <a:p>
            <a:r>
              <a:rPr lang="vi-VN" sz="4000" b="1" i="0" dirty="0">
                <a:solidFill>
                  <a:srgbClr val="0070C0"/>
                </a:solidFill>
                <a:effectLst/>
                <a:latin typeface="arial" panose="020B0604020202020204" pitchFamily="34" charset="0"/>
              </a:rPr>
              <a:t>Các khung mô hình quản lý sự thay đổi</a:t>
            </a:r>
            <a:endParaRPr lang="en-US" sz="4000" dirty="0">
              <a:solidFill>
                <a:srgbClr val="0070C0"/>
              </a:solidFill>
            </a:endParaRPr>
          </a:p>
        </p:txBody>
      </p:sp>
      <p:sp>
        <p:nvSpPr>
          <p:cNvPr id="3" name="Content Placeholder 2">
            <a:extLst>
              <a:ext uri="{FF2B5EF4-FFF2-40B4-BE49-F238E27FC236}">
                <a16:creationId xmlns:a16="http://schemas.microsoft.com/office/drawing/2014/main" id="{56A1AC01-03EB-0666-7A25-766F9B612762}"/>
              </a:ext>
            </a:extLst>
          </p:cNvPr>
          <p:cNvSpPr>
            <a:spLocks noGrp="1"/>
          </p:cNvSpPr>
          <p:nvPr>
            <p:ph idx="1"/>
          </p:nvPr>
        </p:nvSpPr>
        <p:spPr/>
        <p:txBody>
          <a:bodyPr>
            <a:normAutofit/>
          </a:bodyPr>
          <a:lstStyle/>
          <a:p>
            <a:pPr algn="just" rtl="0" fontAlgn="base">
              <a:lnSpc>
                <a:spcPct val="100000"/>
              </a:lnSpc>
            </a:pPr>
            <a:r>
              <a:rPr lang="vi-VN" sz="1200" b="0" i="0" dirty="0">
                <a:solidFill>
                  <a:srgbClr val="002060"/>
                </a:solidFill>
                <a:effectLst/>
                <a:latin typeface="arial" panose="020B0604020202020204" pitchFamily="34" charset="0"/>
              </a:rPr>
              <a:t>Doanh nghiệp thay đổi là điều cần thiết để phát triển, đặc biệt trong thời đại biến động hiện nay. </a:t>
            </a:r>
            <a:r>
              <a:rPr lang="vi-VN" sz="1200" b="0" i="0" u="none" strike="noStrike" dirty="0">
                <a:solidFill>
                  <a:srgbClr val="002060"/>
                </a:solidFill>
                <a:effectLst/>
                <a:latin typeface="arial" panose="020B0604020202020204" pitchFamily="34" charset="0"/>
              </a:rPr>
              <a:t>Hơn 75% doanh nghiệp</a:t>
            </a:r>
            <a:r>
              <a:rPr lang="vi-VN" sz="1200" b="0" i="0" dirty="0">
                <a:solidFill>
                  <a:srgbClr val="002060"/>
                </a:solidFill>
                <a:effectLst/>
                <a:latin typeface="arial" panose="020B0604020202020204" pitchFamily="34" charset="0"/>
              </a:rPr>
              <a:t> đang sẵn sàng thực hiện những ý tưởng thay đổi, nhưng chỉ 34% trong số đó thành công.</a:t>
            </a:r>
            <a:endParaRPr lang="vi-VN" sz="1200" b="0" i="0" dirty="0">
              <a:solidFill>
                <a:srgbClr val="002060"/>
              </a:solidFill>
              <a:effectLst/>
              <a:latin typeface="Arial" panose="020B0604020202020204" pitchFamily="34" charset="0"/>
            </a:endParaRPr>
          </a:p>
          <a:p>
            <a:pPr algn="just" rtl="0" fontAlgn="base">
              <a:lnSpc>
                <a:spcPct val="100000"/>
              </a:lnSpc>
            </a:pPr>
            <a:r>
              <a:rPr lang="vi-VN" sz="1200" b="0" i="0" dirty="0">
                <a:solidFill>
                  <a:srgbClr val="002060"/>
                </a:solidFill>
                <a:effectLst/>
                <a:latin typeface="arial" panose="020B0604020202020204" pitchFamily="34" charset="0"/>
              </a:rPr>
              <a:t>Lý do chính là nhiều tổ chức vội vàng thực hiện thay đổi hoặc chỉ phản ứng theo tình huống. Để thành công, doanh nghiệp cần chủ động và bắt đầu bằng việc liệt kê những lợi ích của sự thay đổi.</a:t>
            </a:r>
            <a:endParaRPr lang="vi-VN" sz="1200" b="0" i="0" dirty="0">
              <a:solidFill>
                <a:srgbClr val="002060"/>
              </a:solidFill>
              <a:effectLst/>
              <a:latin typeface="Arial" panose="020B0604020202020204" pitchFamily="34" charset="0"/>
            </a:endParaRPr>
          </a:p>
          <a:p>
            <a:pPr marL="0" indent="0" algn="just" rtl="0" fontAlgn="base">
              <a:lnSpc>
                <a:spcPct val="100000"/>
              </a:lnSpc>
              <a:buNone/>
            </a:pPr>
            <a:r>
              <a:rPr lang="vi-VN" sz="1200" b="0" i="0" dirty="0">
                <a:solidFill>
                  <a:srgbClr val="002060"/>
                </a:solidFill>
                <a:effectLst/>
                <a:latin typeface="arial" panose="020B0604020202020204" pitchFamily="34" charset="0"/>
              </a:rPr>
              <a:t>Dưới đây là một số lợi ích của việc thay đổi và tác động mà nó có thể tạo ra cho tổ chức của bạn:</a:t>
            </a:r>
            <a:endParaRPr lang="vi-VN" sz="1200" b="0" i="0" dirty="0">
              <a:solidFill>
                <a:srgbClr val="002060"/>
              </a:solidFill>
              <a:effectLst/>
              <a:latin typeface="Arial" panose="020B0604020202020204" pitchFamily="34" charset="0"/>
            </a:endParaRPr>
          </a:p>
          <a:p>
            <a:pPr lvl="1" algn="just" fontAlgn="base">
              <a:lnSpc>
                <a:spcPct val="100000"/>
              </a:lnSpc>
            </a:pPr>
            <a:r>
              <a:rPr lang="vi-VN" sz="1200" b="1" i="0" dirty="0">
                <a:solidFill>
                  <a:srgbClr val="002060"/>
                </a:solidFill>
                <a:effectLst/>
                <a:latin typeface="inherit"/>
              </a:rPr>
              <a:t>Đo lường kết quả:</a:t>
            </a:r>
            <a:r>
              <a:rPr lang="vi-VN" sz="1200" b="0" i="0" dirty="0">
                <a:solidFill>
                  <a:srgbClr val="002060"/>
                </a:solidFill>
                <a:effectLst/>
                <a:latin typeface="arial" panose="020B0604020202020204" pitchFamily="34" charset="0"/>
              </a:rPr>
              <a:t> Bất kỳ thay đổi nào cũng cần đặt mục tiêu, lên lịch trình và ngân sách rõ ràng. Đây là lúc các mô hình quản lý sự thay đổi phát huy tác dụng. Chúng giúp xây dựng quy trình theo cách có thể đo lường được. Điều này giúp tổ chức đo lường hiệu quả của quá trình chuyển đổi, phân tích năng suất nhân viên, hiểu tỷ lệ áp dụng, lập bản đồ ngân sách và dự đoán thời gian triển khai.</a:t>
            </a:r>
            <a:endParaRPr lang="vi-VN" sz="1200" b="0" i="0" dirty="0">
              <a:solidFill>
                <a:srgbClr val="002060"/>
              </a:solidFill>
              <a:effectLst/>
              <a:latin typeface="Arial" panose="020B0604020202020204" pitchFamily="34" charset="0"/>
            </a:endParaRPr>
          </a:p>
          <a:p>
            <a:pPr lvl="1" algn="just" fontAlgn="base">
              <a:lnSpc>
                <a:spcPct val="100000"/>
              </a:lnSpc>
            </a:pPr>
            <a:r>
              <a:rPr lang="vi-VN" sz="1200" b="1" i="0" dirty="0">
                <a:solidFill>
                  <a:srgbClr val="002060"/>
                </a:solidFill>
                <a:effectLst/>
                <a:latin typeface="inherit"/>
              </a:rPr>
              <a:t>Xóa bỏ sức đề kháng nội bộ:</a:t>
            </a:r>
            <a:r>
              <a:rPr lang="vi-VN" sz="1200" b="0" i="0" dirty="0">
                <a:solidFill>
                  <a:srgbClr val="002060"/>
                </a:solidFill>
                <a:effectLst/>
                <a:latin typeface="arial" panose="020B0604020202020204" pitchFamily="34" charset="0"/>
              </a:rPr>
              <a:t> Khung quản lý thay đổi giúp xác định các lĩnh vực tiềm ẩn có thể gặp phải sự chống đối và lý do của chúng. Sau đó, tổ chức có thể lên kế hoạch giảm thiểu sức đề kháng và chuyển những người chống đối thành người ủng hộ. Hơn nữa, nó cho phép tổ chức tạo các kênh truyền thông để đảm bảo tất cả các bên liên quan đều hiểu về sự thay đổi.</a:t>
            </a:r>
            <a:endParaRPr lang="vi-VN" sz="1200" b="0" i="0" dirty="0">
              <a:solidFill>
                <a:srgbClr val="002060"/>
              </a:solidFill>
              <a:effectLst/>
              <a:latin typeface="Arial" panose="020B0604020202020204" pitchFamily="34" charset="0"/>
            </a:endParaRPr>
          </a:p>
          <a:p>
            <a:pPr lvl="1" algn="just" fontAlgn="base">
              <a:lnSpc>
                <a:spcPct val="100000"/>
              </a:lnSpc>
            </a:pPr>
            <a:r>
              <a:rPr lang="vi-VN" sz="1200" b="1" i="0" dirty="0">
                <a:solidFill>
                  <a:srgbClr val="002060"/>
                </a:solidFill>
                <a:effectLst/>
                <a:latin typeface="inherit"/>
              </a:rPr>
              <a:t>Dự báo:</a:t>
            </a:r>
            <a:r>
              <a:rPr lang="vi-VN" sz="1200" b="0" i="0" dirty="0">
                <a:solidFill>
                  <a:srgbClr val="002060"/>
                </a:solidFill>
                <a:effectLst/>
                <a:latin typeface="arial" panose="020B0604020202020204" pitchFamily="34" charset="0"/>
              </a:rPr>
              <a:t> Khung quản lý thay đổi không chỉ giúp đo lường mà còn giúp tổ chức dự báo về thời gian, hành vi nhân viên, đầu ra mong đợi và doanh thu. Dựa trên dự đoán này, doanh nghiệp có thể xây dựng chiến lược và một lần nữa, mô hình thay đổi sẽ hỗ trợ điều đó, mang lại cảm giác tin tưởng cho tất cả các bên liên quan. Kết quả là, mọi người bắt đầu cảm thấy rằng sự thay đổi có thể quản lý được và không quá sức. Nhờ dự báo, các nhà lãnh đạo doanh nghiệp có thể phát hiện ra những khó khăn trước và đầu tư vào các giải pháp giúp nhân viên dễ dàng thích nghi với sự thay đổi hơn. Điều này thúc đẩy hiệu suất của họ và giúp họ làm việc tốt hơn.</a:t>
            </a:r>
            <a:endParaRPr lang="vi-VN" sz="1200" b="0" i="0" dirty="0">
              <a:solidFill>
                <a:srgbClr val="002060"/>
              </a:solidFill>
              <a:effectLst/>
              <a:latin typeface="Arial" panose="020B0604020202020204" pitchFamily="34" charset="0"/>
            </a:endParaRPr>
          </a:p>
          <a:p>
            <a:pPr algn="just">
              <a:lnSpc>
                <a:spcPct val="100000"/>
              </a:lnSpc>
            </a:pPr>
            <a:endParaRPr lang="en-US" sz="1200" dirty="0">
              <a:solidFill>
                <a:srgbClr val="002060"/>
              </a:solidFill>
            </a:endParaRPr>
          </a:p>
        </p:txBody>
      </p:sp>
    </p:spTree>
    <p:extLst>
      <p:ext uri="{BB962C8B-B14F-4D97-AF65-F5344CB8AC3E}">
        <p14:creationId xmlns:p14="http://schemas.microsoft.com/office/powerpoint/2010/main" val="2916144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578BC-084A-930F-84CB-E47AA459841D}"/>
              </a:ext>
            </a:extLst>
          </p:cNvPr>
          <p:cNvSpPr>
            <a:spLocks noGrp="1"/>
          </p:cNvSpPr>
          <p:nvPr>
            <p:ph type="title"/>
          </p:nvPr>
        </p:nvSpPr>
        <p:spPr/>
        <p:txBody>
          <a:bodyPr/>
          <a:lstStyle/>
          <a:p>
            <a:r>
              <a:rPr lang="en-US" b="1" i="1" u="none" strike="noStrike" dirty="0">
                <a:solidFill>
                  <a:srgbClr val="0070C0"/>
                </a:solidFill>
                <a:effectLst/>
                <a:latin typeface="arial" panose="020B0604020202020204" pitchFamily="34" charset="0"/>
              </a:rPr>
              <a:t>1. </a:t>
            </a:r>
            <a:r>
              <a:rPr lang="en-US" b="1" i="1" u="none" strike="noStrike" dirty="0" err="1">
                <a:solidFill>
                  <a:srgbClr val="0070C0"/>
                </a:solidFill>
                <a:effectLst/>
                <a:latin typeface="arial" panose="020B0604020202020204" pitchFamily="34" charset="0"/>
              </a:rPr>
              <a:t>Mô</a:t>
            </a:r>
            <a:r>
              <a:rPr lang="en-US" b="1" i="1" u="none" strike="noStrike" dirty="0">
                <a:solidFill>
                  <a:srgbClr val="0070C0"/>
                </a:solidFill>
                <a:effectLst/>
                <a:latin typeface="arial" panose="020B0604020202020204" pitchFamily="34" charset="0"/>
              </a:rPr>
              <a:t> </a:t>
            </a:r>
            <a:r>
              <a:rPr lang="en-US" b="1" i="1" u="none" strike="noStrike" dirty="0" err="1">
                <a:solidFill>
                  <a:srgbClr val="0070C0"/>
                </a:solidFill>
                <a:effectLst/>
                <a:latin typeface="arial" panose="020B0604020202020204" pitchFamily="34" charset="0"/>
              </a:rPr>
              <a:t>hình</a:t>
            </a:r>
            <a:r>
              <a:rPr lang="en-US" b="1" i="1" u="none" strike="noStrike" dirty="0">
                <a:solidFill>
                  <a:srgbClr val="0070C0"/>
                </a:solidFill>
                <a:effectLst/>
                <a:latin typeface="arial" panose="020B0604020202020204" pitchFamily="34" charset="0"/>
              </a:rPr>
              <a:t> </a:t>
            </a:r>
            <a:r>
              <a:rPr lang="en-US" b="1" i="1" u="none" strike="noStrike" dirty="0" err="1">
                <a:solidFill>
                  <a:srgbClr val="0070C0"/>
                </a:solidFill>
                <a:effectLst/>
                <a:latin typeface="arial" panose="020B0604020202020204" pitchFamily="34" charset="0"/>
              </a:rPr>
              <a:t>quản</a:t>
            </a:r>
            <a:r>
              <a:rPr lang="en-US" b="1" i="1" u="none" strike="noStrike" dirty="0">
                <a:solidFill>
                  <a:srgbClr val="0070C0"/>
                </a:solidFill>
                <a:effectLst/>
                <a:latin typeface="arial" panose="020B0604020202020204" pitchFamily="34" charset="0"/>
              </a:rPr>
              <a:t> </a:t>
            </a:r>
            <a:r>
              <a:rPr lang="en-US" b="1" i="1" u="none" strike="noStrike" dirty="0" err="1">
                <a:solidFill>
                  <a:srgbClr val="0070C0"/>
                </a:solidFill>
                <a:effectLst/>
                <a:latin typeface="arial" panose="020B0604020202020204" pitchFamily="34" charset="0"/>
              </a:rPr>
              <a:t>lý</a:t>
            </a:r>
            <a:r>
              <a:rPr lang="en-US" b="1" i="1" u="none" strike="noStrike" dirty="0">
                <a:solidFill>
                  <a:srgbClr val="0070C0"/>
                </a:solidFill>
                <a:effectLst/>
                <a:latin typeface="arial" panose="020B0604020202020204" pitchFamily="34" charset="0"/>
              </a:rPr>
              <a:t> </a:t>
            </a:r>
            <a:r>
              <a:rPr lang="en-US" b="1" i="1" u="none" strike="noStrike" dirty="0" err="1">
                <a:solidFill>
                  <a:srgbClr val="0070C0"/>
                </a:solidFill>
                <a:effectLst/>
                <a:latin typeface="arial" panose="020B0604020202020204" pitchFamily="34" charset="0"/>
              </a:rPr>
              <a:t>sự</a:t>
            </a:r>
            <a:r>
              <a:rPr lang="en-US" b="1" i="1" u="none" strike="noStrike" dirty="0">
                <a:solidFill>
                  <a:srgbClr val="0070C0"/>
                </a:solidFill>
                <a:effectLst/>
                <a:latin typeface="arial" panose="020B0604020202020204" pitchFamily="34" charset="0"/>
              </a:rPr>
              <a:t> </a:t>
            </a:r>
            <a:r>
              <a:rPr lang="en-US" b="1" i="1" u="none" strike="noStrike" dirty="0" err="1">
                <a:solidFill>
                  <a:srgbClr val="0070C0"/>
                </a:solidFill>
                <a:effectLst/>
                <a:latin typeface="arial" panose="020B0604020202020204" pitchFamily="34" charset="0"/>
              </a:rPr>
              <a:t>thay</a:t>
            </a:r>
            <a:r>
              <a:rPr lang="en-US" b="1" i="1" u="none" strike="noStrike" dirty="0">
                <a:solidFill>
                  <a:srgbClr val="0070C0"/>
                </a:solidFill>
                <a:effectLst/>
                <a:latin typeface="arial" panose="020B0604020202020204" pitchFamily="34" charset="0"/>
              </a:rPr>
              <a:t> </a:t>
            </a:r>
            <a:r>
              <a:rPr lang="en-US" b="1" i="1" u="none" strike="noStrike" dirty="0" err="1">
                <a:solidFill>
                  <a:srgbClr val="0070C0"/>
                </a:solidFill>
                <a:effectLst/>
                <a:latin typeface="arial" panose="020B0604020202020204" pitchFamily="34" charset="0"/>
              </a:rPr>
              <a:t>đổi</a:t>
            </a:r>
            <a:r>
              <a:rPr lang="en-US" b="1" i="1" u="none" strike="noStrike" dirty="0">
                <a:solidFill>
                  <a:srgbClr val="0070C0"/>
                </a:solidFill>
                <a:effectLst/>
                <a:latin typeface="arial" panose="020B0604020202020204" pitchFamily="34" charset="0"/>
              </a:rPr>
              <a:t> Kotter</a:t>
            </a:r>
            <a:endParaRPr lang="en-US" dirty="0">
              <a:solidFill>
                <a:srgbClr val="0070C0"/>
              </a:solidFill>
            </a:endParaRPr>
          </a:p>
        </p:txBody>
      </p:sp>
      <p:sp>
        <p:nvSpPr>
          <p:cNvPr id="3" name="Content Placeholder 2">
            <a:extLst>
              <a:ext uri="{FF2B5EF4-FFF2-40B4-BE49-F238E27FC236}">
                <a16:creationId xmlns:a16="http://schemas.microsoft.com/office/drawing/2014/main" id="{DA05766E-80FD-DB98-92FA-3DE79FA89F42}"/>
              </a:ext>
            </a:extLst>
          </p:cNvPr>
          <p:cNvSpPr>
            <a:spLocks noGrp="1"/>
          </p:cNvSpPr>
          <p:nvPr>
            <p:ph idx="1"/>
          </p:nvPr>
        </p:nvSpPr>
        <p:spPr>
          <a:xfrm>
            <a:off x="381907" y="1504946"/>
            <a:ext cx="9993863" cy="852261"/>
          </a:xfrm>
        </p:spPr>
        <p:txBody>
          <a:bodyPr>
            <a:normAutofit/>
          </a:bodyPr>
          <a:lstStyle/>
          <a:p>
            <a:pPr marL="0" indent="0" algn="just">
              <a:buNone/>
            </a:pPr>
            <a:r>
              <a:rPr lang="vi-VN" sz="1200" b="0" i="0" dirty="0">
                <a:solidFill>
                  <a:srgbClr val="002060"/>
                </a:solidFill>
                <a:effectLst/>
                <a:latin typeface="arial" panose="020B0604020202020204" pitchFamily="34" charset="0"/>
              </a:rPr>
              <a:t>Giáo sư Harvard John Kotter trong quyển sách “Leading Change” xuất bản năm 1996 đã trình bày lý thuyết quản lý thay đổi rất được ưa chuộng. Lý thuyết này cung cấp 8 bước để tổ chức thực hiện thay đổi hiệu quả:</a:t>
            </a:r>
            <a:endParaRPr lang="en-US" sz="1200" dirty="0">
              <a:solidFill>
                <a:srgbClr val="002060"/>
              </a:solidFill>
            </a:endParaRPr>
          </a:p>
        </p:txBody>
      </p:sp>
      <p:sp>
        <p:nvSpPr>
          <p:cNvPr id="5" name="TextBox 4">
            <a:extLst>
              <a:ext uri="{FF2B5EF4-FFF2-40B4-BE49-F238E27FC236}">
                <a16:creationId xmlns:a16="http://schemas.microsoft.com/office/drawing/2014/main" id="{97038FEB-D3F2-7ABE-1FEB-4DAB21E4CD7B}"/>
              </a:ext>
            </a:extLst>
          </p:cNvPr>
          <p:cNvSpPr txBox="1"/>
          <p:nvPr/>
        </p:nvSpPr>
        <p:spPr>
          <a:xfrm>
            <a:off x="473658" y="2432805"/>
            <a:ext cx="7737281" cy="2096343"/>
          </a:xfrm>
          <a:prstGeom prst="rect">
            <a:avLst/>
          </a:prstGeom>
          <a:noFill/>
        </p:spPr>
        <p:txBody>
          <a:bodyPr wrap="square">
            <a:spAutoFit/>
          </a:bodyPr>
          <a:lstStyle/>
          <a:p>
            <a:pPr algn="l" fontAlgn="base">
              <a:lnSpc>
                <a:spcPct val="150000"/>
              </a:lnSpc>
              <a:buFont typeface="+mj-lt"/>
              <a:buAutoNum type="arabicPeriod"/>
            </a:pPr>
            <a:r>
              <a:rPr lang="vi-VN" sz="1100" b="1" i="0" dirty="0">
                <a:solidFill>
                  <a:srgbClr val="002060"/>
                </a:solidFill>
                <a:effectLst/>
                <a:latin typeface="inherit"/>
              </a:rPr>
              <a:t>Tạo ra cảm giác cấp bách:</a:t>
            </a:r>
            <a:r>
              <a:rPr lang="vi-VN" sz="1100" b="0" i="0" dirty="0">
                <a:solidFill>
                  <a:srgbClr val="002060"/>
                </a:solidFill>
                <a:effectLst/>
                <a:latin typeface="arial" panose="020B0604020202020204" pitchFamily="34" charset="0"/>
              </a:rPr>
              <a:t> Giải thích cho nhân viên lý do tại sao cần thay đổi và những rủi ro nếu không thay đổi.</a:t>
            </a:r>
            <a:endParaRPr lang="vi-VN" sz="1100" b="0" i="0" dirty="0">
              <a:solidFill>
                <a:srgbClr val="002060"/>
              </a:solidFill>
              <a:effectLst/>
              <a:latin typeface="Arial" panose="020B0604020202020204" pitchFamily="34" charset="0"/>
            </a:endParaRPr>
          </a:p>
          <a:p>
            <a:pPr algn="l" fontAlgn="base">
              <a:lnSpc>
                <a:spcPct val="150000"/>
              </a:lnSpc>
              <a:buFont typeface="+mj-lt"/>
              <a:buAutoNum type="arabicPeriod"/>
            </a:pPr>
            <a:r>
              <a:rPr lang="vi-VN" sz="1100" b="1" i="0" dirty="0">
                <a:solidFill>
                  <a:srgbClr val="002060"/>
                </a:solidFill>
                <a:effectLst/>
                <a:latin typeface="inherit"/>
              </a:rPr>
              <a:t>Xây dựng liên minh dẫn dắt:</a:t>
            </a:r>
            <a:r>
              <a:rPr lang="vi-VN" sz="1100" b="0" i="0" dirty="0">
                <a:solidFill>
                  <a:srgbClr val="002060"/>
                </a:solidFill>
                <a:effectLst/>
                <a:latin typeface="arial" panose="020B0604020202020204" pitchFamily="34" charset="0"/>
              </a:rPr>
              <a:t> Tập hợp những người có năng lực và uy tín để hỗ trợ cho việc thay đổi.</a:t>
            </a:r>
            <a:endParaRPr lang="vi-VN" sz="1100" b="0" i="0" dirty="0">
              <a:solidFill>
                <a:srgbClr val="002060"/>
              </a:solidFill>
              <a:effectLst/>
              <a:latin typeface="Arial" panose="020B0604020202020204" pitchFamily="34" charset="0"/>
            </a:endParaRPr>
          </a:p>
          <a:p>
            <a:pPr algn="l" fontAlgn="base">
              <a:lnSpc>
                <a:spcPct val="150000"/>
              </a:lnSpc>
              <a:buFont typeface="+mj-lt"/>
              <a:buAutoNum type="arabicPeriod"/>
            </a:pPr>
            <a:r>
              <a:rPr lang="vi-VN" sz="1100" b="1" i="0" dirty="0">
                <a:solidFill>
                  <a:srgbClr val="002060"/>
                </a:solidFill>
                <a:effectLst/>
                <a:latin typeface="inherit"/>
              </a:rPr>
              <a:t>Tạo tầm nhìn chiến lược:</a:t>
            </a:r>
            <a:r>
              <a:rPr lang="vi-VN" sz="1100" b="0" i="0" dirty="0">
                <a:solidFill>
                  <a:srgbClr val="002060"/>
                </a:solidFill>
                <a:effectLst/>
                <a:latin typeface="arial" panose="020B0604020202020204" pitchFamily="34" charset="0"/>
              </a:rPr>
              <a:t> Xác định mục tiêu cho sự thay đổi và truyền cảm hứng cho nhân viên.</a:t>
            </a:r>
            <a:endParaRPr lang="vi-VN" sz="1100" b="0" i="0" dirty="0">
              <a:solidFill>
                <a:srgbClr val="002060"/>
              </a:solidFill>
              <a:effectLst/>
              <a:latin typeface="Arial" panose="020B0604020202020204" pitchFamily="34" charset="0"/>
            </a:endParaRPr>
          </a:p>
          <a:p>
            <a:pPr algn="l" fontAlgn="base">
              <a:lnSpc>
                <a:spcPct val="150000"/>
              </a:lnSpc>
              <a:buFont typeface="+mj-lt"/>
              <a:buAutoNum type="arabicPeriod"/>
            </a:pPr>
            <a:r>
              <a:rPr lang="vi-VN" sz="1100" b="1" i="0" dirty="0">
                <a:solidFill>
                  <a:srgbClr val="002060"/>
                </a:solidFill>
                <a:effectLst/>
                <a:latin typeface="inherit"/>
              </a:rPr>
              <a:t>Truyền thông tầm nhìn:</a:t>
            </a:r>
            <a:r>
              <a:rPr lang="vi-VN" sz="1100" b="0" i="0" dirty="0">
                <a:solidFill>
                  <a:srgbClr val="002060"/>
                </a:solidFill>
                <a:effectLst/>
                <a:latin typeface="arial" panose="020B0604020202020204" pitchFamily="34" charset="0"/>
              </a:rPr>
              <a:t> Giải thích rõ ràng kế hoạch thay đổi cho tất cả nhân viên trong tổ chức.</a:t>
            </a:r>
            <a:endParaRPr lang="vi-VN" sz="1100" b="0" i="0" dirty="0">
              <a:solidFill>
                <a:srgbClr val="002060"/>
              </a:solidFill>
              <a:effectLst/>
              <a:latin typeface="Arial" panose="020B0604020202020204" pitchFamily="34" charset="0"/>
            </a:endParaRPr>
          </a:p>
          <a:p>
            <a:pPr algn="l" fontAlgn="base">
              <a:lnSpc>
                <a:spcPct val="150000"/>
              </a:lnSpc>
              <a:buFont typeface="+mj-lt"/>
              <a:buAutoNum type="arabicPeriod"/>
            </a:pPr>
            <a:r>
              <a:rPr lang="vi-VN" sz="1100" b="1" i="0" dirty="0">
                <a:solidFill>
                  <a:srgbClr val="002060"/>
                </a:solidFill>
                <a:effectLst/>
                <a:latin typeface="inherit"/>
              </a:rPr>
              <a:t>Hủy bỏ các rào cản:</a:t>
            </a:r>
            <a:r>
              <a:rPr lang="vi-VN" sz="1100" b="0" i="0" dirty="0">
                <a:solidFill>
                  <a:srgbClr val="002060"/>
                </a:solidFill>
                <a:effectLst/>
                <a:latin typeface="arial" panose="020B0604020202020204" pitchFamily="34" charset="0"/>
              </a:rPr>
              <a:t> Loại bỏ những quy trình, thủ tục cản trở việc triển khai thay đổi.</a:t>
            </a:r>
            <a:endParaRPr lang="vi-VN" sz="1100" b="0" i="0" dirty="0">
              <a:solidFill>
                <a:srgbClr val="002060"/>
              </a:solidFill>
              <a:effectLst/>
              <a:latin typeface="Arial" panose="020B0604020202020204" pitchFamily="34" charset="0"/>
            </a:endParaRPr>
          </a:p>
          <a:p>
            <a:pPr algn="l" fontAlgn="base">
              <a:lnSpc>
                <a:spcPct val="150000"/>
              </a:lnSpc>
              <a:buFont typeface="+mj-lt"/>
              <a:buAutoNum type="arabicPeriod"/>
            </a:pPr>
            <a:r>
              <a:rPr lang="vi-VN" sz="1100" b="1" i="0" dirty="0">
                <a:solidFill>
                  <a:srgbClr val="002060"/>
                </a:solidFill>
                <a:effectLst/>
                <a:latin typeface="inherit"/>
              </a:rPr>
              <a:t>Đạt được những thắng lợi ngắn hạn:</a:t>
            </a:r>
            <a:r>
              <a:rPr lang="vi-VN" sz="1100" b="0" i="0" dirty="0">
                <a:solidFill>
                  <a:srgbClr val="002060"/>
                </a:solidFill>
                <a:effectLst/>
                <a:latin typeface="arial" panose="020B0604020202020204" pitchFamily="34" charset="0"/>
              </a:rPr>
              <a:t> Thiết lập các mục tiêu nhỏ để nhân viên cảm thấy được động lực và thành công.</a:t>
            </a:r>
            <a:endParaRPr lang="vi-VN" sz="1100" b="0" i="0" dirty="0">
              <a:solidFill>
                <a:srgbClr val="002060"/>
              </a:solidFill>
              <a:effectLst/>
              <a:latin typeface="Arial" panose="020B0604020202020204" pitchFamily="34" charset="0"/>
            </a:endParaRPr>
          </a:p>
          <a:p>
            <a:pPr algn="l" fontAlgn="base">
              <a:lnSpc>
                <a:spcPct val="150000"/>
              </a:lnSpc>
              <a:buFont typeface="+mj-lt"/>
              <a:buAutoNum type="arabicPeriod"/>
            </a:pPr>
            <a:r>
              <a:rPr lang="vi-VN" sz="1100" b="1" i="0" dirty="0">
                <a:solidFill>
                  <a:srgbClr val="002060"/>
                </a:solidFill>
                <a:effectLst/>
                <a:latin typeface="inherit"/>
              </a:rPr>
              <a:t>Duy trì đà tiến triển:</a:t>
            </a:r>
            <a:r>
              <a:rPr lang="vi-VN" sz="1100" b="0" i="0" dirty="0">
                <a:solidFill>
                  <a:srgbClr val="002060"/>
                </a:solidFill>
                <a:effectLst/>
                <a:latin typeface="arial" panose="020B0604020202020204" pitchFamily="34" charset="0"/>
              </a:rPr>
              <a:t> Giữ vững tinh thần và tiếp tục thúc đẩy việc thay đổi.</a:t>
            </a:r>
            <a:endParaRPr lang="vi-VN" sz="1100" b="0" i="0" dirty="0">
              <a:solidFill>
                <a:srgbClr val="002060"/>
              </a:solidFill>
              <a:effectLst/>
              <a:latin typeface="Arial" panose="020B0604020202020204" pitchFamily="34" charset="0"/>
            </a:endParaRPr>
          </a:p>
          <a:p>
            <a:pPr algn="l" fontAlgn="base">
              <a:lnSpc>
                <a:spcPct val="150000"/>
              </a:lnSpc>
              <a:buFont typeface="+mj-lt"/>
              <a:buAutoNum type="arabicPeriod"/>
            </a:pPr>
            <a:r>
              <a:rPr lang="vi-VN" sz="1100" b="1" i="0" dirty="0">
                <a:solidFill>
                  <a:srgbClr val="002060"/>
                </a:solidFill>
                <a:effectLst/>
                <a:latin typeface="inherit"/>
              </a:rPr>
              <a:t>Ăn sâu văn hóa thay đổi vào doanh nghiệp:</a:t>
            </a:r>
            <a:r>
              <a:rPr lang="vi-VN" sz="1100" b="0" i="0" dirty="0">
                <a:solidFill>
                  <a:srgbClr val="002060"/>
                </a:solidFill>
                <a:effectLst/>
                <a:latin typeface="arial" panose="020B0604020202020204" pitchFamily="34" charset="0"/>
              </a:rPr>
              <a:t> Biến đổi mới thành một phần văn hóa của công ty để đảm bảo tính bền vững.</a:t>
            </a:r>
            <a:endParaRPr lang="vi-VN" sz="1100" b="0" i="0" dirty="0">
              <a:solidFill>
                <a:srgbClr val="002060"/>
              </a:solidFill>
              <a:effectLst/>
              <a:latin typeface="Arial" panose="020B0604020202020204" pitchFamily="34" charset="0"/>
            </a:endParaRPr>
          </a:p>
        </p:txBody>
      </p:sp>
      <p:sp>
        <p:nvSpPr>
          <p:cNvPr id="7" name="TextBox 6">
            <a:extLst>
              <a:ext uri="{FF2B5EF4-FFF2-40B4-BE49-F238E27FC236}">
                <a16:creationId xmlns:a16="http://schemas.microsoft.com/office/drawing/2014/main" id="{AB3C9316-900B-7E6F-B653-A1B7F436BF80}"/>
              </a:ext>
            </a:extLst>
          </p:cNvPr>
          <p:cNvSpPr txBox="1"/>
          <p:nvPr/>
        </p:nvSpPr>
        <p:spPr>
          <a:xfrm>
            <a:off x="473658" y="4862408"/>
            <a:ext cx="9902112" cy="1200329"/>
          </a:xfrm>
          <a:prstGeom prst="rect">
            <a:avLst/>
          </a:prstGeom>
          <a:noFill/>
        </p:spPr>
        <p:txBody>
          <a:bodyPr wrap="square">
            <a:spAutoFit/>
          </a:bodyPr>
          <a:lstStyle/>
          <a:p>
            <a:pPr algn="just" fontAlgn="base"/>
            <a:r>
              <a:rPr lang="vi-VN" sz="1200" b="0" i="0" dirty="0">
                <a:solidFill>
                  <a:srgbClr val="002060"/>
                </a:solidFill>
                <a:effectLst/>
                <a:latin typeface="arial" panose="020B0604020202020204" pitchFamily="34" charset="0"/>
              </a:rPr>
              <a:t>Điểm mạnh của </a:t>
            </a:r>
            <a:r>
              <a:rPr lang="vi-VN" sz="1200" b="0" i="0" u="none" strike="noStrike" dirty="0">
                <a:solidFill>
                  <a:srgbClr val="002060"/>
                </a:solidFill>
                <a:effectLst/>
                <a:latin typeface="arial" panose="020B0604020202020204" pitchFamily="34" charset="0"/>
              </a:rPr>
              <a:t>mô hình Kotter</a:t>
            </a:r>
            <a:r>
              <a:rPr lang="vi-VN" sz="1200" b="0" i="0" dirty="0">
                <a:solidFill>
                  <a:srgbClr val="002060"/>
                </a:solidFill>
                <a:effectLst/>
                <a:latin typeface="arial" panose="020B0604020202020204" pitchFamily="34" charset="0"/>
              </a:rPr>
              <a:t> là nhấn mạnh tính cấp thiết của thay đổi và tạo dựng tầm nhìn rõ ràng. Tuy nhiên, lý thuyết này ít đề cập đến việc lấy phản hồi từ nhân viên cấp dưới.</a:t>
            </a:r>
            <a:endParaRPr lang="vi-VN" sz="1200" b="0" i="0" dirty="0">
              <a:solidFill>
                <a:srgbClr val="002060"/>
              </a:solidFill>
              <a:effectLst/>
              <a:latin typeface="Arial" panose="020B0604020202020204" pitchFamily="34" charset="0"/>
            </a:endParaRPr>
          </a:p>
          <a:p>
            <a:pPr algn="just" fontAlgn="base"/>
            <a:r>
              <a:rPr lang="vi-VN" sz="1200" b="1" i="0" dirty="0">
                <a:solidFill>
                  <a:srgbClr val="002060"/>
                </a:solidFill>
                <a:effectLst/>
                <a:latin typeface="inherit"/>
              </a:rPr>
              <a:t>Lưu ý khi áp dụng:</a:t>
            </a:r>
            <a:r>
              <a:rPr lang="vi-VN" sz="1200" b="0" i="0" dirty="0">
                <a:solidFill>
                  <a:srgbClr val="002060"/>
                </a:solidFill>
                <a:effectLst/>
                <a:latin typeface="arial" panose="020B0604020202020204" pitchFamily="34" charset="0"/>
              </a:rPr>
              <a:t> Khi sử dụng mô hình này, hãy tìm cách khuyến khích sự tham gia của nhân viên và lấy ý kiến từ những người ở tuyến đầu để đảm bảo sự thành công của quá trình thay đổi.</a:t>
            </a:r>
            <a:endParaRPr lang="vi-VN" sz="1200" b="0" i="0" dirty="0">
              <a:solidFill>
                <a:srgbClr val="002060"/>
              </a:solidFill>
              <a:effectLst/>
              <a:latin typeface="Arial" panose="020B0604020202020204" pitchFamily="34" charset="0"/>
            </a:endParaRPr>
          </a:p>
          <a:p>
            <a:pPr algn="just" fontAlgn="base"/>
            <a:r>
              <a:rPr lang="vi-VN" sz="1200" b="1" i="0" dirty="0">
                <a:solidFill>
                  <a:srgbClr val="002060"/>
                </a:solidFill>
                <a:effectLst/>
                <a:latin typeface="inherit"/>
              </a:rPr>
              <a:t>Ưu điểm:</a:t>
            </a:r>
            <a:r>
              <a:rPr lang="vi-VN" sz="1200" b="0" i="0" dirty="0">
                <a:solidFill>
                  <a:srgbClr val="002060"/>
                </a:solidFill>
                <a:effectLst/>
                <a:latin typeface="arial" panose="020B0604020202020204" pitchFamily="34" charset="0"/>
              </a:rPr>
              <a:t> </a:t>
            </a:r>
            <a:r>
              <a:rPr lang="vi-VN" sz="1200" b="0" i="0" u="none" strike="noStrike" dirty="0">
                <a:solidFill>
                  <a:srgbClr val="002060"/>
                </a:solidFill>
                <a:effectLst/>
                <a:latin typeface="arial" panose="020B0604020202020204" pitchFamily="34" charset="0"/>
              </a:rPr>
              <a:t>Mô hình quản trị thay đổi của Kotter</a:t>
            </a:r>
            <a:r>
              <a:rPr lang="vi-VN" sz="1200" b="0" i="0" dirty="0">
                <a:solidFill>
                  <a:srgbClr val="002060"/>
                </a:solidFill>
                <a:effectLst/>
                <a:latin typeface="arial" panose="020B0604020202020204" pitchFamily="34" charset="0"/>
              </a:rPr>
              <a:t> sẽ phù hợp cho các công ty đang triển khai phần mềm doanh nghiệp mới. Bắt đầu với các phòng ban ít chống đối nhất để tạo đà thành công và khuyến khích các phòng ban khác tham gia.</a:t>
            </a:r>
            <a:endParaRPr lang="vi-VN" sz="1200" b="0" i="0" dirty="0">
              <a:solidFill>
                <a:srgbClr val="002060"/>
              </a:solidFill>
              <a:effectLst/>
              <a:latin typeface="Arial" panose="020B0604020202020204" pitchFamily="34" charset="0"/>
            </a:endParaRPr>
          </a:p>
        </p:txBody>
      </p:sp>
      <p:pic>
        <p:nvPicPr>
          <p:cNvPr id="3074" name="Picture 2" descr="mô hình kotter">
            <a:extLst>
              <a:ext uri="{FF2B5EF4-FFF2-40B4-BE49-F238E27FC236}">
                <a16:creationId xmlns:a16="http://schemas.microsoft.com/office/drawing/2014/main" id="{8AD24744-57B7-63F8-EBA1-AF4ECA9A3E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4464"/>
          <a:stretch/>
        </p:blipFill>
        <p:spPr bwMode="auto">
          <a:xfrm>
            <a:off x="7865705" y="2162649"/>
            <a:ext cx="4225860" cy="2033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3327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ircle(in)">
                                      <p:cBhvr>
                                        <p:cTn id="1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7EB45-B1E9-D3A1-3FCE-FCFC3D9DE40B}"/>
              </a:ext>
            </a:extLst>
          </p:cNvPr>
          <p:cNvSpPr>
            <a:spLocks noGrp="1"/>
          </p:cNvSpPr>
          <p:nvPr>
            <p:ph type="title"/>
          </p:nvPr>
        </p:nvSpPr>
        <p:spPr>
          <a:xfrm>
            <a:off x="838200" y="393117"/>
            <a:ext cx="10515600" cy="1325563"/>
          </a:xfrm>
        </p:spPr>
        <p:txBody>
          <a:bodyPr/>
          <a:lstStyle/>
          <a:p>
            <a:r>
              <a:rPr lang="en-US" b="1" i="1" dirty="0">
                <a:solidFill>
                  <a:srgbClr val="0070C0"/>
                </a:solidFill>
                <a:effectLst/>
                <a:latin typeface="inherit"/>
              </a:rPr>
              <a:t>2.Mô </a:t>
            </a:r>
            <a:r>
              <a:rPr lang="en-US" b="1" i="1" dirty="0" err="1">
                <a:solidFill>
                  <a:srgbClr val="0070C0"/>
                </a:solidFill>
                <a:effectLst/>
                <a:latin typeface="inherit"/>
              </a:rPr>
              <a:t>hình</a:t>
            </a:r>
            <a:r>
              <a:rPr lang="en-US" b="1" i="1" dirty="0">
                <a:solidFill>
                  <a:srgbClr val="0070C0"/>
                </a:solidFill>
                <a:effectLst/>
                <a:latin typeface="inherit"/>
              </a:rPr>
              <a:t> </a:t>
            </a:r>
            <a:r>
              <a:rPr lang="en-US" b="1" i="1" dirty="0" err="1">
                <a:solidFill>
                  <a:srgbClr val="0070C0"/>
                </a:solidFill>
                <a:effectLst/>
                <a:latin typeface="inherit"/>
              </a:rPr>
              <a:t>quản</a:t>
            </a:r>
            <a:r>
              <a:rPr lang="en-US" b="1" i="1" dirty="0">
                <a:solidFill>
                  <a:srgbClr val="0070C0"/>
                </a:solidFill>
                <a:effectLst/>
                <a:latin typeface="inherit"/>
              </a:rPr>
              <a:t> </a:t>
            </a:r>
            <a:r>
              <a:rPr lang="en-US" b="1" i="1" dirty="0" err="1">
                <a:solidFill>
                  <a:srgbClr val="0070C0"/>
                </a:solidFill>
                <a:effectLst/>
                <a:latin typeface="inherit"/>
              </a:rPr>
              <a:t>trị</a:t>
            </a:r>
            <a:r>
              <a:rPr lang="en-US" b="1" i="1" dirty="0">
                <a:solidFill>
                  <a:srgbClr val="0070C0"/>
                </a:solidFill>
                <a:effectLst/>
                <a:latin typeface="inherit"/>
              </a:rPr>
              <a:t> </a:t>
            </a:r>
            <a:r>
              <a:rPr lang="en-US" b="1" i="1" dirty="0" err="1">
                <a:solidFill>
                  <a:srgbClr val="0070C0"/>
                </a:solidFill>
                <a:effectLst/>
                <a:latin typeface="inherit"/>
              </a:rPr>
              <a:t>sự</a:t>
            </a:r>
            <a:r>
              <a:rPr lang="en-US" b="1" i="1" dirty="0">
                <a:solidFill>
                  <a:srgbClr val="0070C0"/>
                </a:solidFill>
                <a:effectLst/>
                <a:latin typeface="inherit"/>
              </a:rPr>
              <a:t> </a:t>
            </a:r>
            <a:r>
              <a:rPr lang="en-US" b="1" i="1" dirty="0" err="1">
                <a:solidFill>
                  <a:srgbClr val="0070C0"/>
                </a:solidFill>
                <a:effectLst/>
                <a:latin typeface="inherit"/>
              </a:rPr>
              <a:t>thay</a:t>
            </a:r>
            <a:r>
              <a:rPr lang="en-US" b="1" i="1" dirty="0">
                <a:solidFill>
                  <a:srgbClr val="0070C0"/>
                </a:solidFill>
                <a:effectLst/>
                <a:latin typeface="inherit"/>
              </a:rPr>
              <a:t> </a:t>
            </a:r>
            <a:r>
              <a:rPr lang="en-US" b="1" i="1" dirty="0" err="1">
                <a:solidFill>
                  <a:srgbClr val="0070C0"/>
                </a:solidFill>
                <a:effectLst/>
                <a:latin typeface="inherit"/>
              </a:rPr>
              <a:t>đổi</a:t>
            </a:r>
            <a:r>
              <a:rPr lang="en-US" b="1" i="1" dirty="0">
                <a:solidFill>
                  <a:srgbClr val="0070C0"/>
                </a:solidFill>
                <a:effectLst/>
                <a:latin typeface="inherit"/>
              </a:rPr>
              <a:t> </a:t>
            </a:r>
            <a:r>
              <a:rPr lang="en-US" b="1" i="1" dirty="0" err="1">
                <a:solidFill>
                  <a:srgbClr val="0070C0"/>
                </a:solidFill>
                <a:effectLst/>
                <a:latin typeface="inherit"/>
              </a:rPr>
              <a:t>của</a:t>
            </a:r>
            <a:r>
              <a:rPr lang="en-US" b="1" i="1" dirty="0">
                <a:solidFill>
                  <a:srgbClr val="0070C0"/>
                </a:solidFill>
                <a:effectLst/>
                <a:latin typeface="inherit"/>
              </a:rPr>
              <a:t> </a:t>
            </a:r>
            <a:r>
              <a:rPr lang="en-US" b="1" i="1" dirty="0" err="1">
                <a:solidFill>
                  <a:srgbClr val="0070C0"/>
                </a:solidFill>
                <a:effectLst/>
                <a:latin typeface="inherit"/>
              </a:rPr>
              <a:t>Lenwin</a:t>
            </a:r>
            <a:r>
              <a:rPr lang="en-US" b="1" i="1" dirty="0">
                <a:solidFill>
                  <a:srgbClr val="0070C0"/>
                </a:solidFill>
                <a:effectLst/>
                <a:latin typeface="inherit"/>
              </a:rPr>
              <a:t> </a:t>
            </a:r>
            <a:endParaRPr lang="en-US" dirty="0">
              <a:solidFill>
                <a:srgbClr val="0070C0"/>
              </a:solidFill>
            </a:endParaRPr>
          </a:p>
        </p:txBody>
      </p:sp>
      <p:sp>
        <p:nvSpPr>
          <p:cNvPr id="3" name="Content Placeholder 2">
            <a:extLst>
              <a:ext uri="{FF2B5EF4-FFF2-40B4-BE49-F238E27FC236}">
                <a16:creationId xmlns:a16="http://schemas.microsoft.com/office/drawing/2014/main" id="{78000FC6-DA0E-1FF6-7A90-5D381AD77CE8}"/>
              </a:ext>
            </a:extLst>
          </p:cNvPr>
          <p:cNvSpPr>
            <a:spLocks noGrp="1"/>
          </p:cNvSpPr>
          <p:nvPr>
            <p:ph idx="1"/>
          </p:nvPr>
        </p:nvSpPr>
        <p:spPr>
          <a:xfrm>
            <a:off x="838200" y="1825625"/>
            <a:ext cx="8035212" cy="2093232"/>
          </a:xfrm>
        </p:spPr>
        <p:txBody>
          <a:bodyPr>
            <a:normAutofit/>
          </a:bodyPr>
          <a:lstStyle/>
          <a:p>
            <a:pPr marL="0" indent="0">
              <a:buNone/>
            </a:pPr>
            <a:r>
              <a:rPr lang="vi-VN" sz="1600" b="0" i="0" dirty="0">
                <a:solidFill>
                  <a:srgbClr val="002060"/>
                </a:solidFill>
                <a:effectLst/>
                <a:latin typeface="arial" panose="020B0604020202020204" pitchFamily="34" charset="0"/>
              </a:rPr>
              <a:t>Lewin, một nhà tâm lý học nổi tiếng, đã phát triển </a:t>
            </a:r>
            <a:r>
              <a:rPr lang="vi-VN" sz="1600" b="1" i="0" u="none" strike="noStrike" dirty="0">
                <a:solidFill>
                  <a:srgbClr val="002060"/>
                </a:solidFill>
                <a:effectLst/>
                <a:latin typeface="inherit"/>
              </a:rPr>
              <a:t>mô hình quản lý sự thay đổi Lewin</a:t>
            </a:r>
            <a:r>
              <a:rPr lang="vi-VN" sz="1600" b="0" i="0" dirty="0">
                <a:solidFill>
                  <a:srgbClr val="002060"/>
                </a:solidFill>
                <a:effectLst/>
                <a:latin typeface="arial" panose="020B0604020202020204" pitchFamily="34" charset="0"/>
              </a:rPr>
              <a:t> vào những năm 1940. Mô hình này vẫn được ưa chuộng cho đến ngày nay nhờ sự đơn giản. Lewin chia quá trình thay đổi trong tổ chức thành 3 giai đoạn:</a:t>
            </a:r>
            <a:endParaRPr lang="en-US" sz="1600" dirty="0">
              <a:solidFill>
                <a:srgbClr val="002060"/>
              </a:solidFill>
            </a:endParaRPr>
          </a:p>
        </p:txBody>
      </p:sp>
      <p:graphicFrame>
        <p:nvGraphicFramePr>
          <p:cNvPr id="6" name="Table 5">
            <a:extLst>
              <a:ext uri="{FF2B5EF4-FFF2-40B4-BE49-F238E27FC236}">
                <a16:creationId xmlns:a16="http://schemas.microsoft.com/office/drawing/2014/main" id="{9E57A587-4B50-CC34-7E39-BBBCE40CCFBF}"/>
              </a:ext>
            </a:extLst>
          </p:cNvPr>
          <p:cNvGraphicFramePr>
            <a:graphicFrameLocks noGrp="1"/>
          </p:cNvGraphicFramePr>
          <p:nvPr>
            <p:extLst>
              <p:ext uri="{D42A27DB-BD31-4B8C-83A1-F6EECF244321}">
                <p14:modId xmlns:p14="http://schemas.microsoft.com/office/powerpoint/2010/main" val="441090017"/>
              </p:ext>
            </p:extLst>
          </p:nvPr>
        </p:nvGraphicFramePr>
        <p:xfrm>
          <a:off x="296116" y="2873118"/>
          <a:ext cx="7261131" cy="2266203"/>
        </p:xfrm>
        <a:graphic>
          <a:graphicData uri="http://schemas.openxmlformats.org/drawingml/2006/table">
            <a:tbl>
              <a:tblPr/>
              <a:tblGrid>
                <a:gridCol w="2420331">
                  <a:extLst>
                    <a:ext uri="{9D8B030D-6E8A-4147-A177-3AD203B41FA5}">
                      <a16:colId xmlns:a16="http://schemas.microsoft.com/office/drawing/2014/main" val="1754628526"/>
                    </a:ext>
                  </a:extLst>
                </a:gridCol>
                <a:gridCol w="2420331">
                  <a:extLst>
                    <a:ext uri="{9D8B030D-6E8A-4147-A177-3AD203B41FA5}">
                      <a16:colId xmlns:a16="http://schemas.microsoft.com/office/drawing/2014/main" val="2020343404"/>
                    </a:ext>
                  </a:extLst>
                </a:gridCol>
                <a:gridCol w="2420469">
                  <a:extLst>
                    <a:ext uri="{9D8B030D-6E8A-4147-A177-3AD203B41FA5}">
                      <a16:colId xmlns:a16="http://schemas.microsoft.com/office/drawing/2014/main" val="926251234"/>
                    </a:ext>
                  </a:extLst>
                </a:gridCol>
              </a:tblGrid>
              <a:tr h="947814">
                <a:tc>
                  <a:txBody>
                    <a:bodyPr/>
                    <a:lstStyle/>
                    <a:p>
                      <a:pPr marL="342900" indent="-342900" algn="ctr" fontAlgn="ctr">
                        <a:buAutoNum type="arabicPeriod"/>
                      </a:pPr>
                      <a:r>
                        <a:rPr lang="en-US" sz="1400" b="1" dirty="0" err="1">
                          <a:effectLst/>
                          <a:latin typeface="inherit"/>
                        </a:rPr>
                        <a:t>Rã</a:t>
                      </a:r>
                      <a:r>
                        <a:rPr lang="en-US" sz="1400" b="1" dirty="0">
                          <a:effectLst/>
                          <a:latin typeface="inherit"/>
                        </a:rPr>
                        <a:t> </a:t>
                      </a:r>
                      <a:r>
                        <a:rPr lang="en-US" sz="1400" b="1" dirty="0" err="1">
                          <a:effectLst/>
                          <a:latin typeface="inherit"/>
                        </a:rPr>
                        <a:t>đông</a:t>
                      </a:r>
                      <a:r>
                        <a:rPr lang="en-US" sz="1400" b="1" dirty="0">
                          <a:effectLst/>
                          <a:latin typeface="inherit"/>
                        </a:rPr>
                        <a:t> (Unfreeze):</a:t>
                      </a:r>
                      <a:r>
                        <a:rPr lang="en-US" sz="1400" dirty="0">
                          <a:effectLst/>
                          <a:latin typeface="arial" panose="020B0604020202020204" pitchFamily="34" charset="0"/>
                        </a:rPr>
                        <a:t> </a:t>
                      </a:r>
                    </a:p>
                    <a:p>
                      <a:pPr marL="0" indent="0" algn="ctr" fontAlgn="ctr">
                        <a:buNone/>
                      </a:pPr>
                      <a:r>
                        <a:rPr lang="en-US" sz="1400" dirty="0" err="1">
                          <a:effectLst/>
                          <a:latin typeface="arial" panose="020B0604020202020204" pitchFamily="34" charset="0"/>
                        </a:rPr>
                        <a:t>Xác</a:t>
                      </a:r>
                      <a:r>
                        <a:rPr lang="en-US" sz="1400" dirty="0">
                          <a:effectLst/>
                          <a:latin typeface="arial" panose="020B0604020202020204" pitchFamily="34" charset="0"/>
                        </a:rPr>
                        <a:t> </a:t>
                      </a:r>
                      <a:r>
                        <a:rPr lang="en-US" sz="1400" dirty="0" err="1">
                          <a:effectLst/>
                          <a:latin typeface="arial" panose="020B0604020202020204" pitchFamily="34" charset="0"/>
                        </a:rPr>
                        <a:t>định</a:t>
                      </a:r>
                      <a:r>
                        <a:rPr lang="en-US" sz="1400" dirty="0">
                          <a:effectLst/>
                          <a:latin typeface="arial" panose="020B0604020202020204" pitchFamily="34" charset="0"/>
                        </a:rPr>
                        <a:t> </a:t>
                      </a:r>
                      <a:r>
                        <a:rPr lang="en-US" sz="1400" dirty="0" err="1">
                          <a:effectLst/>
                          <a:latin typeface="arial" panose="020B0604020202020204" pitchFamily="34" charset="0"/>
                        </a:rPr>
                        <a:t>những</a:t>
                      </a:r>
                      <a:r>
                        <a:rPr lang="en-US" sz="1400" dirty="0">
                          <a:effectLst/>
                          <a:latin typeface="arial" panose="020B0604020202020204" pitchFamily="34" charset="0"/>
                        </a:rPr>
                        <a:t> </a:t>
                      </a:r>
                      <a:r>
                        <a:rPr lang="en-US" sz="1400" dirty="0" err="1">
                          <a:effectLst/>
                          <a:latin typeface="arial" panose="020B0604020202020204" pitchFamily="34" charset="0"/>
                        </a:rPr>
                        <a:t>gì</a:t>
                      </a:r>
                      <a:r>
                        <a:rPr lang="en-US" sz="1400" dirty="0">
                          <a:effectLst/>
                          <a:latin typeface="arial" panose="020B0604020202020204" pitchFamily="34" charset="0"/>
                        </a:rPr>
                        <a:t> </a:t>
                      </a:r>
                      <a:r>
                        <a:rPr lang="en-US" sz="1400" dirty="0" err="1">
                          <a:effectLst/>
                          <a:latin typeface="arial" panose="020B0604020202020204" pitchFamily="34" charset="0"/>
                        </a:rPr>
                        <a:t>cần</a:t>
                      </a:r>
                      <a:r>
                        <a:rPr lang="en-US" sz="1400" dirty="0">
                          <a:effectLst/>
                          <a:latin typeface="arial" panose="020B0604020202020204" pitchFamily="34" charset="0"/>
                        </a:rPr>
                        <a:t> </a:t>
                      </a:r>
                      <a:r>
                        <a:rPr lang="en-US" sz="1400" dirty="0" err="1">
                          <a:effectLst/>
                          <a:latin typeface="arial" panose="020B0604020202020204" pitchFamily="34" charset="0"/>
                        </a:rPr>
                        <a:t>thay</a:t>
                      </a:r>
                      <a:r>
                        <a:rPr lang="en-US" sz="1400" dirty="0">
                          <a:effectLst/>
                          <a:latin typeface="arial" panose="020B0604020202020204" pitchFamily="34" charset="0"/>
                        </a:rPr>
                        <a:t> </a:t>
                      </a:r>
                      <a:r>
                        <a:rPr lang="en-US" sz="1400" dirty="0" err="1">
                          <a:effectLst/>
                          <a:latin typeface="arial" panose="020B0604020202020204" pitchFamily="34" charset="0"/>
                        </a:rPr>
                        <a:t>đổi</a:t>
                      </a:r>
                      <a:r>
                        <a:rPr lang="en-US" sz="1400" dirty="0">
                          <a:effectLst/>
                          <a:latin typeface="arial" panose="020B0604020202020204" pitchFamily="34" charset="0"/>
                        </a:rPr>
                        <a:t>.</a:t>
                      </a:r>
                      <a:endParaRPr lang="en-US" sz="1400" dirty="0">
                        <a:effectLst/>
                      </a:endParaRPr>
                    </a:p>
                  </a:txBody>
                  <a:tcPr marL="95250" marR="95250" marT="95250" marB="95250" anchor="ctr">
                    <a:lnL>
                      <a:noFill/>
                    </a:lnL>
                    <a:lnR>
                      <a:noFill/>
                    </a:lnR>
                    <a:lnT>
                      <a:noFill/>
                    </a:lnT>
                    <a:lnB>
                      <a:noFill/>
                    </a:lnB>
                    <a:solidFill>
                      <a:srgbClr val="FCFCFC"/>
                    </a:solidFill>
                  </a:tcPr>
                </a:tc>
                <a:tc>
                  <a:txBody>
                    <a:bodyPr/>
                    <a:lstStyle/>
                    <a:p>
                      <a:pPr algn="ctr" fontAlgn="ctr"/>
                      <a:r>
                        <a:rPr lang="en-US" sz="1400" b="1" dirty="0">
                          <a:effectLst/>
                          <a:latin typeface="inherit"/>
                        </a:rPr>
                        <a:t>2. </a:t>
                      </a:r>
                      <a:r>
                        <a:rPr lang="en-US" sz="1400" b="1" dirty="0" err="1">
                          <a:effectLst/>
                          <a:latin typeface="inherit"/>
                        </a:rPr>
                        <a:t>Thay</a:t>
                      </a:r>
                      <a:r>
                        <a:rPr lang="en-US" sz="1400" b="1" dirty="0">
                          <a:effectLst/>
                          <a:latin typeface="inherit"/>
                        </a:rPr>
                        <a:t> </a:t>
                      </a:r>
                      <a:r>
                        <a:rPr lang="en-US" sz="1400" b="1" dirty="0" err="1">
                          <a:effectLst/>
                          <a:latin typeface="inherit"/>
                        </a:rPr>
                        <a:t>đổi</a:t>
                      </a:r>
                      <a:r>
                        <a:rPr lang="en-US" sz="1400" b="1" dirty="0">
                          <a:effectLst/>
                          <a:latin typeface="inherit"/>
                        </a:rPr>
                        <a:t> (Change):</a:t>
                      </a:r>
                      <a:r>
                        <a:rPr lang="en-US" sz="1400" dirty="0">
                          <a:effectLst/>
                          <a:latin typeface="arial" panose="020B0604020202020204" pitchFamily="34" charset="0"/>
                        </a:rPr>
                        <a:t> </a:t>
                      </a:r>
                    </a:p>
                    <a:p>
                      <a:pPr algn="ctr" fontAlgn="ctr"/>
                      <a:r>
                        <a:rPr lang="en-US" sz="1400" dirty="0" err="1">
                          <a:effectLst/>
                          <a:latin typeface="arial" panose="020B0604020202020204" pitchFamily="34" charset="0"/>
                        </a:rPr>
                        <a:t>Thực</a:t>
                      </a:r>
                      <a:r>
                        <a:rPr lang="en-US" sz="1400" dirty="0">
                          <a:effectLst/>
                          <a:latin typeface="arial" panose="020B0604020202020204" pitchFamily="34" charset="0"/>
                        </a:rPr>
                        <a:t> </a:t>
                      </a:r>
                      <a:r>
                        <a:rPr lang="en-US" sz="1400" dirty="0" err="1">
                          <a:effectLst/>
                          <a:latin typeface="arial" panose="020B0604020202020204" pitchFamily="34" charset="0"/>
                        </a:rPr>
                        <a:t>hiện</a:t>
                      </a:r>
                      <a:r>
                        <a:rPr lang="en-US" sz="1400" dirty="0">
                          <a:effectLst/>
                          <a:latin typeface="arial" panose="020B0604020202020204" pitchFamily="34" charset="0"/>
                        </a:rPr>
                        <a:t> </a:t>
                      </a:r>
                      <a:r>
                        <a:rPr lang="en-US" sz="1400" dirty="0" err="1">
                          <a:effectLst/>
                          <a:latin typeface="arial" panose="020B0604020202020204" pitchFamily="34" charset="0"/>
                        </a:rPr>
                        <a:t>thay</a:t>
                      </a:r>
                      <a:r>
                        <a:rPr lang="en-US" sz="1400" dirty="0">
                          <a:effectLst/>
                          <a:latin typeface="arial" panose="020B0604020202020204" pitchFamily="34" charset="0"/>
                        </a:rPr>
                        <a:t> </a:t>
                      </a:r>
                      <a:r>
                        <a:rPr lang="en-US" sz="1400" dirty="0" err="1">
                          <a:effectLst/>
                          <a:latin typeface="arial" panose="020B0604020202020204" pitchFamily="34" charset="0"/>
                        </a:rPr>
                        <a:t>đổi</a:t>
                      </a:r>
                      <a:r>
                        <a:rPr lang="en-US" sz="1400" dirty="0">
                          <a:effectLst/>
                          <a:latin typeface="arial" panose="020B0604020202020204" pitchFamily="34" charset="0"/>
                        </a:rPr>
                        <a:t>.</a:t>
                      </a:r>
                      <a:endParaRPr lang="en-US" sz="1400" dirty="0">
                        <a:effectLst/>
                      </a:endParaRPr>
                    </a:p>
                  </a:txBody>
                  <a:tcPr marL="95250" marR="95250" marT="95250" marB="95250" anchor="ctr">
                    <a:lnL>
                      <a:noFill/>
                    </a:lnL>
                    <a:lnR>
                      <a:noFill/>
                    </a:lnR>
                    <a:lnT>
                      <a:noFill/>
                    </a:lnT>
                    <a:lnB>
                      <a:noFill/>
                    </a:lnB>
                    <a:solidFill>
                      <a:srgbClr val="FCFCFC"/>
                    </a:solidFill>
                  </a:tcPr>
                </a:tc>
                <a:tc>
                  <a:txBody>
                    <a:bodyPr/>
                    <a:lstStyle/>
                    <a:p>
                      <a:pPr algn="ctr" fontAlgn="ctr"/>
                      <a:r>
                        <a:rPr lang="en-US" sz="1400" b="1" dirty="0">
                          <a:effectLst/>
                          <a:latin typeface="inherit"/>
                        </a:rPr>
                        <a:t>3. </a:t>
                      </a:r>
                      <a:r>
                        <a:rPr lang="en-US" sz="1400" b="1" dirty="0" err="1">
                          <a:effectLst/>
                          <a:latin typeface="inherit"/>
                        </a:rPr>
                        <a:t>Đông</a:t>
                      </a:r>
                      <a:r>
                        <a:rPr lang="en-US" sz="1400" b="1" dirty="0">
                          <a:effectLst/>
                          <a:latin typeface="inherit"/>
                        </a:rPr>
                        <a:t> </a:t>
                      </a:r>
                      <a:r>
                        <a:rPr lang="en-US" sz="1400" b="1" dirty="0" err="1">
                          <a:effectLst/>
                          <a:latin typeface="inherit"/>
                        </a:rPr>
                        <a:t>cứng</a:t>
                      </a:r>
                      <a:r>
                        <a:rPr lang="en-US" sz="1400" b="1" dirty="0">
                          <a:effectLst/>
                          <a:latin typeface="inherit"/>
                        </a:rPr>
                        <a:t> </a:t>
                      </a:r>
                      <a:r>
                        <a:rPr lang="en-US" sz="1400" b="1" dirty="0" err="1">
                          <a:effectLst/>
                          <a:latin typeface="inherit"/>
                        </a:rPr>
                        <a:t>lại</a:t>
                      </a:r>
                      <a:r>
                        <a:rPr lang="en-US" sz="1400" b="1" dirty="0">
                          <a:effectLst/>
                          <a:latin typeface="inherit"/>
                        </a:rPr>
                        <a:t> (Refreeze):</a:t>
                      </a:r>
                      <a:r>
                        <a:rPr lang="en-US" sz="1400" dirty="0">
                          <a:effectLst/>
                          <a:latin typeface="arial" panose="020B0604020202020204" pitchFamily="34" charset="0"/>
                        </a:rPr>
                        <a:t> </a:t>
                      </a:r>
                    </a:p>
                    <a:p>
                      <a:pPr algn="ctr" fontAlgn="ctr"/>
                      <a:r>
                        <a:rPr lang="en-US" sz="1400" dirty="0" err="1">
                          <a:effectLst/>
                          <a:latin typeface="arial" panose="020B0604020202020204" pitchFamily="34" charset="0"/>
                        </a:rPr>
                        <a:t>Biến</a:t>
                      </a:r>
                      <a:r>
                        <a:rPr lang="en-US" sz="1400" dirty="0">
                          <a:effectLst/>
                          <a:latin typeface="arial" panose="020B0604020202020204" pitchFamily="34" charset="0"/>
                        </a:rPr>
                        <a:t> </a:t>
                      </a:r>
                      <a:r>
                        <a:rPr lang="en-US" sz="1400" dirty="0" err="1">
                          <a:effectLst/>
                          <a:latin typeface="arial" panose="020B0604020202020204" pitchFamily="34" charset="0"/>
                        </a:rPr>
                        <a:t>đổi</a:t>
                      </a:r>
                      <a:r>
                        <a:rPr lang="en-US" sz="1400" dirty="0">
                          <a:effectLst/>
                          <a:latin typeface="arial" panose="020B0604020202020204" pitchFamily="34" charset="0"/>
                        </a:rPr>
                        <a:t> </a:t>
                      </a:r>
                      <a:r>
                        <a:rPr lang="en-US" sz="1400" dirty="0" err="1">
                          <a:effectLst/>
                          <a:latin typeface="arial" panose="020B0604020202020204" pitchFamily="34" charset="0"/>
                        </a:rPr>
                        <a:t>mới</a:t>
                      </a:r>
                      <a:r>
                        <a:rPr lang="en-US" sz="1400" dirty="0">
                          <a:effectLst/>
                          <a:latin typeface="arial" panose="020B0604020202020204" pitchFamily="34" charset="0"/>
                        </a:rPr>
                        <a:t> </a:t>
                      </a:r>
                      <a:r>
                        <a:rPr lang="en-US" sz="1400" dirty="0" err="1">
                          <a:effectLst/>
                          <a:latin typeface="arial" panose="020B0604020202020204" pitchFamily="34" charset="0"/>
                        </a:rPr>
                        <a:t>thành</a:t>
                      </a:r>
                      <a:r>
                        <a:rPr lang="en-US" sz="1400" dirty="0">
                          <a:effectLst/>
                          <a:latin typeface="arial" panose="020B0604020202020204" pitchFamily="34" charset="0"/>
                        </a:rPr>
                        <a:t> </a:t>
                      </a:r>
                      <a:r>
                        <a:rPr lang="en-US" sz="1400" dirty="0" err="1">
                          <a:effectLst/>
                          <a:latin typeface="arial" panose="020B0604020202020204" pitchFamily="34" charset="0"/>
                        </a:rPr>
                        <a:t>một</a:t>
                      </a:r>
                      <a:r>
                        <a:rPr lang="en-US" sz="1400" dirty="0">
                          <a:effectLst/>
                          <a:latin typeface="arial" panose="020B0604020202020204" pitchFamily="34" charset="0"/>
                        </a:rPr>
                        <a:t> </a:t>
                      </a:r>
                      <a:r>
                        <a:rPr lang="en-US" sz="1400" dirty="0" err="1">
                          <a:effectLst/>
                          <a:latin typeface="arial" panose="020B0604020202020204" pitchFamily="34" charset="0"/>
                        </a:rPr>
                        <a:t>phần</a:t>
                      </a:r>
                      <a:r>
                        <a:rPr lang="en-US" sz="1400" dirty="0">
                          <a:effectLst/>
                          <a:latin typeface="arial" panose="020B0604020202020204" pitchFamily="34" charset="0"/>
                        </a:rPr>
                        <a:t> </a:t>
                      </a:r>
                      <a:r>
                        <a:rPr lang="en-US" sz="1400" dirty="0" err="1">
                          <a:effectLst/>
                          <a:latin typeface="arial" panose="020B0604020202020204" pitchFamily="34" charset="0"/>
                        </a:rPr>
                        <a:t>của</a:t>
                      </a:r>
                      <a:r>
                        <a:rPr lang="en-US" sz="1400" dirty="0">
                          <a:effectLst/>
                          <a:latin typeface="arial" panose="020B0604020202020204" pitchFamily="34" charset="0"/>
                        </a:rPr>
                        <a:t> </a:t>
                      </a:r>
                      <a:r>
                        <a:rPr lang="en-US" sz="1400" dirty="0" err="1">
                          <a:effectLst/>
                          <a:latin typeface="arial" panose="020B0604020202020204" pitchFamily="34" charset="0"/>
                        </a:rPr>
                        <a:t>tổ</a:t>
                      </a:r>
                      <a:r>
                        <a:rPr lang="en-US" sz="1400" dirty="0">
                          <a:effectLst/>
                          <a:latin typeface="arial" panose="020B0604020202020204" pitchFamily="34" charset="0"/>
                        </a:rPr>
                        <a:t> </a:t>
                      </a:r>
                      <a:r>
                        <a:rPr lang="en-US" sz="1400" dirty="0" err="1">
                          <a:effectLst/>
                          <a:latin typeface="arial" panose="020B0604020202020204" pitchFamily="34" charset="0"/>
                        </a:rPr>
                        <a:t>chức</a:t>
                      </a:r>
                      <a:r>
                        <a:rPr lang="en-US" sz="1400" dirty="0">
                          <a:effectLst/>
                          <a:latin typeface="arial" panose="020B0604020202020204" pitchFamily="34" charset="0"/>
                        </a:rPr>
                        <a:t>.</a:t>
                      </a:r>
                      <a:endParaRPr lang="en-US" sz="1400" dirty="0">
                        <a:effectLst/>
                      </a:endParaRPr>
                    </a:p>
                  </a:txBody>
                  <a:tcPr marL="95250" marR="95250" marT="95250" marB="95250" anchor="ctr">
                    <a:lnL>
                      <a:noFill/>
                    </a:lnL>
                    <a:lnR>
                      <a:noFill/>
                    </a:lnR>
                    <a:lnT>
                      <a:noFill/>
                    </a:lnT>
                    <a:lnB>
                      <a:noFill/>
                    </a:lnB>
                    <a:solidFill>
                      <a:srgbClr val="FCFCFC"/>
                    </a:solidFill>
                  </a:tcPr>
                </a:tc>
                <a:extLst>
                  <a:ext uri="{0D108BD9-81ED-4DB2-BD59-A6C34878D82A}">
                    <a16:rowId xmlns:a16="http://schemas.microsoft.com/office/drawing/2014/main" val="21201189"/>
                  </a:ext>
                </a:extLst>
              </a:tr>
              <a:tr h="1318389">
                <a:tc>
                  <a:txBody>
                    <a:bodyPr/>
                    <a:lstStyle/>
                    <a:p>
                      <a:pPr algn="l" fontAlgn="base">
                        <a:buFont typeface="Arial" panose="020B0604020202020204" pitchFamily="34" charset="0"/>
                        <a:buChar char="•"/>
                      </a:pPr>
                      <a:r>
                        <a:rPr lang="en-US" sz="1200" dirty="0" err="1">
                          <a:solidFill>
                            <a:srgbClr val="002060"/>
                          </a:solidFill>
                          <a:effectLst/>
                          <a:latin typeface="arial" panose="020B0604020202020204" pitchFamily="34" charset="0"/>
                        </a:rPr>
                        <a:t>Phân</a:t>
                      </a:r>
                      <a:r>
                        <a:rPr lang="en-US" sz="1200" dirty="0">
                          <a:solidFill>
                            <a:srgbClr val="002060"/>
                          </a:solidFill>
                          <a:effectLst/>
                          <a:latin typeface="arial" panose="020B0604020202020204" pitchFamily="34" charset="0"/>
                        </a:rPr>
                        <a:t> </a:t>
                      </a:r>
                      <a:r>
                        <a:rPr lang="en-US" sz="1200" dirty="0" err="1">
                          <a:solidFill>
                            <a:srgbClr val="002060"/>
                          </a:solidFill>
                          <a:effectLst/>
                          <a:latin typeface="arial" panose="020B0604020202020204" pitchFamily="34" charset="0"/>
                        </a:rPr>
                        <a:t>tích</a:t>
                      </a:r>
                      <a:r>
                        <a:rPr lang="en-US" sz="1200" dirty="0">
                          <a:solidFill>
                            <a:srgbClr val="002060"/>
                          </a:solidFill>
                          <a:effectLst/>
                          <a:latin typeface="arial" panose="020B0604020202020204" pitchFamily="34" charset="0"/>
                        </a:rPr>
                        <a:t> </a:t>
                      </a:r>
                      <a:r>
                        <a:rPr lang="en-US" sz="1200" dirty="0" err="1">
                          <a:solidFill>
                            <a:srgbClr val="002060"/>
                          </a:solidFill>
                          <a:effectLst/>
                          <a:latin typeface="arial" panose="020B0604020202020204" pitchFamily="34" charset="0"/>
                        </a:rPr>
                        <a:t>quy</a:t>
                      </a:r>
                      <a:r>
                        <a:rPr lang="en-US" sz="1200" dirty="0">
                          <a:solidFill>
                            <a:srgbClr val="002060"/>
                          </a:solidFill>
                          <a:effectLst/>
                          <a:latin typeface="arial" panose="020B0604020202020204" pitchFamily="34" charset="0"/>
                        </a:rPr>
                        <a:t> </a:t>
                      </a:r>
                      <a:r>
                        <a:rPr lang="en-US" sz="1200" dirty="0" err="1">
                          <a:solidFill>
                            <a:srgbClr val="002060"/>
                          </a:solidFill>
                          <a:effectLst/>
                          <a:latin typeface="arial" panose="020B0604020202020204" pitchFamily="34" charset="0"/>
                        </a:rPr>
                        <a:t>trình</a:t>
                      </a:r>
                      <a:r>
                        <a:rPr lang="en-US" sz="1200" dirty="0">
                          <a:solidFill>
                            <a:srgbClr val="002060"/>
                          </a:solidFill>
                          <a:effectLst/>
                          <a:latin typeface="arial" panose="020B0604020202020204" pitchFamily="34" charset="0"/>
                        </a:rPr>
                        <a:t> </a:t>
                      </a:r>
                      <a:r>
                        <a:rPr lang="en-US" sz="1200" dirty="0" err="1">
                          <a:solidFill>
                            <a:srgbClr val="002060"/>
                          </a:solidFill>
                          <a:effectLst/>
                          <a:latin typeface="arial" panose="020B0604020202020204" pitchFamily="34" charset="0"/>
                        </a:rPr>
                        <a:t>hiện</a:t>
                      </a:r>
                      <a:r>
                        <a:rPr lang="en-US" sz="1200" dirty="0">
                          <a:solidFill>
                            <a:srgbClr val="002060"/>
                          </a:solidFill>
                          <a:effectLst/>
                          <a:latin typeface="arial" panose="020B0604020202020204" pitchFamily="34" charset="0"/>
                        </a:rPr>
                        <a:t> </a:t>
                      </a:r>
                      <a:r>
                        <a:rPr lang="en-US" sz="1200" dirty="0" err="1">
                          <a:solidFill>
                            <a:srgbClr val="002060"/>
                          </a:solidFill>
                          <a:effectLst/>
                          <a:latin typeface="arial" panose="020B0604020202020204" pitchFamily="34" charset="0"/>
                        </a:rPr>
                        <a:t>tại</a:t>
                      </a:r>
                      <a:r>
                        <a:rPr lang="en-US" sz="1200" dirty="0">
                          <a:solidFill>
                            <a:srgbClr val="002060"/>
                          </a:solidFill>
                          <a:effectLst/>
                          <a:latin typeface="arial" panose="020B0604020202020204" pitchFamily="34" charset="0"/>
                        </a:rPr>
                        <a:t> </a:t>
                      </a:r>
                      <a:r>
                        <a:rPr lang="en-US" sz="1200" dirty="0" err="1">
                          <a:solidFill>
                            <a:srgbClr val="002060"/>
                          </a:solidFill>
                          <a:effectLst/>
                          <a:latin typeface="arial" panose="020B0604020202020204" pitchFamily="34" charset="0"/>
                        </a:rPr>
                        <a:t>và</a:t>
                      </a:r>
                      <a:r>
                        <a:rPr lang="en-US" sz="1200" dirty="0">
                          <a:solidFill>
                            <a:srgbClr val="002060"/>
                          </a:solidFill>
                          <a:effectLst/>
                          <a:latin typeface="arial" panose="020B0604020202020204" pitchFamily="34" charset="0"/>
                        </a:rPr>
                        <a:t> </a:t>
                      </a:r>
                      <a:r>
                        <a:rPr lang="en-US" sz="1200" dirty="0" err="1">
                          <a:solidFill>
                            <a:srgbClr val="002060"/>
                          </a:solidFill>
                          <a:effectLst/>
                          <a:latin typeface="arial" panose="020B0604020202020204" pitchFamily="34" charset="0"/>
                        </a:rPr>
                        <a:t>tìm</a:t>
                      </a:r>
                      <a:r>
                        <a:rPr lang="en-US" sz="1200" dirty="0">
                          <a:solidFill>
                            <a:srgbClr val="002060"/>
                          </a:solidFill>
                          <a:effectLst/>
                          <a:latin typeface="arial" panose="020B0604020202020204" pitchFamily="34" charset="0"/>
                        </a:rPr>
                        <a:t> </a:t>
                      </a:r>
                      <a:r>
                        <a:rPr lang="en-US" sz="1200" dirty="0" err="1">
                          <a:solidFill>
                            <a:srgbClr val="002060"/>
                          </a:solidFill>
                          <a:effectLst/>
                          <a:latin typeface="arial" panose="020B0604020202020204" pitchFamily="34" charset="0"/>
                        </a:rPr>
                        <a:t>ra</a:t>
                      </a:r>
                      <a:r>
                        <a:rPr lang="en-US" sz="1200" dirty="0">
                          <a:solidFill>
                            <a:srgbClr val="002060"/>
                          </a:solidFill>
                          <a:effectLst/>
                          <a:latin typeface="arial" panose="020B0604020202020204" pitchFamily="34" charset="0"/>
                        </a:rPr>
                        <a:t> </a:t>
                      </a:r>
                      <a:r>
                        <a:rPr lang="en-US" sz="1200" dirty="0" err="1">
                          <a:solidFill>
                            <a:srgbClr val="002060"/>
                          </a:solidFill>
                          <a:effectLst/>
                          <a:latin typeface="arial" panose="020B0604020202020204" pitchFamily="34" charset="0"/>
                        </a:rPr>
                        <a:t>điểm</a:t>
                      </a:r>
                      <a:r>
                        <a:rPr lang="en-US" sz="1200" dirty="0">
                          <a:solidFill>
                            <a:srgbClr val="002060"/>
                          </a:solidFill>
                          <a:effectLst/>
                          <a:latin typeface="arial" panose="020B0604020202020204" pitchFamily="34" charset="0"/>
                        </a:rPr>
                        <a:t> </a:t>
                      </a:r>
                      <a:r>
                        <a:rPr lang="en-US" sz="1200" dirty="0" err="1">
                          <a:solidFill>
                            <a:srgbClr val="002060"/>
                          </a:solidFill>
                          <a:effectLst/>
                          <a:latin typeface="arial" panose="020B0604020202020204" pitchFamily="34" charset="0"/>
                        </a:rPr>
                        <a:t>yếu</a:t>
                      </a:r>
                      <a:r>
                        <a:rPr lang="en-US" sz="1200" dirty="0">
                          <a:solidFill>
                            <a:srgbClr val="002060"/>
                          </a:solidFill>
                          <a:effectLst/>
                          <a:latin typeface="arial" panose="020B0604020202020204" pitchFamily="34" charset="0"/>
                        </a:rPr>
                        <a:t> </a:t>
                      </a:r>
                      <a:r>
                        <a:rPr lang="en-US" sz="1200" dirty="0" err="1">
                          <a:solidFill>
                            <a:srgbClr val="002060"/>
                          </a:solidFill>
                          <a:effectLst/>
                          <a:latin typeface="arial" panose="020B0604020202020204" pitchFamily="34" charset="0"/>
                        </a:rPr>
                        <a:t>cần</a:t>
                      </a:r>
                      <a:r>
                        <a:rPr lang="en-US" sz="1200" dirty="0">
                          <a:solidFill>
                            <a:srgbClr val="002060"/>
                          </a:solidFill>
                          <a:effectLst/>
                          <a:latin typeface="arial" panose="020B0604020202020204" pitchFamily="34" charset="0"/>
                        </a:rPr>
                        <a:t> </a:t>
                      </a:r>
                      <a:r>
                        <a:rPr lang="en-US" sz="1200" dirty="0" err="1">
                          <a:solidFill>
                            <a:srgbClr val="002060"/>
                          </a:solidFill>
                          <a:effectLst/>
                          <a:latin typeface="arial" panose="020B0604020202020204" pitchFamily="34" charset="0"/>
                        </a:rPr>
                        <a:t>cải</a:t>
                      </a:r>
                      <a:r>
                        <a:rPr lang="en-US" sz="1200" dirty="0">
                          <a:solidFill>
                            <a:srgbClr val="002060"/>
                          </a:solidFill>
                          <a:effectLst/>
                          <a:latin typeface="arial" panose="020B0604020202020204" pitchFamily="34" charset="0"/>
                        </a:rPr>
                        <a:t> </a:t>
                      </a:r>
                      <a:r>
                        <a:rPr lang="en-US" sz="1200" dirty="0" err="1">
                          <a:solidFill>
                            <a:srgbClr val="002060"/>
                          </a:solidFill>
                          <a:effectLst/>
                          <a:latin typeface="arial" panose="020B0604020202020204" pitchFamily="34" charset="0"/>
                        </a:rPr>
                        <a:t>thiện</a:t>
                      </a:r>
                      <a:r>
                        <a:rPr lang="en-US" sz="1200" dirty="0">
                          <a:solidFill>
                            <a:srgbClr val="002060"/>
                          </a:solidFill>
                          <a:effectLst/>
                          <a:latin typeface="arial" panose="020B0604020202020204" pitchFamily="34" charset="0"/>
                        </a:rPr>
                        <a:t>.</a:t>
                      </a:r>
                      <a:endParaRPr lang="en-US" sz="1200" dirty="0">
                        <a:solidFill>
                          <a:srgbClr val="002060"/>
                        </a:solidFill>
                        <a:effectLst/>
                      </a:endParaRPr>
                    </a:p>
                    <a:p>
                      <a:pPr algn="l" fontAlgn="base">
                        <a:buFont typeface="Arial" panose="020B0604020202020204" pitchFamily="34" charset="0"/>
                        <a:buChar char="•"/>
                      </a:pPr>
                      <a:r>
                        <a:rPr lang="en-US" sz="1200" dirty="0" err="1">
                          <a:solidFill>
                            <a:srgbClr val="002060"/>
                          </a:solidFill>
                          <a:effectLst/>
                          <a:latin typeface="arial" panose="020B0604020202020204" pitchFamily="34" charset="0"/>
                        </a:rPr>
                        <a:t>Giải</a:t>
                      </a:r>
                      <a:r>
                        <a:rPr lang="en-US" sz="1200" dirty="0">
                          <a:solidFill>
                            <a:srgbClr val="002060"/>
                          </a:solidFill>
                          <a:effectLst/>
                          <a:latin typeface="arial" panose="020B0604020202020204" pitchFamily="34" charset="0"/>
                        </a:rPr>
                        <a:t> </a:t>
                      </a:r>
                      <a:r>
                        <a:rPr lang="en-US" sz="1200" dirty="0" err="1">
                          <a:solidFill>
                            <a:srgbClr val="002060"/>
                          </a:solidFill>
                          <a:effectLst/>
                          <a:latin typeface="arial" panose="020B0604020202020204" pitchFamily="34" charset="0"/>
                        </a:rPr>
                        <a:t>thích</a:t>
                      </a:r>
                      <a:r>
                        <a:rPr lang="en-US" sz="1200" dirty="0">
                          <a:solidFill>
                            <a:srgbClr val="002060"/>
                          </a:solidFill>
                          <a:effectLst/>
                          <a:latin typeface="arial" panose="020B0604020202020204" pitchFamily="34" charset="0"/>
                        </a:rPr>
                        <a:t> </a:t>
                      </a:r>
                      <a:r>
                        <a:rPr lang="en-US" sz="1200" dirty="0" err="1">
                          <a:solidFill>
                            <a:srgbClr val="002060"/>
                          </a:solidFill>
                          <a:effectLst/>
                          <a:latin typeface="arial" panose="020B0604020202020204" pitchFamily="34" charset="0"/>
                        </a:rPr>
                        <a:t>cho</a:t>
                      </a:r>
                      <a:r>
                        <a:rPr lang="en-US" sz="1200" dirty="0">
                          <a:solidFill>
                            <a:srgbClr val="002060"/>
                          </a:solidFill>
                          <a:effectLst/>
                          <a:latin typeface="arial" panose="020B0604020202020204" pitchFamily="34" charset="0"/>
                        </a:rPr>
                        <a:t> </a:t>
                      </a:r>
                      <a:r>
                        <a:rPr lang="en-US" sz="1200" dirty="0" err="1">
                          <a:solidFill>
                            <a:srgbClr val="002060"/>
                          </a:solidFill>
                          <a:effectLst/>
                          <a:latin typeface="arial" panose="020B0604020202020204" pitchFamily="34" charset="0"/>
                        </a:rPr>
                        <a:t>nhân</a:t>
                      </a:r>
                      <a:r>
                        <a:rPr lang="en-US" sz="1200" dirty="0">
                          <a:solidFill>
                            <a:srgbClr val="002060"/>
                          </a:solidFill>
                          <a:effectLst/>
                          <a:latin typeface="arial" panose="020B0604020202020204" pitchFamily="34" charset="0"/>
                        </a:rPr>
                        <a:t> </a:t>
                      </a:r>
                      <a:r>
                        <a:rPr lang="en-US" sz="1200" dirty="0" err="1">
                          <a:solidFill>
                            <a:srgbClr val="002060"/>
                          </a:solidFill>
                          <a:effectLst/>
                          <a:latin typeface="arial" panose="020B0604020202020204" pitchFamily="34" charset="0"/>
                        </a:rPr>
                        <a:t>viên</a:t>
                      </a:r>
                      <a:r>
                        <a:rPr lang="en-US" sz="1200" dirty="0">
                          <a:solidFill>
                            <a:srgbClr val="002060"/>
                          </a:solidFill>
                          <a:effectLst/>
                          <a:latin typeface="arial" panose="020B0604020202020204" pitchFamily="34" charset="0"/>
                        </a:rPr>
                        <a:t> </a:t>
                      </a:r>
                      <a:r>
                        <a:rPr lang="en-US" sz="1200" dirty="0" err="1">
                          <a:solidFill>
                            <a:srgbClr val="002060"/>
                          </a:solidFill>
                          <a:effectLst/>
                          <a:latin typeface="arial" panose="020B0604020202020204" pitchFamily="34" charset="0"/>
                        </a:rPr>
                        <a:t>lý</a:t>
                      </a:r>
                      <a:r>
                        <a:rPr lang="en-US" sz="1200" dirty="0">
                          <a:solidFill>
                            <a:srgbClr val="002060"/>
                          </a:solidFill>
                          <a:effectLst/>
                          <a:latin typeface="arial" panose="020B0604020202020204" pitchFamily="34" charset="0"/>
                        </a:rPr>
                        <a:t> do </a:t>
                      </a:r>
                      <a:r>
                        <a:rPr lang="en-US" sz="1200" dirty="0" err="1">
                          <a:solidFill>
                            <a:srgbClr val="002060"/>
                          </a:solidFill>
                          <a:effectLst/>
                          <a:latin typeface="arial" panose="020B0604020202020204" pitchFamily="34" charset="0"/>
                        </a:rPr>
                        <a:t>tại</a:t>
                      </a:r>
                      <a:r>
                        <a:rPr lang="en-US" sz="1200" dirty="0">
                          <a:solidFill>
                            <a:srgbClr val="002060"/>
                          </a:solidFill>
                          <a:effectLst/>
                          <a:latin typeface="arial" panose="020B0604020202020204" pitchFamily="34" charset="0"/>
                        </a:rPr>
                        <a:t> </a:t>
                      </a:r>
                      <a:r>
                        <a:rPr lang="en-US" sz="1200" dirty="0" err="1">
                          <a:solidFill>
                            <a:srgbClr val="002060"/>
                          </a:solidFill>
                          <a:effectLst/>
                          <a:latin typeface="arial" panose="020B0604020202020204" pitchFamily="34" charset="0"/>
                        </a:rPr>
                        <a:t>sao</a:t>
                      </a:r>
                      <a:r>
                        <a:rPr lang="en-US" sz="1200" dirty="0">
                          <a:solidFill>
                            <a:srgbClr val="002060"/>
                          </a:solidFill>
                          <a:effectLst/>
                          <a:latin typeface="arial" panose="020B0604020202020204" pitchFamily="34" charset="0"/>
                        </a:rPr>
                        <a:t> </a:t>
                      </a:r>
                      <a:r>
                        <a:rPr lang="en-US" sz="1200" dirty="0" err="1">
                          <a:solidFill>
                            <a:srgbClr val="002060"/>
                          </a:solidFill>
                          <a:effectLst/>
                          <a:latin typeface="arial" panose="020B0604020202020204" pitchFamily="34" charset="0"/>
                        </a:rPr>
                        <a:t>cần</a:t>
                      </a:r>
                      <a:r>
                        <a:rPr lang="en-US" sz="1200" dirty="0">
                          <a:solidFill>
                            <a:srgbClr val="002060"/>
                          </a:solidFill>
                          <a:effectLst/>
                          <a:latin typeface="arial" panose="020B0604020202020204" pitchFamily="34" charset="0"/>
                        </a:rPr>
                        <a:t> </a:t>
                      </a:r>
                      <a:r>
                        <a:rPr lang="en-US" sz="1200" dirty="0" err="1">
                          <a:solidFill>
                            <a:srgbClr val="002060"/>
                          </a:solidFill>
                          <a:effectLst/>
                          <a:latin typeface="arial" panose="020B0604020202020204" pitchFamily="34" charset="0"/>
                        </a:rPr>
                        <a:t>thay</a:t>
                      </a:r>
                      <a:r>
                        <a:rPr lang="en-US" sz="1200" dirty="0">
                          <a:solidFill>
                            <a:srgbClr val="002060"/>
                          </a:solidFill>
                          <a:effectLst/>
                          <a:latin typeface="arial" panose="020B0604020202020204" pitchFamily="34" charset="0"/>
                        </a:rPr>
                        <a:t> </a:t>
                      </a:r>
                      <a:r>
                        <a:rPr lang="en-US" sz="1200" dirty="0" err="1">
                          <a:solidFill>
                            <a:srgbClr val="002060"/>
                          </a:solidFill>
                          <a:effectLst/>
                          <a:latin typeface="arial" panose="020B0604020202020204" pitchFamily="34" charset="0"/>
                        </a:rPr>
                        <a:t>đổi</a:t>
                      </a:r>
                      <a:r>
                        <a:rPr lang="en-US" sz="1200" dirty="0">
                          <a:solidFill>
                            <a:srgbClr val="002060"/>
                          </a:solidFill>
                          <a:effectLst/>
                          <a:latin typeface="arial" panose="020B0604020202020204" pitchFamily="34" charset="0"/>
                        </a:rPr>
                        <a:t>.</a:t>
                      </a:r>
                      <a:endParaRPr lang="en-US" sz="1200" dirty="0">
                        <a:solidFill>
                          <a:srgbClr val="002060"/>
                        </a:solidFill>
                        <a:effectLst/>
                      </a:endParaRPr>
                    </a:p>
                  </a:txBody>
                  <a:tcPr marL="95250" marR="95250" marT="95250" marB="95250" anchor="ctr">
                    <a:lnL>
                      <a:noFill/>
                    </a:lnL>
                    <a:lnR>
                      <a:noFill/>
                    </a:lnR>
                    <a:lnT>
                      <a:noFill/>
                    </a:lnT>
                    <a:lnB>
                      <a:noFill/>
                    </a:lnB>
                    <a:solidFill>
                      <a:srgbClr val="FCFCFC"/>
                    </a:solidFill>
                  </a:tcPr>
                </a:tc>
                <a:tc>
                  <a:txBody>
                    <a:bodyPr/>
                    <a:lstStyle/>
                    <a:p>
                      <a:pPr algn="l" fontAlgn="base">
                        <a:buFont typeface="Arial" panose="020B0604020202020204" pitchFamily="34" charset="0"/>
                        <a:buChar char="•"/>
                      </a:pPr>
                      <a:r>
                        <a:rPr lang="vi-VN" sz="1200" dirty="0">
                          <a:solidFill>
                            <a:srgbClr val="002060"/>
                          </a:solidFill>
                          <a:effectLst/>
                          <a:latin typeface="arial" panose="020B0604020202020204" pitchFamily="34" charset="0"/>
                        </a:rPr>
                        <a:t>Truyền thông thường xuyên về lợi ích của sự thay đổi.</a:t>
                      </a:r>
                      <a:endParaRPr lang="vi-VN" sz="1200" dirty="0">
                        <a:solidFill>
                          <a:srgbClr val="002060"/>
                        </a:solidFill>
                        <a:effectLst/>
                      </a:endParaRPr>
                    </a:p>
                    <a:p>
                      <a:pPr algn="l" fontAlgn="base">
                        <a:buFont typeface="Arial" panose="020B0604020202020204" pitchFamily="34" charset="0"/>
                        <a:buChar char="•"/>
                      </a:pPr>
                      <a:r>
                        <a:rPr lang="vi-VN" sz="1200" dirty="0">
                          <a:solidFill>
                            <a:srgbClr val="002060"/>
                          </a:solidFill>
                          <a:effectLst/>
                          <a:latin typeface="arial" panose="020B0604020202020204" pitchFamily="34" charset="0"/>
                        </a:rPr>
                        <a:t>Cung cấp thời gian và đào tạo để nhân viên thích nghi với sự thay đổi.</a:t>
                      </a:r>
                      <a:endParaRPr lang="vi-VN" sz="1200" dirty="0">
                        <a:solidFill>
                          <a:srgbClr val="002060"/>
                        </a:solidFill>
                        <a:effectLst/>
                      </a:endParaRPr>
                    </a:p>
                  </a:txBody>
                  <a:tcPr marL="95250" marR="95250" marT="95250" marB="95250" anchor="ctr">
                    <a:lnL>
                      <a:noFill/>
                    </a:lnL>
                    <a:lnR>
                      <a:noFill/>
                    </a:lnR>
                    <a:lnT>
                      <a:noFill/>
                    </a:lnT>
                    <a:lnB>
                      <a:noFill/>
                    </a:lnB>
                    <a:solidFill>
                      <a:srgbClr val="FCFCFC"/>
                    </a:solidFill>
                  </a:tcPr>
                </a:tc>
                <a:tc>
                  <a:txBody>
                    <a:bodyPr/>
                    <a:lstStyle/>
                    <a:p>
                      <a:pPr algn="l" fontAlgn="base">
                        <a:buFont typeface="Arial" panose="020B0604020202020204" pitchFamily="34" charset="0"/>
                        <a:buChar char="•"/>
                      </a:pPr>
                      <a:r>
                        <a:rPr lang="vi-VN" sz="1200" dirty="0">
                          <a:solidFill>
                            <a:srgbClr val="002060"/>
                          </a:solidFill>
                          <a:effectLst/>
                          <a:latin typeface="arial" panose="020B0604020202020204" pitchFamily="34" charset="0"/>
                        </a:rPr>
                        <a:t>Tạo sự ổn định để duy trì thay đổi.</a:t>
                      </a:r>
                      <a:endParaRPr lang="vi-VN" sz="1200" dirty="0">
                        <a:solidFill>
                          <a:srgbClr val="002060"/>
                        </a:solidFill>
                        <a:effectLst/>
                      </a:endParaRPr>
                    </a:p>
                    <a:p>
                      <a:pPr algn="l" fontAlgn="base">
                        <a:buFont typeface="Arial" panose="020B0604020202020204" pitchFamily="34" charset="0"/>
                        <a:buChar char="•"/>
                      </a:pPr>
                      <a:r>
                        <a:rPr lang="vi-VN" sz="1200" dirty="0">
                          <a:solidFill>
                            <a:srgbClr val="002060"/>
                          </a:solidFill>
                          <a:effectLst/>
                          <a:latin typeface="arial" panose="020B0604020202020204" pitchFamily="34" charset="0"/>
                        </a:rPr>
                        <a:t>Khen thưởng những thành công đạt được trong quá trình thay đổi.</a:t>
                      </a:r>
                      <a:endParaRPr lang="vi-VN" sz="1200" dirty="0">
                        <a:solidFill>
                          <a:srgbClr val="002060"/>
                        </a:solidFill>
                        <a:effectLst/>
                      </a:endParaRPr>
                    </a:p>
                  </a:txBody>
                  <a:tcPr marL="95250" marR="95250" marT="95250" marB="95250" anchor="ctr">
                    <a:lnL>
                      <a:noFill/>
                    </a:lnL>
                    <a:lnR>
                      <a:noFill/>
                    </a:lnR>
                    <a:lnT>
                      <a:noFill/>
                    </a:lnT>
                    <a:lnB>
                      <a:noFill/>
                    </a:lnB>
                    <a:solidFill>
                      <a:srgbClr val="FCFCFC"/>
                    </a:solidFill>
                  </a:tcPr>
                </a:tc>
                <a:extLst>
                  <a:ext uri="{0D108BD9-81ED-4DB2-BD59-A6C34878D82A}">
                    <a16:rowId xmlns:a16="http://schemas.microsoft.com/office/drawing/2014/main" val="4232678544"/>
                  </a:ext>
                </a:extLst>
              </a:tr>
            </a:tbl>
          </a:graphicData>
        </a:graphic>
      </p:graphicFrame>
      <p:sp>
        <p:nvSpPr>
          <p:cNvPr id="7" name="Rectangle 2">
            <a:extLst>
              <a:ext uri="{FF2B5EF4-FFF2-40B4-BE49-F238E27FC236}">
                <a16:creationId xmlns:a16="http://schemas.microsoft.com/office/drawing/2014/main" id="{A8D59644-A7D7-0D42-6CD2-D9DC7E489D50}"/>
              </a:ext>
            </a:extLst>
          </p:cNvPr>
          <p:cNvSpPr>
            <a:spLocks noChangeArrowheads="1"/>
          </p:cNvSpPr>
          <p:nvPr/>
        </p:nvSpPr>
        <p:spPr bwMode="auto">
          <a:xfrm>
            <a:off x="2703934" y="342979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7EA6A4F3-21ED-2DD4-11BD-63DEB64A2541}"/>
              </a:ext>
            </a:extLst>
          </p:cNvPr>
          <p:cNvPicPr>
            <a:picLocks noChangeAspect="1"/>
          </p:cNvPicPr>
          <p:nvPr/>
        </p:nvPicPr>
        <p:blipFill rotWithShape="1">
          <a:blip r:embed="rId2"/>
          <a:srcRect l="9306" t="11895" r="10212" b="9543"/>
          <a:stretch/>
        </p:blipFill>
        <p:spPr>
          <a:xfrm>
            <a:off x="8099331" y="2708187"/>
            <a:ext cx="3640543" cy="2431134"/>
          </a:xfrm>
          <a:prstGeom prst="rect">
            <a:avLst/>
          </a:prstGeom>
          <a:effectLst>
            <a:glow rad="139700">
              <a:schemeClr val="accent4">
                <a:satMod val="175000"/>
                <a:alpha val="40000"/>
              </a:schemeClr>
            </a:glow>
          </a:effectLst>
        </p:spPr>
      </p:pic>
    </p:spTree>
    <p:extLst>
      <p:ext uri="{BB962C8B-B14F-4D97-AF65-F5344CB8AC3E}">
        <p14:creationId xmlns:p14="http://schemas.microsoft.com/office/powerpoint/2010/main" val="2359128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35E8B-AC01-724F-D01E-BDB5F08E9184}"/>
              </a:ext>
            </a:extLst>
          </p:cNvPr>
          <p:cNvSpPr>
            <a:spLocks noGrp="1"/>
          </p:cNvSpPr>
          <p:nvPr>
            <p:ph type="title"/>
          </p:nvPr>
        </p:nvSpPr>
        <p:spPr/>
        <p:txBody>
          <a:bodyPr>
            <a:normAutofit fontScale="90000"/>
          </a:bodyPr>
          <a:lstStyle/>
          <a:p>
            <a:r>
              <a:rPr lang="en-US" sz="4000" b="1" i="1" u="none" strike="noStrike" dirty="0">
                <a:solidFill>
                  <a:srgbClr val="0070C0"/>
                </a:solidFill>
                <a:effectLst/>
                <a:latin typeface="inherit"/>
              </a:rPr>
              <a:t>3.Mô </a:t>
            </a:r>
            <a:r>
              <a:rPr lang="en-US" sz="4000" b="1" i="1" u="none" strike="noStrike" dirty="0" err="1">
                <a:solidFill>
                  <a:srgbClr val="0070C0"/>
                </a:solidFill>
                <a:effectLst/>
                <a:latin typeface="inherit"/>
              </a:rPr>
              <a:t>hình</a:t>
            </a:r>
            <a:r>
              <a:rPr lang="en-US" sz="4000" b="1" i="1" u="none" strike="noStrike" dirty="0">
                <a:solidFill>
                  <a:srgbClr val="0070C0"/>
                </a:solidFill>
                <a:effectLst/>
                <a:latin typeface="inherit"/>
              </a:rPr>
              <a:t> McKinsey 7S </a:t>
            </a:r>
            <a:r>
              <a:rPr lang="en-US" sz="4000" b="1" i="1" u="none" strike="noStrike" dirty="0" err="1">
                <a:solidFill>
                  <a:srgbClr val="0070C0"/>
                </a:solidFill>
                <a:effectLst/>
                <a:latin typeface="inherit"/>
              </a:rPr>
              <a:t>của</a:t>
            </a:r>
            <a:r>
              <a:rPr lang="en-US" sz="4000" b="1" i="1" u="none" strike="noStrike" dirty="0">
                <a:solidFill>
                  <a:srgbClr val="0070C0"/>
                </a:solidFill>
                <a:effectLst/>
                <a:latin typeface="inherit"/>
              </a:rPr>
              <a:t> McKinsey &amp; Company</a:t>
            </a:r>
            <a:br>
              <a:rPr lang="en-US" b="1" i="1" dirty="0">
                <a:solidFill>
                  <a:srgbClr val="161922"/>
                </a:solidFill>
                <a:effectLst/>
                <a:latin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7351D599-ED21-B7E0-E322-53FDD986BC29}"/>
              </a:ext>
            </a:extLst>
          </p:cNvPr>
          <p:cNvSpPr>
            <a:spLocks noGrp="1"/>
          </p:cNvSpPr>
          <p:nvPr>
            <p:ph idx="1"/>
          </p:nvPr>
        </p:nvSpPr>
        <p:spPr>
          <a:xfrm>
            <a:off x="390331" y="1420389"/>
            <a:ext cx="10515600" cy="1468081"/>
          </a:xfrm>
        </p:spPr>
        <p:txBody>
          <a:bodyPr>
            <a:normAutofit/>
          </a:bodyPr>
          <a:lstStyle/>
          <a:p>
            <a:pPr algn="l" fontAlgn="base"/>
            <a:r>
              <a:rPr lang="en-US" sz="1600" b="0" i="0" dirty="0">
                <a:solidFill>
                  <a:srgbClr val="002060"/>
                </a:solidFill>
                <a:effectLst/>
                <a:latin typeface="arial" panose="020B0604020202020204" pitchFamily="34" charset="0"/>
              </a:rPr>
              <a:t>C</a:t>
            </a:r>
            <a:r>
              <a:rPr lang="vi-VN" sz="1600" b="0" i="0" dirty="0">
                <a:solidFill>
                  <a:srgbClr val="002060"/>
                </a:solidFill>
                <a:effectLst/>
                <a:latin typeface="arial" panose="020B0604020202020204" pitchFamily="34" charset="0"/>
              </a:rPr>
              <a:t>ác nhà tư vấn của McKinsey là Thomas J. Peters và Robert H. Waterman đã giới thiệu </a:t>
            </a:r>
            <a:r>
              <a:rPr lang="vi-VN" sz="1600" b="0" i="0" u="none" strike="noStrike" dirty="0">
                <a:solidFill>
                  <a:srgbClr val="002060"/>
                </a:solidFill>
                <a:effectLst/>
                <a:latin typeface="arial" panose="020B0604020202020204" pitchFamily="34" charset="0"/>
              </a:rPr>
              <a:t>mô hình McKinsey 7-S</a:t>
            </a:r>
            <a:r>
              <a:rPr lang="vi-VN" sz="1600" b="0" i="0" dirty="0">
                <a:solidFill>
                  <a:srgbClr val="002060"/>
                </a:solidFill>
                <a:effectLst/>
                <a:latin typeface="arial" panose="020B0604020202020204" pitchFamily="34" charset="0"/>
              </a:rPr>
              <a:t> trong quyển sách “In Search of Excellence” (Đi tìm sự xuất sắc).</a:t>
            </a:r>
            <a:endParaRPr lang="vi-VN" sz="1600" b="0" i="0" dirty="0">
              <a:solidFill>
                <a:srgbClr val="002060"/>
              </a:solidFill>
              <a:effectLst/>
              <a:latin typeface="Arial" panose="020B0604020202020204" pitchFamily="34" charset="0"/>
            </a:endParaRPr>
          </a:p>
          <a:p>
            <a:pPr algn="l" rtl="0" fontAlgn="base"/>
            <a:r>
              <a:rPr lang="vi-VN" sz="1600" b="0" i="0" dirty="0">
                <a:solidFill>
                  <a:srgbClr val="002060"/>
                </a:solidFill>
                <a:effectLst/>
                <a:latin typeface="arial" panose="020B0604020202020204" pitchFamily="34" charset="0"/>
              </a:rPr>
              <a:t>Thay vì chỉ tập trung vào cấu trúc tổ chức, </a:t>
            </a:r>
            <a:r>
              <a:rPr lang="vi-VN" sz="1600" b="0" i="0" u="none" strike="noStrike" dirty="0">
                <a:solidFill>
                  <a:srgbClr val="002060"/>
                </a:solidFill>
                <a:effectLst/>
                <a:latin typeface="arial" panose="020B0604020202020204" pitchFamily="34" charset="0"/>
              </a:rPr>
              <a:t>mô hình McKinsey 7-S</a:t>
            </a:r>
            <a:r>
              <a:rPr lang="vi-VN" sz="1600" b="0" i="0" dirty="0">
                <a:solidFill>
                  <a:srgbClr val="002060"/>
                </a:solidFill>
                <a:effectLst/>
                <a:latin typeface="arial" panose="020B0604020202020204" pitchFamily="34" charset="0"/>
              </a:rPr>
              <a:t> nhấn mạnh sự phối hợp giữa các yếu tố và cho thấy 7 yếu tố liên quan mật thiết ảnh hưởng đến khả năng thay đổi của công ty.</a:t>
            </a:r>
            <a:endParaRPr lang="vi-VN" sz="1600" b="0" i="0" dirty="0">
              <a:solidFill>
                <a:srgbClr val="002060"/>
              </a:solidFill>
              <a:effectLst/>
              <a:latin typeface="Arial" panose="020B0604020202020204" pitchFamily="34" charset="0"/>
            </a:endParaRPr>
          </a:p>
          <a:p>
            <a:endParaRPr lang="en-US" sz="1600" dirty="0">
              <a:solidFill>
                <a:srgbClr val="002060"/>
              </a:solidFill>
            </a:endParaRPr>
          </a:p>
        </p:txBody>
      </p:sp>
      <p:pic>
        <p:nvPicPr>
          <p:cNvPr id="4098" name="Picture 2" descr="Mô hình McKinsey 7S">
            <a:extLst>
              <a:ext uri="{FF2B5EF4-FFF2-40B4-BE49-F238E27FC236}">
                <a16:creationId xmlns:a16="http://schemas.microsoft.com/office/drawing/2014/main" id="{AC00E76B-D504-E6C6-9609-5D0DF35ADF2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735" r="16878"/>
          <a:stretch/>
        </p:blipFill>
        <p:spPr bwMode="auto">
          <a:xfrm>
            <a:off x="8487747" y="2600888"/>
            <a:ext cx="3704253" cy="350860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B488829-5349-C6FB-3794-487B75A1942B}"/>
              </a:ext>
            </a:extLst>
          </p:cNvPr>
          <p:cNvSpPr txBox="1"/>
          <p:nvPr/>
        </p:nvSpPr>
        <p:spPr>
          <a:xfrm>
            <a:off x="969995" y="2881905"/>
            <a:ext cx="7238221" cy="2123658"/>
          </a:xfrm>
          <a:prstGeom prst="rect">
            <a:avLst/>
          </a:prstGeom>
          <a:noFill/>
        </p:spPr>
        <p:txBody>
          <a:bodyPr wrap="square">
            <a:spAutoFit/>
          </a:bodyPr>
          <a:lstStyle/>
          <a:p>
            <a:pPr algn="l" fontAlgn="base"/>
            <a:r>
              <a:rPr lang="vi-VN" sz="1200" b="0" i="0" dirty="0">
                <a:solidFill>
                  <a:srgbClr val="002060"/>
                </a:solidFill>
                <a:effectLst/>
                <a:latin typeface="arial" panose="020B0604020202020204" pitchFamily="34" charset="0"/>
              </a:rPr>
              <a:t>7 yếu tố này được chia thành 2 nhóm:</a:t>
            </a:r>
            <a:endParaRPr lang="vi-VN" sz="1200" b="0" i="0" dirty="0">
              <a:solidFill>
                <a:srgbClr val="002060"/>
              </a:solidFill>
              <a:effectLst/>
              <a:latin typeface="Arial" panose="020B0604020202020204" pitchFamily="34" charset="0"/>
            </a:endParaRPr>
          </a:p>
          <a:p>
            <a:pPr algn="l" fontAlgn="base"/>
            <a:r>
              <a:rPr lang="vi-VN" sz="1200" b="1" i="0" dirty="0">
                <a:solidFill>
                  <a:srgbClr val="002060"/>
                </a:solidFill>
                <a:effectLst/>
                <a:latin typeface="inherit"/>
              </a:rPr>
              <a:t>Yếu tố cứng (Hard Elements):</a:t>
            </a:r>
            <a:endParaRPr lang="vi-VN" sz="1200" b="0" i="0" dirty="0">
              <a:solidFill>
                <a:srgbClr val="002060"/>
              </a:solidFill>
              <a:effectLst/>
              <a:latin typeface="Arial" panose="020B0604020202020204" pitchFamily="34" charset="0"/>
            </a:endParaRPr>
          </a:p>
          <a:p>
            <a:pPr algn="l" fontAlgn="base">
              <a:buFont typeface="Arial" panose="020B0604020202020204" pitchFamily="34" charset="0"/>
              <a:buChar char="•"/>
            </a:pPr>
            <a:r>
              <a:rPr lang="vi-VN" sz="1200" b="1" i="0" dirty="0">
                <a:solidFill>
                  <a:srgbClr val="002060"/>
                </a:solidFill>
                <a:effectLst/>
                <a:latin typeface="inherit"/>
              </a:rPr>
              <a:t>Chiến lược (Strategy):</a:t>
            </a:r>
            <a:r>
              <a:rPr lang="vi-VN" sz="1200" b="0" i="0" dirty="0">
                <a:solidFill>
                  <a:srgbClr val="002060"/>
                </a:solidFill>
                <a:effectLst/>
                <a:latin typeface="arial" panose="020B0604020202020204" pitchFamily="34" charset="0"/>
              </a:rPr>
              <a:t> Kế hoạch cạnh tranh và thành công trên thị trường.</a:t>
            </a:r>
            <a:endParaRPr lang="vi-VN" sz="1200" b="0" i="0" dirty="0">
              <a:solidFill>
                <a:srgbClr val="002060"/>
              </a:solidFill>
              <a:effectLst/>
              <a:latin typeface="Arial" panose="020B0604020202020204" pitchFamily="34" charset="0"/>
            </a:endParaRPr>
          </a:p>
          <a:p>
            <a:pPr algn="l" fontAlgn="base">
              <a:buFont typeface="Arial" panose="020B0604020202020204" pitchFamily="34" charset="0"/>
              <a:buChar char="•"/>
            </a:pPr>
            <a:r>
              <a:rPr lang="vi-VN" sz="1200" b="1" i="0" dirty="0">
                <a:solidFill>
                  <a:srgbClr val="002060"/>
                </a:solidFill>
                <a:effectLst/>
                <a:latin typeface="inherit"/>
              </a:rPr>
              <a:t>Cấu trúc (Structure):</a:t>
            </a:r>
            <a:r>
              <a:rPr lang="vi-VN" sz="1200" b="0" i="0" dirty="0">
                <a:solidFill>
                  <a:srgbClr val="002060"/>
                </a:solidFill>
                <a:effectLst/>
                <a:latin typeface="arial" panose="020B0604020202020204" pitchFamily="34" charset="0"/>
              </a:rPr>
              <a:t> Cách thức tổ chức công ty, ví dụ như các phòng ban và báo cáo theo cấp.</a:t>
            </a:r>
            <a:endParaRPr lang="vi-VN" sz="1200" b="0" i="0" dirty="0">
              <a:solidFill>
                <a:srgbClr val="002060"/>
              </a:solidFill>
              <a:effectLst/>
              <a:latin typeface="Arial" panose="020B0604020202020204" pitchFamily="34" charset="0"/>
            </a:endParaRPr>
          </a:p>
          <a:p>
            <a:pPr algn="l" fontAlgn="base">
              <a:buFont typeface="Arial" panose="020B0604020202020204" pitchFamily="34" charset="0"/>
              <a:buChar char="•"/>
            </a:pPr>
            <a:r>
              <a:rPr lang="vi-VN" sz="1200" b="1" i="0" dirty="0">
                <a:solidFill>
                  <a:srgbClr val="002060"/>
                </a:solidFill>
                <a:effectLst/>
                <a:latin typeface="inherit"/>
              </a:rPr>
              <a:t>Hệ thống (Systems):</a:t>
            </a:r>
            <a:r>
              <a:rPr lang="vi-VN" sz="1200" b="0" i="0" dirty="0">
                <a:solidFill>
                  <a:srgbClr val="002060"/>
                </a:solidFill>
                <a:effectLst/>
                <a:latin typeface="arial" panose="020B0604020202020204" pitchFamily="34" charset="0"/>
              </a:rPr>
              <a:t> Quy trình và công nghệ nhân viên sử dụng để hoàn thành công việc.</a:t>
            </a:r>
            <a:endParaRPr lang="vi-VN" sz="1200" b="0" i="0" dirty="0">
              <a:solidFill>
                <a:srgbClr val="002060"/>
              </a:solidFill>
              <a:effectLst/>
              <a:latin typeface="Arial" panose="020B0604020202020204" pitchFamily="34" charset="0"/>
            </a:endParaRPr>
          </a:p>
          <a:p>
            <a:pPr algn="l" fontAlgn="base"/>
            <a:r>
              <a:rPr lang="vi-VN" sz="1200" b="1" i="0" dirty="0">
                <a:solidFill>
                  <a:srgbClr val="002060"/>
                </a:solidFill>
                <a:effectLst/>
                <a:latin typeface="inherit"/>
              </a:rPr>
              <a:t>Yếu tố mềm (Soft Elements):</a:t>
            </a:r>
            <a:endParaRPr lang="vi-VN" sz="1200" b="0" i="0" dirty="0">
              <a:solidFill>
                <a:srgbClr val="002060"/>
              </a:solidFill>
              <a:effectLst/>
              <a:latin typeface="Arial" panose="020B0604020202020204" pitchFamily="34" charset="0"/>
            </a:endParaRPr>
          </a:p>
          <a:p>
            <a:pPr algn="l" fontAlgn="base">
              <a:buFont typeface="Arial" panose="020B0604020202020204" pitchFamily="34" charset="0"/>
              <a:buChar char="•"/>
            </a:pPr>
            <a:r>
              <a:rPr lang="vi-VN" sz="1200" b="1" i="0" dirty="0">
                <a:solidFill>
                  <a:srgbClr val="002060"/>
                </a:solidFill>
                <a:effectLst/>
                <a:latin typeface="inherit"/>
              </a:rPr>
              <a:t>Giá trị chung (Shared Values):</a:t>
            </a:r>
            <a:r>
              <a:rPr lang="vi-VN" sz="1200" b="0" i="0" dirty="0">
                <a:solidFill>
                  <a:srgbClr val="002060"/>
                </a:solidFill>
                <a:effectLst/>
                <a:latin typeface="arial" panose="020B0604020202020204" pitchFamily="34" charset="0"/>
              </a:rPr>
              <a:t> Các giá trị cốt lõi được định nghĩa bởi văn hóa công ty và đạo đức nghề nghiệp.</a:t>
            </a:r>
            <a:endParaRPr lang="vi-VN" sz="1200" b="0" i="0" dirty="0">
              <a:solidFill>
                <a:srgbClr val="002060"/>
              </a:solidFill>
              <a:effectLst/>
              <a:latin typeface="Arial" panose="020B0604020202020204" pitchFamily="34" charset="0"/>
            </a:endParaRPr>
          </a:p>
          <a:p>
            <a:pPr algn="l" fontAlgn="base">
              <a:buFont typeface="Arial" panose="020B0604020202020204" pitchFamily="34" charset="0"/>
              <a:buChar char="•"/>
            </a:pPr>
            <a:r>
              <a:rPr lang="vi-VN" sz="1200" b="1" i="0" u="none" strike="noStrike" dirty="0">
                <a:solidFill>
                  <a:srgbClr val="002060"/>
                </a:solidFill>
                <a:effectLst/>
                <a:latin typeface="inherit"/>
              </a:rPr>
              <a:t>Phong cách lãnh đạo</a:t>
            </a:r>
            <a:r>
              <a:rPr lang="vi-VN" sz="1200" b="1" i="0" dirty="0">
                <a:solidFill>
                  <a:srgbClr val="002060"/>
                </a:solidFill>
                <a:effectLst/>
                <a:latin typeface="inherit"/>
              </a:rPr>
              <a:t> (Style):</a:t>
            </a:r>
            <a:r>
              <a:rPr lang="vi-VN" sz="1200" b="0" i="0" dirty="0">
                <a:solidFill>
                  <a:srgbClr val="002060"/>
                </a:solidFill>
                <a:effectLst/>
                <a:latin typeface="arial" panose="020B0604020202020204" pitchFamily="34" charset="0"/>
              </a:rPr>
              <a:t> Cách thức lãnh đạo để quản lý công ty và nhân viên.</a:t>
            </a:r>
            <a:endParaRPr lang="vi-VN" sz="1200" b="0" i="0" dirty="0">
              <a:solidFill>
                <a:srgbClr val="002060"/>
              </a:solidFill>
              <a:effectLst/>
              <a:latin typeface="Arial" panose="020B0604020202020204" pitchFamily="34" charset="0"/>
            </a:endParaRPr>
          </a:p>
          <a:p>
            <a:pPr algn="l" fontAlgn="base">
              <a:buFont typeface="Arial" panose="020B0604020202020204" pitchFamily="34" charset="0"/>
              <a:buChar char="•"/>
            </a:pPr>
            <a:r>
              <a:rPr lang="vi-VN" sz="1200" b="1" i="0" dirty="0">
                <a:solidFill>
                  <a:srgbClr val="002060"/>
                </a:solidFill>
                <a:effectLst/>
                <a:latin typeface="inherit"/>
              </a:rPr>
              <a:t>Nhân sự (Staff):</a:t>
            </a:r>
            <a:r>
              <a:rPr lang="vi-VN" sz="1200" b="0" i="0" dirty="0">
                <a:solidFill>
                  <a:srgbClr val="002060"/>
                </a:solidFill>
                <a:effectLst/>
                <a:latin typeface="arial" panose="020B0604020202020204" pitchFamily="34" charset="0"/>
              </a:rPr>
              <a:t> Lực lượng lao động của công ty.</a:t>
            </a:r>
            <a:endParaRPr lang="vi-VN" sz="1200" b="0" i="0" dirty="0">
              <a:solidFill>
                <a:srgbClr val="002060"/>
              </a:solidFill>
              <a:effectLst/>
              <a:latin typeface="Arial" panose="020B0604020202020204" pitchFamily="34" charset="0"/>
            </a:endParaRPr>
          </a:p>
          <a:p>
            <a:pPr algn="l" fontAlgn="base">
              <a:buFont typeface="Arial" panose="020B0604020202020204" pitchFamily="34" charset="0"/>
              <a:buChar char="•"/>
            </a:pPr>
            <a:r>
              <a:rPr lang="vi-VN" sz="1200" b="1" i="0" dirty="0">
                <a:solidFill>
                  <a:srgbClr val="002060"/>
                </a:solidFill>
                <a:effectLst/>
                <a:latin typeface="inherit"/>
              </a:rPr>
              <a:t>Kỹ năng (Skills):</a:t>
            </a:r>
            <a:r>
              <a:rPr lang="vi-VN" sz="1200" b="0" i="0" dirty="0">
                <a:solidFill>
                  <a:srgbClr val="002060"/>
                </a:solidFill>
                <a:effectLst/>
                <a:latin typeface="arial" panose="020B0604020202020204" pitchFamily="34" charset="0"/>
              </a:rPr>
              <a:t> Kiến thức và kỹ năng tổng hợp của nhân viên.</a:t>
            </a:r>
            <a:endParaRPr lang="vi-VN" sz="1200" b="0" i="0" dirty="0">
              <a:solidFill>
                <a:srgbClr val="002060"/>
              </a:solidFill>
              <a:effectLst/>
              <a:latin typeface="Arial" panose="020B0604020202020204" pitchFamily="34" charset="0"/>
            </a:endParaRPr>
          </a:p>
        </p:txBody>
      </p:sp>
      <p:sp>
        <p:nvSpPr>
          <p:cNvPr id="7" name="TextBox 6">
            <a:extLst>
              <a:ext uri="{FF2B5EF4-FFF2-40B4-BE49-F238E27FC236}">
                <a16:creationId xmlns:a16="http://schemas.microsoft.com/office/drawing/2014/main" id="{10D61E0A-4AB1-CBAC-160D-382AB6D5B07D}"/>
              </a:ext>
            </a:extLst>
          </p:cNvPr>
          <p:cNvSpPr txBox="1"/>
          <p:nvPr/>
        </p:nvSpPr>
        <p:spPr>
          <a:xfrm>
            <a:off x="639147" y="5173423"/>
            <a:ext cx="7599785" cy="1200329"/>
          </a:xfrm>
          <a:prstGeom prst="rect">
            <a:avLst/>
          </a:prstGeom>
          <a:noFill/>
        </p:spPr>
        <p:txBody>
          <a:bodyPr wrap="square">
            <a:spAutoFit/>
          </a:bodyPr>
          <a:lstStyle/>
          <a:p>
            <a:pPr marL="171450" indent="-171450" algn="just" fontAlgn="base">
              <a:buFont typeface="Wingdings" panose="05000000000000000000" pitchFamily="2" charset="2"/>
              <a:buChar char="§"/>
            </a:pPr>
            <a:r>
              <a:rPr lang="vi-VN" sz="1200" b="0" i="0" dirty="0">
                <a:solidFill>
                  <a:srgbClr val="002060"/>
                </a:solidFill>
                <a:effectLst/>
                <a:latin typeface="arial" panose="020B0604020202020204" pitchFamily="34" charset="0"/>
              </a:rPr>
              <a:t>Điểm mạnh của </a:t>
            </a:r>
            <a:r>
              <a:rPr lang="vi-VN" sz="1200" b="0" i="0" u="none" strike="noStrike" dirty="0">
                <a:solidFill>
                  <a:srgbClr val="002060"/>
                </a:solidFill>
                <a:effectLst/>
                <a:latin typeface="arial" panose="020B0604020202020204" pitchFamily="34" charset="0"/>
              </a:rPr>
              <a:t>mô hình McKinsey 7-S</a:t>
            </a:r>
            <a:r>
              <a:rPr lang="vi-VN" sz="1200" b="0" i="0" dirty="0">
                <a:solidFill>
                  <a:srgbClr val="002060"/>
                </a:solidFill>
                <a:effectLst/>
                <a:latin typeface="arial" panose="020B0604020202020204" pitchFamily="34" charset="0"/>
              </a:rPr>
              <a:t> là giúp tổ chức hiểu rõ tình trạng hiện tại để xác định cần thay đổi những gì. Mô hình cũng cho thấy bất kỳ thay đổi nào trong tổ chức đều sẽ tác động qua lại đến cả 7 yếu tố.</a:t>
            </a:r>
            <a:endParaRPr lang="vi-VN" sz="1200" b="0" i="0" dirty="0">
              <a:solidFill>
                <a:srgbClr val="002060"/>
              </a:solidFill>
              <a:effectLst/>
              <a:latin typeface="Arial" panose="020B0604020202020204" pitchFamily="34" charset="0"/>
            </a:endParaRPr>
          </a:p>
          <a:p>
            <a:pPr marL="171450" indent="-171450" algn="just" fontAlgn="base">
              <a:buFont typeface="Wingdings" panose="05000000000000000000" pitchFamily="2" charset="2"/>
              <a:buChar char="§"/>
            </a:pPr>
            <a:r>
              <a:rPr lang="vi-VN" sz="1200" b="0" i="0" dirty="0">
                <a:solidFill>
                  <a:srgbClr val="002060"/>
                </a:solidFill>
                <a:effectLst/>
                <a:latin typeface="arial" panose="020B0604020202020204" pitchFamily="34" charset="0"/>
              </a:rPr>
              <a:t>Tuy nhiên, mô hình này ít hướng dẫn cụ thể về cách thực hiện thay đổi. Do đó, </a:t>
            </a:r>
            <a:r>
              <a:rPr lang="vi-VN" sz="1200" b="0" i="0" u="none" strike="noStrike" dirty="0">
                <a:solidFill>
                  <a:srgbClr val="002060"/>
                </a:solidFill>
                <a:effectLst/>
                <a:latin typeface="arial" panose="020B0604020202020204" pitchFamily="34" charset="0"/>
              </a:rPr>
              <a:t>mô hình McKinsey 7-S</a:t>
            </a:r>
            <a:r>
              <a:rPr lang="vi-VN" sz="1200" b="0" i="0" dirty="0">
                <a:solidFill>
                  <a:srgbClr val="002060"/>
                </a:solidFill>
                <a:effectLst/>
                <a:latin typeface="arial" panose="020B0604020202020204" pitchFamily="34" charset="0"/>
              </a:rPr>
              <a:t> thường được kết hợp với một bộ khung quản lý thay đổi chi tiết hơn.</a:t>
            </a:r>
            <a:endParaRPr lang="vi-VN" sz="1200" b="0" i="0" dirty="0">
              <a:solidFill>
                <a:srgbClr val="002060"/>
              </a:solidFill>
              <a:effectLst/>
              <a:latin typeface="Arial" panose="020B0604020202020204" pitchFamily="34" charset="0"/>
            </a:endParaRPr>
          </a:p>
          <a:p>
            <a:pPr marL="171450" indent="-171450" algn="just" fontAlgn="base">
              <a:buFont typeface="Wingdings" panose="05000000000000000000" pitchFamily="2" charset="2"/>
              <a:buChar char="§"/>
            </a:pPr>
            <a:r>
              <a:rPr lang="vi-VN" sz="1200" b="1" i="0" dirty="0">
                <a:solidFill>
                  <a:srgbClr val="002060"/>
                </a:solidFill>
                <a:effectLst/>
                <a:latin typeface="inherit"/>
              </a:rPr>
              <a:t>Ưu điểm: </a:t>
            </a:r>
            <a:r>
              <a:rPr lang="vi-VN" sz="1200" b="0" i="0" dirty="0">
                <a:solidFill>
                  <a:srgbClr val="002060"/>
                </a:solidFill>
                <a:effectLst/>
                <a:latin typeface="arial" panose="020B0604020202020204" pitchFamily="34" charset="0"/>
              </a:rPr>
              <a:t>Phân biệt rõ ràng giữa các yếu tố thay đổi cứng và mềm, phù hợp với việc phân công nhiệm vụ cho các nhà quản lý hoặc phòng ban chuyên môn.</a:t>
            </a:r>
            <a:endParaRPr lang="vi-VN" sz="1200" b="0" i="0" dirty="0">
              <a:solidFill>
                <a:srgbClr val="002060"/>
              </a:solidFill>
              <a:effectLst/>
              <a:latin typeface="Arial" panose="020B0604020202020204" pitchFamily="34" charset="0"/>
            </a:endParaRPr>
          </a:p>
        </p:txBody>
      </p:sp>
    </p:spTree>
    <p:extLst>
      <p:ext uri="{BB962C8B-B14F-4D97-AF65-F5344CB8AC3E}">
        <p14:creationId xmlns:p14="http://schemas.microsoft.com/office/powerpoint/2010/main" val="2224605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down)">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954B5-0C2C-2BFC-002B-1382F09A1FF7}"/>
              </a:ext>
            </a:extLst>
          </p:cNvPr>
          <p:cNvSpPr>
            <a:spLocks noGrp="1"/>
          </p:cNvSpPr>
          <p:nvPr>
            <p:ph type="title"/>
          </p:nvPr>
        </p:nvSpPr>
        <p:spPr/>
        <p:txBody>
          <a:bodyPr/>
          <a:lstStyle/>
          <a:p>
            <a:r>
              <a:rPr lang="en-US" b="1" i="1" dirty="0">
                <a:solidFill>
                  <a:srgbClr val="0070C0"/>
                </a:solidFill>
                <a:effectLst/>
                <a:latin typeface="inherit"/>
              </a:rPr>
              <a:t>4.Thuyết Nudge</a:t>
            </a:r>
            <a:br>
              <a:rPr lang="en-US" b="1" i="1" dirty="0">
                <a:solidFill>
                  <a:srgbClr val="0070C0"/>
                </a:solidFill>
                <a:effectLst/>
                <a:latin typeface="Arial" panose="020B0604020202020204" pitchFamily="34" charset="0"/>
              </a:rPr>
            </a:br>
            <a:endParaRPr lang="en-US" dirty="0">
              <a:solidFill>
                <a:srgbClr val="0070C0"/>
              </a:solidFill>
            </a:endParaRPr>
          </a:p>
        </p:txBody>
      </p:sp>
      <p:sp>
        <p:nvSpPr>
          <p:cNvPr id="3" name="Content Placeholder 2">
            <a:extLst>
              <a:ext uri="{FF2B5EF4-FFF2-40B4-BE49-F238E27FC236}">
                <a16:creationId xmlns:a16="http://schemas.microsoft.com/office/drawing/2014/main" id="{DBD63DEC-17CE-7481-9F5F-FD70DFD67EC3}"/>
              </a:ext>
            </a:extLst>
          </p:cNvPr>
          <p:cNvSpPr>
            <a:spLocks noGrp="1"/>
          </p:cNvSpPr>
          <p:nvPr>
            <p:ph idx="1"/>
          </p:nvPr>
        </p:nvSpPr>
        <p:spPr>
          <a:xfrm>
            <a:off x="838200" y="1111624"/>
            <a:ext cx="6790765" cy="5065339"/>
          </a:xfrm>
        </p:spPr>
        <p:txBody>
          <a:bodyPr>
            <a:normAutofit fontScale="47500" lnSpcReduction="20000"/>
          </a:bodyPr>
          <a:lstStyle/>
          <a:p>
            <a:pPr algn="just" fontAlgn="base">
              <a:lnSpc>
                <a:spcPct val="120000"/>
              </a:lnSpc>
            </a:pPr>
            <a:r>
              <a:rPr lang="vi-VN" b="0" i="0" dirty="0">
                <a:solidFill>
                  <a:srgbClr val="002060"/>
                </a:solidFill>
                <a:effectLst/>
                <a:latin typeface="arial" panose="020B0604020202020204" pitchFamily="34" charset="0"/>
              </a:rPr>
              <a:t>Lý thuyết Nudge (Thúc đẩy nhẹ nhàng) được Richard H. Thaler và Cass R. Sunstein đề cập trong quyển sách “Nudge: Improving Decisions About Health, Wealth, and Happiness” (Nudge: Thúc đẩy những quyết định tốt cho sức khỏe, tài chính và hạnh phúc).</a:t>
            </a:r>
            <a:endParaRPr lang="vi-VN" b="0" i="0" dirty="0">
              <a:solidFill>
                <a:srgbClr val="002060"/>
              </a:solidFill>
              <a:effectLst/>
              <a:latin typeface="Arial" panose="020B0604020202020204" pitchFamily="34" charset="0"/>
            </a:endParaRPr>
          </a:p>
          <a:p>
            <a:pPr algn="just" fontAlgn="base">
              <a:lnSpc>
                <a:spcPct val="120000"/>
              </a:lnSpc>
            </a:pPr>
            <a:r>
              <a:rPr lang="vi-VN" b="0" i="0" dirty="0">
                <a:solidFill>
                  <a:srgbClr val="002060"/>
                </a:solidFill>
                <a:effectLst/>
                <a:latin typeface="arial" panose="020B0604020202020204" pitchFamily="34" charset="0"/>
              </a:rPr>
              <a:t>Theo lý thuyết này, thay vì ép buộc, người ta có thể sử dụng các phương pháp tinh tế để khuyến khích mọi người thay đổi theo hướng tích cực.</a:t>
            </a:r>
            <a:endParaRPr lang="vi-VN" b="0" i="0" dirty="0">
              <a:solidFill>
                <a:srgbClr val="002060"/>
              </a:solidFill>
              <a:effectLst/>
              <a:latin typeface="Arial" panose="020B0604020202020204" pitchFamily="34" charset="0"/>
            </a:endParaRPr>
          </a:p>
          <a:p>
            <a:pPr algn="just" fontAlgn="base">
              <a:lnSpc>
                <a:spcPct val="120000"/>
              </a:lnSpc>
            </a:pPr>
            <a:r>
              <a:rPr lang="vi-VN" b="1" i="0" dirty="0">
                <a:solidFill>
                  <a:srgbClr val="002060"/>
                </a:solidFill>
                <a:effectLst/>
                <a:latin typeface="inherit"/>
              </a:rPr>
              <a:t>Ví dụ, các công ty có thể:</a:t>
            </a:r>
            <a:endParaRPr lang="vi-VN" b="0" i="0" dirty="0">
              <a:solidFill>
                <a:srgbClr val="002060"/>
              </a:solidFill>
              <a:effectLst/>
              <a:latin typeface="Arial" panose="020B0604020202020204" pitchFamily="34" charset="0"/>
            </a:endParaRPr>
          </a:p>
          <a:p>
            <a:pPr lvl="1" algn="just" fontAlgn="base">
              <a:lnSpc>
                <a:spcPct val="120000"/>
              </a:lnSpc>
            </a:pPr>
            <a:r>
              <a:rPr lang="vi-VN" b="0" i="0" dirty="0">
                <a:solidFill>
                  <a:srgbClr val="002060"/>
                </a:solidFill>
                <a:effectLst/>
                <a:latin typeface="arial" panose="020B0604020202020204" pitchFamily="34" charset="0"/>
              </a:rPr>
              <a:t>Trình bày sự thay đổi như một lựa chọn.</a:t>
            </a:r>
            <a:endParaRPr lang="vi-VN" b="0" i="0" dirty="0">
              <a:solidFill>
                <a:srgbClr val="002060"/>
              </a:solidFill>
              <a:effectLst/>
              <a:latin typeface="Arial" panose="020B0604020202020204" pitchFamily="34" charset="0"/>
            </a:endParaRPr>
          </a:p>
          <a:p>
            <a:pPr lvl="1" algn="just" fontAlgn="base">
              <a:lnSpc>
                <a:spcPct val="120000"/>
              </a:lnSpc>
            </a:pPr>
            <a:r>
              <a:rPr lang="vi-VN" b="0" i="0" dirty="0">
                <a:solidFill>
                  <a:srgbClr val="002060"/>
                </a:solidFill>
                <a:effectLst/>
                <a:latin typeface="arial" panose="020B0604020202020204" pitchFamily="34" charset="0"/>
              </a:rPr>
              <a:t>Loại bỏ các rào cản khiến nhân viên khó tham gia thay đổi.</a:t>
            </a:r>
            <a:endParaRPr lang="vi-VN" b="0" i="0" dirty="0">
              <a:solidFill>
                <a:srgbClr val="002060"/>
              </a:solidFill>
              <a:effectLst/>
              <a:latin typeface="Arial" panose="020B0604020202020204" pitchFamily="34" charset="0"/>
            </a:endParaRPr>
          </a:p>
          <a:p>
            <a:pPr lvl="1" algn="just" fontAlgn="base">
              <a:lnSpc>
                <a:spcPct val="120000"/>
              </a:lnSpc>
            </a:pPr>
            <a:r>
              <a:rPr lang="vi-VN" b="0" i="0" dirty="0">
                <a:solidFill>
                  <a:srgbClr val="002060"/>
                </a:solidFill>
                <a:effectLst/>
                <a:latin typeface="arial" panose="020B0604020202020204" pitchFamily="34" charset="0"/>
              </a:rPr>
              <a:t>Khen thưởng những thành công nhỏ và nhấn mạnh lợi ích của sự thay đổi.</a:t>
            </a:r>
            <a:endParaRPr lang="vi-VN" b="0" i="0" dirty="0">
              <a:solidFill>
                <a:srgbClr val="002060"/>
              </a:solidFill>
              <a:effectLst/>
              <a:latin typeface="Arial" panose="020B0604020202020204" pitchFamily="34" charset="0"/>
            </a:endParaRPr>
          </a:p>
          <a:p>
            <a:pPr algn="just" fontAlgn="base">
              <a:lnSpc>
                <a:spcPct val="120000"/>
              </a:lnSpc>
            </a:pPr>
            <a:r>
              <a:rPr lang="vi-VN" b="1" i="0" dirty="0">
                <a:solidFill>
                  <a:srgbClr val="002060"/>
                </a:solidFill>
                <a:effectLst/>
                <a:latin typeface="inherit"/>
              </a:rPr>
              <a:t>Một số ví dụ thành công của việc áp dụng Thuyết Nudge:</a:t>
            </a:r>
            <a:endParaRPr lang="vi-VN" b="0" i="0" dirty="0">
              <a:solidFill>
                <a:srgbClr val="002060"/>
              </a:solidFill>
              <a:effectLst/>
              <a:latin typeface="Arial" panose="020B0604020202020204" pitchFamily="34" charset="0"/>
            </a:endParaRPr>
          </a:p>
          <a:p>
            <a:pPr lvl="1" algn="just" fontAlgn="base">
              <a:lnSpc>
                <a:spcPct val="120000"/>
              </a:lnSpc>
            </a:pPr>
            <a:r>
              <a:rPr lang="vi-VN" b="0" i="0" dirty="0">
                <a:solidFill>
                  <a:srgbClr val="002060"/>
                </a:solidFill>
                <a:effectLst/>
                <a:latin typeface="arial" panose="020B0604020202020204" pitchFamily="34" charset="0"/>
              </a:rPr>
              <a:t>Các công ty khuyến khích nhân viên đóng góp nhiều hơn vào quỹ hưu trí.</a:t>
            </a:r>
            <a:endParaRPr lang="vi-VN" b="0" i="0" dirty="0">
              <a:solidFill>
                <a:srgbClr val="002060"/>
              </a:solidFill>
              <a:effectLst/>
              <a:latin typeface="Arial" panose="020B0604020202020204" pitchFamily="34" charset="0"/>
            </a:endParaRPr>
          </a:p>
          <a:p>
            <a:pPr lvl="1" algn="just" fontAlgn="base">
              <a:lnSpc>
                <a:spcPct val="120000"/>
              </a:lnSpc>
            </a:pPr>
            <a:r>
              <a:rPr lang="vi-VN" b="0" i="0" dirty="0">
                <a:solidFill>
                  <a:srgbClr val="002060"/>
                </a:solidFill>
                <a:effectLst/>
                <a:latin typeface="arial" panose="020B0604020202020204" pitchFamily="34" charset="0"/>
              </a:rPr>
              <a:t>Chính phủ tăng số người đăng ký hiến tạng.</a:t>
            </a:r>
            <a:endParaRPr lang="vi-VN" b="0" i="0" dirty="0">
              <a:solidFill>
                <a:srgbClr val="002060"/>
              </a:solidFill>
              <a:effectLst/>
              <a:latin typeface="Arial" panose="020B0604020202020204" pitchFamily="34" charset="0"/>
            </a:endParaRPr>
          </a:p>
          <a:p>
            <a:pPr algn="just" fontAlgn="base">
              <a:lnSpc>
                <a:spcPct val="120000"/>
              </a:lnSpc>
            </a:pPr>
            <a:r>
              <a:rPr lang="vi-VN" b="0" i="0" dirty="0">
                <a:solidFill>
                  <a:srgbClr val="002060"/>
                </a:solidFill>
                <a:effectLst/>
                <a:latin typeface="arial" panose="020B0604020202020204" pitchFamily="34" charset="0"/>
              </a:rPr>
              <a:t>Tuy nhiên, Thuyết Nudge thường chỉ phù hợp với những thay đổi đơn giản, cá nhân. Đối với các thay đổi phức tạp trong toàn tổ chức, doanh nghiệp cần sử dụng bộ khung quản lý thay đổi có tính hệ thống hơn.</a:t>
            </a:r>
            <a:endParaRPr lang="vi-VN" b="0" i="0" dirty="0">
              <a:solidFill>
                <a:srgbClr val="002060"/>
              </a:solidFill>
              <a:effectLst/>
              <a:latin typeface="Arial" panose="020B0604020202020204" pitchFamily="34" charset="0"/>
            </a:endParaRPr>
          </a:p>
          <a:p>
            <a:pPr algn="just" fontAlgn="base">
              <a:lnSpc>
                <a:spcPct val="120000"/>
              </a:lnSpc>
            </a:pPr>
            <a:r>
              <a:rPr lang="vi-VN" b="1" i="0" dirty="0">
                <a:solidFill>
                  <a:srgbClr val="002060"/>
                </a:solidFill>
                <a:effectLst/>
                <a:latin typeface="inherit"/>
              </a:rPr>
              <a:t>Ưu điểm: </a:t>
            </a:r>
            <a:r>
              <a:rPr lang="vi-VN" b="0" i="0" dirty="0">
                <a:solidFill>
                  <a:srgbClr val="002060"/>
                </a:solidFill>
                <a:effectLst/>
                <a:latin typeface="arial" panose="020B0604020202020204" pitchFamily="34" charset="0"/>
              </a:rPr>
              <a:t>Mô hình Nudge gợi nhớ đến cách các nhà marketing dẫn khách hàng qua phễu bán hàng, sử dụng nhiều điểm chạm khác nhau để thúc đẩy khách hàng hành động. Do đó, các agency marketing có thể đặc biệt thành công trong việc triển khai Thuyết Nudge.</a:t>
            </a:r>
            <a:endParaRPr lang="vi-VN" b="0" i="0" dirty="0">
              <a:solidFill>
                <a:srgbClr val="002060"/>
              </a:solidFill>
              <a:effectLst/>
              <a:latin typeface="Arial" panose="020B0604020202020204" pitchFamily="34" charset="0"/>
            </a:endParaRPr>
          </a:p>
          <a:p>
            <a:pPr algn="just">
              <a:lnSpc>
                <a:spcPct val="120000"/>
              </a:lnSpc>
            </a:pPr>
            <a:endParaRPr lang="en-US" dirty="0">
              <a:solidFill>
                <a:srgbClr val="002060"/>
              </a:solidFill>
            </a:endParaRPr>
          </a:p>
        </p:txBody>
      </p:sp>
      <p:pic>
        <p:nvPicPr>
          <p:cNvPr id="7" name="Picture 6">
            <a:extLst>
              <a:ext uri="{FF2B5EF4-FFF2-40B4-BE49-F238E27FC236}">
                <a16:creationId xmlns:a16="http://schemas.microsoft.com/office/drawing/2014/main" id="{BA697373-6DE2-1E87-B57D-6C2D427F7416}"/>
              </a:ext>
            </a:extLst>
          </p:cNvPr>
          <p:cNvPicPr>
            <a:picLocks noChangeAspect="1"/>
          </p:cNvPicPr>
          <p:nvPr/>
        </p:nvPicPr>
        <p:blipFill rotWithShape="1">
          <a:blip r:embed="rId2"/>
          <a:srcRect l="12206" r="8824"/>
          <a:stretch/>
        </p:blipFill>
        <p:spPr>
          <a:xfrm>
            <a:off x="7767603" y="1913054"/>
            <a:ext cx="4256538" cy="3031892"/>
          </a:xfrm>
          <a:prstGeom prst="rect">
            <a:avLst/>
          </a:prstGeom>
        </p:spPr>
      </p:pic>
    </p:spTree>
    <p:extLst>
      <p:ext uri="{BB962C8B-B14F-4D97-AF65-F5344CB8AC3E}">
        <p14:creationId xmlns:p14="http://schemas.microsoft.com/office/powerpoint/2010/main" val="4017287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arn(inVertical)">
                                      <p:cBhvr>
                                        <p:cTn id="20" dur="500"/>
                                        <p:tgtEl>
                                          <p:spTgt spid="3">
                                            <p:txEl>
                                              <p:pRg st="3" end="3"/>
                                            </p:txEl>
                                          </p:spTgt>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arn(inVertical)">
                                      <p:cBhvr>
                                        <p:cTn id="23" dur="500"/>
                                        <p:tgtEl>
                                          <p:spTgt spid="3">
                                            <p:txEl>
                                              <p:pRg st="4" end="4"/>
                                            </p:txEl>
                                          </p:spTgt>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barn(inVertical)">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barn(inVertical)">
                                      <p:cBhvr>
                                        <p:cTn id="31" dur="500"/>
                                        <p:tgtEl>
                                          <p:spTgt spid="3">
                                            <p:txEl>
                                              <p:pRg st="6" end="6"/>
                                            </p:txEl>
                                          </p:spTgt>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barn(inVertical)">
                                      <p:cBhvr>
                                        <p:cTn id="34" dur="500"/>
                                        <p:tgtEl>
                                          <p:spTgt spid="3">
                                            <p:txEl>
                                              <p:pRg st="7" end="7"/>
                                            </p:txEl>
                                          </p:spTgt>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barn(inVertical)">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barn(inVertical)">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barn(inVertical)">
                                      <p:cBhvr>
                                        <p:cTn id="4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47AFD-1737-F9A2-9DDC-BFD75B7FF902}"/>
              </a:ext>
            </a:extLst>
          </p:cNvPr>
          <p:cNvSpPr>
            <a:spLocks noGrp="1"/>
          </p:cNvSpPr>
          <p:nvPr>
            <p:ph type="title"/>
          </p:nvPr>
        </p:nvSpPr>
        <p:spPr/>
        <p:txBody>
          <a:bodyPr/>
          <a:lstStyle/>
          <a:p>
            <a:r>
              <a:rPr lang="en-US" b="1" i="1" u="none" strike="noStrike" dirty="0">
                <a:solidFill>
                  <a:srgbClr val="0070C0"/>
                </a:solidFill>
                <a:effectLst/>
                <a:latin typeface="inherit"/>
              </a:rPr>
              <a:t>5.Đường </a:t>
            </a:r>
            <a:r>
              <a:rPr lang="en-US" b="1" i="1" u="none" strike="noStrike" dirty="0" err="1">
                <a:solidFill>
                  <a:srgbClr val="0070C0"/>
                </a:solidFill>
                <a:effectLst/>
                <a:latin typeface="inherit"/>
              </a:rPr>
              <a:t>cong</a:t>
            </a:r>
            <a:r>
              <a:rPr lang="en-US" b="1" i="1" u="none" strike="noStrike" dirty="0">
                <a:solidFill>
                  <a:srgbClr val="0070C0"/>
                </a:solidFill>
                <a:effectLst/>
                <a:latin typeface="inherit"/>
              </a:rPr>
              <a:t> </a:t>
            </a:r>
            <a:r>
              <a:rPr lang="en-US" b="1" i="1" u="none" strike="noStrike" dirty="0" err="1">
                <a:solidFill>
                  <a:srgbClr val="0070C0"/>
                </a:solidFill>
                <a:effectLst/>
                <a:latin typeface="inherit"/>
              </a:rPr>
              <a:t>thay</a:t>
            </a:r>
            <a:r>
              <a:rPr lang="en-US" b="1" i="1" u="none" strike="noStrike" dirty="0">
                <a:solidFill>
                  <a:srgbClr val="0070C0"/>
                </a:solidFill>
                <a:effectLst/>
                <a:latin typeface="inherit"/>
              </a:rPr>
              <a:t> </a:t>
            </a:r>
            <a:r>
              <a:rPr lang="en-US" b="1" i="1" u="none" strike="noStrike" dirty="0" err="1">
                <a:solidFill>
                  <a:srgbClr val="0070C0"/>
                </a:solidFill>
                <a:effectLst/>
                <a:latin typeface="inherit"/>
              </a:rPr>
              <a:t>đổi</a:t>
            </a:r>
            <a:r>
              <a:rPr lang="en-US" b="1" i="1" u="none" strike="noStrike" dirty="0">
                <a:solidFill>
                  <a:srgbClr val="0070C0"/>
                </a:solidFill>
                <a:effectLst/>
                <a:latin typeface="inherit"/>
              </a:rPr>
              <a:t> Kübler-Ross </a:t>
            </a:r>
            <a:br>
              <a:rPr lang="en-US" b="1" i="1" dirty="0">
                <a:solidFill>
                  <a:srgbClr val="0070C0"/>
                </a:solidFill>
                <a:effectLst/>
                <a:latin typeface="Arial" panose="020B0604020202020204" pitchFamily="34" charset="0"/>
              </a:rPr>
            </a:br>
            <a:endParaRPr lang="en-US" dirty="0">
              <a:solidFill>
                <a:srgbClr val="0070C0"/>
              </a:solidFill>
            </a:endParaRPr>
          </a:p>
        </p:txBody>
      </p:sp>
      <p:sp>
        <p:nvSpPr>
          <p:cNvPr id="3" name="Content Placeholder 2">
            <a:extLst>
              <a:ext uri="{FF2B5EF4-FFF2-40B4-BE49-F238E27FC236}">
                <a16:creationId xmlns:a16="http://schemas.microsoft.com/office/drawing/2014/main" id="{CBAB8540-0A3A-8389-D216-C75FAC14F9D1}"/>
              </a:ext>
            </a:extLst>
          </p:cNvPr>
          <p:cNvSpPr>
            <a:spLocks noGrp="1"/>
          </p:cNvSpPr>
          <p:nvPr>
            <p:ph idx="1"/>
          </p:nvPr>
        </p:nvSpPr>
        <p:spPr>
          <a:xfrm>
            <a:off x="838200" y="1253331"/>
            <a:ext cx="10515600" cy="2431163"/>
          </a:xfrm>
        </p:spPr>
        <p:txBody>
          <a:bodyPr>
            <a:normAutofit/>
          </a:bodyPr>
          <a:lstStyle/>
          <a:p>
            <a:pPr marL="0" indent="0" algn="l" fontAlgn="base">
              <a:buNone/>
            </a:pPr>
            <a:r>
              <a:rPr lang="vi-VN" sz="1200" b="0" i="0" dirty="0">
                <a:solidFill>
                  <a:srgbClr val="002060"/>
                </a:solidFill>
                <a:effectLst/>
                <a:latin typeface="arial" panose="020B0604020202020204" pitchFamily="34" charset="0"/>
              </a:rPr>
              <a:t>Bạn có thể đã từng nghe về </a:t>
            </a:r>
            <a:r>
              <a:rPr lang="vi-VN" sz="1200" b="0" i="0" u="none" strike="noStrike" dirty="0">
                <a:solidFill>
                  <a:srgbClr val="002060"/>
                </a:solidFill>
                <a:effectLst/>
                <a:latin typeface="arial" panose="020B0604020202020204" pitchFamily="34" charset="0"/>
              </a:rPr>
              <a:t>Mô hình thay đổi Kübler Ross</a:t>
            </a:r>
            <a:r>
              <a:rPr lang="vi-VN" sz="1200" b="0" i="0" dirty="0">
                <a:solidFill>
                  <a:srgbClr val="002060"/>
                </a:solidFill>
                <a:effectLst/>
                <a:latin typeface="arial" panose="020B0604020202020204" pitchFamily="34" charset="0"/>
              </a:rPr>
              <a:t> vì nó dựa trên 5 giai đoạn của đau buồn được bác sĩ tâm thần Elisabeth Kübler-Ross vạch ra trong cuốn sách “On Death and Dying” (Sống sót và ra đi) xuất bản năm 1969. Bà nghiên cứu cách bệnh nhân giai đoạn cuối trải qua cảm giác mất mát khi đối mặt với cái chết. Kübler-Ross đã chỉ ra 5 giai đoạn:</a:t>
            </a:r>
            <a:endParaRPr lang="vi-VN" sz="1200" b="0" i="0" dirty="0">
              <a:solidFill>
                <a:srgbClr val="002060"/>
              </a:solidFill>
              <a:effectLst/>
              <a:latin typeface="Arial" panose="020B0604020202020204" pitchFamily="34" charset="0"/>
            </a:endParaRPr>
          </a:p>
          <a:p>
            <a:pPr algn="l" fontAlgn="base">
              <a:buFont typeface="+mj-lt"/>
              <a:buAutoNum type="arabicPeriod"/>
            </a:pPr>
            <a:r>
              <a:rPr lang="vi-VN" sz="1200" b="1" i="0" dirty="0">
                <a:solidFill>
                  <a:srgbClr val="002060"/>
                </a:solidFill>
                <a:effectLst/>
                <a:latin typeface="arial" panose="020B0604020202020204" pitchFamily="34" charset="0"/>
              </a:rPr>
              <a:t>Từ chối (Denial)</a:t>
            </a:r>
            <a:endParaRPr lang="vi-VN" sz="1200" b="1" i="0" dirty="0">
              <a:solidFill>
                <a:srgbClr val="002060"/>
              </a:solidFill>
              <a:effectLst/>
              <a:latin typeface="Arial" panose="020B0604020202020204" pitchFamily="34" charset="0"/>
            </a:endParaRPr>
          </a:p>
          <a:p>
            <a:pPr algn="l" fontAlgn="base">
              <a:buFont typeface="+mj-lt"/>
              <a:buAutoNum type="arabicPeriod"/>
            </a:pPr>
            <a:r>
              <a:rPr lang="vi-VN" sz="1200" b="1" i="0" dirty="0">
                <a:solidFill>
                  <a:srgbClr val="002060"/>
                </a:solidFill>
                <a:effectLst/>
                <a:latin typeface="arial" panose="020B0604020202020204" pitchFamily="34" charset="0"/>
              </a:rPr>
              <a:t>Giận dữ (Anger)</a:t>
            </a:r>
            <a:endParaRPr lang="vi-VN" sz="1200" b="1" i="0" dirty="0">
              <a:solidFill>
                <a:srgbClr val="002060"/>
              </a:solidFill>
              <a:effectLst/>
              <a:latin typeface="Arial" panose="020B0604020202020204" pitchFamily="34" charset="0"/>
            </a:endParaRPr>
          </a:p>
          <a:p>
            <a:pPr algn="l" fontAlgn="base">
              <a:buFont typeface="+mj-lt"/>
              <a:buAutoNum type="arabicPeriod"/>
            </a:pPr>
            <a:r>
              <a:rPr lang="vi-VN" sz="1200" b="1" i="0" dirty="0">
                <a:solidFill>
                  <a:srgbClr val="002060"/>
                </a:solidFill>
                <a:effectLst/>
                <a:latin typeface="arial" panose="020B0604020202020204" pitchFamily="34" charset="0"/>
              </a:rPr>
              <a:t>Thương lượng (Bargaining)</a:t>
            </a:r>
            <a:endParaRPr lang="vi-VN" sz="1200" b="1" i="0" dirty="0">
              <a:solidFill>
                <a:srgbClr val="002060"/>
              </a:solidFill>
              <a:effectLst/>
              <a:latin typeface="Arial" panose="020B0604020202020204" pitchFamily="34" charset="0"/>
            </a:endParaRPr>
          </a:p>
          <a:p>
            <a:pPr algn="l" fontAlgn="base">
              <a:buFont typeface="+mj-lt"/>
              <a:buAutoNum type="arabicPeriod"/>
            </a:pPr>
            <a:r>
              <a:rPr lang="vi-VN" sz="1200" b="1" i="0" dirty="0">
                <a:solidFill>
                  <a:srgbClr val="002060"/>
                </a:solidFill>
                <a:effectLst/>
                <a:latin typeface="arial" panose="020B0604020202020204" pitchFamily="34" charset="0"/>
              </a:rPr>
              <a:t>Chán nản (Depression)</a:t>
            </a:r>
            <a:endParaRPr lang="vi-VN" sz="1200" b="1" i="0" dirty="0">
              <a:solidFill>
                <a:srgbClr val="002060"/>
              </a:solidFill>
              <a:effectLst/>
              <a:latin typeface="Arial" panose="020B0604020202020204" pitchFamily="34" charset="0"/>
            </a:endParaRPr>
          </a:p>
          <a:p>
            <a:pPr algn="l" fontAlgn="base">
              <a:buFont typeface="+mj-lt"/>
              <a:buAutoNum type="arabicPeriod"/>
            </a:pPr>
            <a:r>
              <a:rPr lang="vi-VN" sz="1200" b="1" i="0" dirty="0">
                <a:solidFill>
                  <a:srgbClr val="002060"/>
                </a:solidFill>
                <a:effectLst/>
                <a:latin typeface="arial" panose="020B0604020202020204" pitchFamily="34" charset="0"/>
              </a:rPr>
              <a:t>Chấp nhận (Acceptance)</a:t>
            </a:r>
            <a:endParaRPr lang="vi-VN" sz="1200" b="1" i="0" dirty="0">
              <a:solidFill>
                <a:srgbClr val="002060"/>
              </a:solidFill>
              <a:effectLst/>
              <a:latin typeface="Arial" panose="020B0604020202020204" pitchFamily="34" charset="0"/>
            </a:endParaRPr>
          </a:p>
          <a:p>
            <a:pPr marL="0" indent="0">
              <a:buNone/>
            </a:pPr>
            <a:endParaRPr lang="en-US" sz="1200" dirty="0">
              <a:solidFill>
                <a:srgbClr val="002060"/>
              </a:solidFill>
            </a:endParaRPr>
          </a:p>
        </p:txBody>
      </p:sp>
      <p:pic>
        <p:nvPicPr>
          <p:cNvPr id="5122" name="Picture 2" descr="đường cong thay đổi Kübler-Ross ">
            <a:extLst>
              <a:ext uri="{FF2B5EF4-FFF2-40B4-BE49-F238E27FC236}">
                <a16:creationId xmlns:a16="http://schemas.microsoft.com/office/drawing/2014/main" id="{81176BDB-C2E7-FCA9-958E-982C5FAF7D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83291" y="2159150"/>
            <a:ext cx="4825575" cy="271438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DEB6D2D-2F87-9F6E-CAF4-572FEE2CB044}"/>
              </a:ext>
            </a:extLst>
          </p:cNvPr>
          <p:cNvSpPr txBox="1"/>
          <p:nvPr/>
        </p:nvSpPr>
        <p:spPr>
          <a:xfrm>
            <a:off x="455279" y="3516343"/>
            <a:ext cx="7110933" cy="2833789"/>
          </a:xfrm>
          <a:prstGeom prst="rect">
            <a:avLst/>
          </a:prstGeom>
          <a:noFill/>
        </p:spPr>
        <p:txBody>
          <a:bodyPr wrap="square">
            <a:spAutoFit/>
          </a:bodyPr>
          <a:lstStyle/>
          <a:p>
            <a:pPr algn="just" fontAlgn="base">
              <a:lnSpc>
                <a:spcPct val="150000"/>
              </a:lnSpc>
            </a:pPr>
            <a:r>
              <a:rPr lang="vi-VN" sz="1000" b="1" i="0" dirty="0">
                <a:solidFill>
                  <a:srgbClr val="002060"/>
                </a:solidFill>
                <a:effectLst/>
                <a:latin typeface="inherit"/>
              </a:rPr>
              <a:t>Vậy tại sao lý thuyết về đau buồn lại xuất hiện trong danh sách các mô hình quản lý sự thay đổi cho doanh nghiệp?</a:t>
            </a:r>
            <a:r>
              <a:rPr lang="vi-VN" sz="1000" b="0" i="0" dirty="0">
                <a:solidFill>
                  <a:srgbClr val="002060"/>
                </a:solidFill>
                <a:effectLst/>
                <a:latin typeface="arial" panose="020B0604020202020204" pitchFamily="34" charset="0"/>
              </a:rPr>
              <a:t> Con người bản chất là chống lại sự thay đổi. Đường cong thay đổi mở rộng thêm dựa trên 5 giai đoạn đau buồn để mô tả cảm xúc của nhân viên khi thích nghi với những biến đổi trong tổ chức. Các giai đoạn đó là:</a:t>
            </a:r>
            <a:endParaRPr lang="vi-VN" sz="1000" b="0" i="0" dirty="0">
              <a:solidFill>
                <a:srgbClr val="002060"/>
              </a:solidFill>
              <a:effectLst/>
              <a:latin typeface="Arial" panose="020B0604020202020204" pitchFamily="34" charset="0"/>
            </a:endParaRPr>
          </a:p>
          <a:p>
            <a:pPr algn="just" fontAlgn="base">
              <a:lnSpc>
                <a:spcPct val="150000"/>
              </a:lnSpc>
              <a:buFont typeface="Arial" panose="020B0604020202020204" pitchFamily="34" charset="0"/>
              <a:buChar char="•"/>
            </a:pPr>
            <a:r>
              <a:rPr lang="vi-VN" sz="1000" b="1" i="0" dirty="0">
                <a:solidFill>
                  <a:srgbClr val="002060"/>
                </a:solidFill>
                <a:effectLst/>
                <a:latin typeface="arial" panose="020B0604020202020204" pitchFamily="34" charset="0"/>
              </a:rPr>
              <a:t>Sốc (Shock): </a:t>
            </a:r>
            <a:r>
              <a:rPr lang="vi-VN" sz="1000" b="0" i="0" dirty="0">
                <a:solidFill>
                  <a:srgbClr val="002060"/>
                </a:solidFill>
                <a:effectLst/>
                <a:latin typeface="arial" panose="020B0604020202020204" pitchFamily="34" charset="0"/>
              </a:rPr>
              <a:t>Nhân viên bất ngờ trước sự thay đổi.</a:t>
            </a:r>
            <a:endParaRPr lang="vi-VN" sz="1000" b="0" i="0" dirty="0">
              <a:solidFill>
                <a:srgbClr val="002060"/>
              </a:solidFill>
              <a:effectLst/>
              <a:latin typeface="Arial" panose="020B0604020202020204" pitchFamily="34" charset="0"/>
            </a:endParaRPr>
          </a:p>
          <a:p>
            <a:pPr algn="just" fontAlgn="base">
              <a:lnSpc>
                <a:spcPct val="150000"/>
              </a:lnSpc>
              <a:buFont typeface="Arial" panose="020B0604020202020204" pitchFamily="34" charset="0"/>
              <a:buChar char="•"/>
            </a:pPr>
            <a:r>
              <a:rPr lang="vi-VN" sz="1000" b="1" i="0" dirty="0">
                <a:solidFill>
                  <a:srgbClr val="002060"/>
                </a:solidFill>
                <a:effectLst/>
                <a:latin typeface="arial" panose="020B0604020202020204" pitchFamily="34" charset="0"/>
              </a:rPr>
              <a:t>Từ chối (Denial): </a:t>
            </a:r>
            <a:r>
              <a:rPr lang="vi-VN" sz="1000" b="0" i="0" dirty="0">
                <a:solidFill>
                  <a:srgbClr val="002060"/>
                </a:solidFill>
                <a:effectLst/>
                <a:latin typeface="arial" panose="020B0604020202020204" pitchFamily="34" charset="0"/>
              </a:rPr>
              <a:t>Nhân viên không tin vào sự thay đổi.</a:t>
            </a:r>
            <a:endParaRPr lang="vi-VN" sz="1000" b="0" i="0" dirty="0">
              <a:solidFill>
                <a:srgbClr val="002060"/>
              </a:solidFill>
              <a:effectLst/>
              <a:latin typeface="Arial" panose="020B0604020202020204" pitchFamily="34" charset="0"/>
            </a:endParaRPr>
          </a:p>
          <a:p>
            <a:pPr algn="just" fontAlgn="base">
              <a:lnSpc>
                <a:spcPct val="150000"/>
              </a:lnSpc>
              <a:buFont typeface="Arial" panose="020B0604020202020204" pitchFamily="34" charset="0"/>
              <a:buChar char="•"/>
            </a:pPr>
            <a:r>
              <a:rPr lang="vi-VN" sz="1000" b="1" i="0" dirty="0">
                <a:solidFill>
                  <a:srgbClr val="002060"/>
                </a:solidFill>
                <a:effectLst/>
                <a:latin typeface="arial" panose="020B0604020202020204" pitchFamily="34" charset="0"/>
              </a:rPr>
              <a:t>Thất vọng (Frustration): </a:t>
            </a:r>
            <a:r>
              <a:rPr lang="vi-VN" sz="1000" b="0" i="0" dirty="0">
                <a:solidFill>
                  <a:srgbClr val="002060"/>
                </a:solidFill>
                <a:effectLst/>
                <a:latin typeface="arial" panose="020B0604020202020204" pitchFamily="34" charset="0"/>
              </a:rPr>
              <a:t>Nhân viên bắt đầu thừa nhận sự thay đổi nhưng cảm thấy khó chịu.</a:t>
            </a:r>
            <a:endParaRPr lang="vi-VN" sz="1000" b="0" i="0" dirty="0">
              <a:solidFill>
                <a:srgbClr val="002060"/>
              </a:solidFill>
              <a:effectLst/>
              <a:latin typeface="Arial" panose="020B0604020202020204" pitchFamily="34" charset="0"/>
            </a:endParaRPr>
          </a:p>
          <a:p>
            <a:pPr algn="just" fontAlgn="base">
              <a:lnSpc>
                <a:spcPct val="150000"/>
              </a:lnSpc>
              <a:buFont typeface="Arial" panose="020B0604020202020204" pitchFamily="34" charset="0"/>
              <a:buChar char="•"/>
            </a:pPr>
            <a:r>
              <a:rPr lang="vi-VN" sz="1000" b="1" i="0" dirty="0">
                <a:solidFill>
                  <a:srgbClr val="002060"/>
                </a:solidFill>
                <a:effectLst/>
                <a:latin typeface="arial" panose="020B0604020202020204" pitchFamily="34" charset="0"/>
              </a:rPr>
              <a:t>Chán nản (Depression): </a:t>
            </a:r>
            <a:r>
              <a:rPr lang="vi-VN" sz="1000" b="0" i="0" dirty="0">
                <a:solidFill>
                  <a:srgbClr val="002060"/>
                </a:solidFill>
                <a:effectLst/>
                <a:latin typeface="arial" panose="020B0604020202020204" pitchFamily="34" charset="0"/>
              </a:rPr>
              <a:t>Nhân viên mất động lực làm việc hoặc hoàn thành thay đổi.</a:t>
            </a:r>
            <a:endParaRPr lang="vi-VN" sz="1000" b="0" i="0" dirty="0">
              <a:solidFill>
                <a:srgbClr val="002060"/>
              </a:solidFill>
              <a:effectLst/>
              <a:latin typeface="Arial" panose="020B0604020202020204" pitchFamily="34" charset="0"/>
            </a:endParaRPr>
          </a:p>
          <a:p>
            <a:pPr algn="just" fontAlgn="base">
              <a:lnSpc>
                <a:spcPct val="150000"/>
              </a:lnSpc>
              <a:buFont typeface="Arial" panose="020B0604020202020204" pitchFamily="34" charset="0"/>
              <a:buChar char="•"/>
            </a:pPr>
            <a:r>
              <a:rPr lang="vi-VN" sz="1000" b="1" i="0" dirty="0">
                <a:solidFill>
                  <a:srgbClr val="002060"/>
                </a:solidFill>
                <a:effectLst/>
                <a:latin typeface="arial" panose="020B0604020202020204" pitchFamily="34" charset="0"/>
              </a:rPr>
              <a:t>Thử nghiệm (Experiment): </a:t>
            </a:r>
            <a:r>
              <a:rPr lang="vi-VN" sz="1000" b="0" i="0" dirty="0">
                <a:solidFill>
                  <a:srgbClr val="002060"/>
                </a:solidFill>
                <a:effectLst/>
                <a:latin typeface="arial" panose="020B0604020202020204" pitchFamily="34" charset="0"/>
              </a:rPr>
              <a:t>Nhân viên bắt đầu tìm cách làm việc với cấu trúc/hệ thống mới.</a:t>
            </a:r>
            <a:endParaRPr lang="vi-VN" sz="1000" b="0" i="0" dirty="0">
              <a:solidFill>
                <a:srgbClr val="002060"/>
              </a:solidFill>
              <a:effectLst/>
              <a:latin typeface="Arial" panose="020B0604020202020204" pitchFamily="34" charset="0"/>
            </a:endParaRPr>
          </a:p>
          <a:p>
            <a:pPr algn="just" fontAlgn="base">
              <a:lnSpc>
                <a:spcPct val="150000"/>
              </a:lnSpc>
              <a:buFont typeface="Arial" panose="020B0604020202020204" pitchFamily="34" charset="0"/>
              <a:buChar char="•"/>
            </a:pPr>
            <a:r>
              <a:rPr lang="vi-VN" sz="1000" b="1" i="0" dirty="0">
                <a:solidFill>
                  <a:srgbClr val="002060"/>
                </a:solidFill>
                <a:effectLst/>
                <a:latin typeface="arial" panose="020B0604020202020204" pitchFamily="34" charset="0"/>
              </a:rPr>
              <a:t>Quyết định (Decision): </a:t>
            </a:r>
            <a:r>
              <a:rPr lang="vi-VN" sz="1000" b="0" i="0" dirty="0">
                <a:solidFill>
                  <a:srgbClr val="002060"/>
                </a:solidFill>
                <a:effectLst/>
                <a:latin typeface="arial" panose="020B0604020202020204" pitchFamily="34" charset="0"/>
              </a:rPr>
              <a:t>Nhân viên cảm thấy thoải mái hơn với sự thay đổi và học cách làm việc trong môi trường mới.</a:t>
            </a:r>
            <a:endParaRPr lang="vi-VN" sz="1000" b="0" i="0" dirty="0">
              <a:solidFill>
                <a:srgbClr val="002060"/>
              </a:solidFill>
              <a:effectLst/>
              <a:latin typeface="Arial" panose="020B0604020202020204" pitchFamily="34" charset="0"/>
            </a:endParaRPr>
          </a:p>
          <a:p>
            <a:pPr algn="just" fontAlgn="base">
              <a:lnSpc>
                <a:spcPct val="150000"/>
              </a:lnSpc>
              <a:buFont typeface="Arial" panose="020B0604020202020204" pitchFamily="34" charset="0"/>
              <a:buChar char="•"/>
            </a:pPr>
            <a:r>
              <a:rPr lang="vi-VN" sz="1000" b="1" i="0" dirty="0">
                <a:solidFill>
                  <a:srgbClr val="002060"/>
                </a:solidFill>
                <a:effectLst/>
                <a:latin typeface="arial" panose="020B0604020202020204" pitchFamily="34" charset="0"/>
              </a:rPr>
              <a:t>Hội nhập (Integration): </a:t>
            </a:r>
            <a:r>
              <a:rPr lang="vi-VN" sz="1000" b="0" i="0" dirty="0">
                <a:solidFill>
                  <a:srgbClr val="002060"/>
                </a:solidFill>
                <a:effectLst/>
                <a:latin typeface="arial" panose="020B0604020202020204" pitchFamily="34" charset="0"/>
              </a:rPr>
              <a:t>Nhân viên hoàn toàn thích nghi với sự thay đổi và biến nó thành một phần trong công việc.</a:t>
            </a:r>
            <a:endParaRPr lang="vi-VN" sz="1000" b="0" i="0" dirty="0">
              <a:solidFill>
                <a:srgbClr val="002060"/>
              </a:solidFill>
              <a:effectLst/>
              <a:latin typeface="Arial" panose="020B0604020202020204" pitchFamily="34" charset="0"/>
            </a:endParaRPr>
          </a:p>
          <a:p>
            <a:pPr algn="just" fontAlgn="base">
              <a:lnSpc>
                <a:spcPct val="150000"/>
              </a:lnSpc>
            </a:pPr>
            <a:r>
              <a:rPr lang="vi-VN" sz="1000" b="0" i="0" dirty="0">
                <a:solidFill>
                  <a:srgbClr val="002060"/>
                </a:solidFill>
                <a:effectLst/>
                <a:latin typeface="arial" panose="020B0604020202020204" pitchFamily="34" charset="0"/>
              </a:rPr>
              <a:t>Mặc dù mô hình này giúp quản lý phản ứng của nhân viên đối với sự thay đổi. Nhưng nó không cung cấp một khuôn khổ tổng thể để khởi xướng thay đổi trong tổ chức. Do đó, bạn nên kết hợp nó với một mô hình khác để đạt hiệu quả.</a:t>
            </a:r>
            <a:endParaRPr lang="vi-VN" sz="1000" b="0" i="0" dirty="0">
              <a:solidFill>
                <a:srgbClr val="002060"/>
              </a:solidFill>
              <a:effectLst/>
              <a:latin typeface="Arial" panose="020B0604020202020204" pitchFamily="34" charset="0"/>
            </a:endParaRPr>
          </a:p>
        </p:txBody>
      </p:sp>
    </p:spTree>
    <p:extLst>
      <p:ext uri="{BB962C8B-B14F-4D97-AF65-F5344CB8AC3E}">
        <p14:creationId xmlns:p14="http://schemas.microsoft.com/office/powerpoint/2010/main" val="4007388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barn(inVertical)">
                                      <p:cBhvr>
                                        <p:cTn id="3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9B1A8-6799-69BB-E334-184389DC5220}"/>
              </a:ext>
            </a:extLst>
          </p:cNvPr>
          <p:cNvSpPr>
            <a:spLocks noGrp="1"/>
          </p:cNvSpPr>
          <p:nvPr>
            <p:ph type="title"/>
          </p:nvPr>
        </p:nvSpPr>
        <p:spPr/>
        <p:txBody>
          <a:bodyPr/>
          <a:lstStyle/>
          <a:p>
            <a:r>
              <a:rPr lang="en-US" b="1" i="1" dirty="0">
                <a:solidFill>
                  <a:srgbClr val="0070C0"/>
                </a:solidFill>
                <a:effectLst/>
                <a:latin typeface="inherit"/>
              </a:rPr>
              <a:t>6.Vòng </a:t>
            </a:r>
            <a:r>
              <a:rPr lang="en-US" b="1" i="1" dirty="0" err="1">
                <a:solidFill>
                  <a:srgbClr val="0070C0"/>
                </a:solidFill>
                <a:effectLst/>
                <a:latin typeface="inherit"/>
              </a:rPr>
              <a:t>tròn</a:t>
            </a:r>
            <a:r>
              <a:rPr lang="en-US" b="1" i="1" dirty="0">
                <a:solidFill>
                  <a:srgbClr val="0070C0"/>
                </a:solidFill>
                <a:effectLst/>
                <a:latin typeface="inherit"/>
              </a:rPr>
              <a:t> PDSA</a:t>
            </a:r>
            <a:endParaRPr lang="en-US" dirty="0">
              <a:solidFill>
                <a:srgbClr val="0070C0"/>
              </a:solidFill>
            </a:endParaRPr>
          </a:p>
        </p:txBody>
      </p:sp>
      <p:sp>
        <p:nvSpPr>
          <p:cNvPr id="5" name="TextBox 4">
            <a:extLst>
              <a:ext uri="{FF2B5EF4-FFF2-40B4-BE49-F238E27FC236}">
                <a16:creationId xmlns:a16="http://schemas.microsoft.com/office/drawing/2014/main" id="{A5713905-09E6-8D95-E124-7B0385B0C287}"/>
              </a:ext>
            </a:extLst>
          </p:cNvPr>
          <p:cNvSpPr txBox="1"/>
          <p:nvPr/>
        </p:nvSpPr>
        <p:spPr>
          <a:xfrm>
            <a:off x="838199" y="1542671"/>
            <a:ext cx="10044954" cy="923330"/>
          </a:xfrm>
          <a:prstGeom prst="rect">
            <a:avLst/>
          </a:prstGeom>
          <a:noFill/>
        </p:spPr>
        <p:txBody>
          <a:bodyPr wrap="square">
            <a:spAutoFit/>
          </a:bodyPr>
          <a:lstStyle/>
          <a:p>
            <a:pPr algn="just"/>
            <a:r>
              <a:rPr lang="vi-VN" b="0" i="0" u="none" strike="noStrike" dirty="0">
                <a:solidFill>
                  <a:srgbClr val="002060"/>
                </a:solidFill>
                <a:effectLst/>
                <a:latin typeface="arial" panose="020B0604020202020204" pitchFamily="34" charset="0"/>
              </a:rPr>
              <a:t>Vòng tròn PDSA</a:t>
            </a:r>
            <a:r>
              <a:rPr lang="vi-VN" b="0" i="0" dirty="0">
                <a:solidFill>
                  <a:srgbClr val="002060"/>
                </a:solidFill>
                <a:effectLst/>
                <a:latin typeface="arial" panose="020B0604020202020204" pitchFamily="34" charset="0"/>
              </a:rPr>
              <a:t> (Plan – Do – Study – Act: Lập kế hoạch – Thực hiện – Nghiên cứu – Hành động) là một quy trình liên tục để tối ưu hóa và cải thiện hoạt động kinh doanh của bạn. Vòng tròn này được xây dựng dựa trên nghiên cứu của W. Edward Deming và Walter Shewhart.</a:t>
            </a:r>
            <a:endParaRPr lang="en-US" dirty="0">
              <a:solidFill>
                <a:srgbClr val="002060"/>
              </a:solidFill>
            </a:endParaRPr>
          </a:p>
        </p:txBody>
      </p:sp>
      <p:sp>
        <p:nvSpPr>
          <p:cNvPr id="7" name="TextBox 6">
            <a:extLst>
              <a:ext uri="{FF2B5EF4-FFF2-40B4-BE49-F238E27FC236}">
                <a16:creationId xmlns:a16="http://schemas.microsoft.com/office/drawing/2014/main" id="{8BEF01C6-72B0-B3A1-D57F-4FABCE5D0E27}"/>
              </a:ext>
            </a:extLst>
          </p:cNvPr>
          <p:cNvSpPr txBox="1"/>
          <p:nvPr/>
        </p:nvSpPr>
        <p:spPr>
          <a:xfrm>
            <a:off x="4341845" y="2868234"/>
            <a:ext cx="7626037" cy="2828147"/>
          </a:xfrm>
          <a:prstGeom prst="rect">
            <a:avLst/>
          </a:prstGeom>
          <a:noFill/>
        </p:spPr>
        <p:txBody>
          <a:bodyPr wrap="square">
            <a:spAutoFit/>
          </a:bodyPr>
          <a:lstStyle/>
          <a:p>
            <a:pPr algn="just" fontAlgn="base">
              <a:lnSpc>
                <a:spcPct val="150000"/>
              </a:lnSpc>
            </a:pPr>
            <a:r>
              <a:rPr lang="vi-VN" sz="1200" b="1" i="0" dirty="0">
                <a:solidFill>
                  <a:srgbClr val="002060"/>
                </a:solidFill>
                <a:effectLst/>
                <a:latin typeface="arial" panose="020B0604020202020204" pitchFamily="34" charset="0"/>
              </a:rPr>
              <a:t>Quy trình này được lặp đi lặp lại theo 4 bước:</a:t>
            </a:r>
            <a:endParaRPr lang="vi-VN" sz="1200" b="1" i="0" dirty="0">
              <a:solidFill>
                <a:srgbClr val="002060"/>
              </a:solidFill>
              <a:effectLst/>
              <a:latin typeface="Arial" panose="020B0604020202020204" pitchFamily="34" charset="0"/>
            </a:endParaRPr>
          </a:p>
          <a:p>
            <a:pPr algn="just" fontAlgn="base">
              <a:lnSpc>
                <a:spcPct val="150000"/>
              </a:lnSpc>
              <a:buFont typeface="+mj-lt"/>
              <a:buAutoNum type="arabicPeriod"/>
            </a:pPr>
            <a:r>
              <a:rPr lang="vi-VN" sz="1200" b="1" i="0" dirty="0">
                <a:solidFill>
                  <a:srgbClr val="002060"/>
                </a:solidFill>
                <a:effectLst/>
                <a:latin typeface="arial" panose="020B0604020202020204" pitchFamily="34" charset="0"/>
              </a:rPr>
              <a:t>Lập kế hoạch (Plan): </a:t>
            </a:r>
            <a:r>
              <a:rPr lang="vi-VN" sz="1200" b="0" i="0" dirty="0">
                <a:solidFill>
                  <a:srgbClr val="002060"/>
                </a:solidFill>
                <a:effectLst/>
                <a:latin typeface="arial" panose="020B0604020202020204" pitchFamily="34" charset="0"/>
              </a:rPr>
              <a:t>Xác định vấn đề cần thay đổi và lên kế hoạch thực hiện.</a:t>
            </a:r>
            <a:endParaRPr lang="vi-VN" sz="1200" b="0" i="0" dirty="0">
              <a:solidFill>
                <a:srgbClr val="002060"/>
              </a:solidFill>
              <a:effectLst/>
              <a:latin typeface="Arial" panose="020B0604020202020204" pitchFamily="34" charset="0"/>
            </a:endParaRPr>
          </a:p>
          <a:p>
            <a:pPr algn="just" fontAlgn="base">
              <a:lnSpc>
                <a:spcPct val="150000"/>
              </a:lnSpc>
              <a:buFont typeface="+mj-lt"/>
              <a:buAutoNum type="arabicPeriod"/>
            </a:pPr>
            <a:r>
              <a:rPr lang="vi-VN" sz="1200" b="1" i="0" dirty="0">
                <a:solidFill>
                  <a:srgbClr val="002060"/>
                </a:solidFill>
                <a:effectLst/>
                <a:latin typeface="arial" panose="020B0604020202020204" pitchFamily="34" charset="0"/>
              </a:rPr>
              <a:t>Thực hiện (Do): </a:t>
            </a:r>
            <a:r>
              <a:rPr lang="vi-VN" sz="1200" b="0" i="0" dirty="0">
                <a:solidFill>
                  <a:srgbClr val="002060"/>
                </a:solidFill>
                <a:effectLst/>
                <a:latin typeface="arial" panose="020B0604020202020204" pitchFamily="34" charset="0"/>
              </a:rPr>
              <a:t>Kiểm tra ý tưởng của bạn trên quy mô nhỏ.</a:t>
            </a:r>
            <a:endParaRPr lang="vi-VN" sz="1200" b="0" i="0" dirty="0">
              <a:solidFill>
                <a:srgbClr val="002060"/>
              </a:solidFill>
              <a:effectLst/>
              <a:latin typeface="Arial" panose="020B0604020202020204" pitchFamily="34" charset="0"/>
            </a:endParaRPr>
          </a:p>
          <a:p>
            <a:pPr algn="just" fontAlgn="base">
              <a:lnSpc>
                <a:spcPct val="150000"/>
              </a:lnSpc>
              <a:buFont typeface="+mj-lt"/>
              <a:buAutoNum type="arabicPeriod"/>
            </a:pPr>
            <a:r>
              <a:rPr lang="vi-VN" sz="1200" b="1" i="0" dirty="0">
                <a:solidFill>
                  <a:srgbClr val="002060"/>
                </a:solidFill>
                <a:effectLst/>
                <a:latin typeface="arial" panose="020B0604020202020204" pitchFamily="34" charset="0"/>
              </a:rPr>
              <a:t>Nghiên cứu (Study): </a:t>
            </a:r>
            <a:r>
              <a:rPr lang="vi-VN" sz="1200" b="0" i="0" dirty="0">
                <a:solidFill>
                  <a:srgbClr val="002060"/>
                </a:solidFill>
                <a:effectLst/>
                <a:latin typeface="arial" panose="020B0604020202020204" pitchFamily="34" charset="0"/>
              </a:rPr>
              <a:t>Phân tích kết quả và xác định những gì hiệu quả và không hiệu quả.</a:t>
            </a:r>
            <a:endParaRPr lang="vi-VN" sz="1200" b="0" i="0" dirty="0">
              <a:solidFill>
                <a:srgbClr val="002060"/>
              </a:solidFill>
              <a:effectLst/>
              <a:latin typeface="Arial" panose="020B0604020202020204" pitchFamily="34" charset="0"/>
            </a:endParaRPr>
          </a:p>
          <a:p>
            <a:pPr algn="just" fontAlgn="base">
              <a:lnSpc>
                <a:spcPct val="150000"/>
              </a:lnSpc>
              <a:buFont typeface="+mj-lt"/>
              <a:buAutoNum type="arabicPeriod"/>
            </a:pPr>
            <a:r>
              <a:rPr lang="vi-VN" sz="1200" b="1" i="0" dirty="0">
                <a:solidFill>
                  <a:srgbClr val="002060"/>
                </a:solidFill>
                <a:effectLst/>
                <a:latin typeface="arial" panose="020B0604020202020204" pitchFamily="34" charset="0"/>
              </a:rPr>
              <a:t>Hành động (Act): </a:t>
            </a:r>
            <a:r>
              <a:rPr lang="vi-VN" sz="1200" b="0" i="0" dirty="0">
                <a:solidFill>
                  <a:srgbClr val="002060"/>
                </a:solidFill>
                <a:effectLst/>
                <a:latin typeface="arial" panose="020B0604020202020204" pitchFamily="34" charset="0"/>
              </a:rPr>
              <a:t>Dựa trên kết quả thu được và những gì bạn học được để thực hiện hành động.</a:t>
            </a:r>
            <a:endParaRPr lang="vi-VN" sz="1200" b="0" i="0" dirty="0">
              <a:solidFill>
                <a:srgbClr val="002060"/>
              </a:solidFill>
              <a:effectLst/>
              <a:latin typeface="Arial" panose="020B0604020202020204" pitchFamily="34" charset="0"/>
            </a:endParaRPr>
          </a:p>
          <a:p>
            <a:pPr algn="just" fontAlgn="base">
              <a:lnSpc>
                <a:spcPct val="150000"/>
              </a:lnSpc>
            </a:pPr>
            <a:r>
              <a:rPr lang="vi-VN" sz="1200" b="0" i="0" u="none" strike="noStrike" dirty="0">
                <a:solidFill>
                  <a:srgbClr val="002060"/>
                </a:solidFill>
                <a:effectLst/>
                <a:latin typeface="arial" panose="020B0604020202020204" pitchFamily="34" charset="0"/>
              </a:rPr>
              <a:t>Vòng tròn PDSA</a:t>
            </a:r>
            <a:r>
              <a:rPr lang="vi-VN" sz="1200" b="0" i="0" dirty="0">
                <a:solidFill>
                  <a:srgbClr val="002060"/>
                </a:solidFill>
                <a:effectLst/>
                <a:latin typeface="arial" panose="020B0604020202020204" pitchFamily="34" charset="0"/>
              </a:rPr>
              <a:t> là công cụ tuyệt vời để cải tiến liên tục. Nó có thể dễ dàng phù hợp với bất kỳ phần nào hoặc toàn bộ kế hoạch quản lý thay đổi của bạn. Nhưng đối với các thay đổi lớn trong tổ chức, bạn có thể cần một bộ khung chi tiết hơn để lên kế hoạch.</a:t>
            </a:r>
            <a:endParaRPr lang="vi-VN" sz="1200" b="0" i="0" dirty="0">
              <a:solidFill>
                <a:srgbClr val="002060"/>
              </a:solidFill>
              <a:effectLst/>
              <a:latin typeface="Arial" panose="020B0604020202020204" pitchFamily="34" charset="0"/>
            </a:endParaRPr>
          </a:p>
          <a:p>
            <a:pPr algn="just" fontAlgn="base">
              <a:lnSpc>
                <a:spcPct val="150000"/>
              </a:lnSpc>
            </a:pPr>
            <a:r>
              <a:rPr lang="vi-VN" sz="1200" b="1" i="0" dirty="0">
                <a:solidFill>
                  <a:srgbClr val="002060"/>
                </a:solidFill>
                <a:effectLst/>
                <a:latin typeface="inherit"/>
              </a:rPr>
              <a:t>Ưu điểm:</a:t>
            </a:r>
            <a:r>
              <a:rPr lang="vi-VN" sz="1200" b="0" i="0" dirty="0">
                <a:solidFill>
                  <a:srgbClr val="002060"/>
                </a:solidFill>
                <a:effectLst/>
                <a:latin typeface="arial" panose="020B0604020202020204" pitchFamily="34" charset="0"/>
              </a:rPr>
              <a:t> Chúng tôi đánh giá cao việc giai đoạn “Nghiên cứu” của chu kỳ này so sánh kết quả thực tế với dự kiến. Quy trình bốn bước đơn giản này có thể được lặp lại cho đến khi kết quả đạt được khớp với mục tiêu.</a:t>
            </a:r>
            <a:endParaRPr lang="vi-VN" sz="1200" b="0" i="0" dirty="0">
              <a:solidFill>
                <a:srgbClr val="002060"/>
              </a:solidFill>
              <a:effectLst/>
              <a:latin typeface="Arial" panose="020B0604020202020204" pitchFamily="34" charset="0"/>
            </a:endParaRPr>
          </a:p>
        </p:txBody>
      </p:sp>
      <p:pic>
        <p:nvPicPr>
          <p:cNvPr id="6146" name="Picture 2" descr="Vòng tròn PDSA">
            <a:extLst>
              <a:ext uri="{FF2B5EF4-FFF2-40B4-BE49-F238E27FC236}">
                <a16:creationId xmlns:a16="http://schemas.microsoft.com/office/drawing/2014/main" id="{60228E61-014D-5FD1-1BD3-892B52EF2B3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875" r="19184"/>
          <a:stretch/>
        </p:blipFill>
        <p:spPr bwMode="auto">
          <a:xfrm>
            <a:off x="717177" y="3017465"/>
            <a:ext cx="3482788" cy="3214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2475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F742A-0011-C683-AC0D-EC2D7DCFB855}"/>
              </a:ext>
            </a:extLst>
          </p:cNvPr>
          <p:cNvSpPr>
            <a:spLocks noGrp="1"/>
          </p:cNvSpPr>
          <p:nvPr>
            <p:ph type="title"/>
          </p:nvPr>
        </p:nvSpPr>
        <p:spPr/>
        <p:txBody>
          <a:bodyPr/>
          <a:lstStyle/>
          <a:p>
            <a:r>
              <a:rPr lang="en-US" b="1" i="1" u="none" strike="noStrike" dirty="0">
                <a:solidFill>
                  <a:srgbClr val="0070C0"/>
                </a:solidFill>
                <a:effectLst/>
                <a:latin typeface="inherit"/>
              </a:rPr>
              <a:t>7.Mô </a:t>
            </a:r>
            <a:r>
              <a:rPr lang="en-US" b="1" i="1" u="none" strike="noStrike" dirty="0" err="1">
                <a:solidFill>
                  <a:srgbClr val="0070C0"/>
                </a:solidFill>
                <a:effectLst/>
                <a:latin typeface="inherit"/>
              </a:rPr>
              <a:t>hình</a:t>
            </a:r>
            <a:r>
              <a:rPr lang="en-US" b="1" i="1" u="none" strike="noStrike" dirty="0">
                <a:solidFill>
                  <a:srgbClr val="0070C0"/>
                </a:solidFill>
                <a:effectLst/>
                <a:latin typeface="inherit"/>
              </a:rPr>
              <a:t> ADKAR </a:t>
            </a:r>
            <a:r>
              <a:rPr lang="en-US" b="1" i="1" u="none" strike="noStrike" dirty="0" err="1">
                <a:solidFill>
                  <a:srgbClr val="0070C0"/>
                </a:solidFill>
                <a:effectLst/>
                <a:latin typeface="inherit"/>
              </a:rPr>
              <a:t>của</a:t>
            </a:r>
            <a:r>
              <a:rPr lang="en-US" b="1" i="1" u="none" strike="noStrike" dirty="0">
                <a:solidFill>
                  <a:srgbClr val="0070C0"/>
                </a:solidFill>
                <a:effectLst/>
                <a:latin typeface="inherit"/>
              </a:rPr>
              <a:t> </a:t>
            </a:r>
            <a:r>
              <a:rPr lang="en-US" b="1" i="1" u="none" strike="noStrike" dirty="0" err="1">
                <a:solidFill>
                  <a:srgbClr val="0070C0"/>
                </a:solidFill>
                <a:effectLst/>
                <a:latin typeface="inherit"/>
              </a:rPr>
              <a:t>Prosci</a:t>
            </a:r>
            <a:br>
              <a:rPr lang="en-US" b="1" i="1" dirty="0">
                <a:solidFill>
                  <a:srgbClr val="0070C0"/>
                </a:solidFill>
                <a:effectLst/>
                <a:latin typeface="Arial" panose="020B0604020202020204" pitchFamily="34" charset="0"/>
              </a:rPr>
            </a:br>
            <a:endParaRPr lang="en-US" dirty="0">
              <a:solidFill>
                <a:srgbClr val="0070C0"/>
              </a:solidFill>
            </a:endParaRPr>
          </a:p>
        </p:txBody>
      </p:sp>
      <p:sp>
        <p:nvSpPr>
          <p:cNvPr id="5" name="TextBox 4">
            <a:extLst>
              <a:ext uri="{FF2B5EF4-FFF2-40B4-BE49-F238E27FC236}">
                <a16:creationId xmlns:a16="http://schemas.microsoft.com/office/drawing/2014/main" id="{9B3CFD69-ACAA-F602-25AB-11C814543F04}"/>
              </a:ext>
            </a:extLst>
          </p:cNvPr>
          <p:cNvSpPr txBox="1"/>
          <p:nvPr/>
        </p:nvSpPr>
        <p:spPr>
          <a:xfrm>
            <a:off x="838200" y="1283606"/>
            <a:ext cx="4379259" cy="1600438"/>
          </a:xfrm>
          <a:prstGeom prst="rect">
            <a:avLst/>
          </a:prstGeom>
          <a:noFill/>
        </p:spPr>
        <p:txBody>
          <a:bodyPr wrap="square">
            <a:spAutoFit/>
          </a:bodyPr>
          <a:lstStyle/>
          <a:p>
            <a:pPr algn="just"/>
            <a:r>
              <a:rPr lang="vi-VN" sz="1400" b="0" i="0" u="none" strike="noStrike" dirty="0">
                <a:solidFill>
                  <a:srgbClr val="002060"/>
                </a:solidFill>
                <a:effectLst/>
                <a:latin typeface="arial" panose="020B0604020202020204" pitchFamily="34" charset="0"/>
              </a:rPr>
              <a:t>Mô hình quản lý sự thay đổi ADKAR</a:t>
            </a:r>
            <a:r>
              <a:rPr lang="vi-VN" sz="1400" b="0" i="0" dirty="0">
                <a:solidFill>
                  <a:srgbClr val="002060"/>
                </a:solidFill>
                <a:effectLst/>
                <a:latin typeface="arial" panose="020B0604020202020204" pitchFamily="34" charset="0"/>
              </a:rPr>
              <a:t> của Prosci không áp dụng theo kiểu áp đặt từ trên xuống. Thay vào đó, mô hình này tập trung vào những việc cần thiết cho MỌI CẤP NHÂN VIÊN trong tổ chức để sự thay đổi mang lại hiệu quả. Người sáng lập Prosci, Jeff Hiatt, đã xây dựng </a:t>
            </a:r>
            <a:r>
              <a:rPr lang="vi-VN" sz="1400" b="0" i="0" u="none" strike="noStrike" dirty="0">
                <a:solidFill>
                  <a:srgbClr val="002060"/>
                </a:solidFill>
                <a:effectLst/>
                <a:latin typeface="arial" panose="020B0604020202020204" pitchFamily="34" charset="0"/>
              </a:rPr>
              <a:t>mô hình ADKAR,</a:t>
            </a:r>
            <a:r>
              <a:rPr lang="vi-VN" sz="1400" b="0" i="0" dirty="0">
                <a:solidFill>
                  <a:srgbClr val="002060"/>
                </a:solidFill>
                <a:effectLst/>
                <a:latin typeface="arial" panose="020B0604020202020204" pitchFamily="34" charset="0"/>
              </a:rPr>
              <a:t> theo đó mọi người cần đạt được 5 kết quả:</a:t>
            </a:r>
            <a:endParaRPr lang="en-US" sz="1400" dirty="0">
              <a:solidFill>
                <a:srgbClr val="002060"/>
              </a:solidFill>
            </a:endParaRPr>
          </a:p>
        </p:txBody>
      </p:sp>
      <p:pic>
        <p:nvPicPr>
          <p:cNvPr id="7170" name="Picture 2" descr="Mô hình ADKAR ">
            <a:extLst>
              <a:ext uri="{FF2B5EF4-FFF2-40B4-BE49-F238E27FC236}">
                <a16:creationId xmlns:a16="http://schemas.microsoft.com/office/drawing/2014/main" id="{A95EB84E-82AA-01FB-6FB1-C998E8C0B50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592" b="4885"/>
          <a:stretch/>
        </p:blipFill>
        <p:spPr bwMode="auto">
          <a:xfrm>
            <a:off x="5912247" y="1124141"/>
            <a:ext cx="4656383" cy="288194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3C7701A-F788-A200-D75F-47BFD959E6D2}"/>
              </a:ext>
            </a:extLst>
          </p:cNvPr>
          <p:cNvSpPr txBox="1"/>
          <p:nvPr/>
        </p:nvSpPr>
        <p:spPr>
          <a:xfrm>
            <a:off x="694764" y="4199940"/>
            <a:ext cx="10659036" cy="2144946"/>
          </a:xfrm>
          <a:prstGeom prst="rect">
            <a:avLst/>
          </a:prstGeom>
          <a:noFill/>
        </p:spPr>
        <p:txBody>
          <a:bodyPr wrap="square">
            <a:spAutoFit/>
          </a:bodyPr>
          <a:lstStyle/>
          <a:p>
            <a:pPr algn="just" fontAlgn="base">
              <a:lnSpc>
                <a:spcPct val="150000"/>
              </a:lnSpc>
              <a:buFont typeface="+mj-lt"/>
              <a:buAutoNum type="arabicPeriod"/>
            </a:pPr>
            <a:r>
              <a:rPr lang="vi-VN" sz="1000" b="1" i="0" dirty="0">
                <a:solidFill>
                  <a:srgbClr val="002060"/>
                </a:solidFill>
                <a:effectLst/>
                <a:latin typeface="arial" panose="020B0604020202020204" pitchFamily="34" charset="0"/>
              </a:rPr>
              <a:t>Nhận thức (Awareness): </a:t>
            </a:r>
            <a:r>
              <a:rPr lang="vi-VN" sz="1000" b="0" i="0" dirty="0">
                <a:solidFill>
                  <a:srgbClr val="002060"/>
                </a:solidFill>
                <a:effectLst/>
                <a:latin typeface="arial" panose="020B0604020202020204" pitchFamily="34" charset="0"/>
              </a:rPr>
              <a:t>Ban lãnh đạo giải thích về những thay đổi sắp tới và lý do tại sao chúng cần thiết.</a:t>
            </a:r>
            <a:endParaRPr lang="vi-VN" sz="1000" b="0" i="0" dirty="0">
              <a:solidFill>
                <a:srgbClr val="002060"/>
              </a:solidFill>
              <a:effectLst/>
              <a:latin typeface="Arial" panose="020B0604020202020204" pitchFamily="34" charset="0"/>
            </a:endParaRPr>
          </a:p>
          <a:p>
            <a:pPr algn="just" fontAlgn="base">
              <a:lnSpc>
                <a:spcPct val="150000"/>
              </a:lnSpc>
              <a:buFont typeface="+mj-lt"/>
              <a:buAutoNum type="arabicPeriod"/>
            </a:pPr>
            <a:r>
              <a:rPr lang="vi-VN" sz="1000" b="1" i="0" dirty="0">
                <a:solidFill>
                  <a:srgbClr val="002060"/>
                </a:solidFill>
                <a:effectLst/>
                <a:latin typeface="arial" panose="020B0604020202020204" pitchFamily="34" charset="0"/>
              </a:rPr>
              <a:t>Mong muốn (Desire): </a:t>
            </a:r>
            <a:r>
              <a:rPr lang="vi-VN" sz="1000" b="0" i="0" dirty="0">
                <a:solidFill>
                  <a:srgbClr val="002060"/>
                </a:solidFill>
                <a:effectLst/>
                <a:latin typeface="arial" panose="020B0604020202020204" pitchFamily="34" charset="0"/>
              </a:rPr>
              <a:t>Lãnh đạo thuyết phục nhân viên ủng hộ sự thay đổi bằng cách cung cấp các nghiên cứu điển hình hoặc bằng chứng khác. Họ cũng có thể cần giải quyết những lo ngại cá nhân để xây dựng lòng tin cho nhân viên về những thay đổi này.</a:t>
            </a:r>
            <a:endParaRPr lang="vi-VN" sz="1000" b="0" i="0" dirty="0">
              <a:solidFill>
                <a:srgbClr val="002060"/>
              </a:solidFill>
              <a:effectLst/>
              <a:latin typeface="Arial" panose="020B0604020202020204" pitchFamily="34" charset="0"/>
            </a:endParaRPr>
          </a:p>
          <a:p>
            <a:pPr algn="just" fontAlgn="base">
              <a:lnSpc>
                <a:spcPct val="150000"/>
              </a:lnSpc>
              <a:buFont typeface="+mj-lt"/>
              <a:buAutoNum type="arabicPeriod"/>
            </a:pPr>
            <a:r>
              <a:rPr lang="vi-VN" sz="1000" b="1" i="0" dirty="0">
                <a:solidFill>
                  <a:srgbClr val="002060"/>
                </a:solidFill>
                <a:effectLst/>
                <a:latin typeface="arial" panose="020B0604020202020204" pitchFamily="34" charset="0"/>
              </a:rPr>
              <a:t>Kiến thức (Knowledge): </a:t>
            </a:r>
            <a:r>
              <a:rPr lang="vi-VN" sz="1000" b="0" i="0" dirty="0">
                <a:solidFill>
                  <a:srgbClr val="002060"/>
                </a:solidFill>
                <a:effectLst/>
                <a:latin typeface="arial" panose="020B0604020202020204" pitchFamily="34" charset="0"/>
              </a:rPr>
              <a:t>Đây là giai đoạn nhân viên học cách thực hiện thay đổi. Ví dụ, đối với các công ty triển khai phần mềm mới, giai đoạn này bao gồm đào tạo.</a:t>
            </a:r>
            <a:endParaRPr lang="vi-VN" sz="1000" b="0" i="0" dirty="0">
              <a:solidFill>
                <a:srgbClr val="002060"/>
              </a:solidFill>
              <a:effectLst/>
              <a:latin typeface="Arial" panose="020B0604020202020204" pitchFamily="34" charset="0"/>
            </a:endParaRPr>
          </a:p>
          <a:p>
            <a:pPr algn="just" fontAlgn="base">
              <a:lnSpc>
                <a:spcPct val="150000"/>
              </a:lnSpc>
              <a:buFont typeface="+mj-lt"/>
              <a:buAutoNum type="arabicPeriod"/>
            </a:pPr>
            <a:r>
              <a:rPr lang="vi-VN" sz="1000" b="1" i="0" dirty="0">
                <a:solidFill>
                  <a:srgbClr val="002060"/>
                </a:solidFill>
                <a:effectLst/>
                <a:latin typeface="arial" panose="020B0604020202020204" pitchFamily="34" charset="0"/>
              </a:rPr>
              <a:t>Khả năng (Ability): </a:t>
            </a:r>
            <a:r>
              <a:rPr lang="vi-VN" sz="1000" b="0" i="0" dirty="0">
                <a:solidFill>
                  <a:srgbClr val="002060"/>
                </a:solidFill>
                <a:effectLst/>
                <a:latin typeface="arial" panose="020B0604020202020204" pitchFamily="34" charset="0"/>
              </a:rPr>
              <a:t>Ở giai đoạn này, nhân viên bắt đầu áp dụng những gì họ đã học được.</a:t>
            </a:r>
            <a:endParaRPr lang="vi-VN" sz="1000" b="0" i="0" dirty="0">
              <a:solidFill>
                <a:srgbClr val="002060"/>
              </a:solidFill>
              <a:effectLst/>
              <a:latin typeface="Arial" panose="020B0604020202020204" pitchFamily="34" charset="0"/>
            </a:endParaRPr>
          </a:p>
          <a:p>
            <a:pPr algn="just" fontAlgn="base">
              <a:lnSpc>
                <a:spcPct val="150000"/>
              </a:lnSpc>
              <a:buFont typeface="+mj-lt"/>
              <a:buAutoNum type="arabicPeriod"/>
            </a:pPr>
            <a:r>
              <a:rPr lang="vi-VN" sz="1000" b="1" i="0" dirty="0">
                <a:solidFill>
                  <a:srgbClr val="002060"/>
                </a:solidFill>
                <a:effectLst/>
                <a:latin typeface="arial" panose="020B0604020202020204" pitchFamily="34" charset="0"/>
              </a:rPr>
              <a:t>Củng cố (Reinforcement): </a:t>
            </a:r>
            <a:r>
              <a:rPr lang="vi-VN" sz="1000" b="0" i="0" dirty="0">
                <a:solidFill>
                  <a:srgbClr val="002060"/>
                </a:solidFill>
                <a:effectLst/>
                <a:latin typeface="arial" panose="020B0604020202020204" pitchFamily="34" charset="0"/>
              </a:rPr>
              <a:t>Đây là quá trình liên tục, ghi nhận những thành tích của nhân viên và cung cấp các ưu đãi về hiệu suất.</a:t>
            </a:r>
            <a:endParaRPr lang="vi-VN" sz="1000" b="0" i="0" dirty="0">
              <a:solidFill>
                <a:srgbClr val="002060"/>
              </a:solidFill>
              <a:effectLst/>
              <a:latin typeface="Arial" panose="020B0604020202020204" pitchFamily="34" charset="0"/>
            </a:endParaRPr>
          </a:p>
          <a:p>
            <a:pPr marL="171450" indent="-171450" algn="just" fontAlgn="base">
              <a:lnSpc>
                <a:spcPct val="150000"/>
              </a:lnSpc>
              <a:buFont typeface="Wingdings" panose="05000000000000000000" pitchFamily="2" charset="2"/>
              <a:buChar char="§"/>
            </a:pPr>
            <a:r>
              <a:rPr lang="vi-VN" sz="1000" b="0" i="0" u="none" strike="noStrike" dirty="0">
                <a:solidFill>
                  <a:srgbClr val="002060"/>
                </a:solidFill>
                <a:effectLst/>
                <a:latin typeface="arial" panose="020B0604020202020204" pitchFamily="34" charset="0"/>
              </a:rPr>
              <a:t>Mô hình ADKAR</a:t>
            </a:r>
            <a:r>
              <a:rPr lang="vi-VN" sz="1000" b="0" i="0" dirty="0">
                <a:solidFill>
                  <a:srgbClr val="002060"/>
                </a:solidFill>
                <a:effectLst/>
                <a:latin typeface="arial" panose="020B0604020202020204" pitchFamily="34" charset="0"/>
              </a:rPr>
              <a:t> là công cụ hữu ích vì nó giúp bạn suy nghĩ và lên kế hoạch cho mọi thứ cần thiết để sự thay đổi trong tổ chức thành công. Nó buộc bạn phải lên kế hoạch hỗ trợ và tạo ra sự thay đổi ở MỌI CẤP ĐỘ trong tổ chức.</a:t>
            </a:r>
            <a:endParaRPr lang="vi-VN" sz="1000" b="0" i="0" dirty="0">
              <a:solidFill>
                <a:srgbClr val="002060"/>
              </a:solidFill>
              <a:effectLst/>
              <a:latin typeface="Arial" panose="020B0604020202020204" pitchFamily="34" charset="0"/>
            </a:endParaRPr>
          </a:p>
          <a:p>
            <a:pPr marL="171450" indent="-171450" algn="just" fontAlgn="base">
              <a:lnSpc>
                <a:spcPct val="150000"/>
              </a:lnSpc>
              <a:buFont typeface="Wingdings" panose="05000000000000000000" pitchFamily="2" charset="2"/>
              <a:buChar char="§"/>
            </a:pPr>
            <a:r>
              <a:rPr lang="vi-VN" sz="1000" b="1" i="0" dirty="0">
                <a:solidFill>
                  <a:srgbClr val="002060"/>
                </a:solidFill>
                <a:effectLst/>
                <a:latin typeface="inherit"/>
              </a:rPr>
              <a:t>Ưu điểm: </a:t>
            </a:r>
            <a:r>
              <a:rPr lang="vi-VN" sz="1000" b="0" i="0" dirty="0">
                <a:solidFill>
                  <a:srgbClr val="002060"/>
                </a:solidFill>
                <a:effectLst/>
                <a:latin typeface="arial" panose="020B0604020202020204" pitchFamily="34" charset="0"/>
              </a:rPr>
              <a:t>Mô hình này nhấn mạnh sự cần thiết giáo dục nhân viên về sự thay đổi trước khi bắt đầu đào tạo. Đây là cách hiệu quả hơn nhiều để triển khai các nền tảng mới.</a:t>
            </a:r>
            <a:endParaRPr lang="vi-VN" sz="1000" b="0" i="0" dirty="0">
              <a:solidFill>
                <a:srgbClr val="002060"/>
              </a:solidFill>
              <a:effectLst/>
              <a:latin typeface="Arial" panose="020B0604020202020204" pitchFamily="34" charset="0"/>
            </a:endParaRPr>
          </a:p>
        </p:txBody>
      </p:sp>
    </p:spTree>
    <p:extLst>
      <p:ext uri="{BB962C8B-B14F-4D97-AF65-F5344CB8AC3E}">
        <p14:creationId xmlns:p14="http://schemas.microsoft.com/office/powerpoint/2010/main" val="2004947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5309D-29A1-4A79-5504-27A34EDF21B7}"/>
              </a:ext>
            </a:extLst>
          </p:cNvPr>
          <p:cNvSpPr>
            <a:spLocks noGrp="1"/>
          </p:cNvSpPr>
          <p:nvPr>
            <p:ph type="title"/>
          </p:nvPr>
        </p:nvSpPr>
        <p:spPr/>
        <p:txBody>
          <a:bodyPr/>
          <a:lstStyle/>
          <a:p>
            <a:r>
              <a:rPr lang="en-US" b="1" i="1" dirty="0">
                <a:solidFill>
                  <a:srgbClr val="0070C0"/>
                </a:solidFill>
                <a:effectLst/>
                <a:latin typeface="arial" panose="020B0604020202020204" pitchFamily="34" charset="0"/>
              </a:rPr>
              <a:t>8.Mô </a:t>
            </a:r>
            <a:r>
              <a:rPr lang="en-US" b="1" i="1" dirty="0" err="1">
                <a:solidFill>
                  <a:srgbClr val="0070C0"/>
                </a:solidFill>
                <a:effectLst/>
                <a:latin typeface="arial" panose="020B0604020202020204" pitchFamily="34" charset="0"/>
              </a:rPr>
              <a:t>hình</a:t>
            </a:r>
            <a:r>
              <a:rPr lang="en-US" b="1" i="1" dirty="0">
                <a:solidFill>
                  <a:srgbClr val="0070C0"/>
                </a:solidFill>
                <a:effectLst/>
                <a:latin typeface="arial" panose="020B0604020202020204" pitchFamily="34" charset="0"/>
              </a:rPr>
              <a:t> </a:t>
            </a:r>
            <a:r>
              <a:rPr lang="en-US" b="1" i="1" dirty="0" err="1">
                <a:solidFill>
                  <a:srgbClr val="0070C0"/>
                </a:solidFill>
                <a:effectLst/>
                <a:latin typeface="arial" panose="020B0604020202020204" pitchFamily="34" charset="0"/>
              </a:rPr>
              <a:t>quản</a:t>
            </a:r>
            <a:r>
              <a:rPr lang="en-US" b="1" i="1" dirty="0">
                <a:solidFill>
                  <a:srgbClr val="0070C0"/>
                </a:solidFill>
                <a:effectLst/>
                <a:latin typeface="arial" panose="020B0604020202020204" pitchFamily="34" charset="0"/>
              </a:rPr>
              <a:t> </a:t>
            </a:r>
            <a:r>
              <a:rPr lang="en-US" b="1" i="1" dirty="0" err="1">
                <a:solidFill>
                  <a:srgbClr val="0070C0"/>
                </a:solidFill>
                <a:effectLst/>
                <a:latin typeface="arial" panose="020B0604020202020204" pitchFamily="34" charset="0"/>
              </a:rPr>
              <a:t>lý</a:t>
            </a:r>
            <a:r>
              <a:rPr lang="en-US" b="1" i="1" dirty="0">
                <a:solidFill>
                  <a:srgbClr val="0070C0"/>
                </a:solidFill>
                <a:effectLst/>
                <a:latin typeface="arial" panose="020B0604020202020204" pitchFamily="34" charset="0"/>
              </a:rPr>
              <a:t> </a:t>
            </a:r>
            <a:r>
              <a:rPr lang="en-US" b="1" i="1" dirty="0" err="1">
                <a:solidFill>
                  <a:srgbClr val="0070C0"/>
                </a:solidFill>
                <a:effectLst/>
                <a:latin typeface="arial" panose="020B0604020202020204" pitchFamily="34" charset="0"/>
              </a:rPr>
              <a:t>sự</a:t>
            </a:r>
            <a:r>
              <a:rPr lang="en-US" b="1" i="1" dirty="0">
                <a:solidFill>
                  <a:srgbClr val="0070C0"/>
                </a:solidFill>
                <a:effectLst/>
                <a:latin typeface="arial" panose="020B0604020202020204" pitchFamily="34" charset="0"/>
              </a:rPr>
              <a:t> </a:t>
            </a:r>
            <a:r>
              <a:rPr lang="en-US" b="1" i="1" dirty="0" err="1">
                <a:solidFill>
                  <a:srgbClr val="0070C0"/>
                </a:solidFill>
                <a:effectLst/>
                <a:latin typeface="arial" panose="020B0604020202020204" pitchFamily="34" charset="0"/>
              </a:rPr>
              <a:t>thay</a:t>
            </a:r>
            <a:r>
              <a:rPr lang="en-US" b="1" i="1" dirty="0">
                <a:solidFill>
                  <a:srgbClr val="0070C0"/>
                </a:solidFill>
                <a:effectLst/>
                <a:latin typeface="arial" panose="020B0604020202020204" pitchFamily="34" charset="0"/>
              </a:rPr>
              <a:t> </a:t>
            </a:r>
            <a:r>
              <a:rPr lang="en-US" b="1" i="1" dirty="0" err="1">
                <a:solidFill>
                  <a:srgbClr val="0070C0"/>
                </a:solidFill>
                <a:effectLst/>
                <a:latin typeface="arial" panose="020B0604020202020204" pitchFamily="34" charset="0"/>
              </a:rPr>
              <a:t>đổi</a:t>
            </a:r>
            <a:r>
              <a:rPr lang="en-US" b="1" i="1" dirty="0">
                <a:solidFill>
                  <a:srgbClr val="0070C0"/>
                </a:solidFill>
                <a:effectLst/>
                <a:latin typeface="arial" panose="020B0604020202020204" pitchFamily="34" charset="0"/>
              </a:rPr>
              <a:t> Satir</a:t>
            </a:r>
            <a:endParaRPr lang="en-US" dirty="0">
              <a:solidFill>
                <a:srgbClr val="0070C0"/>
              </a:solidFill>
            </a:endParaRPr>
          </a:p>
        </p:txBody>
      </p:sp>
      <p:sp>
        <p:nvSpPr>
          <p:cNvPr id="3" name="Content Placeholder 2">
            <a:extLst>
              <a:ext uri="{FF2B5EF4-FFF2-40B4-BE49-F238E27FC236}">
                <a16:creationId xmlns:a16="http://schemas.microsoft.com/office/drawing/2014/main" id="{2AA1F6BE-AD12-F8E6-AFCA-F557B4F49066}"/>
              </a:ext>
            </a:extLst>
          </p:cNvPr>
          <p:cNvSpPr>
            <a:spLocks noGrp="1"/>
          </p:cNvSpPr>
          <p:nvPr>
            <p:ph idx="1"/>
          </p:nvPr>
        </p:nvSpPr>
        <p:spPr>
          <a:xfrm>
            <a:off x="640976" y="2022382"/>
            <a:ext cx="6692154" cy="3750888"/>
          </a:xfrm>
        </p:spPr>
        <p:txBody>
          <a:bodyPr>
            <a:normAutofit fontScale="92500" lnSpcReduction="20000"/>
          </a:bodyPr>
          <a:lstStyle/>
          <a:p>
            <a:pPr marL="0" indent="0" algn="just">
              <a:lnSpc>
                <a:spcPct val="100000"/>
              </a:lnSpc>
              <a:buNone/>
            </a:pPr>
            <a:r>
              <a:rPr lang="vi-VN" sz="1200" b="0" i="0" dirty="0">
                <a:solidFill>
                  <a:srgbClr val="002060"/>
                </a:solidFill>
                <a:effectLst/>
                <a:latin typeface="arial" panose="020B0604020202020204" pitchFamily="34" charset="0"/>
              </a:rPr>
              <a:t>Cũng giống như Đường cong thay đổi Kübler-Ross, </a:t>
            </a:r>
            <a:r>
              <a:rPr lang="vi-VN" sz="1200" b="0" i="0" u="none" strike="noStrike" dirty="0">
                <a:solidFill>
                  <a:srgbClr val="002060"/>
                </a:solidFill>
                <a:effectLst/>
                <a:latin typeface="arial" panose="020B0604020202020204" pitchFamily="34" charset="0"/>
              </a:rPr>
              <a:t>Mô hình Thay đổi Satir</a:t>
            </a:r>
            <a:r>
              <a:rPr lang="vi-VN" sz="1200" b="0" i="0" dirty="0">
                <a:solidFill>
                  <a:srgbClr val="002060"/>
                </a:solidFill>
                <a:effectLst/>
                <a:latin typeface="arial" panose="020B0604020202020204" pitchFamily="34" charset="0"/>
              </a:rPr>
              <a:t> dựa trên 5 giai đoạn của cảm xúc mất mát để mô tả hành vi của nhân viên trong quá trình thay đổi. 5 giai đoạn đó là:</a:t>
            </a:r>
            <a:endParaRPr lang="en-US" sz="1200" b="0" i="0" dirty="0">
              <a:solidFill>
                <a:srgbClr val="002060"/>
              </a:solidFill>
              <a:effectLst/>
              <a:latin typeface="arial" panose="020B0604020202020204" pitchFamily="34" charset="0"/>
            </a:endParaRPr>
          </a:p>
          <a:p>
            <a:pPr algn="just" fontAlgn="base">
              <a:lnSpc>
                <a:spcPct val="100000"/>
              </a:lnSpc>
              <a:buFont typeface="+mj-lt"/>
              <a:buAutoNum type="arabicPeriod"/>
            </a:pPr>
            <a:r>
              <a:rPr lang="vi-VN" sz="1200" b="1" i="0" dirty="0">
                <a:solidFill>
                  <a:srgbClr val="002060"/>
                </a:solidFill>
                <a:effectLst/>
                <a:latin typeface="arial" panose="020B0604020202020204" pitchFamily="34" charset="0"/>
              </a:rPr>
              <a:t>Giữ nguyên trạng thái cũ (Late status quo): </a:t>
            </a:r>
            <a:r>
              <a:rPr lang="vi-VN" sz="1200" b="0" i="0" dirty="0">
                <a:solidFill>
                  <a:srgbClr val="002060"/>
                </a:solidFill>
                <a:effectLst/>
                <a:latin typeface="arial" panose="020B0604020202020204" pitchFamily="34" charset="0"/>
              </a:rPr>
              <a:t>Nhân viên hiểu những gì được mong đợi nhưng có thể không đồng ý với các yêu cầu về năng suất.</a:t>
            </a:r>
            <a:endParaRPr lang="vi-VN" sz="1200" b="0" i="0" dirty="0">
              <a:solidFill>
                <a:srgbClr val="002060"/>
              </a:solidFill>
              <a:effectLst/>
              <a:latin typeface="Arial" panose="020B0604020202020204" pitchFamily="34" charset="0"/>
            </a:endParaRPr>
          </a:p>
          <a:p>
            <a:pPr algn="just" fontAlgn="base">
              <a:lnSpc>
                <a:spcPct val="100000"/>
              </a:lnSpc>
              <a:buFont typeface="+mj-lt"/>
              <a:buAutoNum type="arabicPeriod"/>
            </a:pPr>
            <a:r>
              <a:rPr lang="vi-VN" sz="1200" b="1" i="0" dirty="0">
                <a:solidFill>
                  <a:srgbClr val="002060"/>
                </a:solidFill>
                <a:effectLst/>
                <a:latin typeface="arial" panose="020B0604020202020204" pitchFamily="34" charset="0"/>
              </a:rPr>
              <a:t>Chống đối (Resistance): </a:t>
            </a:r>
            <a:r>
              <a:rPr lang="vi-VN" sz="1200" b="0" i="0" dirty="0">
                <a:solidFill>
                  <a:srgbClr val="002060"/>
                </a:solidFill>
                <a:effectLst/>
                <a:latin typeface="arial" panose="020B0604020202020204" pitchFamily="34" charset="0"/>
              </a:rPr>
              <a:t>Đây là giai đoạn đầu tiên sau khi bạn đưa ra thay đổi. Bạn có thể gặp phải sự chống đối dẫn đến giảm năng suất.</a:t>
            </a:r>
            <a:endParaRPr lang="vi-VN" sz="1200" b="0" i="0" dirty="0">
              <a:solidFill>
                <a:srgbClr val="002060"/>
              </a:solidFill>
              <a:effectLst/>
              <a:latin typeface="Arial" panose="020B0604020202020204" pitchFamily="34" charset="0"/>
            </a:endParaRPr>
          </a:p>
          <a:p>
            <a:pPr algn="just" fontAlgn="base">
              <a:lnSpc>
                <a:spcPct val="100000"/>
              </a:lnSpc>
              <a:buFont typeface="+mj-lt"/>
              <a:buAutoNum type="arabicPeriod"/>
            </a:pPr>
            <a:r>
              <a:rPr lang="vi-VN" sz="1200" b="1" i="0" dirty="0">
                <a:solidFill>
                  <a:srgbClr val="002060"/>
                </a:solidFill>
                <a:effectLst/>
                <a:latin typeface="arial" panose="020B0604020202020204" pitchFamily="34" charset="0"/>
              </a:rPr>
              <a:t>Hỗn độn (Chaos): </a:t>
            </a:r>
            <a:r>
              <a:rPr lang="vi-VN" sz="1200" b="0" i="0" dirty="0">
                <a:solidFill>
                  <a:srgbClr val="002060"/>
                </a:solidFill>
                <a:effectLst/>
                <a:latin typeface="arial" panose="020B0604020202020204" pitchFamily="34" charset="0"/>
              </a:rPr>
              <a:t>Đây là giai đoạn năng suất thấp nhất vì sự thay đổi bắt đầu ảnh hưởng lớn đến cảm xúc của nhân viên. Đây là lúc bạn cần cung cấp nhiều hỗ trợ nhất để thay đổi thành công.</a:t>
            </a:r>
            <a:endParaRPr lang="vi-VN" sz="1200" b="0" i="0" dirty="0">
              <a:solidFill>
                <a:srgbClr val="002060"/>
              </a:solidFill>
              <a:effectLst/>
              <a:latin typeface="Arial" panose="020B0604020202020204" pitchFamily="34" charset="0"/>
            </a:endParaRPr>
          </a:p>
          <a:p>
            <a:pPr algn="just" fontAlgn="base">
              <a:lnSpc>
                <a:spcPct val="100000"/>
              </a:lnSpc>
              <a:buFont typeface="+mj-lt"/>
              <a:buAutoNum type="arabicPeriod"/>
            </a:pPr>
            <a:r>
              <a:rPr lang="vi-VN" sz="1200" b="1" i="0" dirty="0">
                <a:solidFill>
                  <a:srgbClr val="002060"/>
                </a:solidFill>
                <a:effectLst/>
                <a:latin typeface="arial" panose="020B0604020202020204" pitchFamily="34" charset="0"/>
              </a:rPr>
              <a:t>Hội nhập (Integration): </a:t>
            </a:r>
            <a:r>
              <a:rPr lang="vi-VN" sz="1200" b="0" i="0" dirty="0">
                <a:solidFill>
                  <a:srgbClr val="002060"/>
                </a:solidFill>
                <a:effectLst/>
                <a:latin typeface="arial" panose="020B0604020202020204" pitchFamily="34" charset="0"/>
              </a:rPr>
              <a:t>Năng suất bắt đầu cải thiện trong giai đoạn này khi nhân viên bắt đầu nhìn thấy những giá trị tích cực của sự thay đổi.</a:t>
            </a:r>
            <a:endParaRPr lang="vi-VN" sz="1200" b="0" i="0" dirty="0">
              <a:solidFill>
                <a:srgbClr val="002060"/>
              </a:solidFill>
              <a:effectLst/>
              <a:latin typeface="Arial" panose="020B0604020202020204" pitchFamily="34" charset="0"/>
            </a:endParaRPr>
          </a:p>
          <a:p>
            <a:pPr algn="just" fontAlgn="base">
              <a:lnSpc>
                <a:spcPct val="100000"/>
              </a:lnSpc>
              <a:buFont typeface="+mj-lt"/>
              <a:buAutoNum type="arabicPeriod"/>
            </a:pPr>
            <a:r>
              <a:rPr lang="vi-VN" sz="1200" b="1" i="0" dirty="0">
                <a:solidFill>
                  <a:srgbClr val="002060"/>
                </a:solidFill>
                <a:effectLst/>
                <a:latin typeface="arial" panose="020B0604020202020204" pitchFamily="34" charset="0"/>
              </a:rPr>
              <a:t>Trạng thái bình thường mới (New status quo): </a:t>
            </a:r>
            <a:r>
              <a:rPr lang="vi-VN" sz="1200" b="0" i="0" dirty="0">
                <a:solidFill>
                  <a:srgbClr val="002060"/>
                </a:solidFill>
                <a:effectLst/>
                <a:latin typeface="arial" panose="020B0604020202020204" pitchFamily="34" charset="0"/>
              </a:rPr>
              <a:t>Đây là giai đoạn năng suất dự kiến sẽ ổn định trở lại (hy vọng ở mức cao hơn so với lúc bắt đầu) khi mọi người chấp nhận và tích hợp sự thay đổi vào công việc.</a:t>
            </a:r>
            <a:endParaRPr lang="vi-VN" sz="1200" b="0" i="0" dirty="0">
              <a:solidFill>
                <a:srgbClr val="002060"/>
              </a:solidFill>
              <a:effectLst/>
              <a:latin typeface="Arial" panose="020B0604020202020204" pitchFamily="34" charset="0"/>
            </a:endParaRPr>
          </a:p>
          <a:p>
            <a:pPr algn="just" fontAlgn="base">
              <a:lnSpc>
                <a:spcPct val="100000"/>
              </a:lnSpc>
            </a:pPr>
            <a:r>
              <a:rPr lang="vi-VN" sz="1200" b="1" i="0" dirty="0">
                <a:solidFill>
                  <a:srgbClr val="002060"/>
                </a:solidFill>
                <a:effectLst/>
                <a:latin typeface="arial" panose="020B0604020202020204" pitchFamily="34" charset="0"/>
              </a:rPr>
              <a:t>Tương tự như mô hình Kübler-Ross, </a:t>
            </a:r>
            <a:r>
              <a:rPr lang="vi-VN" sz="1200" b="0" i="0" u="none" strike="noStrike" dirty="0">
                <a:solidFill>
                  <a:srgbClr val="002060"/>
                </a:solidFill>
                <a:effectLst/>
                <a:latin typeface="arial" panose="020B0604020202020204" pitchFamily="34" charset="0"/>
              </a:rPr>
              <a:t>mô hình Satir</a:t>
            </a:r>
            <a:r>
              <a:rPr lang="vi-VN" sz="1200" b="0" i="0" dirty="0">
                <a:solidFill>
                  <a:srgbClr val="002060"/>
                </a:solidFill>
                <a:effectLst/>
                <a:latin typeface="arial" panose="020B0604020202020204" pitchFamily="34" charset="0"/>
              </a:rPr>
              <a:t> không hoàn toàn hữu ích trong việc lên kế hoạch và thực hiện thay đổi. Tuy nhiên, điểm mạnh của nó là dự đoán và ứng phó với tác động của sự thay đổi đến hiệu suất làm việc của nhóm.</a:t>
            </a:r>
            <a:endParaRPr lang="vi-VN" sz="1200" b="0" i="0" dirty="0">
              <a:solidFill>
                <a:srgbClr val="002060"/>
              </a:solidFill>
              <a:effectLst/>
              <a:latin typeface="Arial" panose="020B0604020202020204" pitchFamily="34" charset="0"/>
            </a:endParaRPr>
          </a:p>
          <a:p>
            <a:pPr algn="just" fontAlgn="base">
              <a:lnSpc>
                <a:spcPct val="100000"/>
              </a:lnSpc>
            </a:pPr>
            <a:r>
              <a:rPr lang="vi-VN" sz="1200" b="1" i="0" dirty="0">
                <a:solidFill>
                  <a:srgbClr val="002060"/>
                </a:solidFill>
                <a:effectLst/>
                <a:latin typeface="inherit"/>
              </a:rPr>
              <a:t>Ưu điểm: </a:t>
            </a:r>
            <a:r>
              <a:rPr lang="vi-VN" sz="1200" b="0" i="0" dirty="0">
                <a:solidFill>
                  <a:srgbClr val="002060"/>
                </a:solidFill>
                <a:effectLst/>
                <a:latin typeface="arial" panose="020B0604020202020204" pitchFamily="34" charset="0"/>
              </a:rPr>
              <a:t>Mô hình này có thể hữu ích cho các nhóm làm việc trong môi trường có hạn chế về thời gian. Việc dự đoán được giai đoạn năng suất giảm sút có thể giúp các quản lý dự án thiết lập khung thời gian linh hoạt hơn cho các dự án.</a:t>
            </a:r>
            <a:endParaRPr lang="vi-VN" sz="1200" b="0" i="0" dirty="0">
              <a:solidFill>
                <a:srgbClr val="002060"/>
              </a:solidFill>
              <a:effectLst/>
              <a:latin typeface="Arial" panose="020B0604020202020204" pitchFamily="34" charset="0"/>
            </a:endParaRPr>
          </a:p>
          <a:p>
            <a:pPr marL="0" indent="0" algn="just">
              <a:lnSpc>
                <a:spcPct val="100000"/>
              </a:lnSpc>
              <a:buNone/>
            </a:pPr>
            <a:endParaRPr lang="en-US" sz="1200" dirty="0">
              <a:solidFill>
                <a:srgbClr val="002060"/>
              </a:solidFill>
            </a:endParaRPr>
          </a:p>
        </p:txBody>
      </p:sp>
      <p:pic>
        <p:nvPicPr>
          <p:cNvPr id="8194" name="Picture 2" descr="Mô hình Quản lý Thay đổi Satir">
            <a:extLst>
              <a:ext uri="{FF2B5EF4-FFF2-40B4-BE49-F238E27FC236}">
                <a16:creationId xmlns:a16="http://schemas.microsoft.com/office/drawing/2014/main" id="{639E6BEC-B08D-8B0D-20B8-8B1D81DCC68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018" t="4426" r="10675" b="6715"/>
          <a:stretch/>
        </p:blipFill>
        <p:spPr bwMode="auto">
          <a:xfrm>
            <a:off x="7530352" y="2145600"/>
            <a:ext cx="4554070" cy="30928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4657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5FA83-90E2-7BF2-A2D3-F169A1D5C226}"/>
              </a:ext>
            </a:extLst>
          </p:cNvPr>
          <p:cNvSpPr>
            <a:spLocks noGrp="1"/>
          </p:cNvSpPr>
          <p:nvPr>
            <p:ph type="title"/>
          </p:nvPr>
        </p:nvSpPr>
        <p:spPr/>
        <p:txBody>
          <a:bodyPr/>
          <a:lstStyle/>
          <a:p>
            <a:r>
              <a:rPr lang="en-US" b="1" i="1" dirty="0">
                <a:solidFill>
                  <a:srgbClr val="0070C0"/>
                </a:solidFill>
                <a:latin typeface="arial" panose="020B0604020202020204" pitchFamily="34" charset="0"/>
              </a:rPr>
              <a:t>9.</a:t>
            </a:r>
            <a:r>
              <a:rPr lang="en-US" b="1" i="1" dirty="0">
                <a:solidFill>
                  <a:srgbClr val="0070C0"/>
                </a:solidFill>
                <a:effectLst/>
                <a:latin typeface="arial" panose="020B0604020202020204" pitchFamily="34" charset="0"/>
              </a:rPr>
              <a:t>Mô </a:t>
            </a:r>
            <a:r>
              <a:rPr lang="en-US" b="1" i="1" dirty="0" err="1">
                <a:solidFill>
                  <a:srgbClr val="0070C0"/>
                </a:solidFill>
                <a:effectLst/>
                <a:latin typeface="arial" panose="020B0604020202020204" pitchFamily="34" charset="0"/>
              </a:rPr>
              <a:t>hình</a:t>
            </a:r>
            <a:r>
              <a:rPr lang="en-US" b="1" i="1" dirty="0">
                <a:solidFill>
                  <a:srgbClr val="0070C0"/>
                </a:solidFill>
                <a:effectLst/>
                <a:latin typeface="arial" panose="020B0604020202020204" pitchFamily="34" charset="0"/>
              </a:rPr>
              <a:t> 3 </a:t>
            </a:r>
            <a:r>
              <a:rPr lang="en-US" b="1" i="1" dirty="0" err="1">
                <a:solidFill>
                  <a:srgbClr val="0070C0"/>
                </a:solidFill>
                <a:effectLst/>
                <a:latin typeface="arial" panose="020B0604020202020204" pitchFamily="34" charset="0"/>
              </a:rPr>
              <a:t>cấp</a:t>
            </a:r>
            <a:r>
              <a:rPr lang="en-US" b="1" i="1" dirty="0">
                <a:solidFill>
                  <a:srgbClr val="0070C0"/>
                </a:solidFill>
                <a:effectLst/>
                <a:latin typeface="arial" panose="020B0604020202020204" pitchFamily="34" charset="0"/>
              </a:rPr>
              <a:t> </a:t>
            </a:r>
            <a:r>
              <a:rPr lang="en-US" b="1" i="1" dirty="0" err="1">
                <a:solidFill>
                  <a:srgbClr val="0070C0"/>
                </a:solidFill>
                <a:effectLst/>
                <a:latin typeface="arial" panose="020B0604020202020204" pitchFamily="34" charset="0"/>
              </a:rPr>
              <a:t>độ</a:t>
            </a:r>
            <a:r>
              <a:rPr lang="en-US" b="1" i="1" dirty="0">
                <a:solidFill>
                  <a:srgbClr val="0070C0"/>
                </a:solidFill>
                <a:effectLst/>
                <a:latin typeface="arial" panose="020B0604020202020204" pitchFamily="34" charset="0"/>
              </a:rPr>
              <a:t> </a:t>
            </a:r>
            <a:r>
              <a:rPr lang="en-US" b="1" i="1" dirty="0" err="1">
                <a:solidFill>
                  <a:srgbClr val="0070C0"/>
                </a:solidFill>
                <a:effectLst/>
                <a:latin typeface="arial" panose="020B0604020202020204" pitchFamily="34" charset="0"/>
              </a:rPr>
              <a:t>của</a:t>
            </a:r>
            <a:r>
              <a:rPr lang="en-US" b="1" i="1" dirty="0">
                <a:solidFill>
                  <a:srgbClr val="0070C0"/>
                </a:solidFill>
                <a:effectLst/>
                <a:latin typeface="arial" panose="020B0604020202020204" pitchFamily="34" charset="0"/>
              </a:rPr>
              <a:t> Maurer</a:t>
            </a:r>
            <a:endParaRPr lang="en-US" dirty="0">
              <a:solidFill>
                <a:srgbClr val="0070C0"/>
              </a:solidFill>
            </a:endParaRPr>
          </a:p>
        </p:txBody>
      </p:sp>
      <p:sp>
        <p:nvSpPr>
          <p:cNvPr id="3" name="Content Placeholder 2">
            <a:extLst>
              <a:ext uri="{FF2B5EF4-FFF2-40B4-BE49-F238E27FC236}">
                <a16:creationId xmlns:a16="http://schemas.microsoft.com/office/drawing/2014/main" id="{C46D2F82-60C6-184B-8ADB-4D1E8C008289}"/>
              </a:ext>
            </a:extLst>
          </p:cNvPr>
          <p:cNvSpPr>
            <a:spLocks noGrp="1"/>
          </p:cNvSpPr>
          <p:nvPr>
            <p:ph idx="1"/>
          </p:nvPr>
        </p:nvSpPr>
        <p:spPr>
          <a:xfrm>
            <a:off x="739589" y="2408331"/>
            <a:ext cx="5562600" cy="2606416"/>
          </a:xfrm>
        </p:spPr>
        <p:txBody>
          <a:bodyPr>
            <a:normAutofit fontScale="92500" lnSpcReduction="10000"/>
          </a:bodyPr>
          <a:lstStyle/>
          <a:p>
            <a:pPr marL="0" indent="0" algn="just">
              <a:buNone/>
            </a:pPr>
            <a:r>
              <a:rPr lang="vi-VN" sz="1400" b="0" i="0" u="none" strike="noStrike" dirty="0">
                <a:solidFill>
                  <a:srgbClr val="002060"/>
                </a:solidFill>
                <a:effectLst/>
                <a:latin typeface="arial" panose="020B0604020202020204" pitchFamily="34" charset="0"/>
              </a:rPr>
              <a:t>Mô hình 3 Cấp độ Chống đối và Thay đổi của Maurer</a:t>
            </a:r>
            <a:r>
              <a:rPr lang="vi-VN" sz="1400" b="0" i="0" dirty="0">
                <a:solidFill>
                  <a:srgbClr val="002060"/>
                </a:solidFill>
                <a:effectLst/>
                <a:latin typeface="arial" panose="020B0604020202020204" pitchFamily="34" charset="0"/>
              </a:rPr>
              <a:t> (Maurer’s 3 levels of resistance and change model) tập trung vào ba trạng thái tư duy chính mà nhân viên có thể trải qua khi chống lại sự thay đổi:</a:t>
            </a:r>
            <a:endParaRPr lang="en-US" sz="1400" b="0" i="0" dirty="0">
              <a:solidFill>
                <a:srgbClr val="002060"/>
              </a:solidFill>
              <a:effectLst/>
              <a:latin typeface="arial" panose="020B0604020202020204" pitchFamily="34" charset="0"/>
            </a:endParaRPr>
          </a:p>
          <a:p>
            <a:pPr algn="just" fontAlgn="base">
              <a:buFont typeface="+mj-lt"/>
              <a:buAutoNum type="arabicPeriod"/>
            </a:pPr>
            <a:r>
              <a:rPr lang="vi-VN" sz="1400" b="1" i="0" dirty="0">
                <a:solidFill>
                  <a:srgbClr val="002060"/>
                </a:solidFill>
                <a:effectLst/>
                <a:latin typeface="inherit"/>
              </a:rPr>
              <a:t>Tôi không hiểu (I don’t get it):</a:t>
            </a:r>
            <a:r>
              <a:rPr lang="vi-VN" sz="1400" b="0" i="0" dirty="0">
                <a:solidFill>
                  <a:srgbClr val="002060"/>
                </a:solidFill>
                <a:effectLst/>
                <a:latin typeface="arial" panose="020B0604020202020204" pitchFamily="34" charset="0"/>
              </a:rPr>
              <a:t> Điều này có nghĩa là nhân viên không có đủ thông tin hoặc thông tin không chính xác để nắm được những thay đổi sắp tới và lý do của chúng.</a:t>
            </a:r>
            <a:endParaRPr lang="vi-VN" sz="1400" b="0" i="0" dirty="0">
              <a:solidFill>
                <a:srgbClr val="002060"/>
              </a:solidFill>
              <a:effectLst/>
              <a:latin typeface="Arial" panose="020B0604020202020204" pitchFamily="34" charset="0"/>
            </a:endParaRPr>
          </a:p>
          <a:p>
            <a:pPr algn="just" fontAlgn="base">
              <a:buFont typeface="+mj-lt"/>
              <a:buAutoNum type="arabicPeriod"/>
            </a:pPr>
            <a:r>
              <a:rPr lang="vi-VN" sz="1400" b="1" i="0" dirty="0">
                <a:solidFill>
                  <a:srgbClr val="002060"/>
                </a:solidFill>
                <a:effectLst/>
                <a:latin typeface="inherit"/>
              </a:rPr>
              <a:t>Tôi không thích điều đó (I don’t like it):</a:t>
            </a:r>
            <a:r>
              <a:rPr lang="vi-VN" sz="1400" b="0" i="0" dirty="0">
                <a:solidFill>
                  <a:srgbClr val="002060"/>
                </a:solidFill>
                <a:effectLst/>
                <a:latin typeface="arial" panose="020B0604020202020204" pitchFamily="34" charset="0"/>
              </a:rPr>
              <a:t> Đây là trạng thái cảm xúc lo lắng, khi nhân viên có thể trở nên phòng thủ và đóng cửa trước mọi thông tin về sự thay đổi.</a:t>
            </a:r>
            <a:endParaRPr lang="vi-VN" sz="1400" b="0" i="0" dirty="0">
              <a:solidFill>
                <a:srgbClr val="002060"/>
              </a:solidFill>
              <a:effectLst/>
              <a:latin typeface="Arial" panose="020B0604020202020204" pitchFamily="34" charset="0"/>
            </a:endParaRPr>
          </a:p>
          <a:p>
            <a:pPr algn="just" fontAlgn="base">
              <a:buFont typeface="+mj-lt"/>
              <a:buAutoNum type="arabicPeriod"/>
            </a:pPr>
            <a:r>
              <a:rPr lang="vi-VN" sz="1400" b="1" i="0" dirty="0">
                <a:solidFill>
                  <a:srgbClr val="002060"/>
                </a:solidFill>
                <a:effectLst/>
                <a:latin typeface="inherit"/>
              </a:rPr>
              <a:t>Tôi không thích bạn (I don’t like you):</a:t>
            </a:r>
            <a:r>
              <a:rPr lang="vi-VN" sz="1400" b="0" i="0" dirty="0">
                <a:solidFill>
                  <a:srgbClr val="002060"/>
                </a:solidFill>
                <a:effectLst/>
                <a:latin typeface="arial" panose="020B0604020202020204" pitchFamily="34" charset="0"/>
              </a:rPr>
              <a:t> Nhân viên có thể không thích hoặc không tin tưởng người hoặc những người đang cố gắng thực hiện thay đổi, ngay cả khi họ thấy sự thay đổi đó là tích cực.</a:t>
            </a:r>
            <a:endParaRPr lang="vi-VN" sz="1400" b="0" i="0" dirty="0">
              <a:solidFill>
                <a:srgbClr val="002060"/>
              </a:solidFill>
              <a:effectLst/>
              <a:latin typeface="Arial" panose="020B0604020202020204" pitchFamily="34" charset="0"/>
            </a:endParaRPr>
          </a:p>
          <a:p>
            <a:pPr algn="just"/>
            <a:endParaRPr lang="en-US" sz="1400" dirty="0">
              <a:solidFill>
                <a:srgbClr val="002060"/>
              </a:solidFill>
            </a:endParaRPr>
          </a:p>
        </p:txBody>
      </p:sp>
      <p:pic>
        <p:nvPicPr>
          <p:cNvPr id="9218" name="Picture 2" descr="mô hình maurer">
            <a:extLst>
              <a:ext uri="{FF2B5EF4-FFF2-40B4-BE49-F238E27FC236}">
                <a16:creationId xmlns:a16="http://schemas.microsoft.com/office/drawing/2014/main" id="{16778D2A-39FC-1616-4E18-F18FB1439C0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63" t="14956" b="197"/>
          <a:stretch/>
        </p:blipFill>
        <p:spPr bwMode="auto">
          <a:xfrm>
            <a:off x="7310717" y="2298011"/>
            <a:ext cx="4043083" cy="2827056"/>
          </a:xfrm>
          <a:prstGeom prst="rect">
            <a:avLst/>
          </a:prstGeom>
          <a:noFill/>
          <a:effectLst>
            <a:glow rad="228600">
              <a:schemeClr val="accent2">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8912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1B172-DF83-F21D-1D0F-F3E70E1DE3F3}"/>
              </a:ext>
            </a:extLst>
          </p:cNvPr>
          <p:cNvSpPr>
            <a:spLocks noGrp="1"/>
          </p:cNvSpPr>
          <p:nvPr>
            <p:ph type="title"/>
          </p:nvPr>
        </p:nvSpPr>
        <p:spPr/>
        <p:txBody>
          <a:bodyPr/>
          <a:lstStyle/>
          <a:p>
            <a:r>
              <a:rPr lang="en-US" b="1" i="1" dirty="0">
                <a:solidFill>
                  <a:srgbClr val="0070C0"/>
                </a:solidFill>
                <a:effectLst/>
                <a:latin typeface="arial" panose="020B0604020202020204" pitchFamily="34" charset="0"/>
              </a:rPr>
              <a:t>10.Mô </a:t>
            </a:r>
            <a:r>
              <a:rPr lang="en-US" b="1" i="1" dirty="0" err="1">
                <a:solidFill>
                  <a:srgbClr val="0070C0"/>
                </a:solidFill>
                <a:effectLst/>
                <a:latin typeface="arial" panose="020B0604020202020204" pitchFamily="34" charset="0"/>
              </a:rPr>
              <a:t>hình</a:t>
            </a:r>
            <a:r>
              <a:rPr lang="en-US" b="1" i="1" dirty="0">
                <a:solidFill>
                  <a:srgbClr val="0070C0"/>
                </a:solidFill>
                <a:effectLst/>
                <a:latin typeface="arial" panose="020B0604020202020204" pitchFamily="34" charset="0"/>
              </a:rPr>
              <a:t> </a:t>
            </a:r>
            <a:r>
              <a:rPr lang="en-US" b="1" i="1" dirty="0" err="1">
                <a:solidFill>
                  <a:srgbClr val="0070C0"/>
                </a:solidFill>
                <a:effectLst/>
                <a:latin typeface="arial" panose="020B0604020202020204" pitchFamily="34" charset="0"/>
              </a:rPr>
              <a:t>chuyển</a:t>
            </a:r>
            <a:r>
              <a:rPr lang="en-US" b="1" i="1" dirty="0">
                <a:solidFill>
                  <a:srgbClr val="0070C0"/>
                </a:solidFill>
                <a:effectLst/>
                <a:latin typeface="arial" panose="020B0604020202020204" pitchFamily="34" charset="0"/>
              </a:rPr>
              <a:t> </a:t>
            </a:r>
            <a:r>
              <a:rPr lang="en-US" b="1" i="1" dirty="0" err="1">
                <a:solidFill>
                  <a:srgbClr val="0070C0"/>
                </a:solidFill>
                <a:effectLst/>
                <a:latin typeface="arial" panose="020B0604020202020204" pitchFamily="34" charset="0"/>
              </a:rPr>
              <a:t>đổi</a:t>
            </a:r>
            <a:r>
              <a:rPr lang="en-US" b="1" i="1" dirty="0">
                <a:solidFill>
                  <a:srgbClr val="0070C0"/>
                </a:solidFill>
                <a:effectLst/>
                <a:latin typeface="arial" panose="020B0604020202020204" pitchFamily="34" charset="0"/>
              </a:rPr>
              <a:t> </a:t>
            </a:r>
            <a:r>
              <a:rPr lang="en-US" b="1" i="1" dirty="0" err="1">
                <a:solidFill>
                  <a:srgbClr val="0070C0"/>
                </a:solidFill>
                <a:effectLst/>
                <a:latin typeface="arial" panose="020B0604020202020204" pitchFamily="34" charset="0"/>
              </a:rPr>
              <a:t>của</a:t>
            </a:r>
            <a:r>
              <a:rPr lang="en-US" b="1" i="1" dirty="0">
                <a:solidFill>
                  <a:srgbClr val="0070C0"/>
                </a:solidFill>
                <a:effectLst/>
                <a:latin typeface="arial" panose="020B0604020202020204" pitchFamily="34" charset="0"/>
              </a:rPr>
              <a:t> Bridges</a:t>
            </a:r>
            <a:endParaRPr lang="en-US" dirty="0">
              <a:solidFill>
                <a:srgbClr val="0070C0"/>
              </a:solidFill>
            </a:endParaRPr>
          </a:p>
        </p:txBody>
      </p:sp>
      <p:sp>
        <p:nvSpPr>
          <p:cNvPr id="3" name="Content Placeholder 2">
            <a:extLst>
              <a:ext uri="{FF2B5EF4-FFF2-40B4-BE49-F238E27FC236}">
                <a16:creationId xmlns:a16="http://schemas.microsoft.com/office/drawing/2014/main" id="{ECA87757-2B1E-4A15-D58A-AE86A2B8D372}"/>
              </a:ext>
            </a:extLst>
          </p:cNvPr>
          <p:cNvSpPr>
            <a:spLocks noGrp="1"/>
          </p:cNvSpPr>
          <p:nvPr>
            <p:ph idx="1"/>
          </p:nvPr>
        </p:nvSpPr>
        <p:spPr>
          <a:xfrm>
            <a:off x="237564" y="1797633"/>
            <a:ext cx="7131424" cy="4351338"/>
          </a:xfrm>
        </p:spPr>
        <p:txBody>
          <a:bodyPr>
            <a:normAutofit/>
          </a:bodyPr>
          <a:lstStyle/>
          <a:p>
            <a:pPr marL="0" indent="0" algn="just" fontAlgn="base">
              <a:lnSpc>
                <a:spcPct val="100000"/>
              </a:lnSpc>
              <a:buNone/>
            </a:pPr>
            <a:r>
              <a:rPr lang="vi-VN" sz="1200" b="0" i="0" u="none" strike="noStrike" dirty="0">
                <a:solidFill>
                  <a:srgbClr val="002060"/>
                </a:solidFill>
                <a:effectLst/>
                <a:latin typeface="arial" panose="020B0604020202020204" pitchFamily="34" charset="0"/>
              </a:rPr>
              <a:t>Mô hình Chuyển giao của Bridges</a:t>
            </a:r>
            <a:r>
              <a:rPr lang="vi-VN" sz="1200" b="0" i="0" dirty="0">
                <a:solidFill>
                  <a:srgbClr val="002060"/>
                </a:solidFill>
                <a:effectLst/>
                <a:latin typeface="arial" panose="020B0604020202020204" pitchFamily="34" charset="0"/>
              </a:rPr>
              <a:t>, do William Bridges phát triển, tập trung vào quá trình </a:t>
            </a:r>
            <a:r>
              <a:rPr lang="vi-VN" sz="1200" b="1" i="0" dirty="0">
                <a:solidFill>
                  <a:srgbClr val="002060"/>
                </a:solidFill>
                <a:effectLst/>
                <a:latin typeface="inherit"/>
              </a:rPr>
              <a:t>CHUYỂN ĐỔI</a:t>
            </a:r>
            <a:r>
              <a:rPr lang="vi-VN" sz="1200" b="0" i="0" dirty="0">
                <a:solidFill>
                  <a:srgbClr val="002060"/>
                </a:solidFill>
                <a:effectLst/>
                <a:latin typeface="arial" panose="020B0604020202020204" pitchFamily="34" charset="0"/>
              </a:rPr>
              <a:t> chứ không chỉ đơn thuần là </a:t>
            </a:r>
            <a:r>
              <a:rPr lang="vi-VN" sz="1200" b="1" i="0" dirty="0">
                <a:solidFill>
                  <a:srgbClr val="002060"/>
                </a:solidFill>
                <a:effectLst/>
                <a:latin typeface="inherit"/>
              </a:rPr>
              <a:t>SỰ THAY ĐỔI.</a:t>
            </a:r>
            <a:r>
              <a:rPr lang="vi-VN" sz="1200" b="0" i="0" dirty="0">
                <a:solidFill>
                  <a:srgbClr val="002060"/>
                </a:solidFill>
                <a:effectLst/>
                <a:latin typeface="arial" panose="020B0604020202020204" pitchFamily="34" charset="0"/>
              </a:rPr>
              <a:t> Bridges cho rằng sự thay đổi thường đến đột ngột và mọi người không thể kiểm soát nó. Trong khi đó, chuyển đổi là một hành trình, một quá trình diễn ra chậm hơn mà mọi người cần trải qua.</a:t>
            </a:r>
            <a:endParaRPr lang="vi-VN" sz="1200" b="0" i="0" dirty="0">
              <a:solidFill>
                <a:srgbClr val="002060"/>
              </a:solidFill>
              <a:effectLst/>
              <a:latin typeface="Arial" panose="020B0604020202020204" pitchFamily="34" charset="0"/>
            </a:endParaRPr>
          </a:p>
          <a:p>
            <a:pPr marL="0" indent="0" algn="just" fontAlgn="base">
              <a:lnSpc>
                <a:spcPct val="100000"/>
              </a:lnSpc>
              <a:buNone/>
            </a:pPr>
            <a:r>
              <a:rPr lang="vi-VN" sz="1200" b="1" i="0" dirty="0">
                <a:solidFill>
                  <a:srgbClr val="002060"/>
                </a:solidFill>
                <a:effectLst/>
                <a:latin typeface="arial" panose="020B0604020202020204" pitchFamily="34" charset="0"/>
              </a:rPr>
              <a:t>Mô hình này đề xuất 3 giai đoạn mà nhân viên trải qua trong quá trình chuyển đổi:</a:t>
            </a:r>
            <a:endParaRPr lang="vi-VN" sz="1200" b="1" i="0" dirty="0">
              <a:solidFill>
                <a:srgbClr val="002060"/>
              </a:solidFill>
              <a:effectLst/>
              <a:latin typeface="Arial" panose="020B0604020202020204" pitchFamily="34" charset="0"/>
            </a:endParaRPr>
          </a:p>
          <a:p>
            <a:pPr algn="just" fontAlgn="base">
              <a:lnSpc>
                <a:spcPct val="100000"/>
              </a:lnSpc>
              <a:buFont typeface="+mj-lt"/>
              <a:buAutoNum type="arabicPeriod"/>
            </a:pPr>
            <a:r>
              <a:rPr lang="vi-VN" sz="1200" b="1" i="0" dirty="0">
                <a:solidFill>
                  <a:srgbClr val="002060"/>
                </a:solidFill>
                <a:effectLst/>
                <a:latin typeface="inherit"/>
              </a:rPr>
              <a:t>Kết thúc (Endings):</a:t>
            </a:r>
            <a:r>
              <a:rPr lang="vi-VN" sz="1200" b="0" i="0" dirty="0">
                <a:solidFill>
                  <a:srgbClr val="002060"/>
                </a:solidFill>
                <a:effectLst/>
                <a:latin typeface="arial" panose="020B0604020202020204" pitchFamily="34" charset="0"/>
              </a:rPr>
              <a:t> Đây là giai đoạn nhân viên nhận thức được những gì họ sẽ mất mát – ví dụ như đồng nghiệp cũ, phần mềm quen thuộc, hoặc vị trí làm việc.</a:t>
            </a:r>
            <a:endParaRPr lang="vi-VN" sz="1200" b="0" i="0" dirty="0">
              <a:solidFill>
                <a:srgbClr val="002060"/>
              </a:solidFill>
              <a:effectLst/>
              <a:latin typeface="Arial" panose="020B0604020202020204" pitchFamily="34" charset="0"/>
            </a:endParaRPr>
          </a:p>
          <a:p>
            <a:pPr algn="just" fontAlgn="base">
              <a:lnSpc>
                <a:spcPct val="100000"/>
              </a:lnSpc>
              <a:buFont typeface="+mj-lt"/>
              <a:buAutoNum type="arabicPeriod"/>
            </a:pPr>
            <a:r>
              <a:rPr lang="vi-VN" sz="1200" b="1" i="0" dirty="0">
                <a:solidFill>
                  <a:srgbClr val="002060"/>
                </a:solidFill>
                <a:effectLst/>
                <a:latin typeface="inherit"/>
              </a:rPr>
              <a:t>Vùng trung gian (Neutral zone):</a:t>
            </a:r>
            <a:r>
              <a:rPr lang="vi-VN" sz="1200" b="0" i="0" dirty="0">
                <a:solidFill>
                  <a:srgbClr val="002060"/>
                </a:solidFill>
                <a:effectLst/>
                <a:latin typeface="arial" panose="020B0604020202020204" pitchFamily="34" charset="0"/>
              </a:rPr>
              <a:t> Đây là khoảng thời gian chuyển đổi giữa cái cũ và cái mới. Nhân viên có thể cảm thấy lo lắng về trách nhiệm hoặc phương pháp mới.</a:t>
            </a:r>
            <a:endParaRPr lang="vi-VN" sz="1200" b="0" i="0" dirty="0">
              <a:solidFill>
                <a:srgbClr val="002060"/>
              </a:solidFill>
              <a:effectLst/>
              <a:latin typeface="Arial" panose="020B0604020202020204" pitchFamily="34" charset="0"/>
            </a:endParaRPr>
          </a:p>
          <a:p>
            <a:pPr algn="just" fontAlgn="base">
              <a:lnSpc>
                <a:spcPct val="100000"/>
              </a:lnSpc>
              <a:buFont typeface="+mj-lt"/>
              <a:buAutoNum type="arabicPeriod"/>
            </a:pPr>
            <a:r>
              <a:rPr lang="vi-VN" sz="1200" b="1" i="0" dirty="0">
                <a:solidFill>
                  <a:srgbClr val="002060"/>
                </a:solidFill>
                <a:effectLst/>
                <a:latin typeface="inherit"/>
              </a:rPr>
              <a:t>Bắt đầu mới (New beginnings):</a:t>
            </a:r>
            <a:r>
              <a:rPr lang="vi-VN" sz="1200" b="0" i="0" dirty="0">
                <a:solidFill>
                  <a:srgbClr val="002060"/>
                </a:solidFill>
                <a:effectLst/>
                <a:latin typeface="arial" panose="020B0604020202020204" pitchFamily="34" charset="0"/>
              </a:rPr>
              <a:t> Đây là giai đoạn sự thay đổi được chấp nhận như một chuẩn mực mới. Mục tiêu là duy trì đà tiến triển tích cực.</a:t>
            </a:r>
            <a:endParaRPr lang="vi-VN" sz="1200" b="0" i="0" dirty="0">
              <a:solidFill>
                <a:srgbClr val="002060"/>
              </a:solidFill>
              <a:effectLst/>
              <a:latin typeface="Arial" panose="020B0604020202020204" pitchFamily="34" charset="0"/>
            </a:endParaRPr>
          </a:p>
          <a:p>
            <a:pPr algn="just" fontAlgn="base">
              <a:lnSpc>
                <a:spcPct val="100000"/>
              </a:lnSpc>
            </a:pPr>
            <a:r>
              <a:rPr lang="vi-VN" sz="1200" b="0" i="0" u="none" strike="noStrike" dirty="0">
                <a:solidFill>
                  <a:srgbClr val="002060"/>
                </a:solidFill>
                <a:effectLst/>
                <a:latin typeface="arial" panose="020B0604020202020204" pitchFamily="34" charset="0"/>
              </a:rPr>
              <a:t>Mô hình quản lý sự thay đổi chuyển giao của Bridges</a:t>
            </a:r>
            <a:r>
              <a:rPr lang="vi-VN" sz="1200" b="0" i="0" dirty="0">
                <a:solidFill>
                  <a:srgbClr val="002060"/>
                </a:solidFill>
                <a:effectLst/>
                <a:latin typeface="arial" panose="020B0604020202020204" pitchFamily="34" charset="0"/>
              </a:rPr>
              <a:t> có điểm tương đồng với mô hình Satir hay Đường cong thay đổi Kübler-Ross ở chỗ nó tập trung vào việc quản lý cảm xúc của nhân viên trong quá trình thay đổi tổ chức. Tuy nhiên, hạn chế của mô hình này là nó không cung cấp một bộ khung cụ thể để triển khai thay đổi.</a:t>
            </a:r>
            <a:endParaRPr lang="vi-VN" sz="1200" b="0" i="0" dirty="0">
              <a:solidFill>
                <a:srgbClr val="002060"/>
              </a:solidFill>
              <a:effectLst/>
              <a:latin typeface="Arial" panose="020B0604020202020204" pitchFamily="34" charset="0"/>
            </a:endParaRPr>
          </a:p>
          <a:p>
            <a:pPr algn="just" fontAlgn="base">
              <a:lnSpc>
                <a:spcPct val="100000"/>
              </a:lnSpc>
            </a:pPr>
            <a:r>
              <a:rPr lang="vi-VN" sz="1200" b="1" i="0" dirty="0">
                <a:solidFill>
                  <a:srgbClr val="002060"/>
                </a:solidFill>
                <a:effectLst/>
                <a:latin typeface="inherit"/>
              </a:rPr>
              <a:t>Ưu điểm:</a:t>
            </a:r>
            <a:r>
              <a:rPr lang="vi-VN" sz="1200" b="0" i="0" dirty="0">
                <a:solidFill>
                  <a:srgbClr val="002060"/>
                </a:solidFill>
                <a:effectLst/>
                <a:latin typeface="arial" panose="020B0604020202020204" pitchFamily="34" charset="0"/>
              </a:rPr>
              <a:t> Điểm hay của mô hình này là việc đề cập đến cảm giác mất mát. Cho phép nhân viên có thời gian để trải qua những cảm xúc này có thể giúp cho việc triển khai thay đổi suôn sẻ hơn.</a:t>
            </a:r>
            <a:endParaRPr lang="vi-VN" sz="1200" b="0" i="0" dirty="0">
              <a:solidFill>
                <a:srgbClr val="002060"/>
              </a:solidFill>
              <a:effectLst/>
              <a:latin typeface="Arial" panose="020B0604020202020204" pitchFamily="34" charset="0"/>
            </a:endParaRPr>
          </a:p>
          <a:p>
            <a:pPr marL="0" indent="0" algn="just">
              <a:lnSpc>
                <a:spcPct val="100000"/>
              </a:lnSpc>
              <a:buNone/>
            </a:pPr>
            <a:endParaRPr lang="en-US" sz="1200" dirty="0">
              <a:solidFill>
                <a:srgbClr val="002060"/>
              </a:solidFill>
            </a:endParaRPr>
          </a:p>
        </p:txBody>
      </p:sp>
      <p:pic>
        <p:nvPicPr>
          <p:cNvPr id="5" name="Picture 4">
            <a:extLst>
              <a:ext uri="{FF2B5EF4-FFF2-40B4-BE49-F238E27FC236}">
                <a16:creationId xmlns:a16="http://schemas.microsoft.com/office/drawing/2014/main" id="{5B24E30B-2A36-C033-5113-78CBCDBB7831}"/>
              </a:ext>
            </a:extLst>
          </p:cNvPr>
          <p:cNvPicPr>
            <a:picLocks noChangeAspect="1"/>
          </p:cNvPicPr>
          <p:nvPr/>
        </p:nvPicPr>
        <p:blipFill rotWithShape="1">
          <a:blip r:embed="rId2"/>
          <a:srcRect l="13647" r="6824"/>
          <a:stretch/>
        </p:blipFill>
        <p:spPr>
          <a:xfrm>
            <a:off x="7368988" y="1422691"/>
            <a:ext cx="5105937" cy="4012617"/>
          </a:xfrm>
          <a:prstGeom prst="rect">
            <a:avLst/>
          </a:prstGeom>
          <a:effectLst>
            <a:glow rad="101600">
              <a:schemeClr val="accent4">
                <a:satMod val="175000"/>
                <a:alpha val="40000"/>
              </a:schemeClr>
            </a:glow>
          </a:effectLst>
          <a:scene3d>
            <a:camera prst="isometricOffAxis1Right"/>
            <a:lightRig rig="threePt" dir="t"/>
          </a:scene3d>
        </p:spPr>
      </p:pic>
    </p:spTree>
    <p:extLst>
      <p:ext uri="{BB962C8B-B14F-4D97-AF65-F5344CB8AC3E}">
        <p14:creationId xmlns:p14="http://schemas.microsoft.com/office/powerpoint/2010/main" val="634831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randombar(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randombar(horizont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389A9-BACD-D582-7171-60A2B393C92E}"/>
              </a:ext>
            </a:extLst>
          </p:cNvPr>
          <p:cNvSpPr>
            <a:spLocks noGrp="1"/>
          </p:cNvSpPr>
          <p:nvPr>
            <p:ph type="title"/>
          </p:nvPr>
        </p:nvSpPr>
        <p:spPr>
          <a:xfrm>
            <a:off x="838200" y="341754"/>
            <a:ext cx="10515600" cy="1325563"/>
          </a:xfrm>
        </p:spPr>
        <p:txBody>
          <a:bodyPr/>
          <a:lstStyle/>
          <a:p>
            <a:r>
              <a:rPr lang="en-US" b="1" dirty="0">
                <a:solidFill>
                  <a:srgbClr val="00B050"/>
                </a:solidFill>
              </a:rPr>
              <a:t>THANKS!</a:t>
            </a:r>
          </a:p>
        </p:txBody>
      </p:sp>
      <p:sp>
        <p:nvSpPr>
          <p:cNvPr id="3" name="Content Placeholder 2">
            <a:extLst>
              <a:ext uri="{FF2B5EF4-FFF2-40B4-BE49-F238E27FC236}">
                <a16:creationId xmlns:a16="http://schemas.microsoft.com/office/drawing/2014/main" id="{A201FEB2-E3F4-329B-60BD-447015B5FB70}"/>
              </a:ext>
            </a:extLst>
          </p:cNvPr>
          <p:cNvSpPr>
            <a:spLocks noGrp="1"/>
          </p:cNvSpPr>
          <p:nvPr>
            <p:ph idx="1"/>
          </p:nvPr>
        </p:nvSpPr>
        <p:spPr/>
        <p:txBody>
          <a:bodyPr/>
          <a:lstStyle/>
          <a:p>
            <a:endParaRPr lang="en-US"/>
          </a:p>
        </p:txBody>
      </p:sp>
      <p:grpSp>
        <p:nvGrpSpPr>
          <p:cNvPr id="5" name="Group 4">
            <a:extLst>
              <a:ext uri="{FF2B5EF4-FFF2-40B4-BE49-F238E27FC236}">
                <a16:creationId xmlns:a16="http://schemas.microsoft.com/office/drawing/2014/main" id="{7A5AFF8A-B61A-DF47-C528-6575C5A204D7}"/>
              </a:ext>
            </a:extLst>
          </p:cNvPr>
          <p:cNvGrpSpPr/>
          <p:nvPr/>
        </p:nvGrpSpPr>
        <p:grpSpPr>
          <a:xfrm>
            <a:off x="3393701" y="2142241"/>
            <a:ext cx="6793706" cy="3523775"/>
            <a:chOff x="2676525" y="1846406"/>
            <a:chExt cx="6793706" cy="3523775"/>
          </a:xfrm>
        </p:grpSpPr>
        <p:sp>
          <p:nvSpPr>
            <p:cNvPr id="6" name="Frame 5">
              <a:extLst>
                <a:ext uri="{FF2B5EF4-FFF2-40B4-BE49-F238E27FC236}">
                  <a16:creationId xmlns:a16="http://schemas.microsoft.com/office/drawing/2014/main" id="{70851D3B-CA36-04D8-A218-2023E2DFFE2D}"/>
                </a:ext>
              </a:extLst>
            </p:cNvPr>
            <p:cNvSpPr/>
            <p:nvPr/>
          </p:nvSpPr>
          <p:spPr>
            <a:xfrm>
              <a:off x="2846546" y="2223450"/>
              <a:ext cx="4421981" cy="3146731"/>
            </a:xfrm>
            <a:prstGeom prst="frame">
              <a:avLst>
                <a:gd name="adj1" fmla="val 5450"/>
              </a:avLst>
            </a:prstGeom>
          </p:spPr>
          <p:style>
            <a:lnRef idx="0">
              <a:schemeClr val="accent2">
                <a:hueOff val="0"/>
                <a:satOff val="0"/>
                <a:lumOff val="0"/>
                <a:alphaOff val="0"/>
              </a:schemeClr>
            </a:lnRef>
            <a:fillRef idx="1">
              <a:schemeClr val="accent2">
                <a:tint val="50000"/>
                <a:alpha val="40000"/>
                <a:hueOff val="0"/>
                <a:satOff val="0"/>
                <a:lumOff val="0"/>
                <a:alphaOff val="0"/>
              </a:schemeClr>
            </a:fillRef>
            <a:effectRef idx="0">
              <a:schemeClr val="accent2">
                <a:tint val="50000"/>
                <a:alpha val="40000"/>
                <a:hueOff val="0"/>
                <a:satOff val="0"/>
                <a:lumOff val="0"/>
                <a:alphaOff val="0"/>
              </a:schemeClr>
            </a:effectRef>
            <a:fontRef idx="minor">
              <a:schemeClr val="lt1">
                <a:hueOff val="0"/>
                <a:satOff val="0"/>
                <a:lumOff val="0"/>
                <a:alphaOff val="0"/>
              </a:schemeClr>
            </a:fontRef>
          </p:style>
        </p:sp>
        <p:sp>
          <p:nvSpPr>
            <p:cNvPr id="7" name="Rectangle 6" descr="Từ buổi phỏng vấn chưa từng lên sóng của Jack &amp; K-ICM: Trên đời này, thứ  duy nhất không bao giờ thay đổi chính là sự thay đổi!">
              <a:extLst>
                <a:ext uri="{FF2B5EF4-FFF2-40B4-BE49-F238E27FC236}">
                  <a16:creationId xmlns:a16="http://schemas.microsoft.com/office/drawing/2014/main" id="{6B130AF1-0058-A470-9766-25C882492A24}"/>
                </a:ext>
              </a:extLst>
            </p:cNvPr>
            <p:cNvSpPr/>
            <p:nvPr/>
          </p:nvSpPr>
          <p:spPr>
            <a:xfrm>
              <a:off x="2676525" y="1846406"/>
              <a:ext cx="4251960" cy="2976533"/>
            </a:xfrm>
            <a:prstGeom prst="rect">
              <a:avLst/>
            </a:prstGeom>
            <a:blipFill>
              <a:blip r:embed="rId2">
                <a:extLst>
                  <a:ext uri="{28A0092B-C50C-407E-A947-70E740481C1C}">
                    <a14:useLocalDpi xmlns:a14="http://schemas.microsoft.com/office/drawing/2010/main" val="0"/>
                  </a:ext>
                </a:extLst>
              </a:blip>
              <a:srcRect/>
              <a:stretch>
                <a:fillRect l="-8000" r="-8000"/>
              </a:stretch>
            </a:blipFill>
          </p:spPr>
          <p:style>
            <a:lnRef idx="2">
              <a:schemeClr val="lt1">
                <a:hueOff val="0"/>
                <a:satOff val="0"/>
                <a:lumOff val="0"/>
                <a:alphaOff val="0"/>
              </a:schemeClr>
            </a:lnRef>
            <a:fillRef idx="1">
              <a:scrgbClr r="0" g="0" b="0"/>
            </a:fillRef>
            <a:effectRef idx="0">
              <a:schemeClr val="accent2">
                <a:tint val="50000"/>
                <a:hueOff val="0"/>
                <a:satOff val="0"/>
                <a:lumOff val="0"/>
                <a:alphaOff val="0"/>
              </a:schemeClr>
            </a:effectRef>
            <a:fontRef idx="minor">
              <a:schemeClr val="lt1">
                <a:hueOff val="0"/>
                <a:satOff val="0"/>
                <a:lumOff val="0"/>
                <a:alphaOff val="0"/>
              </a:schemeClr>
            </a:fontRef>
          </p:style>
        </p:sp>
        <p:sp>
          <p:nvSpPr>
            <p:cNvPr id="8" name="Freeform: Shape 7">
              <a:extLst>
                <a:ext uri="{FF2B5EF4-FFF2-40B4-BE49-F238E27FC236}">
                  <a16:creationId xmlns:a16="http://schemas.microsoft.com/office/drawing/2014/main" id="{083CE9DD-B891-47A0-1E47-6048644C8B73}"/>
                </a:ext>
              </a:extLst>
            </p:cNvPr>
            <p:cNvSpPr/>
            <p:nvPr/>
          </p:nvSpPr>
          <p:spPr>
            <a:xfrm>
              <a:off x="3019425" y="4823997"/>
              <a:ext cx="4079081" cy="373520"/>
            </a:xfrm>
            <a:custGeom>
              <a:avLst/>
              <a:gdLst>
                <a:gd name="connsiteX0" fmla="*/ 0 w 4079081"/>
                <a:gd name="connsiteY0" fmla="*/ 0 h 373520"/>
                <a:gd name="connsiteX1" fmla="*/ 4079081 w 4079081"/>
                <a:gd name="connsiteY1" fmla="*/ 0 h 373520"/>
                <a:gd name="connsiteX2" fmla="*/ 4079081 w 4079081"/>
                <a:gd name="connsiteY2" fmla="*/ 373520 h 373520"/>
                <a:gd name="connsiteX3" fmla="*/ 0 w 4079081"/>
                <a:gd name="connsiteY3" fmla="*/ 373520 h 373520"/>
                <a:gd name="connsiteX4" fmla="*/ 0 w 4079081"/>
                <a:gd name="connsiteY4" fmla="*/ 0 h 373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9081" h="373520">
                  <a:moveTo>
                    <a:pt x="0" y="0"/>
                  </a:moveTo>
                  <a:lnTo>
                    <a:pt x="4079081" y="0"/>
                  </a:lnTo>
                  <a:lnTo>
                    <a:pt x="4079081" y="373520"/>
                  </a:lnTo>
                  <a:lnTo>
                    <a:pt x="0" y="37352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2720" tIns="64770" rIns="172720" bIns="64770" numCol="1" spcCol="1270" anchor="ctr" anchorCtr="0">
              <a:noAutofit/>
            </a:bodyPr>
            <a:lstStyle/>
            <a:p>
              <a:pPr marL="0" lvl="0" indent="0" algn="l" defTabSz="755650">
                <a:lnSpc>
                  <a:spcPct val="90000"/>
                </a:lnSpc>
                <a:spcBef>
                  <a:spcPct val="0"/>
                </a:spcBef>
                <a:spcAft>
                  <a:spcPct val="35000"/>
                </a:spcAft>
                <a:buNone/>
              </a:pPr>
              <a:endParaRPr lang="en-US" sz="1700" kern="1200"/>
            </a:p>
          </p:txBody>
        </p:sp>
        <p:sp>
          <p:nvSpPr>
            <p:cNvPr id="9" name="Rectangle 8">
              <a:extLst>
                <a:ext uri="{FF2B5EF4-FFF2-40B4-BE49-F238E27FC236}">
                  <a16:creationId xmlns:a16="http://schemas.microsoft.com/office/drawing/2014/main" id="{5F268C2A-64E3-2ECA-C96F-A6FF036385FE}"/>
                </a:ext>
              </a:extLst>
            </p:cNvPr>
            <p:cNvSpPr/>
            <p:nvPr/>
          </p:nvSpPr>
          <p:spPr>
            <a:xfrm>
              <a:off x="7448550" y="2223450"/>
              <a:ext cx="2021681" cy="314673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grpSp>
    </p:spTree>
    <p:extLst>
      <p:ext uri="{BB962C8B-B14F-4D97-AF65-F5344CB8AC3E}">
        <p14:creationId xmlns:p14="http://schemas.microsoft.com/office/powerpoint/2010/main" val="2849776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TotalTime>
  <Words>3759</Words>
  <Application>Microsoft Office PowerPoint</Application>
  <PresentationFormat>Widescreen</PresentationFormat>
  <Paragraphs>124</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Arial</vt:lpstr>
      <vt:lpstr>Calibri</vt:lpstr>
      <vt:lpstr>Calibri Light</vt:lpstr>
      <vt:lpstr>inherit</vt:lpstr>
      <vt:lpstr>Wingdings</vt:lpstr>
      <vt:lpstr>Office Theme</vt:lpstr>
      <vt:lpstr>10 MÔ HÌNH  QUẢN LÝ SỰ THAY ĐỔI</vt:lpstr>
      <vt:lpstr>Tại sao cần chọn đúng mô hình quản lý sự thay đổi? </vt:lpstr>
      <vt:lpstr>Các khung mô hình quản lý sự thay đổi</vt:lpstr>
      <vt:lpstr>1. Mô hình quản lý sự thay đổi Kotter</vt:lpstr>
      <vt:lpstr>2.Mô hình quản trị sự thay đổi của Lenwin </vt:lpstr>
      <vt:lpstr>3.Mô hình McKinsey 7S của McKinsey &amp; Company </vt:lpstr>
      <vt:lpstr>4.Thuyết Nudge </vt:lpstr>
      <vt:lpstr>5.Đường cong thay đổi Kübler-Ross  </vt:lpstr>
      <vt:lpstr>6.Vòng tròn PDSA</vt:lpstr>
      <vt:lpstr>7.Mô hình ADKAR của Prosci </vt:lpstr>
      <vt:lpstr>8.Mô hình quản lý sự thay đổi Satir</vt:lpstr>
      <vt:lpstr>9.Mô hình 3 cấp độ của Maurer</vt:lpstr>
      <vt:lpstr>10.Mô hình chuyển đổi của Bridges</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 MÔ HÌNH  QUẢN LÝ SỰ THAY ĐỔI</dc:title>
  <dc:creator>Administrator</dc:creator>
  <cp:lastModifiedBy>Administrator</cp:lastModifiedBy>
  <cp:revision>1</cp:revision>
  <dcterms:created xsi:type="dcterms:W3CDTF">2024-12-17T10:43:05Z</dcterms:created>
  <dcterms:modified xsi:type="dcterms:W3CDTF">2024-12-17T12:23:58Z</dcterms:modified>
</cp:coreProperties>
</file>