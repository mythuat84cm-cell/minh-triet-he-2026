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75CD1-A4B3-87BC-0044-AF83452CE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A2C2-4099-3DA7-E268-E5FBF4607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79A0A-9771-C18F-AAC2-C5CCEE5C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90964-49EC-D6F5-515F-BAF25AAD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DB0B0-C22A-EC03-03A9-204974EA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08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94B0-CD07-8461-E450-DD556B30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B15D1-EB85-F997-867C-2A1B4C8BF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4BC6C-DDCE-DBED-3CCB-5140E7E3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D0357-EEF8-2EAA-810C-6933B828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D244-4648-79CA-A16A-EA440A866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4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BC39-7E8E-2323-D164-0C9C9E27A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0B7B0E-0901-F7E7-8940-584A59ADE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A4365-CD3D-06EB-76AC-FCC50646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458E8-43C6-5878-A9FE-E26F3197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B204D-D74C-62BB-DCDF-D5EC01AFC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77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4828-6618-F696-DAB3-B9138D199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4B6D-31A8-08A3-3684-6BC71182C2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A60F0-3BD0-9A80-9834-461A82F4C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4CE12-B4E8-D0CC-4FAD-75B70B88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82B3F4-10C2-FFA3-8B9A-0213BCC3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C4033-A4B0-231D-B397-94378FD6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55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52F4-91DD-73B7-8221-300F34A87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44418-39CB-6D47-F227-A9BAC88F0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B298C9-7BCD-3A30-DBD7-499298696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B2871-3274-236E-8F07-655DEF6FC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91F172-70F0-A7F7-528D-835859538A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3E296-59A2-CDC6-1E73-4039FFA90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9A3DDB-B4A6-E60D-6D95-56D2550B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7F297-2198-7980-4B15-AB1F910C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62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211C-AB44-6D0A-53B1-4D5CBF8E4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3C454-7A3A-8BCD-3722-E94072B8C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3565B-6EB4-47F0-A9F1-15FEBFB8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AA43F-0FC3-6F7E-E794-DCD3958EA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1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7CDDB2-A24A-333E-2CFE-D8ED70D7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292EB-FE9F-2E55-C5B9-EC07261B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21B35-B082-4D45-2735-560DA00F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95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6325-9608-0195-307A-7BBDDED9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5ABD8-ACC3-78B8-ACAC-52BABF4F3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0BCF1-AEE6-0787-5513-1E5DA3F72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AE240-0D8F-D929-9369-0AD65E7B9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6856B-E147-6E70-A27C-DDF318AC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E4121-5363-8EF1-E774-DEA6A5CD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2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38F5-E46D-D6E2-38A9-1EEFB4CC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A4842B-8D2B-8D1A-1574-EE582435F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50486-FD9F-48B5-2129-AA535AC89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78ADB-3793-FED4-4C45-8DA107017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F7921-4C9D-6586-82B1-90F7D14E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CC415-0708-8212-7EEB-B22575DC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90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B8E34-19E6-BCFD-FFD6-56C17239C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900AD-8427-61A7-845E-F1E2EACE6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79ABB-C57B-740A-246E-3897E2E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2E2D4-7D9F-6319-27DE-A41675B6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36D8F-1623-EB48-FA28-D47C44685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78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D5D235-AF0B-FB6E-B68F-A3F2BF7F5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22A3D0-408B-B729-6647-95FE004BF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93B9B-C05B-7160-6C29-4311EEE31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58DF0-B199-B1A5-0DC4-2492C461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4F485-0726-86D1-5C99-D4B0783F8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23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A05DBC-B560-15DD-389D-776885039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D96B-3719-E73D-11B7-5AD8566D8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D4558-A2BD-663F-AE09-35D1E6CBB0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2CEE4-4E97-478C-90BB-14D6EE2BE6AB}" type="datetimeFigureOut">
              <a:rPr lang="en-US" smtClean="0"/>
              <a:t>12/30/2024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F87B7-A37C-E441-BA11-B5809904B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F60DB-A67E-9EE4-2F72-17647D80DF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181B5-D25C-48BA-9401-98A0794C9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401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D583-E8BC-8557-ABA8-A88FC98E9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7336" y="3734934"/>
            <a:ext cx="6257731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TRÌNH BÀY ĐỂ KHÁCH HÀNG DỄ HIỂU VỀ BẢO HIỂM NHÂN THỌ</a:t>
            </a:r>
          </a:p>
        </p:txBody>
      </p:sp>
      <p:pic>
        <p:nvPicPr>
          <p:cNvPr id="1026" name="Picture 2" descr="11 Cách tư vấn khách hàng và kỹ năng cần có cho dân Sale">
            <a:extLst>
              <a:ext uri="{FF2B5EF4-FFF2-40B4-BE49-F238E27FC236}">
                <a16:creationId xmlns:a16="http://schemas.microsoft.com/office/drawing/2014/main" id="{20CD75FD-C100-1F46-27C6-47D54F77A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677" y="998376"/>
            <a:ext cx="5025048" cy="3347569"/>
          </a:xfrm>
          <a:prstGeom prst="rect">
            <a:avLst/>
          </a:prstGeom>
          <a:noFill/>
          <a:effectLst>
            <a:glow rad="228600">
              <a:schemeClr val="accent2">
                <a:satMod val="175000"/>
                <a:alpha val="40000"/>
              </a:schemeClr>
            </a:glow>
          </a:effectLst>
          <a:scene3d>
            <a:camera prst="isometricOffAxis1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0281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0B95-C3A5-44C0-EBE8-A09DC4E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ĐẶT VẤN ĐỀ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14606-B1C2-802B-46D9-6D25A238B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331" y="1690688"/>
            <a:ext cx="6772469" cy="4351338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hiểm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,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khó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,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qua loa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.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mấy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8C4570-342B-604D-7C92-656B836D2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79" y="2538850"/>
            <a:ext cx="3899851" cy="2924888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894199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992E-F4C9-85E3-9B2F-B949EF8F6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1. XÂY DỰNG MỐI QUAN HỆ VỚI KHÁCH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87B9F-4BF0-305D-5785-ABA379247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31359" cy="4351338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n-US" b="1" dirty="0" err="1"/>
              <a:t>Lòng</a:t>
            </a:r>
            <a:r>
              <a:rPr lang="en-US" b="1" dirty="0"/>
              <a:t> tin: </a:t>
            </a:r>
            <a:r>
              <a:rPr lang="en-US" dirty="0" err="1"/>
              <a:t>Không</a:t>
            </a:r>
            <a:r>
              <a:rPr lang="en-US" dirty="0"/>
              <a:t> ai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tin,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thật</a:t>
            </a:r>
            <a:r>
              <a:rPr lang="en-US" dirty="0"/>
              <a:t>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chẻ</a:t>
            </a:r>
            <a:r>
              <a:rPr lang="en-US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b="1" dirty="0" err="1"/>
              <a:t>Tự</a:t>
            </a:r>
            <a:r>
              <a:rPr lang="en-US" b="1" dirty="0"/>
              <a:t> tin: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rỏ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mình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,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tin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b="1" dirty="0" err="1"/>
              <a:t>Chuyên</a:t>
            </a:r>
            <a:r>
              <a:rPr lang="en-US" b="1" dirty="0"/>
              <a:t> </a:t>
            </a:r>
            <a:r>
              <a:rPr lang="en-US" b="1" dirty="0" err="1"/>
              <a:t>nghiệp</a:t>
            </a:r>
            <a:r>
              <a:rPr lang="en-US" b="1" dirty="0"/>
              <a:t>: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ăn</a:t>
            </a:r>
            <a:r>
              <a:rPr lang="en-US" dirty="0"/>
              <a:t>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ấn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.</a:t>
            </a:r>
          </a:p>
          <a:p>
            <a:pPr algn="just">
              <a:lnSpc>
                <a:spcPct val="100000"/>
              </a:lnSpc>
            </a:pPr>
            <a:r>
              <a:rPr lang="en-US" b="1" dirty="0" err="1"/>
              <a:t>Giỏi</a:t>
            </a:r>
            <a:r>
              <a:rPr lang="en-US" b="1" dirty="0"/>
              <a:t>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: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giỏi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,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xúc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.</a:t>
            </a:r>
          </a:p>
        </p:txBody>
      </p:sp>
      <p:pic>
        <p:nvPicPr>
          <p:cNvPr id="3074" name="Picture 2" descr="7 mẹo để tạo ấn tượng ban đầu khó phai trong cuộc gặp đầu tiên">
            <a:extLst>
              <a:ext uri="{FF2B5EF4-FFF2-40B4-BE49-F238E27FC236}">
                <a16:creationId xmlns:a16="http://schemas.microsoft.com/office/drawing/2014/main" id="{E8DF94FB-7417-AEA8-B53C-0DF1F742B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2826" y="3358826"/>
            <a:ext cx="3499174" cy="349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71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6D8C-9A5D-C199-78DD-1F57FE837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2</a:t>
            </a:r>
            <a:r>
              <a:rPr lang="vi-VN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. BẮT ĐẦU VỚI KHÁI NIỆM CƠ BẢN</a:t>
            </a:r>
            <a:endParaRPr lang="en-US" dirty="0">
              <a:solidFill>
                <a:schemeClr val="accent4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6819A-E4FC-6D20-DA14-97AA436A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4665" y="1601690"/>
            <a:ext cx="7680649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 err="1"/>
              <a:t>Phá</a:t>
            </a:r>
            <a:r>
              <a:rPr lang="en-US" sz="2000" b="1" dirty="0"/>
              <a:t> </a:t>
            </a:r>
            <a:r>
              <a:rPr lang="en-US" sz="2000" b="1" dirty="0" err="1"/>
              <a:t>băng</a:t>
            </a:r>
            <a:r>
              <a:rPr lang="en-US" sz="2000" b="1" dirty="0"/>
              <a:t>: </a:t>
            </a:r>
            <a:r>
              <a:rPr lang="en-US" sz="2000" dirty="0" err="1"/>
              <a:t>Tâm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con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phòng</a:t>
            </a:r>
            <a:r>
              <a:rPr lang="en-US" sz="2000" dirty="0"/>
              <a:t> </a:t>
            </a:r>
            <a:r>
              <a:rPr lang="en-US" sz="2000" dirty="0" err="1"/>
              <a:t>thủ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tư</a:t>
            </a:r>
            <a:r>
              <a:rPr lang="en-US" sz="2000" dirty="0"/>
              <a:t> </a:t>
            </a:r>
            <a:r>
              <a:rPr lang="en-US" sz="2000" dirty="0" err="1"/>
              <a:t>vấn</a:t>
            </a:r>
            <a:r>
              <a:rPr lang="en-US" sz="2000" dirty="0"/>
              <a:t> </a:t>
            </a:r>
            <a:r>
              <a:rPr lang="en-US" sz="2000" dirty="0" err="1"/>
              <a:t>mua</a:t>
            </a:r>
            <a:r>
              <a:rPr lang="en-US" sz="2000" dirty="0"/>
              <a:t> </a:t>
            </a:r>
            <a:r>
              <a:rPr lang="en-US" sz="2000" dirty="0" err="1"/>
              <a:t>hàng</a:t>
            </a:r>
            <a:r>
              <a:rPr lang="en-US" sz="2000" dirty="0"/>
              <a:t>, </a:t>
            </a:r>
            <a:r>
              <a:rPr lang="en-US" sz="2000" dirty="0" err="1"/>
              <a:t>đặc</a:t>
            </a:r>
            <a:r>
              <a:rPr lang="en-US" sz="2000" dirty="0"/>
              <a:t> </a:t>
            </a:r>
            <a:r>
              <a:rPr lang="en-US" sz="2000" dirty="0" err="1"/>
              <a:t>biệt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tâm</a:t>
            </a:r>
            <a:r>
              <a:rPr lang="en-US" sz="2000" dirty="0"/>
              <a:t> </a:t>
            </a:r>
            <a:r>
              <a:rPr lang="en-US" sz="2000" dirty="0" err="1"/>
              <a:t>ly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hiểm</a:t>
            </a:r>
            <a:r>
              <a:rPr lang="en-US" sz="2000" dirty="0"/>
              <a:t> </a:t>
            </a:r>
            <a:r>
              <a:rPr lang="en-US" sz="2000" dirty="0" err="1"/>
              <a:t>nặng</a:t>
            </a:r>
            <a:r>
              <a:rPr lang="en-US" sz="2000" dirty="0"/>
              <a:t> </a:t>
            </a:r>
            <a:r>
              <a:rPr lang="en-US" sz="2000" dirty="0" err="1"/>
              <a:t>hơn</a:t>
            </a:r>
            <a:r>
              <a:rPr lang="en-US" sz="2000" dirty="0"/>
              <a:t>. </a:t>
            </a:r>
            <a:r>
              <a:rPr lang="en-US" sz="2000" dirty="0" err="1"/>
              <a:t>Vậy</a:t>
            </a:r>
            <a:r>
              <a:rPr lang="en-US" sz="2000" dirty="0"/>
              <a:t>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cần</a:t>
            </a:r>
            <a:r>
              <a:rPr lang="en-US" sz="2000" dirty="0"/>
              <a:t> </a:t>
            </a:r>
            <a:r>
              <a:rPr lang="en-US" sz="2000" dirty="0" err="1"/>
              <a:t>nhẹ</a:t>
            </a:r>
            <a:r>
              <a:rPr lang="en-US" sz="2000" dirty="0"/>
              <a:t> </a:t>
            </a:r>
            <a:r>
              <a:rPr lang="en-US" sz="2000" dirty="0" err="1"/>
              <a:t>nhàng</a:t>
            </a:r>
            <a:r>
              <a:rPr lang="en-US" sz="2000" dirty="0"/>
              <a:t> </a:t>
            </a:r>
            <a:r>
              <a:rPr lang="en-US" sz="2000" dirty="0" err="1"/>
              <a:t>phá</a:t>
            </a:r>
            <a:r>
              <a:rPr lang="en-US" sz="2000" dirty="0"/>
              <a:t> </a:t>
            </a:r>
            <a:r>
              <a:rPr lang="en-US" sz="2000" dirty="0" err="1"/>
              <a:t>bỏ</a:t>
            </a:r>
            <a:r>
              <a:rPr lang="en-US" sz="2000" dirty="0"/>
              <a:t> </a:t>
            </a:r>
            <a:r>
              <a:rPr lang="en-US" sz="2000" dirty="0" err="1"/>
              <a:t>lớp</a:t>
            </a:r>
            <a:r>
              <a:rPr lang="en-US" sz="2000" dirty="0"/>
              <a:t> </a:t>
            </a:r>
            <a:r>
              <a:rPr lang="en-US" sz="2000" dirty="0" err="1"/>
              <a:t>phòng</a:t>
            </a:r>
            <a:r>
              <a:rPr lang="en-US" sz="2000" dirty="0"/>
              <a:t> </a:t>
            </a:r>
            <a:r>
              <a:rPr lang="en-US" sz="2000" dirty="0" err="1"/>
              <a:t>thủ</a:t>
            </a:r>
            <a:r>
              <a:rPr lang="en-US" sz="2000" dirty="0"/>
              <a:t> </a:t>
            </a:r>
            <a:r>
              <a:rPr lang="en-US" sz="2000" dirty="0" err="1"/>
              <a:t>đó</a:t>
            </a:r>
            <a:r>
              <a:rPr lang="en-US" sz="2000" dirty="0"/>
              <a:t> </a:t>
            </a:r>
            <a:r>
              <a:rPr lang="en-US" sz="2000" dirty="0" err="1"/>
              <a:t>bằng</a:t>
            </a:r>
            <a:r>
              <a:rPr lang="en-US" sz="2000" dirty="0"/>
              <a:t> </a:t>
            </a:r>
            <a:r>
              <a:rPr lang="en-US" sz="2000" dirty="0" err="1"/>
              <a:t>câu</a:t>
            </a:r>
            <a:r>
              <a:rPr lang="en-US" sz="2000" dirty="0"/>
              <a:t> </a:t>
            </a:r>
            <a:r>
              <a:rPr lang="en-US" sz="2000" dirty="0" err="1"/>
              <a:t>chuyện</a:t>
            </a:r>
            <a:r>
              <a:rPr lang="en-US" sz="2000" dirty="0"/>
              <a:t> </a:t>
            </a:r>
            <a:r>
              <a:rPr lang="en-US" sz="2000" dirty="0" err="1"/>
              <a:t>vui</a:t>
            </a:r>
            <a:r>
              <a:rPr lang="en-US" sz="2000" dirty="0"/>
              <a:t> </a:t>
            </a:r>
            <a:r>
              <a:rPr lang="en-US" sz="2000" dirty="0" err="1"/>
              <a:t>vẻ</a:t>
            </a:r>
            <a:r>
              <a:rPr lang="en-US" sz="2000" dirty="0"/>
              <a:t> </a:t>
            </a:r>
            <a:r>
              <a:rPr lang="en-US" sz="2000" dirty="0" err="1"/>
              <a:t>dẫn</a:t>
            </a:r>
            <a:r>
              <a:rPr lang="en-US" sz="2000" dirty="0"/>
              <a:t> </a:t>
            </a:r>
            <a:r>
              <a:rPr lang="en-US" sz="2000" dirty="0" err="1"/>
              <a:t>nhập</a:t>
            </a:r>
            <a:r>
              <a:rPr lang="en-US" sz="2000" dirty="0"/>
              <a:t>.</a:t>
            </a:r>
          </a:p>
          <a:p>
            <a:pPr algn="just">
              <a:lnSpc>
                <a:spcPct val="100000"/>
              </a:lnSpc>
            </a:pPr>
            <a:endParaRPr lang="en-US" sz="2000" b="1" dirty="0"/>
          </a:p>
          <a:p>
            <a:pPr algn="just">
              <a:lnSpc>
                <a:spcPct val="100000"/>
              </a:lnSpc>
            </a:pPr>
            <a:r>
              <a:rPr lang="en-US" sz="2000" b="1" dirty="0" err="1"/>
              <a:t>Định</a:t>
            </a:r>
            <a:r>
              <a:rPr lang="en-US" sz="2000" b="1" dirty="0"/>
              <a:t> </a:t>
            </a:r>
            <a:r>
              <a:rPr lang="en-US" sz="2000" b="1" dirty="0" err="1"/>
              <a:t>nghĩa</a:t>
            </a:r>
            <a:r>
              <a:rPr lang="en-US" sz="2000" b="1" dirty="0"/>
              <a:t> </a:t>
            </a:r>
            <a:r>
              <a:rPr lang="en-US" sz="2000" b="1" dirty="0" err="1"/>
              <a:t>ngắn</a:t>
            </a:r>
            <a:r>
              <a:rPr lang="en-US" sz="2000" b="1" dirty="0"/>
              <a:t> </a:t>
            </a:r>
            <a:r>
              <a:rPr lang="en-US" sz="2000" b="1" dirty="0" err="1"/>
              <a:t>gọn</a:t>
            </a:r>
            <a:r>
              <a:rPr lang="en-US" sz="2000" b="1" dirty="0"/>
              <a:t>:</a:t>
            </a:r>
            <a:r>
              <a:rPr lang="en-US" sz="2000" dirty="0"/>
              <a:t> </a:t>
            </a:r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thích</a:t>
            </a:r>
            <a:r>
              <a:rPr lang="en-US" sz="2000" dirty="0"/>
              <a:t> 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hiểm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thọ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gì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ngắn</a:t>
            </a:r>
            <a:r>
              <a:rPr lang="en-US" sz="2000" dirty="0"/>
              <a:t> </a:t>
            </a:r>
            <a:r>
              <a:rPr lang="en-US" sz="2000" dirty="0" err="1"/>
              <a:t>gọn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dễ</a:t>
            </a:r>
            <a:r>
              <a:rPr lang="en-US" sz="2000" dirty="0"/>
              <a:t> </a:t>
            </a:r>
            <a:r>
              <a:rPr lang="en-US" sz="2000" dirty="0" err="1"/>
              <a:t>hiểu</a:t>
            </a:r>
            <a:r>
              <a:rPr lang="en-US" sz="2000" dirty="0"/>
              <a:t>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/>
              <a:t>	</a:t>
            </a:r>
            <a:r>
              <a:rPr lang="en-US" sz="2000" i="1" dirty="0" err="1"/>
              <a:t>Ví</a:t>
            </a:r>
            <a:r>
              <a:rPr lang="en-US" sz="2000" i="1" dirty="0"/>
              <a:t> </a:t>
            </a:r>
            <a:r>
              <a:rPr lang="en-US" sz="2000" i="1" dirty="0" err="1"/>
              <a:t>dụ</a:t>
            </a:r>
            <a:r>
              <a:rPr lang="en-US" sz="2000" i="1" dirty="0"/>
              <a:t>, </a:t>
            </a:r>
            <a:r>
              <a:rPr lang="en-US" sz="2000" dirty="0"/>
              <a:t>"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hiểm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thọ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</a:t>
            </a:r>
            <a:r>
              <a:rPr lang="en-US" sz="2000" dirty="0" err="1"/>
              <a:t>đồng</a:t>
            </a:r>
            <a:r>
              <a:rPr lang="en-US" sz="2000" dirty="0"/>
              <a:t> </a:t>
            </a:r>
            <a:r>
              <a:rPr lang="en-US" sz="2000" dirty="0" err="1"/>
              <a:t>giữa</a:t>
            </a:r>
            <a:r>
              <a:rPr lang="en-US" sz="2000" dirty="0"/>
              <a:t>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hiểm</a:t>
            </a:r>
            <a:r>
              <a:rPr lang="en-US" sz="2000" dirty="0"/>
              <a:t>,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đó</a:t>
            </a:r>
            <a:r>
              <a:rPr lang="en-US" sz="2000" dirty="0"/>
              <a:t>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đóng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khoản</a:t>
            </a:r>
            <a:r>
              <a:rPr lang="en-US" sz="2000" dirty="0"/>
              <a:t> </a:t>
            </a:r>
            <a:r>
              <a:rPr lang="en-US" sz="2000" dirty="0" err="1"/>
              <a:t>phí</a:t>
            </a:r>
            <a:r>
              <a:rPr lang="en-US" sz="2000" dirty="0"/>
              <a:t> </a:t>
            </a:r>
            <a:r>
              <a:rPr lang="en-US" sz="2000" dirty="0" err="1"/>
              <a:t>định</a:t>
            </a:r>
            <a:r>
              <a:rPr lang="en-US" sz="2000" dirty="0"/>
              <a:t> </a:t>
            </a:r>
            <a:r>
              <a:rPr lang="en-US" sz="2000" dirty="0" err="1"/>
              <a:t>kỳ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hiểm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chi </a:t>
            </a:r>
            <a:r>
              <a:rPr lang="en-US" sz="2000" dirty="0" err="1"/>
              <a:t>trả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khoản</a:t>
            </a:r>
            <a:r>
              <a:rPr lang="en-US" sz="2000" dirty="0"/>
              <a:t> </a:t>
            </a:r>
            <a:r>
              <a:rPr lang="en-US" sz="2000" dirty="0" err="1"/>
              <a:t>tiền</a:t>
            </a:r>
            <a:r>
              <a:rPr lang="en-US" sz="2000" dirty="0"/>
              <a:t> </a:t>
            </a:r>
            <a:r>
              <a:rPr lang="en-US" sz="2000" dirty="0" err="1"/>
              <a:t>lớn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gia</a:t>
            </a:r>
            <a:r>
              <a:rPr lang="en-US" sz="2000" dirty="0"/>
              <a:t> </a:t>
            </a:r>
            <a:r>
              <a:rPr lang="en-US" sz="2000" dirty="0" err="1"/>
              <a:t>đình</a:t>
            </a:r>
            <a:r>
              <a:rPr lang="en-US" sz="2000" dirty="0"/>
              <a:t>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nếu</a:t>
            </a:r>
            <a:r>
              <a:rPr lang="en-US" sz="2000" dirty="0"/>
              <a:t> </a:t>
            </a:r>
            <a:r>
              <a:rPr lang="en-US" sz="2000" dirty="0" err="1"/>
              <a:t>bạn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may </a:t>
            </a:r>
            <a:r>
              <a:rPr lang="en-US" sz="2000" dirty="0" err="1"/>
              <a:t>gặp</a:t>
            </a:r>
            <a:r>
              <a:rPr lang="en-US" sz="2000" dirty="0"/>
              <a:t> </a:t>
            </a:r>
            <a:r>
              <a:rPr lang="en-US" sz="2000" dirty="0" err="1"/>
              <a:t>rủi</a:t>
            </a:r>
            <a:r>
              <a:rPr lang="en-US" sz="2000" dirty="0"/>
              <a:t> ro.“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sz="2000" dirty="0"/>
          </a:p>
        </p:txBody>
      </p:sp>
      <p:pic>
        <p:nvPicPr>
          <p:cNvPr id="4098" name="Picture 2" descr="8 Nghiên Cứu Tâm Lý Về Sức Mạnh Của Sự Đơn Giản - UBrand">
            <a:extLst>
              <a:ext uri="{FF2B5EF4-FFF2-40B4-BE49-F238E27FC236}">
                <a16:creationId xmlns:a16="http://schemas.microsoft.com/office/drawing/2014/main" id="{67C29B53-202E-7205-49AB-2C5A58B18C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5"/>
          <a:stretch/>
        </p:blipFill>
        <p:spPr bwMode="auto">
          <a:xfrm>
            <a:off x="93151" y="1856792"/>
            <a:ext cx="4001431" cy="240984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804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8C336-4656-A3FF-9195-53A494B03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3</a:t>
            </a:r>
            <a:r>
              <a:rPr lang="vi-VN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. SỬ DỤNG NGÔN NGỮ ĐƠN GIẢN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C13661-5EB9-36F7-9AC2-8727038A2A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9576"/>
            <a:ext cx="6271727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ngữ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chuyên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ngành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Tránh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phức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ngành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rõ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ràng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Nếu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thuật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hãy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ý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nghĩa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chúng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Ngôn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ngữ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tích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cực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Bạn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cần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sử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dụng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ngôn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ngữ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tích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cực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trò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chuyện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giúp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hàng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thư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giãn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dễ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đưa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ra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sự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đồng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thuận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tránh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dùng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những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từ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ngữ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tiêu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cực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B69A3-73A9-0952-9755-3B229F06D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244" y="3105984"/>
            <a:ext cx="4153114" cy="276701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0155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BC2FE-7298-40C5-F672-CFB6F617F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4. MINH HỌA BẰNG VÍ DỤ THỰC TẾ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BDD1E5-3F7B-CC53-AE24-C4FD22E357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2865" y="1690688"/>
            <a:ext cx="6700935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chuyện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chuyện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thực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tế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thọ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giúp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mạnh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thọ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hoạt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động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Dẫn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chứng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Bạn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nên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chuẩn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bị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những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dẫn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chứng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có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cơ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sở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được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kiểm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chứng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để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thêm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khảng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định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bằng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chứng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với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7" name="Picture 3" descr="5 Đặc tính vàng của sự sáng tạo">
            <a:extLst>
              <a:ext uri="{FF2B5EF4-FFF2-40B4-BE49-F238E27FC236}">
                <a16:creationId xmlns:a16="http://schemas.microsoft.com/office/drawing/2014/main" id="{0E2B8550-E364-AA4B-68BC-96E1AE85C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43" y="2058420"/>
            <a:ext cx="4286251" cy="287178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97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07F1-2D7C-F941-4D68-49C48CF6E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5. SỬ DỤNG HÌNH ẢNH VÀ BIỂU ĐỒ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A20F7A-114B-2BA0-8805-6C32BCB6EE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18783"/>
            <a:ext cx="6458339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Biểu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đồ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dụng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biểu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đồ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hoặc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ảnh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niệm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phức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khoản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tiền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đóng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phí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quyền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ảnh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ảnh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đơn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trực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Bảng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tóm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tắt</a:t>
            </a:r>
            <a:r>
              <a:rPr lang="en-US" altLang="en-US" sz="1800" b="1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Bảng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minh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hoạ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bảo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hiểm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rất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dài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vậy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nên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tư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vấn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bạn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nên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tóm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tắt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những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quyền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lợi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chính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lại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giúp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thấy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rỏ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quyền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lợi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để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quyết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đinh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3" name="Picture 5" descr="Visual Marketing: Bức tranh bằng hàng ngàn lời nói – Jodric ACE team">
            <a:extLst>
              <a:ext uri="{FF2B5EF4-FFF2-40B4-BE49-F238E27FC236}">
                <a16:creationId xmlns:a16="http://schemas.microsoft.com/office/drawing/2014/main" id="{253F65B0-FD14-8626-FCE5-F8CA4BF11C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94"/>
          <a:stretch/>
        </p:blipFill>
        <p:spPr bwMode="auto">
          <a:xfrm>
            <a:off x="7632441" y="2472612"/>
            <a:ext cx="4333510" cy="2590731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43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8E61-83B0-9A05-D8F6-5DFF629B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6. NHẤN MẠNH LỢI ÍCH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D04594-CC82-37BC-EAA4-FB879EF4BF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34134" y="1936228"/>
            <a:ext cx="5833188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chất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luôn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muốn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không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muốn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mất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vậy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bạn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nên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nói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nhiều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được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vật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chất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tinh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thần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Lợi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rõ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thọ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vệ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chính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kiệm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Nhấn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mạnh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sự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thọ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người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195" name="Picture 3" descr="Sen đọc - Câu chuyện 1: Trong cuộc sống này, ai cũng có suy nghĩ tính toán  vì lợi ích cá nhân, ai cũng mong mình đạt được lợi ích lớn nhất,">
            <a:extLst>
              <a:ext uri="{FF2B5EF4-FFF2-40B4-BE49-F238E27FC236}">
                <a16:creationId xmlns:a16="http://schemas.microsoft.com/office/drawing/2014/main" id="{DA8BEDBD-37B7-7744-C9CC-EB2FB98BB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215" y="2179604"/>
            <a:ext cx="2755932" cy="312164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16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1234-8DCA-4A8B-CB56-AC89E33C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7. ĐẶT CÂU HỎI VÀ LẮNG NGHE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5492B0-75CB-D9F4-A1C6-8FCCCC3323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968" y="2280032"/>
            <a:ext cx="6672943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hỏi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Đặt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câu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hỏi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nghĩ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cầu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họ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Lắng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Lắng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nghe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hồi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thắc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mắc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một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Thấu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cảm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Người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tư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vấn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cần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thấu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cảm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với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cảm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xúc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của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dù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tích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cực</a:t>
            </a:r>
            <a:r>
              <a:rPr lang="en-US" altLang="en-US" sz="1800" dirty="0">
                <a:latin typeface="Arial" panose="020B0604020202020204" pitchFamily="34" charset="0"/>
              </a:rPr>
              <a:t> hay </a:t>
            </a:r>
            <a:r>
              <a:rPr lang="en-US" altLang="en-US" sz="1800" dirty="0" err="1">
                <a:latin typeface="Arial" panose="020B0604020202020204" pitchFamily="34" charset="0"/>
              </a:rPr>
              <a:t>tiêu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cực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tiếp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tục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phản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hồi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mang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tính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xây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dựng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9" name="Picture 3" descr="Bản đồ thấu cảm là gì? Cách tạo và sử dụng để hiểu rõ khách hàng">
            <a:extLst>
              <a:ext uri="{FF2B5EF4-FFF2-40B4-BE49-F238E27FC236}">
                <a16:creationId xmlns:a16="http://schemas.microsoft.com/office/drawing/2014/main" id="{95DA1E6F-FD5A-8969-A8D8-EB2BD268A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4386"/>
            <a:ext cx="5945408" cy="427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525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40C9E-3656-7049-5E74-555DE007C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8</a:t>
            </a:r>
            <a:r>
              <a:rPr lang="vi-VN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. TÙY CHỈNH TƯ VẤN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BA9874-511A-6B8C-E6BF-C6F4BBE65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7511" y="1690688"/>
            <a:ext cx="6719596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Dựa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hoàn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cảnh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của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hóa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tận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tình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lời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khuyên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cụ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phù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hợp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từng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nhân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vì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chỉ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gói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Hơn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sự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mong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đợi</a:t>
            </a:r>
            <a:r>
              <a:rPr lang="en-US" altLang="en-US" sz="1800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Bản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chất</a:t>
            </a:r>
            <a:r>
              <a:rPr lang="en-US" altLang="en-US" sz="1800" dirty="0">
                <a:latin typeface="Arial" panose="020B0604020202020204" pitchFamily="34" charset="0"/>
              </a:rPr>
              <a:t> ai </a:t>
            </a:r>
            <a:r>
              <a:rPr lang="en-US" altLang="en-US" sz="1800" dirty="0" err="1">
                <a:latin typeface="Arial" panose="020B0604020202020204" pitchFamily="34" charset="0"/>
              </a:rPr>
              <a:t>cũng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muốn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hơn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người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, </a:t>
            </a:r>
            <a:r>
              <a:rPr lang="en-US" altLang="en-US" sz="1800" dirty="0" err="1">
                <a:latin typeface="Arial" panose="020B0604020202020204" pitchFamily="34" charset="0"/>
              </a:rPr>
              <a:t>nên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tư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vấn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bạn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phải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đặt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hàng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trên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hết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FE5D1-C67F-6136-8035-80D0A8A49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47038"/>
            <a:ext cx="3837281" cy="25565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1309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923E-29BD-F2E5-8640-756116959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9</a:t>
            </a:r>
            <a:r>
              <a:rPr lang="vi-VN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. THEO DÕI VÀ HỖ TRỢ SAU BUỔI TƯ VẤN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39166D-CA83-1F51-1545-E5A5E4F265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9497" y="2161986"/>
            <a:ext cx="6458339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Gửi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tài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liệu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thích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tiết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về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sản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phẩm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bảo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hiểm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tâm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Hỗ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trợ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tục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Giữ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liên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lạc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hỗ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trợ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khách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hàng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buổi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tư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vấn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để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giải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đáp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thắc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mắc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cấp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thông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mới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Nhờ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giới</a:t>
            </a: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lang="en-US" altLang="en-US" sz="1800" b="1" dirty="0" err="1">
                <a:latin typeface="Arial" panose="020B0604020202020204" pitchFamily="34" charset="0"/>
              </a:rPr>
              <a:t>thiêu</a:t>
            </a:r>
            <a:r>
              <a:rPr lang="en-US" altLang="en-US" sz="1800" b="1" dirty="0">
                <a:latin typeface="Arial" panose="020B0604020202020204" pitchFamily="34" charset="0"/>
              </a:rPr>
              <a:t>: </a:t>
            </a:r>
            <a:r>
              <a:rPr lang="en-US" altLang="en-US" sz="1800" dirty="0" err="1">
                <a:latin typeface="Arial" panose="020B0604020202020204" pitchFamily="34" charset="0"/>
              </a:rPr>
              <a:t>Duy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trì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liên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tục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sự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gắn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kết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và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nhờ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hàng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giới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thiệu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khách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hàng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mới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7" name="Picture 3" descr="Thúc đẩy bán hàng nhờ mạng lưới nội bộ">
            <a:extLst>
              <a:ext uri="{FF2B5EF4-FFF2-40B4-BE49-F238E27FC236}">
                <a16:creationId xmlns:a16="http://schemas.microsoft.com/office/drawing/2014/main" id="{8DFC99F6-89BC-1459-C5CA-4D790E3E0B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878" y="4498594"/>
            <a:ext cx="3867696" cy="1994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89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04D4-952C-8F98-A723-DEA1B023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 Condensed" panose="020B0502040204020203" pitchFamily="34" charset="0"/>
              </a:rPr>
              <a:t>10. SỬ DỤNG NGUỒN HỖ TRỢ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05AB2-80F3-097F-B427-F527F548A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596" y="1806964"/>
            <a:ext cx="6822233" cy="4351338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b="1" dirty="0" err="1"/>
              <a:t>Khách</a:t>
            </a:r>
            <a:r>
              <a:rPr lang="en-US" b="1" dirty="0"/>
              <a:t> </a:t>
            </a:r>
            <a:r>
              <a:rPr lang="en-US" b="1" dirty="0" err="1"/>
              <a:t>cũ</a:t>
            </a:r>
            <a:r>
              <a:rPr lang="en-US" b="1" dirty="0"/>
              <a:t>: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cũ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.</a:t>
            </a:r>
          </a:p>
          <a:p>
            <a:pPr algn="just">
              <a:lnSpc>
                <a:spcPct val="170000"/>
              </a:lnSpc>
            </a:pPr>
            <a:r>
              <a:rPr lang="en-US" b="1" dirty="0" err="1"/>
              <a:t>Công</a:t>
            </a:r>
            <a:r>
              <a:rPr lang="en-US" b="1" dirty="0"/>
              <a:t> ty: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,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trân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.</a:t>
            </a:r>
          </a:p>
          <a:p>
            <a:pPr algn="just">
              <a:lnSpc>
                <a:spcPct val="170000"/>
              </a:lnSpc>
            </a:pPr>
            <a:r>
              <a:rPr lang="en-US" b="1" dirty="0" err="1"/>
              <a:t>Chuyên</a:t>
            </a:r>
            <a:r>
              <a:rPr lang="en-US" b="1" dirty="0"/>
              <a:t> </a:t>
            </a:r>
            <a:r>
              <a:rPr lang="en-US" b="1" dirty="0" err="1"/>
              <a:t>gia</a:t>
            </a:r>
            <a:r>
              <a:rPr lang="en-US" b="1" dirty="0"/>
              <a:t>: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hoá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giỏi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ở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uy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.</a:t>
            </a:r>
          </a:p>
          <a:p>
            <a:pPr algn="just">
              <a:lnSpc>
                <a:spcPct val="170000"/>
              </a:lnSpc>
            </a:pP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: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 algn="just">
              <a:lnSpc>
                <a:spcPct val="170000"/>
              </a:lnSpc>
            </a:pPr>
            <a:endParaRPr lang="en-US" dirty="0"/>
          </a:p>
          <a:p>
            <a:pPr algn="just">
              <a:lnSpc>
                <a:spcPct val="170000"/>
              </a:lnSpc>
            </a:pPr>
            <a:endParaRPr lang="en-US" dirty="0"/>
          </a:p>
        </p:txBody>
      </p:sp>
      <p:pic>
        <p:nvPicPr>
          <p:cNvPr id="12292" name="Picture 4" descr="Câu Nói Hay Về Dịch Vụ Chăm Sóc Khách Hàng Bạn Nên Xem">
            <a:extLst>
              <a:ext uri="{FF2B5EF4-FFF2-40B4-BE49-F238E27FC236}">
                <a16:creationId xmlns:a16="http://schemas.microsoft.com/office/drawing/2014/main" id="{244C6572-5C6C-FD2F-5528-57291695B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442" y="2192693"/>
            <a:ext cx="4396642" cy="3057040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21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EF6E-F543-C913-440F-168A8ADF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THANKS!</a:t>
            </a:r>
          </a:p>
        </p:txBody>
      </p:sp>
      <p:pic>
        <p:nvPicPr>
          <p:cNvPr id="13314" name="Picture 2" descr="Nghề Dịch Vụ Và Những Câu Nói Truyền Cảm Hứng">
            <a:extLst>
              <a:ext uri="{FF2B5EF4-FFF2-40B4-BE49-F238E27FC236}">
                <a16:creationId xmlns:a16="http://schemas.microsoft.com/office/drawing/2014/main" id="{180DD25A-EBD5-60FE-6CF8-ADFECCEE3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191" y="1293456"/>
            <a:ext cx="6848670" cy="500809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219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1192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Bahnschrift Condensed</vt:lpstr>
      <vt:lpstr>Calibri</vt:lpstr>
      <vt:lpstr>Calibri Light</vt:lpstr>
      <vt:lpstr>Office Theme</vt:lpstr>
      <vt:lpstr>TRÌNH BÀY ĐỂ KHÁCH HÀNG DỄ HIỂU VỀ BẢO HIỂM NHÂN THỌ</vt:lpstr>
      <vt:lpstr>ĐẶT VẤN ĐỀ</vt:lpstr>
      <vt:lpstr>1. XÂY DỰNG MỐI QUAN HỆ VỚI KHÁCH</vt:lpstr>
      <vt:lpstr>2. BẮT ĐẦU VỚI KHÁI NIỆM CƠ BẢN</vt:lpstr>
      <vt:lpstr>3. SỬ DỤNG NGÔN NGỮ ĐƠN GIẢN</vt:lpstr>
      <vt:lpstr>4. MINH HỌA BẰNG VÍ DỤ THỰC TẾ</vt:lpstr>
      <vt:lpstr>5. SỬ DỤNG HÌNH ẢNH VÀ BIỂU ĐỒ</vt:lpstr>
      <vt:lpstr>6. NHẤN MẠNH LỢI ÍCH</vt:lpstr>
      <vt:lpstr>7. ĐẶT CÂU HỎI VÀ LẮNG NGHE</vt:lpstr>
      <vt:lpstr>8. TÙY CHỈNH TƯ VẤN</vt:lpstr>
      <vt:lpstr>9. THEO DÕI VÀ HỖ TRỢ SAU BUỔI TƯ VẤN</vt:lpstr>
      <vt:lpstr>10. SỬ DỤNG NGUỒN HỖ TRỢ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TRÌNH BÀY ĐỂ KHÁCH HÀNG DỄ HIỂU VỀ BẢO HIỂM NHÂN THỌ</dc:title>
  <dc:creator>Administrator</dc:creator>
  <cp:lastModifiedBy>Administrator</cp:lastModifiedBy>
  <cp:revision>3</cp:revision>
  <dcterms:created xsi:type="dcterms:W3CDTF">2024-12-30T04:14:57Z</dcterms:created>
  <dcterms:modified xsi:type="dcterms:W3CDTF">2024-12-30T04:47:22Z</dcterms:modified>
</cp:coreProperties>
</file>