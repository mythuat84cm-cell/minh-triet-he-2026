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BADFF-4153-4BBF-9D12-A8D2342E61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FCE9C6-B52A-4F35-B413-BD3F1848CB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52878-B514-45D0-B3C1-98A6E03116F5}"/>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5" name="Footer Placeholder 4">
            <a:extLst>
              <a:ext uri="{FF2B5EF4-FFF2-40B4-BE49-F238E27FC236}">
                <a16:creationId xmlns:a16="http://schemas.microsoft.com/office/drawing/2014/main" id="{5DD4D56D-07F1-4D55-8D1E-9BC7E3070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5E184-BFA8-4064-9C90-BB97BEF46943}"/>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470381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7C05-B5C8-493F-AA67-56797AE90C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0CC07D-C8DE-4228-9D14-6D4924F70A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64397E-6A22-4C32-A59C-977DDC1EA90C}"/>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5" name="Footer Placeholder 4">
            <a:extLst>
              <a:ext uri="{FF2B5EF4-FFF2-40B4-BE49-F238E27FC236}">
                <a16:creationId xmlns:a16="http://schemas.microsoft.com/office/drawing/2014/main" id="{9614816F-E705-44E4-9455-1603BB909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75E33-F5BD-4416-9FBD-3CA6FA37BFAB}"/>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1224527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A8BD3-7470-4C3B-807C-2FA7F03B07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071597-FE11-4F6A-8B6A-331A1CE786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A59128-66FC-443E-B195-08F110539383}"/>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5" name="Footer Placeholder 4">
            <a:extLst>
              <a:ext uri="{FF2B5EF4-FFF2-40B4-BE49-F238E27FC236}">
                <a16:creationId xmlns:a16="http://schemas.microsoft.com/office/drawing/2014/main" id="{135D8A7C-5318-436F-BF79-8B3B1BD73E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5519FB-AC3D-4F04-805F-B6F73DA0C6FE}"/>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144502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19D8-D4C5-4DB4-80AC-6384BDB7B9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C563A2-C6EB-4B34-8F02-BF9429F5D8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0B9391-A4CA-46C1-BA87-70669B38B5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5F0A54-2270-4EE1-A716-866E2C93F871}"/>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6" name="Footer Placeholder 5">
            <a:extLst>
              <a:ext uri="{FF2B5EF4-FFF2-40B4-BE49-F238E27FC236}">
                <a16:creationId xmlns:a16="http://schemas.microsoft.com/office/drawing/2014/main" id="{29021319-2F53-4256-A940-3863793DBD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5FFBEC-B71E-43C2-BCDB-0AB43BF8E3FB}"/>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3981684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D668D-5AE2-416B-9C0E-51588A262E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5DE259-033E-46C4-89E7-E3AB686DB8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D8E463-8112-4531-BBBD-56BC61BFBB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CF3351-A47F-4F58-89B1-8B32E8DB4A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DDD369-724D-4BB5-ABF1-FE091B3CB1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4C3B00-2079-4FB2-A782-96437B1F22EC}"/>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8" name="Footer Placeholder 7">
            <a:extLst>
              <a:ext uri="{FF2B5EF4-FFF2-40B4-BE49-F238E27FC236}">
                <a16:creationId xmlns:a16="http://schemas.microsoft.com/office/drawing/2014/main" id="{8D012E64-93F5-4839-A23A-675C4A7EF2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DB1D41-3C50-43EB-B687-BF954B4864B4}"/>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3831697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EB54-EA3A-49A8-B649-0F6E3F9A28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451082-D7B9-4C68-9708-4C7150D77006}"/>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4" name="Footer Placeholder 3">
            <a:extLst>
              <a:ext uri="{FF2B5EF4-FFF2-40B4-BE49-F238E27FC236}">
                <a16:creationId xmlns:a16="http://schemas.microsoft.com/office/drawing/2014/main" id="{BE23F450-5339-42B0-A7DB-9121A870A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30A6C1-532B-4D93-9427-04B131B4ECFF}"/>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3745582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B35485-B8DF-489F-9F5A-7D7E5187892E}"/>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3" name="Footer Placeholder 2">
            <a:extLst>
              <a:ext uri="{FF2B5EF4-FFF2-40B4-BE49-F238E27FC236}">
                <a16:creationId xmlns:a16="http://schemas.microsoft.com/office/drawing/2014/main" id="{3F361D25-2796-434F-991E-9A89E552F0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355E1-A165-4EC2-8516-071C4CDF7F0F}"/>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1776065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600FE-5A03-4485-9B16-498EA6F371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D38557-81D5-45F7-BA86-E937599F86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58BD0A-9AFE-4236-B045-8FEE40EEA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D26AA1-D24F-421B-A0D4-B4DA90C3D3E0}"/>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6" name="Footer Placeholder 5">
            <a:extLst>
              <a:ext uri="{FF2B5EF4-FFF2-40B4-BE49-F238E27FC236}">
                <a16:creationId xmlns:a16="http://schemas.microsoft.com/office/drawing/2014/main" id="{1208BC2F-81FB-443C-9424-870508090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091E00-3F4D-4BF4-A91E-0C9E64D71959}"/>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33304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BBD4C-C009-42AA-B563-94EC4DE66A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C23D33-C997-422F-8966-9F7A65668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A6B118-926B-41C8-A238-43BE879E68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93F906-CC2F-4E58-B63A-1CADC738DD6C}"/>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6" name="Footer Placeholder 5">
            <a:extLst>
              <a:ext uri="{FF2B5EF4-FFF2-40B4-BE49-F238E27FC236}">
                <a16:creationId xmlns:a16="http://schemas.microsoft.com/office/drawing/2014/main" id="{3CF2EE51-A684-464E-80B1-5BCD76F2E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2F0DDD-3DC4-44A7-95FA-FDACD491459B}"/>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3475215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91B4-4301-46C5-A4C3-D74C24A5F6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6FDCE6-114F-4378-A8AB-C9173638A2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2A33B-8000-4734-A1FE-D47E3BD6729C}"/>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5" name="Footer Placeholder 4">
            <a:extLst>
              <a:ext uri="{FF2B5EF4-FFF2-40B4-BE49-F238E27FC236}">
                <a16:creationId xmlns:a16="http://schemas.microsoft.com/office/drawing/2014/main" id="{4371D030-D5E3-4690-A2E8-CBDE72AF5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75A53C-B72A-4F8D-B2A5-E5A2DDF38D59}"/>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2650238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5C8E18-2AF4-495B-BCA0-588293072D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A57725-FBAF-4F1E-A441-1C0457BED9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3B2DD-72A9-477B-9784-A61DE3602717}"/>
              </a:ext>
            </a:extLst>
          </p:cNvPr>
          <p:cNvSpPr>
            <a:spLocks noGrp="1"/>
          </p:cNvSpPr>
          <p:nvPr>
            <p:ph type="dt" sz="half" idx="10"/>
          </p:nvPr>
        </p:nvSpPr>
        <p:spPr/>
        <p:txBody>
          <a:bodyPr/>
          <a:lstStyle/>
          <a:p>
            <a:fld id="{A847028A-9EC0-4F51-807A-B53C835A3925}" type="datetimeFigureOut">
              <a:rPr lang="en-US" smtClean="0"/>
              <a:t>12/25/2024</a:t>
            </a:fld>
            <a:endParaRPr lang="en-US"/>
          </a:p>
        </p:txBody>
      </p:sp>
      <p:sp>
        <p:nvSpPr>
          <p:cNvPr id="5" name="Footer Placeholder 4">
            <a:extLst>
              <a:ext uri="{FF2B5EF4-FFF2-40B4-BE49-F238E27FC236}">
                <a16:creationId xmlns:a16="http://schemas.microsoft.com/office/drawing/2014/main" id="{4783C615-5924-4E86-BBD8-338F669C0F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78954-2447-466F-9DC9-6FCD92723E67}"/>
              </a:ext>
            </a:extLst>
          </p:cNvPr>
          <p:cNvSpPr>
            <a:spLocks noGrp="1"/>
          </p:cNvSpPr>
          <p:nvPr>
            <p:ph type="sldNum" sz="quarter" idx="12"/>
          </p:nvPr>
        </p:nvSpPr>
        <p:spPr/>
        <p:txBody>
          <a:bodyPr/>
          <a:lstStyle/>
          <a:p>
            <a:fld id="{17432E1F-03EB-451F-B3D4-BD3CCB281F4E}" type="slidenum">
              <a:rPr lang="en-US" smtClean="0"/>
              <a:t>‹#›</a:t>
            </a:fld>
            <a:endParaRPr lang="en-US"/>
          </a:p>
        </p:txBody>
      </p:sp>
    </p:spTree>
    <p:extLst>
      <p:ext uri="{BB962C8B-B14F-4D97-AF65-F5344CB8AC3E}">
        <p14:creationId xmlns:p14="http://schemas.microsoft.com/office/powerpoint/2010/main" val="55746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E8C320-566C-403D-9EE0-FFEBB6B060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0C9D78-7C96-4E93-B1C1-F1FFB5F629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130FFD-F8A7-47BD-BCE5-44E1527B58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47028A-9EC0-4F51-807A-B53C835A3925}" type="datetimeFigureOut">
              <a:rPr lang="en-US" smtClean="0"/>
              <a:t>12/25/2024</a:t>
            </a:fld>
            <a:endParaRPr lang="en-US"/>
          </a:p>
        </p:txBody>
      </p:sp>
      <p:sp>
        <p:nvSpPr>
          <p:cNvPr id="5" name="Footer Placeholder 4">
            <a:extLst>
              <a:ext uri="{FF2B5EF4-FFF2-40B4-BE49-F238E27FC236}">
                <a16:creationId xmlns:a16="http://schemas.microsoft.com/office/drawing/2014/main" id="{3B078E5F-D66A-4D7E-A58B-B67C98BDC0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EBC8C9-E35A-450E-9E0C-61129907CC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432E1F-03EB-451F-B3D4-BD3CCB281F4E}" type="slidenum">
              <a:rPr lang="en-US" smtClean="0"/>
              <a:t>‹#›</a:t>
            </a:fld>
            <a:endParaRPr lang="en-US"/>
          </a:p>
        </p:txBody>
      </p:sp>
    </p:spTree>
    <p:extLst>
      <p:ext uri="{BB962C8B-B14F-4D97-AF65-F5344CB8AC3E}">
        <p14:creationId xmlns:p14="http://schemas.microsoft.com/office/powerpoint/2010/main" val="3398329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Sói đầu đàn: 6 phẩm chất &quot;sống còn&quot;, đọc xong bạn ngẫm thế nào về con đường mình chọn?">
            <a:extLst>
              <a:ext uri="{FF2B5EF4-FFF2-40B4-BE49-F238E27FC236}">
                <a16:creationId xmlns:a16="http://schemas.microsoft.com/office/drawing/2014/main" id="{FA7C363E-74E4-4C03-9BFB-66198EAF7D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33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21DE035-D629-44F6-BAA1-ABC12A0449F9}"/>
              </a:ext>
            </a:extLst>
          </p:cNvPr>
          <p:cNvSpPr>
            <a:spLocks noGrp="1"/>
          </p:cNvSpPr>
          <p:nvPr>
            <p:ph type="ctrTitle"/>
          </p:nvPr>
        </p:nvSpPr>
        <p:spPr>
          <a:xfrm>
            <a:off x="8022021" y="3231931"/>
            <a:ext cx="3852041" cy="1834056"/>
          </a:xfrm>
        </p:spPr>
        <p:txBody>
          <a:bodyPr>
            <a:normAutofit/>
          </a:bodyPr>
          <a:lstStyle/>
          <a:p>
            <a:r>
              <a:rPr lang="en-US" sz="4000" b="1" dirty="0">
                <a:solidFill>
                  <a:srgbClr val="C00000"/>
                </a:solidFill>
              </a:rPr>
              <a:t>6 BÀI HỌC </a:t>
            </a:r>
            <a:br>
              <a:rPr lang="en-US" sz="4000" b="1" dirty="0">
                <a:solidFill>
                  <a:srgbClr val="C00000"/>
                </a:solidFill>
              </a:rPr>
            </a:br>
            <a:r>
              <a:rPr lang="en-US" sz="4000" b="1" dirty="0">
                <a:solidFill>
                  <a:srgbClr val="C00000"/>
                </a:solidFill>
              </a:rPr>
              <a:t>SÓI ĐẦU ĐÀN</a:t>
            </a:r>
          </a:p>
        </p:txBody>
      </p:sp>
      <p:sp>
        <p:nvSpPr>
          <p:cNvPr id="3" name="Subtitle 2">
            <a:extLst>
              <a:ext uri="{FF2B5EF4-FFF2-40B4-BE49-F238E27FC236}">
                <a16:creationId xmlns:a16="http://schemas.microsoft.com/office/drawing/2014/main" id="{45A26E39-93BA-40FC-81A1-24B7A3E37222}"/>
              </a:ext>
            </a:extLst>
          </p:cNvPr>
          <p:cNvSpPr>
            <a:spLocks noGrp="1"/>
          </p:cNvSpPr>
          <p:nvPr>
            <p:ph type="subTitle" idx="1"/>
          </p:nvPr>
        </p:nvSpPr>
        <p:spPr>
          <a:xfrm>
            <a:off x="7782910" y="5242675"/>
            <a:ext cx="4330262" cy="683284"/>
          </a:xfrm>
        </p:spPr>
        <p:txBody>
          <a:bodyPr>
            <a:normAutofit/>
          </a:bodyPr>
          <a:lstStyle/>
          <a:p>
            <a:endParaRPr lang="en-US" sz="2000"/>
          </a:p>
        </p:txBody>
      </p:sp>
      <p:cxnSp>
        <p:nvCxnSpPr>
          <p:cNvPr id="73" name="Straight Connector 72">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83DFCF2-1B7B-D31F-2046-11838CF5D6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2844431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074" name="Picture 2">
            <a:extLst>
              <a:ext uri="{FF2B5EF4-FFF2-40B4-BE49-F238E27FC236}">
                <a16:creationId xmlns:a16="http://schemas.microsoft.com/office/drawing/2014/main" id="{1EB8712E-2265-470E-8D2F-7D791DDB3D6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3828" b="3467"/>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262CA52-866A-4632-9434-CADA2BBCB62A}"/>
              </a:ext>
            </a:extLst>
          </p:cNvPr>
          <p:cNvSpPr/>
          <p:nvPr/>
        </p:nvSpPr>
        <p:spPr>
          <a:xfrm>
            <a:off x="665870" y="1979826"/>
            <a:ext cx="10465955" cy="2554545"/>
          </a:xfrm>
          <a:prstGeom prst="rect">
            <a:avLst/>
          </a:prstGeom>
        </p:spPr>
        <p:txBody>
          <a:bodyPr wrap="square">
            <a:spAutoFit/>
          </a:bodyPr>
          <a:lstStyle/>
          <a:p>
            <a:pPr algn="just"/>
            <a:r>
              <a:rPr lang="vi-VN" sz="2000" b="0" i="0" dirty="0">
                <a:solidFill>
                  <a:schemeClr val="bg1"/>
                </a:solidFill>
                <a:effectLst/>
              </a:rPr>
              <a:t>Đối với một con sói đầu đàn, sự tự tin vào khả năng thành công và bản lĩnh trong việc ra quyết định hành động được xem là yếu tố quyết định cho việc nó là sói đầu đàn hay sói thành viên.</a:t>
            </a:r>
            <a:endParaRPr lang="en-US" sz="2000" b="0" i="0" dirty="0">
              <a:solidFill>
                <a:schemeClr val="bg1"/>
              </a:solidFill>
              <a:effectLst/>
            </a:endParaRPr>
          </a:p>
          <a:p>
            <a:pPr algn="just"/>
            <a:endParaRPr lang="vi-VN" sz="2000" b="0" i="0" dirty="0">
              <a:solidFill>
                <a:schemeClr val="bg1"/>
              </a:solidFill>
              <a:effectLst/>
            </a:endParaRPr>
          </a:p>
          <a:p>
            <a:pPr algn="just"/>
            <a:r>
              <a:rPr lang="vi-VN" sz="2000" b="0" i="0" dirty="0">
                <a:solidFill>
                  <a:schemeClr val="bg1"/>
                </a:solidFill>
                <a:effectLst/>
              </a:rPr>
              <a:t>Con đầu đàn phải có khả năng ra lệnh, khi nào thì hành động và khi nào thì nằm yên bất động chờ "thời cơ vàng". Để dẫn dất một đội quân dũng mãnh, nó phải mang trong mình trọng trách đánh giá cuộc săn hoặc là thành công - hoặc là thất bại, một sứ mệnh sống còn.</a:t>
            </a:r>
          </a:p>
        </p:txBody>
      </p:sp>
      <p:pic>
        <p:nvPicPr>
          <p:cNvPr id="2" name="Picture 1">
            <a:extLst>
              <a:ext uri="{FF2B5EF4-FFF2-40B4-BE49-F238E27FC236}">
                <a16:creationId xmlns:a16="http://schemas.microsoft.com/office/drawing/2014/main" id="{A051078F-047F-858D-3546-51815D284E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9045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5D9FC6AC-4A12-4825-8ABE-0732B8EF4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0124B96-527F-4187-8A65-AA898C47253A}"/>
              </a:ext>
            </a:extLst>
          </p:cNvPr>
          <p:cNvPicPr>
            <a:picLocks noGrp="1" noChangeAspect="1"/>
          </p:cNvPicPr>
          <p:nvPr>
            <p:ph idx="1"/>
          </p:nvPr>
        </p:nvPicPr>
        <p:blipFill rotWithShape="1">
          <a:blip r:embed="rId2"/>
          <a:srcRect t="3502" r="1" b="11482"/>
          <a:stretch/>
        </p:blipFill>
        <p:spPr>
          <a:xfrm>
            <a:off x="1" y="10"/>
            <a:ext cx="11862683" cy="6857990"/>
          </a:xfrm>
          <a:custGeom>
            <a:avLst/>
            <a:gdLst/>
            <a:ahLst/>
            <a:cxnLst/>
            <a:rect l="l" t="t" r="r" b="b"/>
            <a:pathLst>
              <a:path w="11862683" h="6858000">
                <a:moveTo>
                  <a:pt x="0" y="0"/>
                </a:moveTo>
                <a:lnTo>
                  <a:pt x="4038600" y="0"/>
                </a:lnTo>
                <a:lnTo>
                  <a:pt x="4114800" y="0"/>
                </a:lnTo>
                <a:lnTo>
                  <a:pt x="4282294" y="0"/>
                </a:lnTo>
                <a:lnTo>
                  <a:pt x="6139260" y="0"/>
                </a:lnTo>
                <a:lnTo>
                  <a:pt x="6362810" y="0"/>
                </a:lnTo>
                <a:lnTo>
                  <a:pt x="7272221" y="0"/>
                </a:lnTo>
                <a:lnTo>
                  <a:pt x="10815342" y="0"/>
                </a:lnTo>
                <a:cubicBezTo>
                  <a:pt x="10709672" y="35571"/>
                  <a:pt x="10607020" y="78255"/>
                  <a:pt x="10501350" y="110269"/>
                </a:cubicBezTo>
                <a:cubicBezTo>
                  <a:pt x="10516447" y="145839"/>
                  <a:pt x="10531542" y="138725"/>
                  <a:pt x="10546639" y="135168"/>
                </a:cubicBezTo>
                <a:cubicBezTo>
                  <a:pt x="10637212" y="120941"/>
                  <a:pt x="10730806" y="110269"/>
                  <a:pt x="10818360" y="71141"/>
                </a:cubicBezTo>
                <a:cubicBezTo>
                  <a:pt x="10839496" y="64027"/>
                  <a:pt x="10863648" y="64027"/>
                  <a:pt x="10872705" y="88927"/>
                </a:cubicBezTo>
                <a:cubicBezTo>
                  <a:pt x="10887801" y="124497"/>
                  <a:pt x="10866668" y="145839"/>
                  <a:pt x="10845532" y="163625"/>
                </a:cubicBezTo>
                <a:cubicBezTo>
                  <a:pt x="10809304" y="195638"/>
                  <a:pt x="10767036" y="188525"/>
                  <a:pt x="10727787" y="192082"/>
                </a:cubicBezTo>
                <a:cubicBezTo>
                  <a:pt x="10619098" y="209867"/>
                  <a:pt x="10567772" y="259665"/>
                  <a:pt x="10543619" y="373491"/>
                </a:cubicBezTo>
                <a:cubicBezTo>
                  <a:pt x="10637212" y="327250"/>
                  <a:pt x="10730806" y="384162"/>
                  <a:pt x="10821380" y="352148"/>
                </a:cubicBezTo>
                <a:cubicBezTo>
                  <a:pt x="10845532" y="345034"/>
                  <a:pt x="10881763" y="355706"/>
                  <a:pt x="10869686" y="394834"/>
                </a:cubicBezTo>
                <a:cubicBezTo>
                  <a:pt x="10857610" y="430405"/>
                  <a:pt x="10818360" y="458860"/>
                  <a:pt x="10887801" y="451747"/>
                </a:cubicBezTo>
                <a:cubicBezTo>
                  <a:pt x="10939127" y="448189"/>
                  <a:pt x="10954222" y="405504"/>
                  <a:pt x="10969318" y="359262"/>
                </a:cubicBezTo>
                <a:cubicBezTo>
                  <a:pt x="10981394" y="334364"/>
                  <a:pt x="11014605" y="320135"/>
                  <a:pt x="11038758" y="334364"/>
                </a:cubicBezTo>
                <a:cubicBezTo>
                  <a:pt x="11068949" y="348592"/>
                  <a:pt x="11059892" y="387720"/>
                  <a:pt x="11059892" y="416176"/>
                </a:cubicBezTo>
                <a:cubicBezTo>
                  <a:pt x="11062912" y="469532"/>
                  <a:pt x="11038758" y="494431"/>
                  <a:pt x="10996491" y="505101"/>
                </a:cubicBezTo>
                <a:cubicBezTo>
                  <a:pt x="10945164" y="519330"/>
                  <a:pt x="10893840" y="537116"/>
                  <a:pt x="10827418" y="558458"/>
                </a:cubicBezTo>
                <a:cubicBezTo>
                  <a:pt x="10899878" y="594028"/>
                  <a:pt x="10954222" y="586915"/>
                  <a:pt x="11008566" y="558458"/>
                </a:cubicBezTo>
                <a:cubicBezTo>
                  <a:pt x="11074988" y="526444"/>
                  <a:pt x="11162542" y="483759"/>
                  <a:pt x="11216886" y="522887"/>
                </a:cubicBezTo>
                <a:cubicBezTo>
                  <a:pt x="11298403" y="579800"/>
                  <a:pt x="11364824" y="544229"/>
                  <a:pt x="11437284" y="533558"/>
                </a:cubicBezTo>
                <a:cubicBezTo>
                  <a:pt x="11588242" y="512216"/>
                  <a:pt x="11494648" y="480203"/>
                  <a:pt x="11645605" y="462417"/>
                </a:cubicBezTo>
                <a:cubicBezTo>
                  <a:pt x="11705988" y="455303"/>
                  <a:pt x="11769390" y="426847"/>
                  <a:pt x="11856944" y="465975"/>
                </a:cubicBezTo>
                <a:cubicBezTo>
                  <a:pt x="11461437" y="672284"/>
                  <a:pt x="11274250" y="658055"/>
                  <a:pt x="10921012" y="910606"/>
                </a:cubicBezTo>
                <a:cubicBezTo>
                  <a:pt x="10936107" y="935506"/>
                  <a:pt x="10951202" y="924835"/>
                  <a:pt x="10966299" y="921277"/>
                </a:cubicBezTo>
                <a:cubicBezTo>
                  <a:pt x="10990452" y="917720"/>
                  <a:pt x="11020644" y="903491"/>
                  <a:pt x="11026682" y="949734"/>
                </a:cubicBezTo>
                <a:cubicBezTo>
                  <a:pt x="11029702" y="985305"/>
                  <a:pt x="11011585" y="1003089"/>
                  <a:pt x="10981394" y="1006647"/>
                </a:cubicBezTo>
                <a:cubicBezTo>
                  <a:pt x="10893840" y="1020875"/>
                  <a:pt x="10815342" y="1070674"/>
                  <a:pt x="10736844" y="1113358"/>
                </a:cubicBezTo>
                <a:cubicBezTo>
                  <a:pt x="10700615" y="1131144"/>
                  <a:pt x="10661366" y="1156043"/>
                  <a:pt x="10676462" y="1220069"/>
                </a:cubicBezTo>
                <a:cubicBezTo>
                  <a:pt x="10706652" y="1237855"/>
                  <a:pt x="10727787" y="1212955"/>
                  <a:pt x="10751940" y="1209399"/>
                </a:cubicBezTo>
                <a:cubicBezTo>
                  <a:pt x="10776093" y="1205842"/>
                  <a:pt x="10833457" y="1220069"/>
                  <a:pt x="10818360" y="1230741"/>
                </a:cubicBezTo>
                <a:cubicBezTo>
                  <a:pt x="10748920" y="1269868"/>
                  <a:pt x="10875724" y="1365909"/>
                  <a:pt x="10791190" y="1365909"/>
                </a:cubicBezTo>
                <a:cubicBezTo>
                  <a:pt x="10652309" y="1365909"/>
                  <a:pt x="10576830" y="1536647"/>
                  <a:pt x="10443988" y="1540204"/>
                </a:cubicBezTo>
                <a:cubicBezTo>
                  <a:pt x="10422854" y="1540204"/>
                  <a:pt x="10413797" y="1572219"/>
                  <a:pt x="10413797" y="1597117"/>
                </a:cubicBezTo>
                <a:cubicBezTo>
                  <a:pt x="10413797" y="1629132"/>
                  <a:pt x="10434930" y="1632688"/>
                  <a:pt x="10456064" y="1636245"/>
                </a:cubicBezTo>
                <a:cubicBezTo>
                  <a:pt x="10489275" y="1639802"/>
                  <a:pt x="10525504" y="1597117"/>
                  <a:pt x="10567772" y="1657587"/>
                </a:cubicBezTo>
                <a:cubicBezTo>
                  <a:pt x="10489275" y="1693158"/>
                  <a:pt x="10407758" y="1728729"/>
                  <a:pt x="10410777" y="1849668"/>
                </a:cubicBezTo>
                <a:cubicBezTo>
                  <a:pt x="10410777" y="1881683"/>
                  <a:pt x="10377566" y="1895910"/>
                  <a:pt x="10353413" y="1903025"/>
                </a:cubicBezTo>
                <a:cubicBezTo>
                  <a:pt x="10311146" y="1917252"/>
                  <a:pt x="10277935" y="1938595"/>
                  <a:pt x="10253782" y="1984836"/>
                </a:cubicBezTo>
                <a:cubicBezTo>
                  <a:pt x="10253782" y="1995507"/>
                  <a:pt x="10253782" y="2002622"/>
                  <a:pt x="10253782" y="2013292"/>
                </a:cubicBezTo>
                <a:cubicBezTo>
                  <a:pt x="10259820" y="2123562"/>
                  <a:pt x="10320202" y="2120004"/>
                  <a:pt x="10386624" y="2102219"/>
                </a:cubicBezTo>
                <a:cubicBezTo>
                  <a:pt x="10465122" y="2080877"/>
                  <a:pt x="10543619" y="2038192"/>
                  <a:pt x="10628156" y="2077320"/>
                </a:cubicBezTo>
                <a:cubicBezTo>
                  <a:pt x="10510408" y="2130676"/>
                  <a:pt x="10380586" y="2134233"/>
                  <a:pt x="10271896" y="2208931"/>
                </a:cubicBezTo>
                <a:cubicBezTo>
                  <a:pt x="10676462" y="2223159"/>
                  <a:pt x="11032720" y="1984836"/>
                  <a:pt x="11425208" y="1892353"/>
                </a:cubicBezTo>
                <a:cubicBezTo>
                  <a:pt x="11413131" y="1952823"/>
                  <a:pt x="11379920" y="1967051"/>
                  <a:pt x="11352748" y="1974165"/>
                </a:cubicBezTo>
                <a:cubicBezTo>
                  <a:pt x="11207830" y="2020407"/>
                  <a:pt x="11081026" y="2112891"/>
                  <a:pt x="10948184" y="2191146"/>
                </a:cubicBezTo>
                <a:cubicBezTo>
                  <a:pt x="10893840" y="2223159"/>
                  <a:pt x="10854590" y="2258731"/>
                  <a:pt x="10833457" y="2326314"/>
                </a:cubicBezTo>
                <a:cubicBezTo>
                  <a:pt x="10815342" y="2390340"/>
                  <a:pt x="10779112" y="2418796"/>
                  <a:pt x="10712690" y="2401012"/>
                </a:cubicBezTo>
                <a:cubicBezTo>
                  <a:pt x="10658346" y="2386784"/>
                  <a:pt x="10600982" y="2393898"/>
                  <a:pt x="10543619" y="2401012"/>
                </a:cubicBezTo>
                <a:cubicBezTo>
                  <a:pt x="10480218" y="2408126"/>
                  <a:pt x="10407758" y="2479267"/>
                  <a:pt x="10422854" y="2518395"/>
                </a:cubicBezTo>
                <a:cubicBezTo>
                  <a:pt x="10453044" y="2582422"/>
                  <a:pt x="10504370" y="2550408"/>
                  <a:pt x="10546639" y="2543294"/>
                </a:cubicBezTo>
                <a:cubicBezTo>
                  <a:pt x="10597964" y="2536181"/>
                  <a:pt x="10691556" y="2518395"/>
                  <a:pt x="10691556" y="2525509"/>
                </a:cubicBezTo>
                <a:cubicBezTo>
                  <a:pt x="10724768" y="2685576"/>
                  <a:pt x="10800246" y="2564636"/>
                  <a:pt x="10854590" y="2564636"/>
                </a:cubicBezTo>
                <a:cubicBezTo>
                  <a:pt x="10905916" y="2564636"/>
                  <a:pt x="10957241" y="2546851"/>
                  <a:pt x="11005548" y="2532623"/>
                </a:cubicBezTo>
                <a:cubicBezTo>
                  <a:pt x="11068949" y="2514837"/>
                  <a:pt x="11126312" y="2546851"/>
                  <a:pt x="11186696" y="2553965"/>
                </a:cubicBezTo>
                <a:cubicBezTo>
                  <a:pt x="11241040" y="2561080"/>
                  <a:pt x="11210850" y="2653563"/>
                  <a:pt x="11244060" y="2692689"/>
                </a:cubicBezTo>
                <a:cubicBezTo>
                  <a:pt x="11250097" y="2703362"/>
                  <a:pt x="11256136" y="2703362"/>
                  <a:pt x="11262174" y="2703362"/>
                </a:cubicBezTo>
                <a:cubicBezTo>
                  <a:pt x="11280289" y="2980812"/>
                  <a:pt x="11597299" y="2913227"/>
                  <a:pt x="11597299" y="2923898"/>
                </a:cubicBezTo>
                <a:cubicBezTo>
                  <a:pt x="11624471" y="2941684"/>
                  <a:pt x="11657682" y="2899000"/>
                  <a:pt x="11690892" y="2941684"/>
                </a:cubicBezTo>
                <a:cubicBezTo>
                  <a:pt x="11548993" y="3137322"/>
                  <a:pt x="11331614" y="3183563"/>
                  <a:pt x="11138390" y="3329402"/>
                </a:cubicBezTo>
                <a:cubicBezTo>
                  <a:pt x="11298403" y="3379202"/>
                  <a:pt x="11391998" y="3208463"/>
                  <a:pt x="11509744" y="3229805"/>
                </a:cubicBezTo>
                <a:cubicBezTo>
                  <a:pt x="11567107" y="3283162"/>
                  <a:pt x="11395016" y="3368530"/>
                  <a:pt x="11561068" y="3393429"/>
                </a:cubicBezTo>
                <a:cubicBezTo>
                  <a:pt x="11488610" y="3439672"/>
                  <a:pt x="11437284" y="3485914"/>
                  <a:pt x="11385959" y="3539269"/>
                </a:cubicBezTo>
                <a:cubicBezTo>
                  <a:pt x="11298403" y="3635309"/>
                  <a:pt x="11280289" y="3699337"/>
                  <a:pt x="11322556" y="3827390"/>
                </a:cubicBezTo>
                <a:cubicBezTo>
                  <a:pt x="11349730" y="3912759"/>
                  <a:pt x="11388978" y="3991015"/>
                  <a:pt x="11352748" y="4090612"/>
                </a:cubicBezTo>
                <a:cubicBezTo>
                  <a:pt x="11328595" y="4158196"/>
                  <a:pt x="11337653" y="4204438"/>
                  <a:pt x="11428226" y="4172424"/>
                </a:cubicBezTo>
                <a:cubicBezTo>
                  <a:pt x="11524840" y="4140411"/>
                  <a:pt x="11561068" y="4200882"/>
                  <a:pt x="11536915" y="4321821"/>
                </a:cubicBezTo>
                <a:cubicBezTo>
                  <a:pt x="11521821" y="4400076"/>
                  <a:pt x="11536915" y="4424975"/>
                  <a:pt x="11603338" y="4414305"/>
                </a:cubicBezTo>
                <a:cubicBezTo>
                  <a:pt x="11675796" y="4403633"/>
                  <a:pt x="11745236" y="4353835"/>
                  <a:pt x="11835811" y="4378734"/>
                </a:cubicBezTo>
                <a:cubicBezTo>
                  <a:pt x="11763352" y="4521016"/>
                  <a:pt x="11609374" y="4478331"/>
                  <a:pt x="11524840" y="4613499"/>
                </a:cubicBezTo>
                <a:cubicBezTo>
                  <a:pt x="11624471" y="4613499"/>
                  <a:pt x="11702969" y="4613499"/>
                  <a:pt x="11775427" y="4585042"/>
                </a:cubicBezTo>
                <a:cubicBezTo>
                  <a:pt x="11805619" y="4574373"/>
                  <a:pt x="11838830" y="4560144"/>
                  <a:pt x="11856944" y="4602828"/>
                </a:cubicBezTo>
                <a:cubicBezTo>
                  <a:pt x="11878080" y="4652628"/>
                  <a:pt x="11835811" y="4670412"/>
                  <a:pt x="11811658" y="4677526"/>
                </a:cubicBezTo>
                <a:cubicBezTo>
                  <a:pt x="11742216" y="4702425"/>
                  <a:pt x="11687874" y="4759339"/>
                  <a:pt x="11627490" y="4805580"/>
                </a:cubicBezTo>
                <a:cubicBezTo>
                  <a:pt x="11497668" y="4905177"/>
                  <a:pt x="11355767" y="4990547"/>
                  <a:pt x="11247078" y="5154171"/>
                </a:cubicBezTo>
                <a:cubicBezTo>
                  <a:pt x="11382940" y="5111487"/>
                  <a:pt x="11485590" y="5011889"/>
                  <a:pt x="11615414" y="4994104"/>
                </a:cubicBezTo>
                <a:cubicBezTo>
                  <a:pt x="11503704" y="5143500"/>
                  <a:pt x="11361806" y="5243097"/>
                  <a:pt x="11228964" y="5353367"/>
                </a:cubicBezTo>
                <a:cubicBezTo>
                  <a:pt x="11189714" y="5385379"/>
                  <a:pt x="11150466" y="5406721"/>
                  <a:pt x="11144428" y="5474306"/>
                </a:cubicBezTo>
                <a:cubicBezTo>
                  <a:pt x="11126312" y="5605917"/>
                  <a:pt x="11078008" y="5712629"/>
                  <a:pt x="10969318" y="5769542"/>
                </a:cubicBezTo>
                <a:cubicBezTo>
                  <a:pt x="10969318" y="5769542"/>
                  <a:pt x="10975356" y="5790884"/>
                  <a:pt x="10978374" y="5801555"/>
                </a:cubicBezTo>
                <a:cubicBezTo>
                  <a:pt x="11044797" y="5805112"/>
                  <a:pt x="11096122" y="5726858"/>
                  <a:pt x="11177639" y="5755314"/>
                </a:cubicBezTo>
                <a:cubicBezTo>
                  <a:pt x="11096122" y="5862025"/>
                  <a:pt x="11029702" y="5954508"/>
                  <a:pt x="10917992" y="6004307"/>
                </a:cubicBezTo>
                <a:cubicBezTo>
                  <a:pt x="10827418" y="6043434"/>
                  <a:pt x="10715710" y="6068335"/>
                  <a:pt x="10649289" y="6196388"/>
                </a:cubicBezTo>
                <a:cubicBezTo>
                  <a:pt x="10724768" y="6221287"/>
                  <a:pt x="10782132" y="6189274"/>
                  <a:pt x="10839496" y="6167932"/>
                </a:cubicBezTo>
                <a:cubicBezTo>
                  <a:pt x="10927050" y="6132361"/>
                  <a:pt x="11014605" y="6093234"/>
                  <a:pt x="11102160" y="6057663"/>
                </a:cubicBezTo>
                <a:cubicBezTo>
                  <a:pt x="11135372" y="6043434"/>
                  <a:pt x="11171600" y="6036320"/>
                  <a:pt x="11192734" y="6100347"/>
                </a:cubicBezTo>
                <a:cubicBezTo>
                  <a:pt x="11081026" y="6114575"/>
                  <a:pt x="11014605" y="6199945"/>
                  <a:pt x="10945164" y="6281757"/>
                </a:cubicBezTo>
                <a:cubicBezTo>
                  <a:pt x="10905916" y="6327999"/>
                  <a:pt x="10872705" y="6388469"/>
                  <a:pt x="10803265" y="6367127"/>
                </a:cubicBezTo>
                <a:cubicBezTo>
                  <a:pt x="10767036" y="6356456"/>
                  <a:pt x="10742882" y="6388469"/>
                  <a:pt x="10745901" y="6431153"/>
                </a:cubicBezTo>
                <a:cubicBezTo>
                  <a:pt x="10760998" y="6580550"/>
                  <a:pt x="10673442" y="6630349"/>
                  <a:pt x="10582868" y="6658805"/>
                </a:cubicBezTo>
                <a:cubicBezTo>
                  <a:pt x="10450026" y="6701489"/>
                  <a:pt x="10332280" y="6786859"/>
                  <a:pt x="10208496" y="6858000"/>
                </a:cubicBezTo>
                <a:lnTo>
                  <a:pt x="7272221" y="6858000"/>
                </a:lnTo>
                <a:lnTo>
                  <a:pt x="6362810" y="6858000"/>
                </a:lnTo>
                <a:lnTo>
                  <a:pt x="6139260" y="6858000"/>
                </a:lnTo>
                <a:lnTo>
                  <a:pt x="4282294" y="6858000"/>
                </a:lnTo>
                <a:lnTo>
                  <a:pt x="4114800" y="6858000"/>
                </a:lnTo>
                <a:lnTo>
                  <a:pt x="4038600" y="6858000"/>
                </a:lnTo>
                <a:lnTo>
                  <a:pt x="0" y="6858000"/>
                </a:lnTo>
                <a:close/>
              </a:path>
            </a:pathLst>
          </a:custGeom>
        </p:spPr>
      </p:pic>
      <p:sp>
        <p:nvSpPr>
          <p:cNvPr id="6" name="Rectangle 5">
            <a:extLst>
              <a:ext uri="{FF2B5EF4-FFF2-40B4-BE49-F238E27FC236}">
                <a16:creationId xmlns:a16="http://schemas.microsoft.com/office/drawing/2014/main" id="{19E546A4-C63F-42E9-875B-FCF76B1931E8}"/>
              </a:ext>
            </a:extLst>
          </p:cNvPr>
          <p:cNvSpPr/>
          <p:nvPr/>
        </p:nvSpPr>
        <p:spPr>
          <a:xfrm>
            <a:off x="608172" y="614637"/>
            <a:ext cx="9158679" cy="2246769"/>
          </a:xfrm>
          <a:prstGeom prst="rect">
            <a:avLst/>
          </a:prstGeom>
        </p:spPr>
        <p:txBody>
          <a:bodyPr wrap="square">
            <a:spAutoFit/>
          </a:bodyPr>
          <a:lstStyle/>
          <a:p>
            <a:pPr algn="just"/>
            <a:r>
              <a:rPr lang="en-US" sz="2800" b="0" i="0" dirty="0" err="1">
                <a:solidFill>
                  <a:schemeClr val="bg1"/>
                </a:solidFill>
                <a:effectLst/>
                <a:latin typeface="Times New Roman" panose="02020603050405020304" pitchFamily="18" charset="0"/>
              </a:rPr>
              <a:t>Thiên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nhiên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và</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điều</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kiện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sống</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khắc</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nghiệt</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đã</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tôi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luyện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loài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sói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trở</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thành</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những</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kẻ</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đi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săn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gan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lì</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và</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dẻo</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dai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bậc</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nhất</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thế</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giới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các</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loài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hoang</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dã</a:t>
            </a:r>
            <a:r>
              <a:rPr lang="en-US" sz="2800" b="0" i="0" dirty="0">
                <a:solidFill>
                  <a:schemeClr val="bg1"/>
                </a:solidFill>
                <a:effectLst/>
                <a:latin typeface="Times New Roman" panose="02020603050405020304" pitchFamily="18" charset="0"/>
              </a:rPr>
              <a:t>. Trung </a:t>
            </a:r>
            <a:r>
              <a:rPr lang="en-US" sz="2800" b="0" i="0" dirty="0" err="1">
                <a:solidFill>
                  <a:schemeClr val="bg1"/>
                </a:solidFill>
                <a:effectLst/>
                <a:latin typeface="Times New Roman" panose="02020603050405020304" pitchFamily="18" charset="0"/>
              </a:rPr>
              <a:t>bình</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trong</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mỗi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cuộc</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đi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săn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loài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sói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có</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thể</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chạy</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săn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đuổi</a:t>
            </a:r>
            <a:r>
              <a:rPr lang="en-US" sz="2800" b="0" i="0" dirty="0">
                <a:solidFill>
                  <a:schemeClr val="bg1"/>
                </a:solidFill>
                <a:effectLst/>
                <a:latin typeface="Times New Roman" panose="02020603050405020304" pitchFamily="18" charset="0"/>
              </a:rPr>
              <a:t> con </a:t>
            </a:r>
            <a:r>
              <a:rPr lang="en-US" sz="2800" b="0" i="0" dirty="0" err="1">
                <a:solidFill>
                  <a:schemeClr val="bg1"/>
                </a:solidFill>
                <a:effectLst/>
                <a:latin typeface="Times New Roman" panose="02020603050405020304" pitchFamily="18" charset="0"/>
              </a:rPr>
              <a:t>mồi</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liên</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tục</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trong</a:t>
            </a:r>
            <a:r>
              <a:rPr lang="en-US" sz="2800" b="0" i="0" dirty="0">
                <a:solidFill>
                  <a:schemeClr val="bg1"/>
                </a:solidFill>
                <a:effectLst/>
                <a:latin typeface="Times New Roman" panose="02020603050405020304" pitchFamily="18" charset="0"/>
              </a:rPr>
              <a:t> 3 </a:t>
            </a:r>
            <a:r>
              <a:rPr lang="en-US" sz="2800" b="0" i="0" dirty="0" err="1">
                <a:solidFill>
                  <a:schemeClr val="bg1"/>
                </a:solidFill>
                <a:effectLst/>
                <a:latin typeface="Times New Roman" panose="02020603050405020304" pitchFamily="18" charset="0"/>
              </a:rPr>
              <a:t>giờ</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đồng</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hồ</a:t>
            </a:r>
            <a:r>
              <a:rPr lang="en-US" sz="2800" b="0" i="0" dirty="0">
                <a:solidFill>
                  <a:schemeClr val="bg1"/>
                </a:solidFill>
                <a:effectLst/>
                <a:latin typeface="Times New Roman" panose="02020603050405020304" pitchFamily="18" charset="0"/>
              </a:rPr>
              <a:t>, ở </a:t>
            </a:r>
            <a:r>
              <a:rPr lang="en-US" sz="2800" b="0" i="0" dirty="0" err="1">
                <a:solidFill>
                  <a:schemeClr val="bg1"/>
                </a:solidFill>
                <a:effectLst/>
                <a:latin typeface="Times New Roman" panose="02020603050405020304" pitchFamily="18" charset="0"/>
              </a:rPr>
              <a:t>tốc</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độ</a:t>
            </a:r>
            <a:r>
              <a:rPr lang="en-US" sz="2800" b="0" i="0" dirty="0">
                <a:solidFill>
                  <a:schemeClr val="bg1"/>
                </a:solidFill>
                <a:effectLst/>
                <a:latin typeface="Times New Roman" panose="02020603050405020304" pitchFamily="18" charset="0"/>
              </a:rPr>
              <a:t> </a:t>
            </a:r>
            <a:r>
              <a:rPr lang="en-US" sz="2800" b="0" i="0" dirty="0" err="1">
                <a:solidFill>
                  <a:schemeClr val="bg1"/>
                </a:solidFill>
                <a:effectLst/>
                <a:latin typeface="Times New Roman" panose="02020603050405020304" pitchFamily="18" charset="0"/>
              </a:rPr>
              <a:t>là</a:t>
            </a:r>
            <a:r>
              <a:rPr lang="en-US" sz="2800" b="0" i="0" dirty="0">
                <a:solidFill>
                  <a:schemeClr val="bg1"/>
                </a:solidFill>
                <a:effectLst/>
                <a:latin typeface="Times New Roman" panose="02020603050405020304" pitchFamily="18" charset="0"/>
              </a:rPr>
              <a:t> 65km/h.</a:t>
            </a:r>
            <a:endParaRPr lang="en-US" sz="2800" dirty="0">
              <a:solidFill>
                <a:schemeClr val="bg1"/>
              </a:solidFill>
            </a:endParaRPr>
          </a:p>
        </p:txBody>
      </p:sp>
      <p:sp>
        <p:nvSpPr>
          <p:cNvPr id="7" name="Rectangle 6">
            <a:extLst>
              <a:ext uri="{FF2B5EF4-FFF2-40B4-BE49-F238E27FC236}">
                <a16:creationId xmlns:a16="http://schemas.microsoft.com/office/drawing/2014/main" id="{01618B90-A786-4D9C-83B7-388B031C51B4}"/>
              </a:ext>
            </a:extLst>
          </p:cNvPr>
          <p:cNvSpPr/>
          <p:nvPr/>
        </p:nvSpPr>
        <p:spPr>
          <a:xfrm>
            <a:off x="5187511" y="3092583"/>
            <a:ext cx="6096000" cy="2308324"/>
          </a:xfrm>
          <a:prstGeom prst="rect">
            <a:avLst/>
          </a:prstGeom>
        </p:spPr>
        <p:txBody>
          <a:bodyPr>
            <a:spAutoFit/>
          </a:bodyPr>
          <a:lstStyle/>
          <a:p>
            <a:pPr algn="just"/>
            <a:r>
              <a:rPr lang="en-US" sz="3600" b="0" i="0" dirty="0" err="1">
                <a:solidFill>
                  <a:srgbClr val="FFFF00"/>
                </a:solidFill>
                <a:effectLst/>
                <a:latin typeface="Times New Roman" panose="02020603050405020304" pitchFamily="18" charset="0"/>
              </a:rPr>
              <a:t>Vì</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thế</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để</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trở</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thành</a:t>
            </a:r>
            <a:r>
              <a:rPr lang="en-US" sz="3600" b="0" i="0" dirty="0">
                <a:solidFill>
                  <a:srgbClr val="FFFF00"/>
                </a:solidFill>
                <a:effectLst/>
                <a:latin typeface="Times New Roman" panose="02020603050405020304" pitchFamily="18" charset="0"/>
              </a:rPr>
              <a:t> con </a:t>
            </a:r>
            <a:r>
              <a:rPr lang="en-US" sz="3600" b="0" i="0" dirty="0" err="1">
                <a:solidFill>
                  <a:srgbClr val="FFFF00"/>
                </a:solidFill>
                <a:effectLst/>
                <a:latin typeface="Times New Roman" panose="02020603050405020304" pitchFamily="18" charset="0"/>
              </a:rPr>
              <a:t>sói</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đầu</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đàn</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nó</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phải</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là</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những</a:t>
            </a:r>
            <a:r>
              <a:rPr lang="en-US" sz="3600" b="0" i="0" dirty="0">
                <a:solidFill>
                  <a:srgbClr val="FFFF00"/>
                </a:solidFill>
                <a:effectLst/>
                <a:latin typeface="Times New Roman" panose="02020603050405020304" pitchFamily="18" charset="0"/>
              </a:rPr>
              <a:t> con </a:t>
            </a:r>
            <a:r>
              <a:rPr lang="en-US" sz="3600" b="0" i="0" dirty="0" err="1">
                <a:solidFill>
                  <a:srgbClr val="FFFF00"/>
                </a:solidFill>
                <a:effectLst/>
                <a:latin typeface="Times New Roman" panose="02020603050405020304" pitchFamily="18" charset="0"/>
              </a:rPr>
              <a:t>khỏe</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mạnh</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nhất</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kiên</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trì</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nhất</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và</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dũng</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cảm</a:t>
            </a:r>
            <a:r>
              <a:rPr lang="en-US" sz="3600" b="0" i="0" dirty="0">
                <a:solidFill>
                  <a:srgbClr val="FFFF00"/>
                </a:solidFill>
                <a:effectLst/>
                <a:latin typeface="Times New Roman" panose="02020603050405020304" pitchFamily="18" charset="0"/>
              </a:rPr>
              <a:t> </a:t>
            </a:r>
            <a:r>
              <a:rPr lang="en-US" sz="3600" b="0" i="0" dirty="0" err="1">
                <a:solidFill>
                  <a:srgbClr val="FFFF00"/>
                </a:solidFill>
                <a:effectLst/>
                <a:latin typeface="Times New Roman" panose="02020603050405020304" pitchFamily="18" charset="0"/>
              </a:rPr>
              <a:t>nhất</a:t>
            </a:r>
            <a:r>
              <a:rPr lang="en-US" sz="3600" b="0" i="0" dirty="0">
                <a:solidFill>
                  <a:srgbClr val="FFFF00"/>
                </a:solidFill>
                <a:effectLst/>
                <a:latin typeface="Times New Roman" panose="02020603050405020304" pitchFamily="18" charset="0"/>
              </a:rPr>
              <a:t>.</a:t>
            </a:r>
            <a:endParaRPr lang="en-US" sz="3600" dirty="0">
              <a:solidFill>
                <a:srgbClr val="FFFF00"/>
              </a:solidFill>
            </a:endParaRPr>
          </a:p>
        </p:txBody>
      </p:sp>
      <p:pic>
        <p:nvPicPr>
          <p:cNvPr id="2" name="Picture 1">
            <a:extLst>
              <a:ext uri="{FF2B5EF4-FFF2-40B4-BE49-F238E27FC236}">
                <a16:creationId xmlns:a16="http://schemas.microsoft.com/office/drawing/2014/main" id="{4EFF3647-5841-EE5E-A715-0E3ACE62F2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234165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14478487-E818-474D-9235-A6E53225E210}"/>
              </a:ext>
            </a:extLst>
          </p:cNvPr>
          <p:cNvPicPr>
            <a:picLocks noGrp="1" noChangeAspect="1"/>
          </p:cNvPicPr>
          <p:nvPr>
            <p:ph idx="1"/>
          </p:nvPr>
        </p:nvPicPr>
        <p:blipFill rotWithShape="1">
          <a:blip r:embed="rId2"/>
          <a:srcRect t="4221" r="1" b="10763"/>
          <a:stretch/>
        </p:blipFill>
        <p:spPr>
          <a:xfrm>
            <a:off x="329316" y="10"/>
            <a:ext cx="11862684" cy="6857990"/>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p:spPr>
      </p:pic>
      <p:sp>
        <p:nvSpPr>
          <p:cNvPr id="5" name="Rectangle 4">
            <a:extLst>
              <a:ext uri="{FF2B5EF4-FFF2-40B4-BE49-F238E27FC236}">
                <a16:creationId xmlns:a16="http://schemas.microsoft.com/office/drawing/2014/main" id="{E1A5D623-BAE4-488D-9E97-DAF8F8A6CBB2}"/>
              </a:ext>
            </a:extLst>
          </p:cNvPr>
          <p:cNvSpPr/>
          <p:nvPr/>
        </p:nvSpPr>
        <p:spPr>
          <a:xfrm>
            <a:off x="1650607" y="874455"/>
            <a:ext cx="9523277" cy="255454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just"/>
            <a:r>
              <a:rPr lang="vi-VN" sz="2000" b="0" i="0" dirty="0">
                <a:solidFill>
                  <a:schemeClr val="bg1"/>
                </a:solidFill>
                <a:effectLst/>
                <a:latin typeface="Times New Roman" panose="02020603050405020304" pitchFamily="18" charset="0"/>
              </a:rPr>
              <a:t>Để nhận biết con mồi ở đằng xa, loài sói nói chung sử dụng bộ "vũ khí cảm ứng siêu nhạy": </a:t>
            </a:r>
            <a:endParaRPr lang="en-US" sz="2000" b="0" i="0" dirty="0">
              <a:solidFill>
                <a:schemeClr val="bg1"/>
              </a:solidFill>
              <a:effectLst/>
              <a:latin typeface="Times New Roman" panose="02020603050405020304" pitchFamily="18" charset="0"/>
            </a:endParaRPr>
          </a:p>
          <a:p>
            <a:pPr algn="just"/>
            <a:r>
              <a:rPr lang="vi-VN" sz="2000" b="0" i="0" dirty="0">
                <a:solidFill>
                  <a:schemeClr val="bg1"/>
                </a:solidFill>
                <a:effectLst/>
                <a:latin typeface="Times New Roman" panose="02020603050405020304" pitchFamily="18" charset="0"/>
              </a:rPr>
              <a:t>Đầu tiên là cái mũi dài, có thể đánh hơi thấy mùi con mồi và mùi máu tinh gấp hàng trăm lần con người, ở khoảng cách 2.500m.</a:t>
            </a:r>
          </a:p>
          <a:p>
            <a:pPr algn="just"/>
            <a:r>
              <a:rPr lang="vi-VN" sz="2000" b="0" i="0" dirty="0">
                <a:solidFill>
                  <a:schemeClr val="bg1"/>
                </a:solidFill>
                <a:effectLst/>
                <a:latin typeface="Times New Roman" panose="02020603050405020304" pitchFamily="18" charset="0"/>
              </a:rPr>
              <a:t>Tiếp đến là thính giác cực nhạy, có thể nghe được âm thanh ở tần số cao hơn so với con người. Và đôi mắt có tầm nhìn rất xa, mặc dù chúng chỉ nhìn được hai màu đen trắng.</a:t>
            </a:r>
          </a:p>
          <a:p>
            <a:pPr algn="just"/>
            <a:r>
              <a:rPr lang="vi-VN" sz="2000" b="0" i="0" dirty="0">
                <a:solidFill>
                  <a:schemeClr val="bg1"/>
                </a:solidFill>
                <a:effectLst/>
                <a:latin typeface="Times New Roman" panose="02020603050405020304" pitchFamily="18" charset="0"/>
              </a:rPr>
              <a:t>Những giác quan này là công cụ hỗ trợ đắc lực cho việc phát hiện và đánh giá con mồi của con đầu đàn. Những việc săn bắt con mồi còn lại phụ thuộc vào sức bền hoang dã và bản năng chiếm đoạt con mồi của con đầu đàn và thành viên.</a:t>
            </a:r>
          </a:p>
        </p:txBody>
      </p:sp>
      <p:pic>
        <p:nvPicPr>
          <p:cNvPr id="2" name="Picture 1">
            <a:extLst>
              <a:ext uri="{FF2B5EF4-FFF2-40B4-BE49-F238E27FC236}">
                <a16:creationId xmlns:a16="http://schemas.microsoft.com/office/drawing/2014/main" id="{AF2E4B99-5076-856D-FE38-432628F32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171057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D3B49AE5-083B-4AE3-9A8F-9BA906EAFE0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7280"/>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686BADB-2750-423E-8D09-C31AFA9FC7E8}"/>
              </a:ext>
            </a:extLst>
          </p:cNvPr>
          <p:cNvSpPr/>
          <p:nvPr/>
        </p:nvSpPr>
        <p:spPr>
          <a:xfrm>
            <a:off x="180668" y="1050278"/>
            <a:ext cx="11592602" cy="3785652"/>
          </a:xfrm>
          <a:prstGeom prst="rect">
            <a:avLst/>
          </a:prstGeom>
        </p:spPr>
        <p:txBody>
          <a:bodyPr wrap="square">
            <a:spAutoFit/>
          </a:bodyPr>
          <a:lstStyle/>
          <a:p>
            <a:pPr algn="just"/>
            <a:r>
              <a:rPr lang="vi-VN" sz="2400" dirty="0">
                <a:solidFill>
                  <a:schemeClr val="bg1"/>
                </a:solidFill>
                <a:latin typeface="Times New Roman" panose="02020603050405020304" pitchFamily="18" charset="0"/>
              </a:rPr>
              <a:t>Đối với con sói đầu đàn, sức dẻo dai của nó phải được duy trì liên tục trong suốt cuộc đi săn. Không chỉ săn đuổi con mồi, nó còn phải hú gọi bầy đàn. Tiếng hú của chúng có thể vang xa 10km.</a:t>
            </a:r>
            <a:endParaRPr lang="en-US" sz="2400" dirty="0">
              <a:solidFill>
                <a:schemeClr val="bg1"/>
              </a:solidFill>
              <a:latin typeface="Times New Roman" panose="02020603050405020304" pitchFamily="18" charset="0"/>
            </a:endParaRPr>
          </a:p>
          <a:p>
            <a:pPr algn="just"/>
            <a:endParaRPr lang="vi-VN" sz="2400" dirty="0">
              <a:solidFill>
                <a:schemeClr val="bg1"/>
              </a:solidFill>
              <a:latin typeface="Times New Roman" panose="02020603050405020304" pitchFamily="18" charset="0"/>
            </a:endParaRPr>
          </a:p>
          <a:p>
            <a:pPr algn="just"/>
            <a:r>
              <a:rPr lang="vi-VN" sz="2400" dirty="0">
                <a:solidFill>
                  <a:schemeClr val="bg1"/>
                </a:solidFill>
                <a:latin typeface="Times New Roman" panose="02020603050405020304" pitchFamily="18" charset="0"/>
              </a:rPr>
              <a:t>Tiếng hú gọi đàn của chó sói đầu đàn giống như quân lệnh dũng mãnh của tướng chỉ huy khi xông ra trận mạc. Đó là thứ "ngôn ngữ" mà chỉ cần nghe thấy thôi, các con sói thành viên sẽ tăng thêm khả năng chiến đấu đến cùng.</a:t>
            </a:r>
            <a:endParaRPr lang="en-US" sz="2400" dirty="0">
              <a:solidFill>
                <a:schemeClr val="bg1"/>
              </a:solidFill>
              <a:latin typeface="Times New Roman" panose="02020603050405020304" pitchFamily="18" charset="0"/>
            </a:endParaRPr>
          </a:p>
          <a:p>
            <a:pPr algn="just"/>
            <a:endParaRPr lang="vi-VN" sz="2400" dirty="0">
              <a:solidFill>
                <a:schemeClr val="bg1"/>
              </a:solidFill>
              <a:latin typeface="Times New Roman" panose="02020603050405020304" pitchFamily="18" charset="0"/>
            </a:endParaRPr>
          </a:p>
          <a:p>
            <a:pPr algn="just"/>
            <a:r>
              <a:rPr lang="vi-VN" sz="2400" dirty="0">
                <a:solidFill>
                  <a:schemeClr val="bg1"/>
                </a:solidFill>
                <a:latin typeface="Times New Roman" panose="02020603050405020304" pitchFamily="18" charset="0"/>
              </a:rPr>
              <a:t>Ngoài ra, tiếng hú của con đầu đàn còn có khả năng góp phần kết thúc cuộc đi săn. Tiếng hú càng to càng khiến con mồi khiếp sợ và dễ dàng gục ngã.</a:t>
            </a:r>
          </a:p>
        </p:txBody>
      </p:sp>
      <p:pic>
        <p:nvPicPr>
          <p:cNvPr id="2" name="Picture 1">
            <a:extLst>
              <a:ext uri="{FF2B5EF4-FFF2-40B4-BE49-F238E27FC236}">
                <a16:creationId xmlns:a16="http://schemas.microsoft.com/office/drawing/2014/main" id="{4FBBD50F-E8C0-26A7-6DB6-5FC9AADEAC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359697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9E350461-E583-483A-B174-3417CCDE0C51}"/>
              </a:ext>
            </a:extLst>
          </p:cNvPr>
          <p:cNvPicPr>
            <a:picLocks noGrp="1" noChangeAspect="1"/>
          </p:cNvPicPr>
          <p:nvPr>
            <p:ph idx="1"/>
          </p:nvPr>
        </p:nvPicPr>
        <p:blipFill rotWithShape="1">
          <a:blip r:embed="rId2"/>
          <a:srcRect t="17295"/>
          <a:stretch/>
        </p:blipFill>
        <p:spPr>
          <a:xfrm>
            <a:off x="20" y="1282"/>
            <a:ext cx="12191980" cy="6856718"/>
          </a:xfrm>
          <a:prstGeom prst="rect">
            <a:avLst/>
          </a:prstGeom>
        </p:spPr>
      </p:pic>
      <p:sp>
        <p:nvSpPr>
          <p:cNvPr id="5" name="Rectangle 4">
            <a:extLst>
              <a:ext uri="{FF2B5EF4-FFF2-40B4-BE49-F238E27FC236}">
                <a16:creationId xmlns:a16="http://schemas.microsoft.com/office/drawing/2014/main" id="{5012B343-11DA-426B-9B02-EC245790CBBF}"/>
              </a:ext>
            </a:extLst>
          </p:cNvPr>
          <p:cNvSpPr/>
          <p:nvPr/>
        </p:nvSpPr>
        <p:spPr>
          <a:xfrm>
            <a:off x="577383" y="2734449"/>
            <a:ext cx="11171582" cy="2246769"/>
          </a:xfrm>
          <a:prstGeom prst="rect">
            <a:avLst/>
          </a:prstGeom>
        </p:spPr>
        <p:txBody>
          <a:bodyPr wrap="square">
            <a:spAutoFit/>
          </a:bodyPr>
          <a:lstStyle/>
          <a:p>
            <a:r>
              <a:rPr lang="vi-VN" sz="2000" b="0" i="0" dirty="0">
                <a:solidFill>
                  <a:schemeClr val="bg1"/>
                </a:solidFill>
                <a:effectLst/>
                <a:latin typeface="Times New Roman" panose="02020603050405020304" pitchFamily="18" charset="0"/>
              </a:rPr>
              <a:t>Chó sói không dại gì tấn công những con bò rừng trưởng thành to lớn và hung dữ, cặp đầu đàn sẽ dùng đôi mắt tinh anh của mình để lựa những ứng viên tiềm năng: Đó là những con non hoặc những con bò yếu nhất đàn để tấn công. Đây chính là lúc con đầu đàn thể hiện "bản lĩnh và sự tự tin" trong cuộc đi săn của cả đàn.</a:t>
            </a:r>
          </a:p>
          <a:p>
            <a:r>
              <a:rPr lang="vi-VN" sz="2000" b="0" i="0" dirty="0">
                <a:solidFill>
                  <a:schemeClr val="bg1"/>
                </a:solidFill>
                <a:effectLst/>
                <a:latin typeface="Times New Roman" panose="02020603050405020304" pitchFamily="18" charset="0"/>
              </a:rPr>
              <a:t>Nếu con đầu đàn phát lệnh chạy, cả đàn bắt đầu chạy theo nhằm tách con mồi non/con mồi yếu ra khỏi đàn. Đó là khi cuộc chạy săn bắt đầu.</a:t>
            </a:r>
          </a:p>
          <a:p>
            <a:r>
              <a:rPr lang="vi-VN" sz="2000" b="0" i="0" dirty="0">
                <a:solidFill>
                  <a:schemeClr val="bg1"/>
                </a:solidFill>
                <a:effectLst/>
                <a:latin typeface="Times New Roman" panose="02020603050405020304" pitchFamily="18" charset="0"/>
              </a:rPr>
              <a:t>Đàn sói có thể chạy săn bò rừng bison một quãng đường dài 5km. Lúc này, chúng không dùng chiến thuật chạy nhanh và dùng sức bền để săn đuổi con mồi.</a:t>
            </a:r>
          </a:p>
        </p:txBody>
      </p:sp>
      <p:pic>
        <p:nvPicPr>
          <p:cNvPr id="2" name="Picture 1">
            <a:extLst>
              <a:ext uri="{FF2B5EF4-FFF2-40B4-BE49-F238E27FC236}">
                <a16:creationId xmlns:a16="http://schemas.microsoft.com/office/drawing/2014/main" id="{6185AA1C-EE57-DBC0-9B67-BE83334790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920993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146" name="Picture 2">
            <a:extLst>
              <a:ext uri="{FF2B5EF4-FFF2-40B4-BE49-F238E27FC236}">
                <a16:creationId xmlns:a16="http://schemas.microsoft.com/office/drawing/2014/main" id="{5EDD79EC-95CC-40A4-A644-9D49AEE6474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5571" b="11723"/>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62D5556-7B91-4393-AB5C-0B0377288E0C}"/>
              </a:ext>
            </a:extLst>
          </p:cNvPr>
          <p:cNvSpPr/>
          <p:nvPr/>
        </p:nvSpPr>
        <p:spPr>
          <a:xfrm>
            <a:off x="3095050" y="1523233"/>
            <a:ext cx="8322365" cy="3539430"/>
          </a:xfrm>
          <a:prstGeom prst="rect">
            <a:avLst/>
          </a:prstGeom>
        </p:spPr>
        <p:txBody>
          <a:bodyPr wrap="square">
            <a:spAutoFit/>
          </a:bodyPr>
          <a:lstStyle/>
          <a:p>
            <a:pPr algn="just"/>
            <a:r>
              <a:rPr lang="vi-VN" sz="2800" b="0" i="0" dirty="0">
                <a:solidFill>
                  <a:schemeClr val="bg1"/>
                </a:solidFill>
                <a:effectLst/>
                <a:latin typeface="Times New Roman" panose="02020603050405020304" pitchFamily="18" charset="0"/>
              </a:rPr>
              <a:t>Khi vùng thức ăn quanh chúng dần cạn kiệt, đàn sói buộc phải đi xa. Chúng có thể đi săn cách nơi ở 160km chỉ trong vòng một ngày.</a:t>
            </a:r>
          </a:p>
          <a:p>
            <a:pPr algn="just"/>
            <a:r>
              <a:rPr lang="vi-VN" sz="2800" b="0" i="0" dirty="0">
                <a:solidFill>
                  <a:schemeClr val="bg1"/>
                </a:solidFill>
                <a:effectLst/>
                <a:latin typeface="Times New Roman" panose="02020603050405020304" pitchFamily="18" charset="0"/>
              </a:rPr>
              <a:t>Khi tìm thấy con mồi, con đầu đàn sẽ phải làm nhiệm vụ phân tích tình hình. Việc nôn nóng trong tấn công có thể khiến cả đàn sói về tay trắng. Chớp thời cơ có lẽ là một trong những bí quyết thành công của loài động vật ưa tốc độ và có thừa sự ranh mãnh này.</a:t>
            </a:r>
          </a:p>
        </p:txBody>
      </p:sp>
      <p:pic>
        <p:nvPicPr>
          <p:cNvPr id="2" name="Picture 1">
            <a:extLst>
              <a:ext uri="{FF2B5EF4-FFF2-40B4-BE49-F238E27FC236}">
                <a16:creationId xmlns:a16="http://schemas.microsoft.com/office/drawing/2014/main" id="{60BE7192-C41D-7CA2-90C7-45C7B4E89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347213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2" name="Rectangle 70">
            <a:extLst>
              <a:ext uri="{FF2B5EF4-FFF2-40B4-BE49-F238E27FC236}">
                <a16:creationId xmlns:a16="http://schemas.microsoft.com/office/drawing/2014/main" id="{5D9FC6AC-4A12-4825-8ABE-0732B8EF4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NHỮNG BÀI HỌC TỪ SÓI ĐẦU ĐÀN - Waka - Diễn đàn sách điện tử Việt Nam">
            <a:extLst>
              <a:ext uri="{FF2B5EF4-FFF2-40B4-BE49-F238E27FC236}">
                <a16:creationId xmlns:a16="http://schemas.microsoft.com/office/drawing/2014/main" id="{98CCD705-7B67-4690-A319-3FB4B13B4EB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9619" b="-1"/>
          <a:stretch/>
        </p:blipFill>
        <p:spPr bwMode="auto">
          <a:xfrm>
            <a:off x="1" y="10"/>
            <a:ext cx="11862683" cy="6857990"/>
          </a:xfrm>
          <a:custGeom>
            <a:avLst/>
            <a:gdLst/>
            <a:ahLst/>
            <a:cxnLst/>
            <a:rect l="l" t="t" r="r" b="b"/>
            <a:pathLst>
              <a:path w="11862683" h="6858000">
                <a:moveTo>
                  <a:pt x="0" y="0"/>
                </a:moveTo>
                <a:lnTo>
                  <a:pt x="4038600" y="0"/>
                </a:lnTo>
                <a:lnTo>
                  <a:pt x="4114800" y="0"/>
                </a:lnTo>
                <a:lnTo>
                  <a:pt x="4282294" y="0"/>
                </a:lnTo>
                <a:lnTo>
                  <a:pt x="6139260" y="0"/>
                </a:lnTo>
                <a:lnTo>
                  <a:pt x="6362810" y="0"/>
                </a:lnTo>
                <a:lnTo>
                  <a:pt x="7272221" y="0"/>
                </a:lnTo>
                <a:lnTo>
                  <a:pt x="10815342" y="0"/>
                </a:lnTo>
                <a:cubicBezTo>
                  <a:pt x="10709672" y="35571"/>
                  <a:pt x="10607020" y="78255"/>
                  <a:pt x="10501350" y="110269"/>
                </a:cubicBezTo>
                <a:cubicBezTo>
                  <a:pt x="10516447" y="145839"/>
                  <a:pt x="10531542" y="138725"/>
                  <a:pt x="10546639" y="135168"/>
                </a:cubicBezTo>
                <a:cubicBezTo>
                  <a:pt x="10637212" y="120941"/>
                  <a:pt x="10730806" y="110269"/>
                  <a:pt x="10818360" y="71141"/>
                </a:cubicBezTo>
                <a:cubicBezTo>
                  <a:pt x="10839496" y="64027"/>
                  <a:pt x="10863648" y="64027"/>
                  <a:pt x="10872705" y="88927"/>
                </a:cubicBezTo>
                <a:cubicBezTo>
                  <a:pt x="10887801" y="124497"/>
                  <a:pt x="10866668" y="145839"/>
                  <a:pt x="10845532" y="163625"/>
                </a:cubicBezTo>
                <a:cubicBezTo>
                  <a:pt x="10809304" y="195638"/>
                  <a:pt x="10767036" y="188525"/>
                  <a:pt x="10727787" y="192082"/>
                </a:cubicBezTo>
                <a:cubicBezTo>
                  <a:pt x="10619098" y="209867"/>
                  <a:pt x="10567772" y="259665"/>
                  <a:pt x="10543619" y="373491"/>
                </a:cubicBezTo>
                <a:cubicBezTo>
                  <a:pt x="10637212" y="327250"/>
                  <a:pt x="10730806" y="384162"/>
                  <a:pt x="10821380" y="352148"/>
                </a:cubicBezTo>
                <a:cubicBezTo>
                  <a:pt x="10845532" y="345034"/>
                  <a:pt x="10881763" y="355706"/>
                  <a:pt x="10869686" y="394834"/>
                </a:cubicBezTo>
                <a:cubicBezTo>
                  <a:pt x="10857610" y="430405"/>
                  <a:pt x="10818360" y="458860"/>
                  <a:pt x="10887801" y="451747"/>
                </a:cubicBezTo>
                <a:cubicBezTo>
                  <a:pt x="10939127" y="448189"/>
                  <a:pt x="10954222" y="405504"/>
                  <a:pt x="10969318" y="359262"/>
                </a:cubicBezTo>
                <a:cubicBezTo>
                  <a:pt x="10981394" y="334364"/>
                  <a:pt x="11014605" y="320135"/>
                  <a:pt x="11038758" y="334364"/>
                </a:cubicBezTo>
                <a:cubicBezTo>
                  <a:pt x="11068949" y="348592"/>
                  <a:pt x="11059892" y="387720"/>
                  <a:pt x="11059892" y="416176"/>
                </a:cubicBezTo>
                <a:cubicBezTo>
                  <a:pt x="11062912" y="469532"/>
                  <a:pt x="11038758" y="494431"/>
                  <a:pt x="10996491" y="505101"/>
                </a:cubicBezTo>
                <a:cubicBezTo>
                  <a:pt x="10945164" y="519330"/>
                  <a:pt x="10893840" y="537116"/>
                  <a:pt x="10827418" y="558458"/>
                </a:cubicBezTo>
                <a:cubicBezTo>
                  <a:pt x="10899878" y="594028"/>
                  <a:pt x="10954222" y="586915"/>
                  <a:pt x="11008566" y="558458"/>
                </a:cubicBezTo>
                <a:cubicBezTo>
                  <a:pt x="11074988" y="526444"/>
                  <a:pt x="11162542" y="483759"/>
                  <a:pt x="11216886" y="522887"/>
                </a:cubicBezTo>
                <a:cubicBezTo>
                  <a:pt x="11298403" y="579800"/>
                  <a:pt x="11364824" y="544229"/>
                  <a:pt x="11437284" y="533558"/>
                </a:cubicBezTo>
                <a:cubicBezTo>
                  <a:pt x="11588242" y="512216"/>
                  <a:pt x="11494648" y="480203"/>
                  <a:pt x="11645605" y="462417"/>
                </a:cubicBezTo>
                <a:cubicBezTo>
                  <a:pt x="11705988" y="455303"/>
                  <a:pt x="11769390" y="426847"/>
                  <a:pt x="11856944" y="465975"/>
                </a:cubicBezTo>
                <a:cubicBezTo>
                  <a:pt x="11461437" y="672284"/>
                  <a:pt x="11274250" y="658055"/>
                  <a:pt x="10921012" y="910606"/>
                </a:cubicBezTo>
                <a:cubicBezTo>
                  <a:pt x="10936107" y="935506"/>
                  <a:pt x="10951202" y="924835"/>
                  <a:pt x="10966299" y="921277"/>
                </a:cubicBezTo>
                <a:cubicBezTo>
                  <a:pt x="10990452" y="917720"/>
                  <a:pt x="11020644" y="903491"/>
                  <a:pt x="11026682" y="949734"/>
                </a:cubicBezTo>
                <a:cubicBezTo>
                  <a:pt x="11029702" y="985305"/>
                  <a:pt x="11011585" y="1003089"/>
                  <a:pt x="10981394" y="1006647"/>
                </a:cubicBezTo>
                <a:cubicBezTo>
                  <a:pt x="10893840" y="1020875"/>
                  <a:pt x="10815342" y="1070674"/>
                  <a:pt x="10736844" y="1113358"/>
                </a:cubicBezTo>
                <a:cubicBezTo>
                  <a:pt x="10700615" y="1131144"/>
                  <a:pt x="10661366" y="1156043"/>
                  <a:pt x="10676462" y="1220069"/>
                </a:cubicBezTo>
                <a:cubicBezTo>
                  <a:pt x="10706652" y="1237855"/>
                  <a:pt x="10727787" y="1212955"/>
                  <a:pt x="10751940" y="1209399"/>
                </a:cubicBezTo>
                <a:cubicBezTo>
                  <a:pt x="10776093" y="1205842"/>
                  <a:pt x="10833457" y="1220069"/>
                  <a:pt x="10818360" y="1230741"/>
                </a:cubicBezTo>
                <a:cubicBezTo>
                  <a:pt x="10748920" y="1269868"/>
                  <a:pt x="10875724" y="1365909"/>
                  <a:pt x="10791190" y="1365909"/>
                </a:cubicBezTo>
                <a:cubicBezTo>
                  <a:pt x="10652309" y="1365909"/>
                  <a:pt x="10576830" y="1536647"/>
                  <a:pt x="10443988" y="1540204"/>
                </a:cubicBezTo>
                <a:cubicBezTo>
                  <a:pt x="10422854" y="1540204"/>
                  <a:pt x="10413797" y="1572219"/>
                  <a:pt x="10413797" y="1597117"/>
                </a:cubicBezTo>
                <a:cubicBezTo>
                  <a:pt x="10413797" y="1629132"/>
                  <a:pt x="10434930" y="1632688"/>
                  <a:pt x="10456064" y="1636245"/>
                </a:cubicBezTo>
                <a:cubicBezTo>
                  <a:pt x="10489275" y="1639802"/>
                  <a:pt x="10525504" y="1597117"/>
                  <a:pt x="10567772" y="1657587"/>
                </a:cubicBezTo>
                <a:cubicBezTo>
                  <a:pt x="10489275" y="1693158"/>
                  <a:pt x="10407758" y="1728729"/>
                  <a:pt x="10410777" y="1849668"/>
                </a:cubicBezTo>
                <a:cubicBezTo>
                  <a:pt x="10410777" y="1881683"/>
                  <a:pt x="10377566" y="1895910"/>
                  <a:pt x="10353413" y="1903025"/>
                </a:cubicBezTo>
                <a:cubicBezTo>
                  <a:pt x="10311146" y="1917252"/>
                  <a:pt x="10277935" y="1938595"/>
                  <a:pt x="10253782" y="1984836"/>
                </a:cubicBezTo>
                <a:cubicBezTo>
                  <a:pt x="10253782" y="1995507"/>
                  <a:pt x="10253782" y="2002622"/>
                  <a:pt x="10253782" y="2013292"/>
                </a:cubicBezTo>
                <a:cubicBezTo>
                  <a:pt x="10259820" y="2123562"/>
                  <a:pt x="10320202" y="2120004"/>
                  <a:pt x="10386624" y="2102219"/>
                </a:cubicBezTo>
                <a:cubicBezTo>
                  <a:pt x="10465122" y="2080877"/>
                  <a:pt x="10543619" y="2038192"/>
                  <a:pt x="10628156" y="2077320"/>
                </a:cubicBezTo>
                <a:cubicBezTo>
                  <a:pt x="10510408" y="2130676"/>
                  <a:pt x="10380586" y="2134233"/>
                  <a:pt x="10271896" y="2208931"/>
                </a:cubicBezTo>
                <a:cubicBezTo>
                  <a:pt x="10676462" y="2223159"/>
                  <a:pt x="11032720" y="1984836"/>
                  <a:pt x="11425208" y="1892353"/>
                </a:cubicBezTo>
                <a:cubicBezTo>
                  <a:pt x="11413131" y="1952823"/>
                  <a:pt x="11379920" y="1967051"/>
                  <a:pt x="11352748" y="1974165"/>
                </a:cubicBezTo>
                <a:cubicBezTo>
                  <a:pt x="11207830" y="2020407"/>
                  <a:pt x="11081026" y="2112891"/>
                  <a:pt x="10948184" y="2191146"/>
                </a:cubicBezTo>
                <a:cubicBezTo>
                  <a:pt x="10893840" y="2223159"/>
                  <a:pt x="10854590" y="2258731"/>
                  <a:pt x="10833457" y="2326314"/>
                </a:cubicBezTo>
                <a:cubicBezTo>
                  <a:pt x="10815342" y="2390340"/>
                  <a:pt x="10779112" y="2418796"/>
                  <a:pt x="10712690" y="2401012"/>
                </a:cubicBezTo>
                <a:cubicBezTo>
                  <a:pt x="10658346" y="2386784"/>
                  <a:pt x="10600982" y="2393898"/>
                  <a:pt x="10543619" y="2401012"/>
                </a:cubicBezTo>
                <a:cubicBezTo>
                  <a:pt x="10480218" y="2408126"/>
                  <a:pt x="10407758" y="2479267"/>
                  <a:pt x="10422854" y="2518395"/>
                </a:cubicBezTo>
                <a:cubicBezTo>
                  <a:pt x="10453044" y="2582422"/>
                  <a:pt x="10504370" y="2550408"/>
                  <a:pt x="10546639" y="2543294"/>
                </a:cubicBezTo>
                <a:cubicBezTo>
                  <a:pt x="10597964" y="2536181"/>
                  <a:pt x="10691556" y="2518395"/>
                  <a:pt x="10691556" y="2525509"/>
                </a:cubicBezTo>
                <a:cubicBezTo>
                  <a:pt x="10724768" y="2685576"/>
                  <a:pt x="10800246" y="2564636"/>
                  <a:pt x="10854590" y="2564636"/>
                </a:cubicBezTo>
                <a:cubicBezTo>
                  <a:pt x="10905916" y="2564636"/>
                  <a:pt x="10957241" y="2546851"/>
                  <a:pt x="11005548" y="2532623"/>
                </a:cubicBezTo>
                <a:cubicBezTo>
                  <a:pt x="11068949" y="2514837"/>
                  <a:pt x="11126312" y="2546851"/>
                  <a:pt x="11186696" y="2553965"/>
                </a:cubicBezTo>
                <a:cubicBezTo>
                  <a:pt x="11241040" y="2561080"/>
                  <a:pt x="11210850" y="2653563"/>
                  <a:pt x="11244060" y="2692689"/>
                </a:cubicBezTo>
                <a:cubicBezTo>
                  <a:pt x="11250097" y="2703362"/>
                  <a:pt x="11256136" y="2703362"/>
                  <a:pt x="11262174" y="2703362"/>
                </a:cubicBezTo>
                <a:cubicBezTo>
                  <a:pt x="11280289" y="2980812"/>
                  <a:pt x="11597299" y="2913227"/>
                  <a:pt x="11597299" y="2923898"/>
                </a:cubicBezTo>
                <a:cubicBezTo>
                  <a:pt x="11624471" y="2941684"/>
                  <a:pt x="11657682" y="2899000"/>
                  <a:pt x="11690892" y="2941684"/>
                </a:cubicBezTo>
                <a:cubicBezTo>
                  <a:pt x="11548993" y="3137322"/>
                  <a:pt x="11331614" y="3183563"/>
                  <a:pt x="11138390" y="3329402"/>
                </a:cubicBezTo>
                <a:cubicBezTo>
                  <a:pt x="11298403" y="3379202"/>
                  <a:pt x="11391998" y="3208463"/>
                  <a:pt x="11509744" y="3229805"/>
                </a:cubicBezTo>
                <a:cubicBezTo>
                  <a:pt x="11567107" y="3283162"/>
                  <a:pt x="11395016" y="3368530"/>
                  <a:pt x="11561068" y="3393429"/>
                </a:cubicBezTo>
                <a:cubicBezTo>
                  <a:pt x="11488610" y="3439672"/>
                  <a:pt x="11437284" y="3485914"/>
                  <a:pt x="11385959" y="3539269"/>
                </a:cubicBezTo>
                <a:cubicBezTo>
                  <a:pt x="11298403" y="3635309"/>
                  <a:pt x="11280289" y="3699337"/>
                  <a:pt x="11322556" y="3827390"/>
                </a:cubicBezTo>
                <a:cubicBezTo>
                  <a:pt x="11349730" y="3912759"/>
                  <a:pt x="11388978" y="3991015"/>
                  <a:pt x="11352748" y="4090612"/>
                </a:cubicBezTo>
                <a:cubicBezTo>
                  <a:pt x="11328595" y="4158196"/>
                  <a:pt x="11337653" y="4204438"/>
                  <a:pt x="11428226" y="4172424"/>
                </a:cubicBezTo>
                <a:cubicBezTo>
                  <a:pt x="11524840" y="4140411"/>
                  <a:pt x="11561068" y="4200882"/>
                  <a:pt x="11536915" y="4321821"/>
                </a:cubicBezTo>
                <a:cubicBezTo>
                  <a:pt x="11521821" y="4400076"/>
                  <a:pt x="11536915" y="4424975"/>
                  <a:pt x="11603338" y="4414305"/>
                </a:cubicBezTo>
                <a:cubicBezTo>
                  <a:pt x="11675796" y="4403633"/>
                  <a:pt x="11745236" y="4353835"/>
                  <a:pt x="11835811" y="4378734"/>
                </a:cubicBezTo>
                <a:cubicBezTo>
                  <a:pt x="11763352" y="4521016"/>
                  <a:pt x="11609374" y="4478331"/>
                  <a:pt x="11524840" y="4613499"/>
                </a:cubicBezTo>
                <a:cubicBezTo>
                  <a:pt x="11624471" y="4613499"/>
                  <a:pt x="11702969" y="4613499"/>
                  <a:pt x="11775427" y="4585042"/>
                </a:cubicBezTo>
                <a:cubicBezTo>
                  <a:pt x="11805619" y="4574373"/>
                  <a:pt x="11838830" y="4560144"/>
                  <a:pt x="11856944" y="4602828"/>
                </a:cubicBezTo>
                <a:cubicBezTo>
                  <a:pt x="11878080" y="4652628"/>
                  <a:pt x="11835811" y="4670412"/>
                  <a:pt x="11811658" y="4677526"/>
                </a:cubicBezTo>
                <a:cubicBezTo>
                  <a:pt x="11742216" y="4702425"/>
                  <a:pt x="11687874" y="4759339"/>
                  <a:pt x="11627490" y="4805580"/>
                </a:cubicBezTo>
                <a:cubicBezTo>
                  <a:pt x="11497668" y="4905177"/>
                  <a:pt x="11355767" y="4990547"/>
                  <a:pt x="11247078" y="5154171"/>
                </a:cubicBezTo>
                <a:cubicBezTo>
                  <a:pt x="11382940" y="5111487"/>
                  <a:pt x="11485590" y="5011889"/>
                  <a:pt x="11615414" y="4994104"/>
                </a:cubicBezTo>
                <a:cubicBezTo>
                  <a:pt x="11503704" y="5143500"/>
                  <a:pt x="11361806" y="5243097"/>
                  <a:pt x="11228964" y="5353367"/>
                </a:cubicBezTo>
                <a:cubicBezTo>
                  <a:pt x="11189714" y="5385379"/>
                  <a:pt x="11150466" y="5406721"/>
                  <a:pt x="11144428" y="5474306"/>
                </a:cubicBezTo>
                <a:cubicBezTo>
                  <a:pt x="11126312" y="5605917"/>
                  <a:pt x="11078008" y="5712629"/>
                  <a:pt x="10969318" y="5769542"/>
                </a:cubicBezTo>
                <a:cubicBezTo>
                  <a:pt x="10969318" y="5769542"/>
                  <a:pt x="10975356" y="5790884"/>
                  <a:pt x="10978374" y="5801555"/>
                </a:cubicBezTo>
                <a:cubicBezTo>
                  <a:pt x="11044797" y="5805112"/>
                  <a:pt x="11096122" y="5726858"/>
                  <a:pt x="11177639" y="5755314"/>
                </a:cubicBezTo>
                <a:cubicBezTo>
                  <a:pt x="11096122" y="5862025"/>
                  <a:pt x="11029702" y="5954508"/>
                  <a:pt x="10917992" y="6004307"/>
                </a:cubicBezTo>
                <a:cubicBezTo>
                  <a:pt x="10827418" y="6043434"/>
                  <a:pt x="10715710" y="6068335"/>
                  <a:pt x="10649289" y="6196388"/>
                </a:cubicBezTo>
                <a:cubicBezTo>
                  <a:pt x="10724768" y="6221287"/>
                  <a:pt x="10782132" y="6189274"/>
                  <a:pt x="10839496" y="6167932"/>
                </a:cubicBezTo>
                <a:cubicBezTo>
                  <a:pt x="10927050" y="6132361"/>
                  <a:pt x="11014605" y="6093234"/>
                  <a:pt x="11102160" y="6057663"/>
                </a:cubicBezTo>
                <a:cubicBezTo>
                  <a:pt x="11135372" y="6043434"/>
                  <a:pt x="11171600" y="6036320"/>
                  <a:pt x="11192734" y="6100347"/>
                </a:cubicBezTo>
                <a:cubicBezTo>
                  <a:pt x="11081026" y="6114575"/>
                  <a:pt x="11014605" y="6199945"/>
                  <a:pt x="10945164" y="6281757"/>
                </a:cubicBezTo>
                <a:cubicBezTo>
                  <a:pt x="10905916" y="6327999"/>
                  <a:pt x="10872705" y="6388469"/>
                  <a:pt x="10803265" y="6367127"/>
                </a:cubicBezTo>
                <a:cubicBezTo>
                  <a:pt x="10767036" y="6356456"/>
                  <a:pt x="10742882" y="6388469"/>
                  <a:pt x="10745901" y="6431153"/>
                </a:cubicBezTo>
                <a:cubicBezTo>
                  <a:pt x="10760998" y="6580550"/>
                  <a:pt x="10673442" y="6630349"/>
                  <a:pt x="10582868" y="6658805"/>
                </a:cubicBezTo>
                <a:cubicBezTo>
                  <a:pt x="10450026" y="6701489"/>
                  <a:pt x="10332280" y="6786859"/>
                  <a:pt x="10208496" y="6858000"/>
                </a:cubicBezTo>
                <a:lnTo>
                  <a:pt x="7272221" y="6858000"/>
                </a:lnTo>
                <a:lnTo>
                  <a:pt x="6362810" y="6858000"/>
                </a:lnTo>
                <a:lnTo>
                  <a:pt x="6139260" y="6858000"/>
                </a:lnTo>
                <a:lnTo>
                  <a:pt x="4282294" y="6858000"/>
                </a:lnTo>
                <a:lnTo>
                  <a:pt x="4114800" y="6858000"/>
                </a:lnTo>
                <a:lnTo>
                  <a:pt x="40386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1CAB673-FC66-464B-AF2F-A036E2C23952}"/>
              </a:ext>
            </a:extLst>
          </p:cNvPr>
          <p:cNvSpPr/>
          <p:nvPr/>
        </p:nvSpPr>
        <p:spPr>
          <a:xfrm>
            <a:off x="329316" y="5536960"/>
            <a:ext cx="5311069" cy="369332"/>
          </a:xfrm>
          <a:prstGeom prst="rect">
            <a:avLst/>
          </a:prstGeom>
        </p:spPr>
        <p:txBody>
          <a:bodyPr wrap="none">
            <a:spAutoFit/>
          </a:bodyPr>
          <a:lstStyle/>
          <a:p>
            <a:r>
              <a:rPr lang="en-US" b="0" i="0" dirty="0" err="1">
                <a:solidFill>
                  <a:schemeClr val="bg1"/>
                </a:solidFill>
                <a:effectLst/>
                <a:latin typeface="Times New Roman" panose="02020603050405020304" pitchFamily="18" charset="0"/>
              </a:rPr>
              <a:t>Bài</a:t>
            </a:r>
            <a:r>
              <a:rPr lang="en-US" b="0" i="0" dirty="0">
                <a:solidFill>
                  <a:schemeClr val="bg1"/>
                </a:solidFill>
                <a:effectLst/>
                <a:latin typeface="Times New Roman" panose="02020603050405020304" pitchFamily="18" charset="0"/>
              </a:rPr>
              <a:t> </a:t>
            </a:r>
            <a:r>
              <a:rPr lang="en-US" b="0" i="0" dirty="0" err="1">
                <a:solidFill>
                  <a:schemeClr val="bg1"/>
                </a:solidFill>
                <a:effectLst/>
                <a:latin typeface="Times New Roman" panose="02020603050405020304" pitchFamily="18" charset="0"/>
              </a:rPr>
              <a:t>viết</a:t>
            </a:r>
            <a:r>
              <a:rPr lang="en-US" b="0" i="0" dirty="0">
                <a:solidFill>
                  <a:schemeClr val="bg1"/>
                </a:solidFill>
                <a:effectLst/>
                <a:latin typeface="Times New Roman" panose="02020603050405020304" pitchFamily="18" charset="0"/>
              </a:rPr>
              <a:t> </a:t>
            </a:r>
            <a:r>
              <a:rPr lang="en-US" b="0" i="0" dirty="0" err="1">
                <a:solidFill>
                  <a:schemeClr val="bg1"/>
                </a:solidFill>
                <a:effectLst/>
                <a:latin typeface="Times New Roman" panose="02020603050405020304" pitchFamily="18" charset="0"/>
              </a:rPr>
              <a:t>sử</a:t>
            </a:r>
            <a:r>
              <a:rPr lang="en-US" b="0" i="0" dirty="0">
                <a:solidFill>
                  <a:schemeClr val="bg1"/>
                </a:solidFill>
                <a:effectLst/>
                <a:latin typeface="Times New Roman" panose="02020603050405020304" pitchFamily="18" charset="0"/>
              </a:rPr>
              <a:t> </a:t>
            </a:r>
            <a:r>
              <a:rPr lang="en-US" b="0" i="0" dirty="0" err="1">
                <a:solidFill>
                  <a:schemeClr val="bg1"/>
                </a:solidFill>
                <a:effectLst/>
                <a:latin typeface="Times New Roman" panose="02020603050405020304" pitchFamily="18" charset="0"/>
              </a:rPr>
              <a:t>dụng</a:t>
            </a:r>
            <a:r>
              <a:rPr lang="en-US" b="0" i="0" dirty="0">
                <a:solidFill>
                  <a:schemeClr val="bg1"/>
                </a:solidFill>
                <a:effectLst/>
                <a:latin typeface="Times New Roman" panose="02020603050405020304" pitchFamily="18" charset="0"/>
              </a:rPr>
              <a:t> </a:t>
            </a:r>
            <a:r>
              <a:rPr lang="en-US" b="0" i="0" dirty="0" err="1">
                <a:solidFill>
                  <a:schemeClr val="bg1"/>
                </a:solidFill>
                <a:effectLst/>
                <a:latin typeface="Times New Roman" panose="02020603050405020304" pitchFamily="18" charset="0"/>
              </a:rPr>
              <a:t>nguồn</a:t>
            </a:r>
            <a:r>
              <a:rPr lang="en-US" b="0" i="0" dirty="0">
                <a:solidFill>
                  <a:schemeClr val="bg1"/>
                </a:solidFill>
                <a:effectLst/>
                <a:latin typeface="Times New Roman" panose="02020603050405020304" pitchFamily="18" charset="0"/>
              </a:rPr>
              <a:t>: </a:t>
            </a:r>
            <a:r>
              <a:rPr lang="en-US" b="1" i="0" dirty="0">
                <a:solidFill>
                  <a:schemeClr val="bg1"/>
                </a:solidFill>
                <a:effectLst/>
                <a:latin typeface="Times New Roman" panose="02020603050405020304" pitchFamily="18" charset="0"/>
              </a:rPr>
              <a:t>National Geographic, Forbes</a:t>
            </a:r>
            <a:endParaRPr lang="en-US" dirty="0">
              <a:solidFill>
                <a:schemeClr val="bg1"/>
              </a:solidFill>
            </a:endParaRPr>
          </a:p>
        </p:txBody>
      </p:sp>
      <p:pic>
        <p:nvPicPr>
          <p:cNvPr id="2" name="Picture 1">
            <a:extLst>
              <a:ext uri="{FF2B5EF4-FFF2-40B4-BE49-F238E27FC236}">
                <a16:creationId xmlns:a16="http://schemas.microsoft.com/office/drawing/2014/main" id="{D1950F81-6FB0-2748-BB63-5BAA4ADB53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6799" y="100936"/>
            <a:ext cx="806373" cy="694146"/>
          </a:xfrm>
          <a:prstGeom prst="rect">
            <a:avLst/>
          </a:prstGeom>
        </p:spPr>
      </p:pic>
    </p:spTree>
    <p:extLst>
      <p:ext uri="{BB962C8B-B14F-4D97-AF65-F5344CB8AC3E}">
        <p14:creationId xmlns:p14="http://schemas.microsoft.com/office/powerpoint/2010/main" val="3230697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761</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6 BÀI HỌC  SÓI ĐẦU ĐÀN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 BÀI HỌC  SÓI ĐẦU ĐÀN</dc:title>
  <dc:creator>Le Van</dc:creator>
  <cp:lastModifiedBy>Administrator</cp:lastModifiedBy>
  <cp:revision>3</cp:revision>
  <dcterms:created xsi:type="dcterms:W3CDTF">2020-11-17T13:18:18Z</dcterms:created>
  <dcterms:modified xsi:type="dcterms:W3CDTF">2024-12-25T13:41:15Z</dcterms:modified>
</cp:coreProperties>
</file>