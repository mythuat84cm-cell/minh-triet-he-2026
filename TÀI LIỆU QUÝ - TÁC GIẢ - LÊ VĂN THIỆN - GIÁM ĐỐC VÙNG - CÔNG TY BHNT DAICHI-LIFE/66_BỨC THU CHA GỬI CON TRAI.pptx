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14"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7975784-7B8E-4D76-A30B-7104ABD02B25}"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2180363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75784-7B8E-4D76-A30B-7104ABD02B25}"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2998124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75784-7B8E-4D76-A30B-7104ABD02B25}"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2557230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75784-7B8E-4D76-A30B-7104ABD02B25}" type="datetimeFigureOut">
              <a:rPr lang="en-US" smtClean="0"/>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1479584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75784-7B8E-4D76-A30B-7104ABD02B25}" type="datetimeFigureOut">
              <a:rPr lang="en-US" smtClean="0"/>
              <a:t>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858761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975784-7B8E-4D76-A30B-7104ABD02B25}" type="datetimeFigureOut">
              <a:rPr lang="en-US" smtClean="0"/>
              <a:t>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3751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975784-7B8E-4D76-A30B-7104ABD02B25}" type="datetimeFigureOut">
              <a:rPr lang="en-US" smtClean="0"/>
              <a:t>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1320593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975784-7B8E-4D76-A30B-7104ABD02B25}" type="datetimeFigureOut">
              <a:rPr lang="en-US" smtClean="0"/>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2807128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975784-7B8E-4D76-A30B-7104ABD02B25}" type="datetimeFigureOut">
              <a:rPr lang="en-US" smtClean="0"/>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1130244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75784-7B8E-4D76-A30B-7104ABD02B25}"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2645835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975784-7B8E-4D76-A30B-7104ABD02B25}" type="datetimeFigureOut">
              <a:rPr lang="en-US" smtClean="0"/>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A2C92-37D1-4032-AB39-CE95468021C3}" type="slidenum">
              <a:rPr lang="en-US" smtClean="0"/>
              <a:t>‹#›</a:t>
            </a:fld>
            <a:endParaRPr lang="en-US"/>
          </a:p>
        </p:txBody>
      </p:sp>
    </p:spTree>
    <p:extLst>
      <p:ext uri="{BB962C8B-B14F-4D97-AF65-F5344CB8AC3E}">
        <p14:creationId xmlns:p14="http://schemas.microsoft.com/office/powerpoint/2010/main" val="3488219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975784-7B8E-4D76-A30B-7104ABD02B25}" type="datetimeFigureOut">
              <a:rPr lang="en-US" smtClean="0"/>
              <a:t>1/20/2025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1A2C92-37D1-4032-AB39-CE95468021C3}" type="slidenum">
              <a:rPr lang="en-US" smtClean="0"/>
              <a:t>‹#›</a:t>
            </a:fld>
            <a:endParaRPr lang="en-US"/>
          </a:p>
        </p:txBody>
      </p:sp>
    </p:spTree>
    <p:extLst>
      <p:ext uri="{BB962C8B-B14F-4D97-AF65-F5344CB8AC3E}">
        <p14:creationId xmlns:p14="http://schemas.microsoft.com/office/powerpoint/2010/main" val="1698596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5208896" y="2667001"/>
            <a:ext cx="4876800" cy="1470025"/>
          </a:xfrm>
        </p:spPr>
        <p:txBody>
          <a:bodyPr>
            <a:noAutofit/>
          </a:bodyPr>
          <a:lstStyle/>
          <a:p>
            <a:r>
              <a:rPr lang="en-US" sz="2800" dirty="0"/>
              <a:t>BỨC THƯ CHA GỬI CON TRAI</a:t>
            </a:r>
            <a:br>
              <a:rPr lang="en-US" sz="2800" dirty="0"/>
            </a:br>
            <a:r>
              <a:rPr lang="en-US" sz="2800" dirty="0"/>
              <a:t>(1913-2006)</a:t>
            </a:r>
            <a:br>
              <a:rPr lang="en-US" sz="2800" dirty="0"/>
            </a:br>
            <a:r>
              <a:rPr lang="vi-VN" sz="1600" dirty="0"/>
              <a:t>Tôn Vận Tuyền, một nhà kinh tế, một chính trị gia Đài Loan. Ông từng là Bộ trưởng Kinh tế của Trung Hoa Dân Quốc giai đoạn năm 1969 đến 1978 đồng thời là Viện trưởng Hành chính viện giai đoạn từ năm 1978 đến 1984</a:t>
            </a:r>
            <a:endParaRPr lang="en-US" sz="1600" dirty="0"/>
          </a:p>
        </p:txBody>
      </p:sp>
      <p:pic>
        <p:nvPicPr>
          <p:cNvPr id="1026" name="Picture 2" descr="Hình ảnh có liên qu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762000"/>
            <a:ext cx="3429000" cy="4812632"/>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704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lumMod val="50000"/>
                  </a:schemeClr>
                </a:solidFill>
                <a:latin typeface="Bahnschrift SemiCondensed" panose="020B0502040204020203" pitchFamily="34" charset="0"/>
              </a:rPr>
              <a:t>11 BÀI HỌC DẠY CON</a:t>
            </a:r>
          </a:p>
        </p:txBody>
      </p:sp>
      <p:sp>
        <p:nvSpPr>
          <p:cNvPr id="4" name="Rectangle 3"/>
          <p:cNvSpPr/>
          <p:nvPr/>
        </p:nvSpPr>
        <p:spPr>
          <a:xfrm>
            <a:off x="5562600" y="1676400"/>
            <a:ext cx="5029200" cy="3970318"/>
          </a:xfrm>
          <a:prstGeom prst="rect">
            <a:avLst/>
          </a:prstGeom>
        </p:spPr>
        <p:txBody>
          <a:bodyPr wrap="square">
            <a:spAutoFit/>
          </a:bodyPr>
          <a:lstStyle/>
          <a:p>
            <a:r>
              <a:rPr lang="vi-VN" b="1" dirty="0"/>
              <a:t>Con</a:t>
            </a:r>
            <a:r>
              <a:rPr lang="en-US" b="1" dirty="0"/>
              <a:t> </a:t>
            </a:r>
            <a:r>
              <a:rPr lang="vi-VN" b="1" dirty="0"/>
              <a:t>trai yêu dấu!</a:t>
            </a:r>
            <a:br>
              <a:rPr lang="vi-VN" b="1" dirty="0"/>
            </a:br>
            <a:r>
              <a:rPr lang="vi-VN" b="1" dirty="0"/>
              <a:t>Đời người phúc họa vô thường! Không một ai biết trước mình sẽ sống được bao lâu. Có một số việc tưởng nên sớm nói ra thì hay hơn. Cha là cha của con, nếu cha không nói với con, có lẽ không ai nói rõ với con những điều này!</a:t>
            </a:r>
            <a:endParaRPr lang="en-US" b="1" dirty="0"/>
          </a:p>
          <a:p>
            <a:pPr algn="just"/>
            <a:endParaRPr lang="vi-VN" b="1" dirty="0"/>
          </a:p>
          <a:p>
            <a:pPr algn="just"/>
            <a:r>
              <a:rPr lang="vi-VN" dirty="0"/>
              <a:t>Những lời khuyên để con ghi nhớ này, là kết quả bao kinh nghiệm xương máu, thất bại đắng cay trong cuộc đời, mà bản thân cha đã trải nghiệm. Nó sẽ giúp con tiết kiệm nhiều những nhầm lẫn hoang phí trên bước đường trưởng thành của con sau này.</a:t>
            </a:r>
          </a:p>
        </p:txBody>
      </p:sp>
      <p:pic>
        <p:nvPicPr>
          <p:cNvPr id="2050" name="Picture 2" descr="Kết quả hình ảnh cho TÔN VẬN TUYỀ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175659"/>
            <a:ext cx="3864043" cy="2971800"/>
          </a:xfrm>
          <a:prstGeom prst="rect">
            <a:avLst/>
          </a:prstGeom>
          <a:ln w="88900" cap="sq" cmpd="thickThin">
            <a:solidFill>
              <a:srgbClr val="000000"/>
            </a:solidFill>
            <a:prstDash val="solid"/>
            <a:miter lim="800000"/>
          </a:ln>
          <a:effectLst>
            <a:glow rad="228600">
              <a:schemeClr val="accent6">
                <a:satMod val="175000"/>
                <a:alpha val="40000"/>
              </a:schemeClr>
            </a:glow>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817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1</a:t>
            </a:r>
          </a:p>
        </p:txBody>
      </p:sp>
      <p:sp>
        <p:nvSpPr>
          <p:cNvPr id="4" name="Rectangle 3"/>
          <p:cNvSpPr/>
          <p:nvPr/>
        </p:nvSpPr>
        <p:spPr>
          <a:xfrm>
            <a:off x="1549021" y="1418272"/>
            <a:ext cx="9118979" cy="1754326"/>
          </a:xfrm>
          <a:prstGeom prst="rect">
            <a:avLst/>
          </a:prstGeom>
        </p:spPr>
        <p:txBody>
          <a:bodyPr wrap="square">
            <a:spAutoFit/>
          </a:bodyPr>
          <a:lstStyle/>
          <a:p>
            <a:pPr algn="just"/>
            <a:r>
              <a:rPr lang="vi-VN" dirty="0"/>
              <a:t>Nếu có người đối xử không tốt với con, đừng bận tâm cho mất thời giờ. Trong cuộc đời này, không ai có nghĩa vụ phải đối xử tốt với con, ngoại trừ cha và mẹ của con.</a:t>
            </a:r>
            <a:endParaRPr lang="en-US" dirty="0"/>
          </a:p>
          <a:p>
            <a:pPr algn="just"/>
            <a:r>
              <a:rPr lang="vi-VN" dirty="0"/>
              <a:t> </a:t>
            </a:r>
            <a:endParaRPr lang="en-US" dirty="0"/>
          </a:p>
          <a:p>
            <a:pPr algn="just"/>
            <a:r>
              <a:rPr lang="vi-VN" dirty="0"/>
              <a:t>Nếu có người đối xử tốt với con, ngoài việc con phải biết ơn và trân quý, con cũng nên thận trọng suy xét, vì người đời làm việc gì thường có mục đích và nguyên nhân. Con chớ vội vàng xem đối phương là chân bằng hữu.</a:t>
            </a:r>
            <a:endParaRPr lang="en-US" dirty="0"/>
          </a:p>
        </p:txBody>
      </p:sp>
      <p:pic>
        <p:nvPicPr>
          <p:cNvPr id="3074" name="Picture 2" descr="Kết quả hình ảnh cho CHA MẸ"/>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458336"/>
            <a:ext cx="4191000" cy="30091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9723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dirty="0">
                <a:solidFill>
                  <a:schemeClr val="accent6">
                    <a:lumMod val="50000"/>
                  </a:schemeClr>
                </a:solidFill>
                <a:latin typeface="Bahnschrift SemiCondensed" panose="020B0502040204020203" pitchFamily="34" charset="0"/>
              </a:rPr>
              <a:t>BÀI HỌC SỐ 2</a:t>
            </a:r>
          </a:p>
        </p:txBody>
      </p:sp>
      <p:sp>
        <p:nvSpPr>
          <p:cNvPr id="4" name="Rectangle 3"/>
          <p:cNvSpPr/>
          <p:nvPr/>
        </p:nvSpPr>
        <p:spPr>
          <a:xfrm>
            <a:off x="990600" y="1905000"/>
            <a:ext cx="5181600" cy="2862322"/>
          </a:xfrm>
          <a:prstGeom prst="rect">
            <a:avLst/>
          </a:prstGeom>
        </p:spPr>
        <p:txBody>
          <a:bodyPr wrap="square">
            <a:spAutoFit/>
          </a:bodyPr>
          <a:lstStyle/>
          <a:p>
            <a:pPr algn="just"/>
            <a:r>
              <a:rPr lang="vi-VN" dirty="0"/>
              <a:t>Con có thể yêu cầu mình phải giữ chữ "Tín", nhưng không thể bắt người khác phải giữ chữ tín với mình. Con có thể yêu cầu mình phải đối xử tốt với người khác, nhưng không thể kỳ vọng người khác phải đối xử tốt với con. </a:t>
            </a:r>
            <a:endParaRPr lang="en-US" dirty="0"/>
          </a:p>
          <a:p>
            <a:pPr algn="just"/>
            <a:endParaRPr lang="en-US" dirty="0"/>
          </a:p>
          <a:p>
            <a:pPr algn="just"/>
            <a:r>
              <a:rPr lang="vi-VN" dirty="0"/>
              <a:t>Con đối xử người ta thế nào, không có nghĩa là người ta sẽ đối xử lại mình như thế ấy, nếu con không hiểu rõ được điểm này, sẽ tự chuốc lấy buồn phiền cho mình mai sau.</a:t>
            </a:r>
            <a:endParaRPr lang="en-US" dirty="0"/>
          </a:p>
        </p:txBody>
      </p:sp>
      <p:pic>
        <p:nvPicPr>
          <p:cNvPr id="4098" name="Picture 2" descr="Kết quả hình ảnh cho ĐỐI XỬ"/>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557522"/>
            <a:ext cx="3780134" cy="22098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59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3</a:t>
            </a:r>
          </a:p>
        </p:txBody>
      </p:sp>
      <p:sp>
        <p:nvSpPr>
          <p:cNvPr id="4" name="Rectangle 3"/>
          <p:cNvSpPr/>
          <p:nvPr/>
        </p:nvSpPr>
        <p:spPr>
          <a:xfrm>
            <a:off x="1945375" y="4254140"/>
            <a:ext cx="8453651" cy="1754326"/>
          </a:xfrm>
          <a:prstGeom prst="rect">
            <a:avLst/>
          </a:prstGeom>
        </p:spPr>
        <p:txBody>
          <a:bodyPr wrap="square">
            <a:spAutoFit/>
          </a:bodyPr>
          <a:lstStyle/>
          <a:p>
            <a:pPr algn="just"/>
            <a:r>
              <a:rPr lang="vi-VN" dirty="0"/>
              <a:t>Trên đời không phải không có người nào mà không thể thay thế được, không có vật gì mà nhất định mình phải sở hữu được. Con nên hiểu rõ ở điểm này. </a:t>
            </a:r>
            <a:endParaRPr lang="en-US" dirty="0"/>
          </a:p>
          <a:p>
            <a:pPr algn="just"/>
            <a:endParaRPr lang="en-US" dirty="0"/>
          </a:p>
          <a:p>
            <a:pPr algn="just"/>
            <a:r>
              <a:rPr lang="vi-VN" dirty="0"/>
              <a:t>Nếu mai sau rủi người bạn đời không còn muốn cùng con chung sống, hoặc giả con vừa mất đi những gì trân quý nhất trong đời, thì con nên hiểu rằng: Đây cũng không phải là chuyện lớn lao gì cho lắm!</a:t>
            </a:r>
            <a:endParaRPr lang="en-US" dirty="0"/>
          </a:p>
        </p:txBody>
      </p:sp>
      <p:pic>
        <p:nvPicPr>
          <p:cNvPr id="5122" name="Picture 2" descr="Kết quả hình ảnh cho cát bụi trở về với cát bụ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855374"/>
            <a:ext cx="4724400" cy="2952750"/>
          </a:xfrm>
          <a:prstGeom prst="rect">
            <a:avLst/>
          </a:prstGeom>
          <a:noFill/>
          <a:effectLst>
            <a:glow rad="228600">
              <a:schemeClr val="accent2">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21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4</a:t>
            </a:r>
          </a:p>
        </p:txBody>
      </p:sp>
      <p:sp>
        <p:nvSpPr>
          <p:cNvPr id="4" name="Rectangle 3"/>
          <p:cNvSpPr/>
          <p:nvPr/>
        </p:nvSpPr>
        <p:spPr>
          <a:xfrm>
            <a:off x="4267200" y="1371600"/>
            <a:ext cx="6400800" cy="2585323"/>
          </a:xfrm>
          <a:prstGeom prst="rect">
            <a:avLst/>
          </a:prstGeom>
        </p:spPr>
        <p:txBody>
          <a:bodyPr wrap="square">
            <a:spAutoFit/>
          </a:bodyPr>
          <a:lstStyle/>
          <a:p>
            <a:pPr algn="just"/>
            <a:r>
              <a:rPr lang="vi-VN" dirty="0"/>
              <a:t> Trên đời này chẳng hề có chuyện yêu thương bất diệt. Ái tình chỉ qua là một cảm xúc nhất thời. Cảm giác này tuyệt đối sẽ theo thời gian, hoàn cảnh mà thay đổi. </a:t>
            </a:r>
            <a:endParaRPr lang="en-US" dirty="0"/>
          </a:p>
          <a:p>
            <a:pPr algn="just"/>
            <a:endParaRPr lang="en-US" dirty="0"/>
          </a:p>
          <a:p>
            <a:pPr algn="just"/>
            <a:r>
              <a:rPr lang="vi-VN" dirty="0"/>
              <a:t>Nếu người yêu rời xa con, hãy nhẫn nại chờ đợi, để thời gian từ từ gột rửa, để tâm tư mình dần dần lắng đọng thì nỗi đau thương cũng sẽ từ từ nhạt nhòa đi. Không nên cứ ôm ấp hoài niệm mãi cái ảo ảnh yêu thương, cũng không nên quá bi lụy vì tình.</a:t>
            </a:r>
            <a:endParaRPr lang="en-US" dirty="0"/>
          </a:p>
        </p:txBody>
      </p:sp>
      <p:pic>
        <p:nvPicPr>
          <p:cNvPr id="6146" name="Picture 2" descr="Kết quả hình ảnh cho duyên phậ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114800"/>
            <a:ext cx="3555398" cy="234434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4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5</a:t>
            </a:r>
          </a:p>
        </p:txBody>
      </p:sp>
      <p:sp>
        <p:nvSpPr>
          <p:cNvPr id="4" name="Rectangle 3"/>
          <p:cNvSpPr/>
          <p:nvPr/>
        </p:nvSpPr>
        <p:spPr>
          <a:xfrm>
            <a:off x="2209800" y="3733800"/>
            <a:ext cx="8077200" cy="1754326"/>
          </a:xfrm>
          <a:prstGeom prst="rect">
            <a:avLst/>
          </a:prstGeom>
        </p:spPr>
        <p:txBody>
          <a:bodyPr wrap="square">
            <a:spAutoFit/>
          </a:bodyPr>
          <a:lstStyle/>
          <a:p>
            <a:pPr algn="just"/>
            <a:r>
              <a:rPr lang="vi-VN" dirty="0"/>
              <a:t>Đời người ngắn ngủi, nếu hôm nay con đã lãng phí thời gian, mai đây hiểu được thì thấy rằng quãng đời đó đã vĩnh viễn mất rồi.</a:t>
            </a:r>
            <a:endParaRPr lang="en-US" dirty="0"/>
          </a:p>
          <a:p>
            <a:pPr algn="just"/>
            <a:r>
              <a:rPr lang="vi-VN" dirty="0"/>
              <a:t> </a:t>
            </a:r>
            <a:endParaRPr lang="en-US" dirty="0"/>
          </a:p>
          <a:p>
            <a:pPr algn="just"/>
            <a:r>
              <a:rPr lang="vi-VN" dirty="0"/>
              <a:t>Cho nên càng biết trân quý sinh mạng của mình càng sớm, thì con sẽ được tận hưởng cuộc đời mình càng nhiều hơn. Trông mong được sống trường thọ, chi bằng con cứ tận hưởng cuộc đời mình ngay từ bây giờ.</a:t>
            </a:r>
            <a:endParaRPr lang="en-US" dirty="0"/>
          </a:p>
        </p:txBody>
      </p:sp>
      <p:pic>
        <p:nvPicPr>
          <p:cNvPr id="7170" name="Picture 2" descr="Kết quả hình ảnh cho THỜI GIAN"/>
          <p:cNvPicPr>
            <a:picLocks noChangeAspect="1" noChangeArrowheads="1"/>
          </p:cNvPicPr>
          <p:nvPr/>
        </p:nvPicPr>
        <p:blipFill rotWithShape="1">
          <a:blip r:embed="rId2">
            <a:extLst>
              <a:ext uri="{28A0092B-C50C-407E-A947-70E740481C1C}">
                <a14:useLocalDpi xmlns:a14="http://schemas.microsoft.com/office/drawing/2010/main" val="0"/>
              </a:ext>
            </a:extLst>
          </a:blip>
          <a:srcRect b="15051"/>
          <a:stretch/>
        </p:blipFill>
        <p:spPr bwMode="auto">
          <a:xfrm>
            <a:off x="5486401" y="232560"/>
            <a:ext cx="5061915" cy="2864893"/>
          </a:xfrm>
          <a:prstGeom prst="rect">
            <a:avLst/>
          </a:prstGeom>
          <a:noFill/>
          <a:effectLst>
            <a:glow rad="2286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33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6 </a:t>
            </a:r>
          </a:p>
        </p:txBody>
      </p:sp>
      <p:sp>
        <p:nvSpPr>
          <p:cNvPr id="4" name="Rectangle 3"/>
          <p:cNvSpPr/>
          <p:nvPr/>
        </p:nvSpPr>
        <p:spPr>
          <a:xfrm>
            <a:off x="6324600" y="2274838"/>
            <a:ext cx="5410200" cy="2031325"/>
          </a:xfrm>
          <a:prstGeom prst="rect">
            <a:avLst/>
          </a:prstGeom>
        </p:spPr>
        <p:txBody>
          <a:bodyPr wrap="square">
            <a:spAutoFit/>
          </a:bodyPr>
          <a:lstStyle/>
          <a:p>
            <a:pPr algn="just"/>
            <a:r>
              <a:rPr lang="vi-VN" dirty="0"/>
              <a:t>Cha không yêu cầu con phải phụng dưỡng cha trong nửa quãng đời còn lại. Ngược lại, cha cũng không thể bao bọc nửa quãng đời sau này của con, khi mà con đã trưởng thành và tự lập. </a:t>
            </a:r>
            <a:endParaRPr lang="en-US" dirty="0"/>
          </a:p>
          <a:p>
            <a:pPr algn="just"/>
            <a:r>
              <a:rPr lang="vi-VN" dirty="0"/>
              <a:t>Đây là lúc cha đã làm tròn trách nhiệm của mình. Sau này con có đi xe buýt hay đi xe hơi riêng; ăn súp vi cá hay ăn mì gói, tự con lo liệu lấy.</a:t>
            </a:r>
            <a:endParaRPr lang="en-US" dirty="0"/>
          </a:p>
        </p:txBody>
      </p:sp>
      <p:pic>
        <p:nvPicPr>
          <p:cNvPr id="8194" name="Picture 2" descr="Kết quả hình ảnh cho phụng dưỡ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667000"/>
            <a:ext cx="4434132" cy="2318129"/>
          </a:xfrm>
          <a:prstGeom prst="rect">
            <a:avLst/>
          </a:prstGeom>
          <a:noFill/>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00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7</a:t>
            </a:r>
          </a:p>
        </p:txBody>
      </p:sp>
      <p:sp>
        <p:nvSpPr>
          <p:cNvPr id="4" name="Rectangle 3"/>
          <p:cNvSpPr/>
          <p:nvPr/>
        </p:nvSpPr>
        <p:spPr>
          <a:xfrm>
            <a:off x="1752600" y="1813174"/>
            <a:ext cx="8382000" cy="1200329"/>
          </a:xfrm>
          <a:prstGeom prst="rect">
            <a:avLst/>
          </a:prstGeom>
        </p:spPr>
        <p:txBody>
          <a:bodyPr wrap="square">
            <a:spAutoFit/>
          </a:bodyPr>
          <a:lstStyle/>
          <a:p>
            <a:pPr algn="just"/>
            <a:r>
              <a:rPr lang="vi-VN" dirty="0"/>
              <a:t>Gia đình thân nhân chỉ là duyên phận một đời. Bất luận trong kiếp này chúng ta sống chung với nhau được bao lâu và như thế nào, nên trân quý khoảng thời gian sum họp, gia đình đoàn tụ. Kiếp sau, dù ta có thương hay không, cũng không chắc sẽ còn gặp lại nhau.</a:t>
            </a:r>
            <a:endParaRPr lang="en-US" dirty="0"/>
          </a:p>
        </p:txBody>
      </p:sp>
      <p:pic>
        <p:nvPicPr>
          <p:cNvPr id="1026" name="Picture 2" descr="Vai trò của gia đình đối với người trẻ – Tong Giao Phan Hue">
            <a:extLst>
              <a:ext uri="{FF2B5EF4-FFF2-40B4-BE49-F238E27FC236}">
                <a16:creationId xmlns:a16="http://schemas.microsoft.com/office/drawing/2014/main" id="{DE407856-FECD-3FDA-AC35-E47A6B205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3200400"/>
            <a:ext cx="4635090" cy="3087683"/>
          </a:xfrm>
          <a:prstGeom prst="rect">
            <a:avLst/>
          </a:prstGeom>
          <a:noFill/>
          <a:effectLst>
            <a:glow rad="228600">
              <a:schemeClr val="accent6">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99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8</a:t>
            </a:r>
          </a:p>
        </p:txBody>
      </p:sp>
      <p:sp>
        <p:nvSpPr>
          <p:cNvPr id="4" name="Rectangle 3"/>
          <p:cNvSpPr/>
          <p:nvPr/>
        </p:nvSpPr>
        <p:spPr>
          <a:xfrm>
            <a:off x="1524000" y="3733800"/>
            <a:ext cx="9067800" cy="1200329"/>
          </a:xfrm>
          <a:prstGeom prst="rect">
            <a:avLst/>
          </a:prstGeom>
        </p:spPr>
        <p:txBody>
          <a:bodyPr wrap="square">
            <a:spAutoFit/>
          </a:bodyPr>
          <a:lstStyle/>
          <a:p>
            <a:pPr algn="just"/>
            <a:r>
              <a:rPr lang="vi-VN" dirty="0"/>
              <a:t>Tuy có nhiều người thành công trên đường đời mà học hành chẳng đến đâu. Nhưng điều đó cũng không có nghĩa là không cần học hành mà vẫn thành công. </a:t>
            </a:r>
            <a:endParaRPr lang="en-US" dirty="0"/>
          </a:p>
          <a:p>
            <a:pPr algn="just"/>
            <a:r>
              <a:rPr lang="vi-VN" dirty="0"/>
              <a:t>Kiến thức đạt được do việc học hành, là vũ khí trong tay của mình. Ta có thể lập nên sự nghiệp từ hai bàn tay trắng, nhưng không thể thiếu sự hiểu biết. Nên nhớ kỹ điều này!</a:t>
            </a:r>
            <a:endParaRPr lang="en-US" dirty="0"/>
          </a:p>
        </p:txBody>
      </p:sp>
      <p:pic>
        <p:nvPicPr>
          <p:cNvPr id="10242" name="Picture 2" descr="Kết quả hình ảnh cho HỌC HỎI"/>
          <p:cNvPicPr>
            <a:picLocks noChangeAspect="1" noChangeArrowheads="1"/>
          </p:cNvPicPr>
          <p:nvPr/>
        </p:nvPicPr>
        <p:blipFill rotWithShape="1">
          <a:blip r:embed="rId2">
            <a:extLst>
              <a:ext uri="{28A0092B-C50C-407E-A947-70E740481C1C}">
                <a14:useLocalDpi xmlns:a14="http://schemas.microsoft.com/office/drawing/2010/main" val="0"/>
              </a:ext>
            </a:extLst>
          </a:blip>
          <a:srcRect b="12384"/>
          <a:stretch/>
        </p:blipFill>
        <p:spPr bwMode="auto">
          <a:xfrm>
            <a:off x="4267200" y="1447801"/>
            <a:ext cx="4762500" cy="182766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76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effectLst>
                  <a:outerShdw blurRad="38100" dist="38100" dir="2700000" algn="tl">
                    <a:srgbClr val="000000">
                      <a:alpha val="43137"/>
                    </a:srgbClr>
                  </a:outerShdw>
                </a:effectLst>
                <a:latin typeface="Bahnschrift SemiCondensed" panose="020B0502040204020203" pitchFamily="34" charset="0"/>
              </a:rPr>
              <a:t>BÀI HỌC SỐ 9</a:t>
            </a:r>
          </a:p>
        </p:txBody>
      </p:sp>
      <p:sp>
        <p:nvSpPr>
          <p:cNvPr id="4" name="Rectangle 3"/>
          <p:cNvSpPr/>
          <p:nvPr/>
        </p:nvSpPr>
        <p:spPr>
          <a:xfrm>
            <a:off x="1981200" y="1859341"/>
            <a:ext cx="8534400" cy="2031325"/>
          </a:xfrm>
          <a:prstGeom prst="rect">
            <a:avLst/>
          </a:prstGeom>
        </p:spPr>
        <p:txBody>
          <a:bodyPr wrap="square">
            <a:spAutoFit/>
          </a:bodyPr>
          <a:lstStyle/>
          <a:p>
            <a:r>
              <a:rPr lang="vi-VN" dirty="0"/>
              <a:t> Hơn mười mấy, hai mươi mấy năm nay, cha tuần nào cũng mua vé số, nhưng đến nay, ngay đến giải 3 vẫn chưa từng trúng. Điều này chứng tỏ rằng: muốn phát đạt phải siêng năng làm ăn, nỗ lực phấn đấu chứ không phải chờ đợi điều may mắn đến với con. </a:t>
            </a:r>
            <a:endParaRPr lang="en-US" dirty="0"/>
          </a:p>
          <a:p>
            <a:r>
              <a:rPr lang="vi-VN" dirty="0"/>
              <a:t>Trên thế gian này không có buổi ăn trưa nào miễn phí cả. Nếu may mắn có đến với con, đấy là điều tốt, còn nếu không thì cũng chẳng có vấn đề gì, bởi tất cả phải dựa vào chính bản thân con.</a:t>
            </a:r>
            <a:endParaRPr lang="en-US" dirty="0"/>
          </a:p>
        </p:txBody>
      </p:sp>
      <p:pic>
        <p:nvPicPr>
          <p:cNvPr id="11266" name="Picture 2" descr="Kết quả hình ảnh cho may mắn và thành công"/>
          <p:cNvPicPr>
            <a:picLocks noChangeAspect="1" noChangeArrowheads="1"/>
          </p:cNvPicPr>
          <p:nvPr/>
        </p:nvPicPr>
        <p:blipFill rotWithShape="1">
          <a:blip r:embed="rId2">
            <a:extLst>
              <a:ext uri="{28A0092B-C50C-407E-A947-70E740481C1C}">
                <a14:useLocalDpi xmlns:a14="http://schemas.microsoft.com/office/drawing/2010/main" val="0"/>
              </a:ext>
            </a:extLst>
          </a:blip>
          <a:srcRect t="30233" b="23630"/>
          <a:stretch/>
        </p:blipFill>
        <p:spPr bwMode="auto">
          <a:xfrm>
            <a:off x="5562600" y="4114800"/>
            <a:ext cx="4762500" cy="2197290"/>
          </a:xfrm>
          <a:prstGeom prst="rect">
            <a:avLst/>
          </a:prstGeom>
          <a:noFill/>
          <a:effectLst>
            <a:glow rad="228600">
              <a:schemeClr val="accent2">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610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SỐ 10</a:t>
            </a:r>
          </a:p>
        </p:txBody>
      </p:sp>
      <p:sp>
        <p:nvSpPr>
          <p:cNvPr id="4" name="Rectangle 3"/>
          <p:cNvSpPr/>
          <p:nvPr/>
        </p:nvSpPr>
        <p:spPr>
          <a:xfrm>
            <a:off x="1145062" y="2551837"/>
            <a:ext cx="5636738" cy="2031325"/>
          </a:xfrm>
          <a:prstGeom prst="rect">
            <a:avLst/>
          </a:prstGeom>
        </p:spPr>
        <p:txBody>
          <a:bodyPr wrap="square">
            <a:spAutoFit/>
          </a:bodyPr>
          <a:lstStyle/>
          <a:p>
            <a:pPr algn="just"/>
            <a:r>
              <a:rPr lang="vi-VN" dirty="0"/>
              <a:t>Con hãy biết ước mơ, nhưng để trở thành hiện thực thì ước mơ đừng xa rời thực tế, đừng hão huyền và ảo tưởng. Con phải luôn có niềm tin.</a:t>
            </a:r>
            <a:endParaRPr lang="en-US" dirty="0"/>
          </a:p>
          <a:p>
            <a:pPr algn="just"/>
            <a:r>
              <a:rPr lang="vi-VN" dirty="0"/>
              <a:t> Không chỉ là niềm tin vào chính bản thân mình mà con cũng cần có niềm tin vào mọi người, niềm tin vào cuộc sống. Nếu không có niềm tin, con sẽ chẳng thể làm được việc gì.</a:t>
            </a:r>
            <a:endParaRPr lang="en-US" dirty="0"/>
          </a:p>
        </p:txBody>
      </p:sp>
      <p:pic>
        <p:nvPicPr>
          <p:cNvPr id="12290" name="Picture 2" descr="Kết quả hình ảnh cho ƯỚC MƠ"/>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2469210"/>
            <a:ext cx="3964462" cy="211395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19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latin typeface="Bahnschrift SemiCondensed" panose="020B0502040204020203" pitchFamily="34" charset="0"/>
              </a:rPr>
              <a:t>BÀI HỌC 11</a:t>
            </a:r>
          </a:p>
        </p:txBody>
      </p:sp>
      <p:sp>
        <p:nvSpPr>
          <p:cNvPr id="4" name="Rectangle 3"/>
          <p:cNvSpPr/>
          <p:nvPr/>
        </p:nvSpPr>
        <p:spPr>
          <a:xfrm>
            <a:off x="4038600" y="1406985"/>
            <a:ext cx="6477000" cy="1754326"/>
          </a:xfrm>
          <a:prstGeom prst="rect">
            <a:avLst/>
          </a:prstGeom>
        </p:spPr>
        <p:txBody>
          <a:bodyPr wrap="square">
            <a:spAutoFit/>
          </a:bodyPr>
          <a:lstStyle/>
          <a:p>
            <a:pPr algn="just"/>
            <a:r>
              <a:rPr lang="vi-VN" dirty="0"/>
              <a:t>Công việc, cuộc sống đôi lúc sẽ có những khó khăn, trở ngại đòi hỏi con phải luôn nỗ lực. Để có được những thành công thì không thể thiếu sự cố gắng và say mê, con ạ. Hãy nhớ rằng 'thàng công không phải là một đích đến, đó là một quá trình'. Vì thế, con hãy tiếp tục ước mơ, tiếp tục tin tưởng và không ngừng nỗ lực, con nhé!.</a:t>
            </a:r>
            <a:endParaRPr lang="en-US" dirty="0"/>
          </a:p>
        </p:txBody>
      </p:sp>
      <p:pic>
        <p:nvPicPr>
          <p:cNvPr id="13314" name="Picture 2" descr="Kết quả hình ảnh cho THÀNH CÔNG LÀ QUÁ TRÌNH"/>
          <p:cNvPicPr>
            <a:picLocks noChangeAspect="1" noChangeArrowheads="1"/>
          </p:cNvPicPr>
          <p:nvPr/>
        </p:nvPicPr>
        <p:blipFill rotWithShape="1">
          <a:blip r:embed="rId2">
            <a:extLst>
              <a:ext uri="{28A0092B-C50C-407E-A947-70E740481C1C}">
                <a14:useLocalDpi xmlns:a14="http://schemas.microsoft.com/office/drawing/2010/main" val="0"/>
              </a:ext>
            </a:extLst>
          </a:blip>
          <a:srcRect b="8754"/>
          <a:stretch/>
        </p:blipFill>
        <p:spPr bwMode="auto">
          <a:xfrm>
            <a:off x="3124200" y="3579939"/>
            <a:ext cx="4490445" cy="26434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365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50000"/>
                  </a:schemeClr>
                </a:solidFill>
              </a:rPr>
              <a:t>THANKS!</a:t>
            </a:r>
          </a:p>
        </p:txBody>
      </p:sp>
      <p:pic>
        <p:nvPicPr>
          <p:cNvPr id="14338" name="Picture 2" descr="Kết quả hình ảnh cho chân lý cuộc đờ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417638"/>
            <a:ext cx="5238750" cy="4457700"/>
          </a:xfrm>
          <a:prstGeom prst="rect">
            <a:avLst/>
          </a:prstGeom>
          <a:solidFill>
            <a:srgbClr val="FFFFFF">
              <a:shade val="85000"/>
            </a:srgbClr>
          </a:solidFill>
          <a:ln w="88900" cap="sq">
            <a:solidFill>
              <a:srgbClr val="FFFFFF"/>
            </a:solidFill>
            <a:miter lim="800000"/>
          </a:ln>
          <a:effectLst>
            <a:glow rad="228600">
              <a:schemeClr val="accent6">
                <a:satMod val="175000"/>
                <a:alpha val="40000"/>
              </a:scheme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63516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434</TotalTime>
  <Words>1185</Words>
  <Application>Microsoft Office PowerPoint</Application>
  <PresentationFormat>Widescreen</PresentationFormat>
  <Paragraphs>42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Bahnschrift SemiCondensed</vt:lpstr>
      <vt:lpstr>Calibri</vt:lpstr>
      <vt:lpstr>Times New Roman</vt:lpstr>
      <vt:lpstr>Office Theme</vt:lpstr>
      <vt:lpstr>BỨC THƯ CHA GỬI CON TRAI (1913-2006) Tôn Vận Tuyền, một nhà kinh tế, một chính trị gia Đài Loan. Ông từng là Bộ trưởng Kinh tế của Trung Hoa Dân Quốc giai đoạn năm 1969 đến 1978 đồng thời là Viện trưởng Hành chính viện giai đoạn từ năm 1978 đến 1984</vt:lpstr>
      <vt:lpstr>11 BÀI HỌC DẠY CON</vt:lpstr>
      <vt:lpstr>BÀI HỌC SỐ 1</vt:lpstr>
      <vt:lpstr>BÀI HỌC SỐ 2</vt:lpstr>
      <vt:lpstr>BÀI HỌC SỐ 3</vt:lpstr>
      <vt:lpstr>BÀI HỌC SỐ 4</vt:lpstr>
      <vt:lpstr>BÀI HỌC SỐ 5</vt:lpstr>
      <vt:lpstr>BÀI HỌC SỐ 6 </vt:lpstr>
      <vt:lpstr>BÀI HỌC SỐ 7</vt:lpstr>
      <vt:lpstr>BÀI HỌC SỐ 8</vt:lpstr>
      <vt:lpstr>BÀI HỌC SỐ 9</vt:lpstr>
      <vt:lpstr>BÀI HỌC SỐ 10</vt:lpstr>
      <vt:lpstr>BÀI HỌC 11</vt:lpstr>
      <vt:lpstr>THANKS!</vt:lpstr>
    </vt:vector>
  </TitlesOfParts>
  <Company>PruOneDesk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BỨC THƯ CHA GỬI CON TRAI (1913-2006) Tôn Vận Tuyền, một nhà kinh tế, một chính trị gia Đài Loan. Ông từng là Bộ trưởng Kinh tế của Trung Hoa Dân Quốc giai đoạn năm 1969 đến 1978 đồng thời là Viện trưởng Hành chính viện giai đoạn từ năm 1978 đến 1984</dc:title>
  <dc:creator>PruOneDesk User</dc:creator>
  <cp:lastModifiedBy>Administrator</cp:lastModifiedBy>
  <cp:revision>2</cp:revision>
  <dcterms:created xsi:type="dcterms:W3CDTF">2017-08-29T05:51:44Z</dcterms:created>
  <dcterms:modified xsi:type="dcterms:W3CDTF">2025-01-20T12:15:10Z</dcterms:modified>
</cp:coreProperties>
</file>