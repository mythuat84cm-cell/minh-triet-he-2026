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546D4-4072-D6BA-DB80-F982FC93AB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0B1782-50D2-4E64-3422-BD0180B273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136DEB-286D-FE16-D700-3E08A0B212AB}"/>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51705E74-E64A-F913-32F8-7B75D1EA3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9B89B-1EE5-6F01-7F1D-C26976FD5145}"/>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2484298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3C39-85B0-F82A-2BE8-39A9B03414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29175-3ED3-5461-B4D2-21FEA32D8E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300D6C-8436-AF86-C558-B0D03D58214A}"/>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DA5850E5-4382-4812-781C-F12F1067C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76CBC-7FBE-D229-EA08-AB4851B556F6}"/>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132384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672A-BD9C-52ED-F4C3-8AD5CDDC3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F11D2B-E6F9-3B7C-1FBE-DDC6A596E4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2407CB-7A33-59EF-E883-CE29F75B4B32}"/>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6229E1E2-26B3-63BD-24BD-00A5EB492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2D42C-6228-CE9F-B592-E57C8A131594}"/>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42416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D39C6-7A1E-0F97-D253-CC1F2384E0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725DDC-2A55-A642-169F-346951DEF0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A9AFD4-32BA-691A-9F76-D07B389CE8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BE4BB9-FB3F-2C37-434F-829BAAA38089}"/>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6" name="Footer Placeholder 5">
            <a:extLst>
              <a:ext uri="{FF2B5EF4-FFF2-40B4-BE49-F238E27FC236}">
                <a16:creationId xmlns:a16="http://schemas.microsoft.com/office/drawing/2014/main" id="{134809C8-3B3C-1804-1D48-06CBA90174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CB58F-7D5F-9728-D4A3-557B4C0DB7A8}"/>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3990405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0D68-EE6A-2814-AAC1-34D35295D8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CE847C-3EE2-F3A6-8DC9-0966C0D87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C066C8-0029-7679-B49D-F7E57BF7C3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045A17-4D95-2BDC-A782-FF183A1A15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E07AD-509D-BB2D-196F-54E76AB1C5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72A5A8-72D3-3AA3-C7F3-62DAC74CB00C}"/>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8" name="Footer Placeholder 7">
            <a:extLst>
              <a:ext uri="{FF2B5EF4-FFF2-40B4-BE49-F238E27FC236}">
                <a16:creationId xmlns:a16="http://schemas.microsoft.com/office/drawing/2014/main" id="{EC80C53F-0CCC-669D-7384-2549BAC9C0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21ED42-717A-B17F-DC3D-178964DCFE80}"/>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2611967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8A0D-B90A-69FD-92DA-F4B65B2F25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947F4A-7978-EA36-07BB-01BA8BEE2F22}"/>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4" name="Footer Placeholder 3">
            <a:extLst>
              <a:ext uri="{FF2B5EF4-FFF2-40B4-BE49-F238E27FC236}">
                <a16:creationId xmlns:a16="http://schemas.microsoft.com/office/drawing/2014/main" id="{54D1E078-AC55-5E89-201A-96A646E646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B0C02F-96E3-37F9-C819-1B9FD42642CC}"/>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128413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4B8AAB-71EB-EA1B-1F41-B7A753411238}"/>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3" name="Footer Placeholder 2">
            <a:extLst>
              <a:ext uri="{FF2B5EF4-FFF2-40B4-BE49-F238E27FC236}">
                <a16:creationId xmlns:a16="http://schemas.microsoft.com/office/drawing/2014/main" id="{1D4740AF-7837-765C-D7AD-1EF3648CCD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C5FB72-99DF-965F-45D0-5A0AB135F0BE}"/>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60391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54B6C-B221-E70F-1348-526F7529B4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687C1D-0900-2D58-BCF3-109904EA5D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90624C-1B17-5FED-6620-6C76965DC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CCEFEF-A036-6CE5-E886-37F78718EC29}"/>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6" name="Footer Placeholder 5">
            <a:extLst>
              <a:ext uri="{FF2B5EF4-FFF2-40B4-BE49-F238E27FC236}">
                <a16:creationId xmlns:a16="http://schemas.microsoft.com/office/drawing/2014/main" id="{CA54EDFA-0B08-BA8A-0838-43C6F1F502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95BEAD-8035-011F-B013-725A747E385C}"/>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1527557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FB394-B1D7-339C-8291-6052C1B605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3A7BC-F960-434A-A56E-BA82438146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82B5D0-39BB-BD41-7F3B-50BB02621E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1328EA-6B86-DD6B-A92B-7C0EDFBC7937}"/>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6" name="Footer Placeholder 5">
            <a:extLst>
              <a:ext uri="{FF2B5EF4-FFF2-40B4-BE49-F238E27FC236}">
                <a16:creationId xmlns:a16="http://schemas.microsoft.com/office/drawing/2014/main" id="{AE977397-740A-D5D4-A7BF-09B4ECF2B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968A0-F0C6-8B48-4A4D-0E64F30A0FFE}"/>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193408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DDE3-74F7-A055-0A39-6CE223C52A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3471D9-0B3F-C749-6AC3-636E3EA8D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50535-9FB1-05FD-DC04-8A35753226E9}"/>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C7703BCC-BC3F-158D-9FCB-77574FAAC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294B98-844B-9E3C-8E3E-B53C25870A65}"/>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4194599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BF9E3-16B1-A3E4-474C-046F42C2AF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4730E4-5BD1-92ED-E4E2-D4C9B1444C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05272D-E83E-8436-AD4A-E0EFB06B0381}"/>
              </a:ext>
            </a:extLst>
          </p:cNvPr>
          <p:cNvSpPr>
            <a:spLocks noGrp="1"/>
          </p:cNvSpPr>
          <p:nvPr>
            <p:ph type="dt" sz="half" idx="10"/>
          </p:nvPr>
        </p:nvSpPr>
        <p:spPr/>
        <p:txBody>
          <a:body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BAC33642-0DFC-B787-6490-0B6EAFD6B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645C5-2856-CDC1-2370-AE2044878795}"/>
              </a:ext>
            </a:extLst>
          </p:cNvPr>
          <p:cNvSpPr>
            <a:spLocks noGrp="1"/>
          </p:cNvSpPr>
          <p:nvPr>
            <p:ph type="sldNum" sz="quarter" idx="12"/>
          </p:nvPr>
        </p:nvSpPr>
        <p:spPr/>
        <p:txBody>
          <a:bodyPr/>
          <a:lstStyle/>
          <a:p>
            <a:fld id="{C17B8DFF-3554-4157-8D27-1D15576CEEB3}" type="slidenum">
              <a:rPr lang="en-US" smtClean="0"/>
              <a:t>‹#›</a:t>
            </a:fld>
            <a:endParaRPr lang="en-US"/>
          </a:p>
        </p:txBody>
      </p:sp>
    </p:spTree>
    <p:extLst>
      <p:ext uri="{BB962C8B-B14F-4D97-AF65-F5344CB8AC3E}">
        <p14:creationId xmlns:p14="http://schemas.microsoft.com/office/powerpoint/2010/main" val="1280227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70A80-4EC1-30FD-2988-903A8EEEC9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005D6-9A04-68FA-DD1F-AC4298E99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45E719-3D24-7597-67EE-C88BEF20D5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FD1B6E-27BA-44E2-9ECA-FFC0AC57A849}" type="datetimeFigureOut">
              <a:rPr lang="en-US" smtClean="0"/>
              <a:t>1/30/2025</a:t>
            </a:fld>
            <a:endParaRPr lang="en-US"/>
          </a:p>
        </p:txBody>
      </p:sp>
      <p:sp>
        <p:nvSpPr>
          <p:cNvPr id="5" name="Footer Placeholder 4">
            <a:extLst>
              <a:ext uri="{FF2B5EF4-FFF2-40B4-BE49-F238E27FC236}">
                <a16:creationId xmlns:a16="http://schemas.microsoft.com/office/drawing/2014/main" id="{D240AC92-0020-ECCB-3BAF-CCB7FF4FA5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959D22-D93E-D5CD-B382-CBC9BB3D08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B8DFF-3554-4157-8D27-1D15576CEEB3}" type="slidenum">
              <a:rPr lang="en-US" smtClean="0"/>
              <a:t>‹#›</a:t>
            </a:fld>
            <a:endParaRPr lang="en-US"/>
          </a:p>
        </p:txBody>
      </p:sp>
    </p:spTree>
    <p:extLst>
      <p:ext uri="{BB962C8B-B14F-4D97-AF65-F5344CB8AC3E}">
        <p14:creationId xmlns:p14="http://schemas.microsoft.com/office/powerpoint/2010/main" val="501908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63550-D1EC-2DB8-72D0-C2B6699D3530}"/>
              </a:ext>
            </a:extLst>
          </p:cNvPr>
          <p:cNvSpPr>
            <a:spLocks noGrp="1"/>
          </p:cNvSpPr>
          <p:nvPr>
            <p:ph type="ctrTitle"/>
          </p:nvPr>
        </p:nvSpPr>
        <p:spPr>
          <a:xfrm>
            <a:off x="1654629" y="611812"/>
            <a:ext cx="9144000" cy="1149139"/>
          </a:xfrm>
        </p:spPr>
        <p:txBody>
          <a:bodyPr/>
          <a:lstStyle/>
          <a:p>
            <a:r>
              <a:rPr lang="en-US" b="1" dirty="0">
                <a:solidFill>
                  <a:schemeClr val="accent4">
                    <a:lumMod val="75000"/>
                  </a:schemeClr>
                </a:solidFill>
                <a:latin typeface="Bahnschrift SemiBold Condensed" panose="020B0502040204020203" pitchFamily="34" charset="0"/>
              </a:rPr>
              <a:t>QUẢN TRỊ THỜI HỔN LOẠN</a:t>
            </a:r>
          </a:p>
        </p:txBody>
      </p:sp>
      <p:sp>
        <p:nvSpPr>
          <p:cNvPr id="3" name="Subtitle 2">
            <a:extLst>
              <a:ext uri="{FF2B5EF4-FFF2-40B4-BE49-F238E27FC236}">
                <a16:creationId xmlns:a16="http://schemas.microsoft.com/office/drawing/2014/main" id="{5948C836-73BE-B2A0-A8D7-01C33450D4F7}"/>
              </a:ext>
            </a:extLst>
          </p:cNvPr>
          <p:cNvSpPr>
            <a:spLocks noGrp="1"/>
          </p:cNvSpPr>
          <p:nvPr>
            <p:ph type="subTitle" idx="1"/>
          </p:nvPr>
        </p:nvSpPr>
        <p:spPr/>
        <p:txBody>
          <a:bodyPr/>
          <a:lstStyle/>
          <a:p>
            <a:endParaRPr lang="en-US"/>
          </a:p>
        </p:txBody>
      </p:sp>
      <p:pic>
        <p:nvPicPr>
          <p:cNvPr id="1030" name="Picture 6" descr="147 600+ Chaos Stock Illustrations, graphiques vectoriels libre de droits  et Clip Art - iStock | Désordre, Apocalypse, Complexité">
            <a:extLst>
              <a:ext uri="{FF2B5EF4-FFF2-40B4-BE49-F238E27FC236}">
                <a16:creationId xmlns:a16="http://schemas.microsoft.com/office/drawing/2014/main" id="{203BCE72-6FA1-A463-816B-8EAA01918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979" y="1991600"/>
            <a:ext cx="5829300" cy="41624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11180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ECD39-08D6-BA3B-901F-DAD1E3BB1814}"/>
              </a:ext>
            </a:extLst>
          </p:cNvPr>
          <p:cNvSpPr>
            <a:spLocks noGrp="1"/>
          </p:cNvSpPr>
          <p:nvPr>
            <p:ph type="title"/>
          </p:nvPr>
        </p:nvSpPr>
        <p:spPr>
          <a:xfrm>
            <a:off x="838200" y="755780"/>
            <a:ext cx="10515600" cy="934908"/>
          </a:xfrm>
        </p:spPr>
        <p:txBody>
          <a:bodyPr>
            <a:normAutofit fontScale="90000"/>
          </a:bodyPr>
          <a:lstStyle/>
          <a:p>
            <a:pPr marL="571500" indent="-571500">
              <a:buFont typeface="Wingdings" panose="05000000000000000000" pitchFamily="2" charset="2"/>
              <a:buChar char="v"/>
            </a:pPr>
            <a:r>
              <a:rPr lang="en-US" b="1" i="0" dirty="0" err="1">
                <a:solidFill>
                  <a:schemeClr val="accent4">
                    <a:lumMod val="75000"/>
                  </a:schemeClr>
                </a:solidFill>
                <a:effectLst/>
                <a:latin typeface="Bahnschrift SemiBold Condensed" panose="020B0502040204020203" pitchFamily="34" charset="0"/>
              </a:rPr>
              <a:t>Chúng</a:t>
            </a:r>
            <a:r>
              <a:rPr lang="en-US" b="1" i="0" dirty="0">
                <a:solidFill>
                  <a:schemeClr val="accent4">
                    <a:lumMod val="75000"/>
                  </a:schemeClr>
                </a:solidFill>
                <a:effectLst/>
                <a:latin typeface="Bahnschrift SemiBold Condensed" panose="020B0502040204020203" pitchFamily="34" charset="0"/>
              </a:rPr>
              <a:t> ta </a:t>
            </a:r>
            <a:r>
              <a:rPr lang="en-US" b="1" i="0" dirty="0" err="1">
                <a:solidFill>
                  <a:schemeClr val="accent4">
                    <a:lumMod val="75000"/>
                  </a:schemeClr>
                </a:solidFill>
                <a:effectLst/>
                <a:latin typeface="Bahnschrift SemiBold Condensed" panose="020B0502040204020203" pitchFamily="34" charset="0"/>
              </a:rPr>
              <a:t>không</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thể</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thoát</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khỏi</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sự</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hỗn</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loạn</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của</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mình</a:t>
            </a:r>
            <a:br>
              <a:rPr lang="en-US" b="1" i="0" dirty="0">
                <a:solidFill>
                  <a:schemeClr val="accent4">
                    <a:lumMod val="75000"/>
                  </a:schemeClr>
                </a:solidFill>
                <a:effectLst/>
                <a:latin typeface="Bahnschrift SemiBold Condensed" panose="020B0502040204020203" pitchFamily="34" charset="0"/>
              </a:rPr>
            </a:br>
            <a:endParaRPr lang="en-US" dirty="0">
              <a:solidFill>
                <a:schemeClr val="accent4">
                  <a:lumMod val="75000"/>
                </a:schemeClr>
              </a:solidFill>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F3C5C95C-4907-4BD2-CB1B-852ADB5F57CD}"/>
              </a:ext>
            </a:extLst>
          </p:cNvPr>
          <p:cNvSpPr>
            <a:spLocks noGrp="1"/>
          </p:cNvSpPr>
          <p:nvPr>
            <p:ph idx="1"/>
          </p:nvPr>
        </p:nvSpPr>
        <p:spPr>
          <a:xfrm>
            <a:off x="838200" y="1825625"/>
            <a:ext cx="10515600" cy="2270514"/>
          </a:xfrm>
        </p:spPr>
        <p:txBody>
          <a:bodyPr>
            <a:noAutofit/>
          </a:bodyPr>
          <a:lstStyle/>
          <a:p>
            <a:pPr algn="just">
              <a:lnSpc>
                <a:spcPct val="170000"/>
              </a:lnSpc>
            </a:pPr>
            <a:r>
              <a:rPr lang="en-US" sz="1400" dirty="0" err="1">
                <a:latin typeface="Arial" panose="020B0604020202020204" pitchFamily="34" charset="0"/>
                <a:cs typeface="Arial" panose="020B0604020202020204" pitchFamily="34" charset="0"/>
              </a:rPr>
              <a:t>Chúng</a:t>
            </a:r>
            <a:r>
              <a:rPr lang="en-US" sz="1400" dirty="0">
                <a:latin typeface="Arial" panose="020B0604020202020204" pitchFamily="34" charset="0"/>
                <a:cs typeface="Arial" panose="020B0604020202020204" pitchFamily="34" charset="0"/>
              </a:rPr>
              <a:t> ta </a:t>
            </a:r>
            <a:r>
              <a:rPr lang="en-US" sz="1400" dirty="0" err="1">
                <a:latin typeface="Arial" panose="020B0604020202020204" pitchFamily="34" charset="0"/>
                <a:cs typeface="Arial" panose="020B0604020202020204" pitchFamily="34" charset="0"/>
              </a:rPr>
              <a:t>nghĩ</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thường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nghĩ</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rằng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đẹp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đẽ</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sạch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sẽ</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trong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nhưng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bộ</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đồ</a:t>
            </a:r>
            <a:r>
              <a:rPr lang="en-US" sz="1400" dirty="0">
                <a:latin typeface="Arial" panose="020B0604020202020204" pitchFamily="34" charset="0"/>
                <a:cs typeface="Arial" panose="020B0604020202020204" pitchFamily="34" charset="0"/>
              </a:rPr>
              <a:t> sang </a:t>
            </a:r>
            <a:r>
              <a:rPr lang="en-US" sz="1400" dirty="0" err="1">
                <a:latin typeface="Arial" panose="020B0604020202020204" pitchFamily="34" charset="0"/>
                <a:cs typeface="Arial" panose="020B0604020202020204" pitchFamily="34" charset="0"/>
              </a:rPr>
              <a:t>trọng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vẽ</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mặt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tươi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vui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trước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người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Nhưng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bản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chất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chúng</a:t>
            </a:r>
            <a:r>
              <a:rPr lang="en-US" sz="1400" dirty="0">
                <a:latin typeface="Arial" panose="020B0604020202020204" pitchFamily="34" charset="0"/>
                <a:cs typeface="Arial" panose="020B0604020202020204" pitchFamily="34" charset="0"/>
              </a:rPr>
              <a:t> ta </a:t>
            </a:r>
            <a:r>
              <a:rPr lang="en-US" sz="1400" dirty="0" err="1">
                <a:latin typeface="Arial" panose="020B0604020202020204" pitchFamily="34" charset="0"/>
                <a:cs typeface="Arial" panose="020B0604020202020204" pitchFamily="34" charset="0"/>
              </a:rPr>
              <a:t>đều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sống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trong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sự</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hỗn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loạn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từ</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bản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thân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đến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việc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cuộc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sống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xã</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hội</a:t>
            </a:r>
            <a:r>
              <a:rPr lang="en-US" sz="1400" dirty="0">
                <a:latin typeface="Arial" panose="020B0604020202020204" pitchFamily="34" charset="0"/>
                <a:cs typeface="Arial" panose="020B0604020202020204" pitchFamily="34" charset="0"/>
              </a:rPr>
              <a:t>.</a:t>
            </a:r>
          </a:p>
          <a:p>
            <a:pPr algn="just">
              <a:lnSpc>
                <a:spcPct val="170000"/>
              </a:lnSpc>
            </a:pPr>
            <a:r>
              <a:rPr lang="en-US" sz="1400" dirty="0" err="1">
                <a:latin typeface="Arial" panose="020B0604020202020204" pitchFamily="34" charset="0"/>
                <a:cs typeface="Arial" panose="020B0604020202020204" pitchFamily="34" charset="0"/>
              </a:rPr>
              <a:t>Một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thế</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giới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ngừng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đổi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chúng</a:t>
            </a:r>
            <a:r>
              <a:rPr lang="en-US" sz="1400" dirty="0">
                <a:latin typeface="Arial" panose="020B0604020202020204" pitchFamily="34" charset="0"/>
                <a:cs typeface="Arial" panose="020B0604020202020204" pitchFamily="34" charset="0"/>
              </a:rPr>
              <a:t> ta </a:t>
            </a:r>
            <a:r>
              <a:rPr lang="en-US" sz="1400" dirty="0" err="1">
                <a:latin typeface="Arial" panose="020B0604020202020204" pitchFamily="34" charset="0"/>
                <a:cs typeface="Arial" panose="020B0604020202020204" pitchFamily="34" charset="0"/>
              </a:rPr>
              <a:t>không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thể</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đòi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hỏi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thế</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giới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đổi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theo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bạn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chúng</a:t>
            </a:r>
            <a:r>
              <a:rPr lang="en-US" sz="1400" dirty="0">
                <a:latin typeface="Arial" panose="020B0604020202020204" pitchFamily="34" charset="0"/>
                <a:cs typeface="Arial" panose="020B0604020202020204" pitchFamily="34" charset="0"/>
              </a:rPr>
              <a:t> ta </a:t>
            </a:r>
            <a:r>
              <a:rPr lang="en-US" sz="1400" dirty="0" err="1">
                <a:latin typeface="Arial" panose="020B0604020202020204" pitchFamily="34" charset="0"/>
                <a:cs typeface="Arial" panose="020B0604020202020204" pitchFamily="34" charset="0"/>
              </a:rPr>
              <a:t>chỉ</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tự</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đổi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chính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để</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thích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nghi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với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sự</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hỗn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loạn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đó</a:t>
            </a:r>
            <a:r>
              <a:rPr lang="en-US" sz="1400" dirty="0">
                <a:latin typeface="Arial" panose="020B0604020202020204" pitchFamily="34" charset="0"/>
                <a:cs typeface="Arial" panose="020B0604020202020204" pitchFamily="34" charset="0"/>
              </a:rPr>
              <a:t>.</a:t>
            </a:r>
          </a:p>
          <a:p>
            <a:pPr algn="just">
              <a:lnSpc>
                <a:spcPct val="170000"/>
              </a:lnSpc>
            </a:pPr>
            <a:r>
              <a:rPr lang="vi-VN" sz="1400" dirty="0">
                <a:latin typeface="Arial" panose="020B0604020202020204" pitchFamily="34" charset="0"/>
                <a:cs typeface="Arial" panose="020B0604020202020204" pitchFamily="34" charset="0"/>
              </a:rPr>
              <a:t>Thật tuyệt vời khi chúng ta có thể quen với những điều "bình thường" của mình. Mặc dù điều đó có thể đáng sợ, nhưng cũng có thể tuyệt vời. </a:t>
            </a:r>
            <a:r>
              <a:rPr lang="vi-VN" sz="1400" b="1" dirty="0">
                <a:latin typeface="Arial" panose="020B0604020202020204" pitchFamily="34" charset="0"/>
                <a:cs typeface="Arial" panose="020B0604020202020204" pitchFamily="34" charset="0"/>
              </a:rPr>
              <a:t>Nếu bạn học cách sống và quản lý trong cơn lốc hỗn loạn của việc điều hành một doanh nghiệp, bạn sẽ tìm thấy thành công</a:t>
            </a:r>
            <a:endParaRPr lang="en-US" sz="1400" dirty="0">
              <a:latin typeface="Arial" panose="020B0604020202020204" pitchFamily="34" charset="0"/>
              <a:cs typeface="Arial" panose="020B0604020202020204" pitchFamily="34" charset="0"/>
            </a:endParaRPr>
          </a:p>
          <a:p>
            <a:pPr algn="just">
              <a:lnSpc>
                <a:spcPct val="170000"/>
              </a:lnSpc>
            </a:pPr>
            <a:endParaRPr lang="en-US" sz="1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B60F183-D1B4-5D8C-4971-552FCD1CD7C9}"/>
              </a:ext>
            </a:extLst>
          </p:cNvPr>
          <p:cNvPicPr>
            <a:picLocks noChangeAspect="1"/>
          </p:cNvPicPr>
          <p:nvPr/>
        </p:nvPicPr>
        <p:blipFill rotWithShape="1">
          <a:blip r:embed="rId2"/>
          <a:srcRect l="34286" t="41225" r="29591" b="36551"/>
          <a:stretch/>
        </p:blipFill>
        <p:spPr>
          <a:xfrm>
            <a:off x="5589037" y="4599993"/>
            <a:ext cx="6254882" cy="2164702"/>
          </a:xfrm>
          <a:prstGeom prst="rect">
            <a:avLst/>
          </a:prstGeom>
        </p:spPr>
      </p:pic>
    </p:spTree>
    <p:extLst>
      <p:ext uri="{BB962C8B-B14F-4D97-AF65-F5344CB8AC3E}">
        <p14:creationId xmlns:p14="http://schemas.microsoft.com/office/powerpoint/2010/main" val="85854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3518-1439-3954-2D64-69347E4677C6}"/>
              </a:ext>
            </a:extLst>
          </p:cNvPr>
          <p:cNvSpPr>
            <a:spLocks noGrp="1"/>
          </p:cNvSpPr>
          <p:nvPr>
            <p:ph type="title"/>
          </p:nvPr>
        </p:nvSpPr>
        <p:spPr/>
        <p:txBody>
          <a:bodyPr/>
          <a:lstStyle/>
          <a:p>
            <a:r>
              <a:rPr lang="vi-VN" b="1" i="0" dirty="0">
                <a:solidFill>
                  <a:schemeClr val="accent4">
                    <a:lumMod val="75000"/>
                  </a:schemeClr>
                </a:solidFill>
                <a:effectLst/>
                <a:latin typeface="Bahnschrift SemiBold Condensed" panose="020B0502040204020203" pitchFamily="34" charset="0"/>
              </a:rPr>
              <a:t>1. Quản lý mọi người như những người trưởng thành.</a:t>
            </a:r>
            <a:endParaRPr lang="en-US" dirty="0">
              <a:solidFill>
                <a:schemeClr val="accent4">
                  <a:lumMod val="75000"/>
                </a:schemeClr>
              </a:solidFill>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DD92329C-44CC-7326-740C-E2D71A550AAF}"/>
              </a:ext>
            </a:extLst>
          </p:cNvPr>
          <p:cNvSpPr>
            <a:spLocks noGrp="1"/>
          </p:cNvSpPr>
          <p:nvPr>
            <p:ph idx="1"/>
          </p:nvPr>
        </p:nvSpPr>
        <p:spPr>
          <a:xfrm>
            <a:off x="4133460" y="1825625"/>
            <a:ext cx="7220339" cy="4351338"/>
          </a:xfrm>
        </p:spPr>
        <p:txBody>
          <a:bodyPr>
            <a:normAutofit fontScale="85000" lnSpcReduction="10000"/>
          </a:bodyPr>
          <a:lstStyle/>
          <a:p>
            <a:pPr algn="just">
              <a:lnSpc>
                <a:spcPct val="150000"/>
              </a:lnSpc>
            </a:pPr>
            <a:r>
              <a:rPr lang="vi-VN" b="0" i="0" dirty="0">
                <a:effectLst/>
                <a:latin typeface="Muli"/>
              </a:rPr>
              <a:t>Chúng ta thường phản ứng với sự hỗn loạn bằng cách cố gắng thắt chặt kiểm soát. Thật không may, điều này không hiệu quả với những nhân viên giỏi nhất của bạn. </a:t>
            </a:r>
            <a:endParaRPr lang="en-US" b="0" i="0" dirty="0">
              <a:effectLst/>
              <a:latin typeface="Muli"/>
            </a:endParaRPr>
          </a:p>
          <a:p>
            <a:pPr algn="just">
              <a:lnSpc>
                <a:spcPct val="150000"/>
              </a:lnSpc>
            </a:pPr>
            <a:r>
              <a:rPr lang="vi-VN" b="0" i="0" dirty="0">
                <a:effectLst/>
                <a:latin typeface="Muli"/>
              </a:rPr>
              <a:t>Họ thông minh, có kỹ năng và có năng lực. Khi chúng ta kiểm soát họ, chúng ta đối xử với họ giống trẻ con hơn là người lớn. Vì vậy, hãy cho họ không gian và khả năng tự đưa ra quyết định. </a:t>
            </a:r>
            <a:r>
              <a:rPr lang="vi-VN" b="0" i="0" u="none" strike="noStrike" dirty="0">
                <a:effectLst/>
                <a:latin typeface="Muli"/>
              </a:rPr>
              <a:t>Đối xử với họ như những người trưởng thành.</a:t>
            </a:r>
            <a:endParaRPr lang="en-US" dirty="0"/>
          </a:p>
        </p:txBody>
      </p:sp>
      <p:pic>
        <p:nvPicPr>
          <p:cNvPr id="2050" name="Picture 2" descr="147.700+ Sự Hỗn Loạn Khái Niệm Hình minh họa, Đồ họa Vectơ trả phí bản  quyền một lần &amp; Clip nghệ thuật sẵn có - iStock">
            <a:extLst>
              <a:ext uri="{FF2B5EF4-FFF2-40B4-BE49-F238E27FC236}">
                <a16:creationId xmlns:a16="http://schemas.microsoft.com/office/drawing/2014/main" id="{36CD655C-B879-C00E-C9F1-767A82FBB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21902"/>
            <a:ext cx="3766965" cy="26898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9282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9E9-4829-B64F-D96A-FC63F82E62CC}"/>
              </a:ext>
            </a:extLst>
          </p:cNvPr>
          <p:cNvSpPr>
            <a:spLocks noGrp="1"/>
          </p:cNvSpPr>
          <p:nvPr>
            <p:ph type="title"/>
          </p:nvPr>
        </p:nvSpPr>
        <p:spPr/>
        <p:txBody>
          <a:bodyPr/>
          <a:lstStyle/>
          <a:p>
            <a:r>
              <a:rPr lang="en-US" b="1" i="0" dirty="0">
                <a:solidFill>
                  <a:schemeClr val="accent4">
                    <a:lumMod val="75000"/>
                  </a:schemeClr>
                </a:solidFill>
                <a:effectLst/>
                <a:latin typeface="Bahnschrift SemiBold Condensed" panose="020B0502040204020203" pitchFamily="34" charset="0"/>
              </a:rPr>
              <a:t>2. </a:t>
            </a:r>
            <a:r>
              <a:rPr lang="en-US" b="1" i="0" dirty="0" err="1">
                <a:solidFill>
                  <a:schemeClr val="accent4">
                    <a:lumMod val="75000"/>
                  </a:schemeClr>
                </a:solidFill>
                <a:effectLst/>
                <a:latin typeface="Bahnschrift SemiBold Condensed" panose="020B0502040204020203" pitchFamily="34" charset="0"/>
              </a:rPr>
              <a:t>Sẽ</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có</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sai</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lầm</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Hãy</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tận</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dụng</a:t>
            </a:r>
            <a:r>
              <a:rPr lang="en-US" b="1" i="0" dirty="0">
                <a:solidFill>
                  <a:schemeClr val="accent4">
                    <a:lumMod val="75000"/>
                  </a:schemeClr>
                </a:solidFill>
                <a:effectLst/>
                <a:latin typeface="Bahnschrift SemiBold Condensed" panose="020B0502040204020203" pitchFamily="34" charset="0"/>
              </a:rPr>
              <a:t> </a:t>
            </a:r>
            <a:r>
              <a:rPr lang="en-US" b="1" i="0" dirty="0" err="1">
                <a:solidFill>
                  <a:schemeClr val="accent4">
                    <a:lumMod val="75000"/>
                  </a:schemeClr>
                </a:solidFill>
                <a:effectLst/>
                <a:latin typeface="Bahnschrift SemiBold Condensed" panose="020B0502040204020203" pitchFamily="34" charset="0"/>
              </a:rPr>
              <a:t>chúng</a:t>
            </a:r>
            <a:r>
              <a:rPr lang="en-US" b="1" i="0" dirty="0">
                <a:solidFill>
                  <a:schemeClr val="accent4">
                    <a:lumMod val="75000"/>
                  </a:schemeClr>
                </a:solidFill>
                <a:effectLst/>
                <a:latin typeface="Bahnschrift SemiBold Condensed" panose="020B0502040204020203" pitchFamily="34" charset="0"/>
              </a:rPr>
              <a:t>.</a:t>
            </a:r>
            <a:endParaRPr lang="en-US" dirty="0">
              <a:solidFill>
                <a:schemeClr val="accent4">
                  <a:lumMod val="75000"/>
                </a:schemeClr>
              </a:solidFill>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7AE38D83-3BAD-10B6-EEFA-DF6356213215}"/>
              </a:ext>
            </a:extLst>
          </p:cNvPr>
          <p:cNvSpPr>
            <a:spLocks noGrp="1"/>
          </p:cNvSpPr>
          <p:nvPr>
            <p:ph idx="1"/>
          </p:nvPr>
        </p:nvSpPr>
        <p:spPr>
          <a:xfrm>
            <a:off x="838200" y="1806964"/>
            <a:ext cx="6290388" cy="4351338"/>
          </a:xfrm>
        </p:spPr>
        <p:txBody>
          <a:bodyPr>
            <a:normAutofit fontScale="70000" lnSpcReduction="20000"/>
          </a:bodyPr>
          <a:lstStyle/>
          <a:p>
            <a:pPr algn="just">
              <a:lnSpc>
                <a:spcPct val="150000"/>
              </a:lnSpc>
            </a:pPr>
            <a:r>
              <a:rPr lang="vi-VN" b="0" i="0" dirty="0">
                <a:effectLst/>
                <a:latin typeface="Arial" panose="020B0604020202020204" pitchFamily="34" charset="0"/>
                <a:cs typeface="Arial" panose="020B0604020202020204" pitchFamily="34" charset="0"/>
              </a:rPr>
              <a:t>Trong lúc hỗn loạn, </a:t>
            </a:r>
            <a:r>
              <a:rPr lang="vi-VN" b="0" i="0" u="none" strike="noStrike" dirty="0">
                <a:effectLst/>
                <a:latin typeface="Arial" panose="020B0604020202020204" pitchFamily="34" charset="0"/>
                <a:cs typeface="Arial" panose="020B0604020202020204" pitchFamily="34" charset="0"/>
              </a:rPr>
              <a:t>mọi người sẽ đưa ra những quyết định không đúng đắn</a:t>
            </a:r>
            <a:r>
              <a:rPr lang="vi-VN" b="0" i="0" dirty="0">
                <a:effectLst/>
                <a:latin typeface="Arial" panose="020B0604020202020204" pitchFamily="34" charset="0"/>
                <a:cs typeface="Arial" panose="020B0604020202020204" pitchFamily="34" charset="0"/>
              </a:rPr>
              <a:t>. Họ sẽ đặt quá nhiều trọng lượng vào yếu tố sai, bị phân tâm bởi điều gì đó hoặc dành thời gian cho một sáng kiến ​​không phải là quan trọng nhất. </a:t>
            </a:r>
            <a:endParaRPr lang="en-US" b="0" i="0" dirty="0">
              <a:effectLst/>
              <a:latin typeface="Arial" panose="020B0604020202020204" pitchFamily="34" charset="0"/>
              <a:cs typeface="Arial" panose="020B0604020202020204" pitchFamily="34" charset="0"/>
            </a:endParaRPr>
          </a:p>
          <a:p>
            <a:pPr algn="just">
              <a:lnSpc>
                <a:spcPct val="150000"/>
              </a:lnSpc>
            </a:pPr>
            <a:r>
              <a:rPr lang="vi-VN" b="0" i="0" dirty="0">
                <a:effectLst/>
                <a:latin typeface="Arial" panose="020B0604020202020204" pitchFamily="34" charset="0"/>
                <a:cs typeface="Arial" panose="020B0604020202020204" pitchFamily="34" charset="0"/>
              </a:rPr>
              <a:t>Thay vì cố gắng loại bỏ sai lầm, hãy học cách tận dụng chúng như những cách để giáo dục nhóm của bạn.</a:t>
            </a:r>
            <a:endParaRPr lang="en-US" b="0" i="0" dirty="0">
              <a:effectLst/>
              <a:latin typeface="Arial" panose="020B0604020202020204" pitchFamily="34" charset="0"/>
              <a:cs typeface="Arial" panose="020B0604020202020204" pitchFamily="34" charset="0"/>
            </a:endParaRPr>
          </a:p>
          <a:p>
            <a:pPr algn="just">
              <a:lnSpc>
                <a:spcPct val="150000"/>
              </a:lnSpc>
            </a:pP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trọng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cuộc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lầm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đừng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phạm</a:t>
            </a:r>
            <a:r>
              <a:rPr lang="en-US" dirty="0">
                <a:latin typeface="Arial" panose="020B0604020202020204" pitchFamily="34" charset="0"/>
                <a:cs typeface="Arial" panose="020B0604020202020204" pitchFamily="34" charset="0"/>
              </a:rPr>
              <a:t>.</a:t>
            </a:r>
          </a:p>
        </p:txBody>
      </p:sp>
      <p:pic>
        <p:nvPicPr>
          <p:cNvPr id="3074" name="Picture 2" descr="Khái Niệm Ẩn Dụ Nhóm Rối Rắm Và Sáng Tỏ Phong Cách Hoạt Hình Phẳng Hiện Đại  Minh Họa Vectơ Hình minh họa Sẵn có - Tải xuống Hình ảnh Ngay bây">
            <a:extLst>
              <a:ext uri="{FF2B5EF4-FFF2-40B4-BE49-F238E27FC236}">
                <a16:creationId xmlns:a16="http://schemas.microsoft.com/office/drawing/2014/main" id="{3A262BD5-A2C9-AB0D-13AE-B9917CA54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8706" y="2128346"/>
            <a:ext cx="4357785" cy="2997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4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03DFB-78F4-1261-B902-9F369C85D805}"/>
              </a:ext>
            </a:extLst>
          </p:cNvPr>
          <p:cNvSpPr>
            <a:spLocks noGrp="1"/>
          </p:cNvSpPr>
          <p:nvPr>
            <p:ph type="title"/>
          </p:nvPr>
        </p:nvSpPr>
        <p:spPr/>
        <p:txBody>
          <a:bodyPr/>
          <a:lstStyle/>
          <a:p>
            <a:r>
              <a:rPr lang="en-US" b="1" i="0" dirty="0">
                <a:solidFill>
                  <a:schemeClr val="accent4">
                    <a:lumMod val="75000"/>
                  </a:schemeClr>
                </a:solidFill>
                <a:effectLst/>
                <a:latin typeface="Bahnschrift Condensed" panose="020B0502040204020203" pitchFamily="34" charset="0"/>
              </a:rPr>
              <a:t>3. </a:t>
            </a:r>
            <a:r>
              <a:rPr lang="en-US" b="1" i="0" dirty="0" err="1">
                <a:solidFill>
                  <a:schemeClr val="accent4">
                    <a:lumMod val="75000"/>
                  </a:schemeClr>
                </a:solidFill>
                <a:effectLst/>
                <a:latin typeface="Bahnschrift Condensed" panose="020B0502040204020203" pitchFamily="34" charset="0"/>
              </a:rPr>
              <a:t>Từ</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chối</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suy</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nghĩ</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Hoặc</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là</a:t>
            </a:r>
            <a:r>
              <a:rPr lang="en-US" b="1" i="0" dirty="0">
                <a:solidFill>
                  <a:schemeClr val="accent4">
                    <a:lumMod val="75000"/>
                  </a:schemeClr>
                </a:solidFill>
                <a:effectLst/>
                <a:latin typeface="Bahnschrift Condensed" panose="020B0502040204020203" pitchFamily="34" charset="0"/>
              </a:rPr>
              <a:t>"</a:t>
            </a:r>
            <a:endParaRPr lang="en-US"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9CFE04F6-3EB6-BBAA-A83C-9C8F7D761B01}"/>
              </a:ext>
            </a:extLst>
          </p:cNvPr>
          <p:cNvSpPr>
            <a:spLocks noGrp="1"/>
          </p:cNvSpPr>
          <p:nvPr>
            <p:ph idx="1"/>
          </p:nvPr>
        </p:nvSpPr>
        <p:spPr>
          <a:xfrm>
            <a:off x="5444455" y="2223082"/>
            <a:ext cx="5909345" cy="4351338"/>
          </a:xfrm>
        </p:spPr>
        <p:txBody>
          <a:bodyPr>
            <a:normAutofit/>
          </a:bodyPr>
          <a:lstStyle/>
          <a:p>
            <a:pPr algn="just"/>
            <a:r>
              <a:rPr lang="vi-VN" sz="2000" b="0" i="0" dirty="0">
                <a:effectLst/>
                <a:latin typeface="Arial" panose="020B0604020202020204" pitchFamily="34" charset="0"/>
                <a:cs typeface="Arial" panose="020B0604020202020204" pitchFamily="34" charset="0"/>
              </a:rPr>
              <a:t>Một trong những điều tôi thấy rất nhiều khi chúng ta đang ở giữa sự hỗn loạn là chúng ta dễ bị neo vào những câu chuyện sai lệch. </a:t>
            </a:r>
            <a:endParaRPr lang="en-US" sz="2000" dirty="0">
              <a:latin typeface="Arial" panose="020B0604020202020204" pitchFamily="34" charset="0"/>
              <a:cs typeface="Arial" panose="020B0604020202020204" pitchFamily="34" charset="0"/>
            </a:endParaRPr>
          </a:p>
          <a:p>
            <a:pPr algn="just"/>
            <a:r>
              <a:rPr lang="vi-VN" sz="2000" b="0" i="0" dirty="0">
                <a:effectLst/>
                <a:latin typeface="Arial" panose="020B0604020202020204" pitchFamily="34" charset="0"/>
                <a:cs typeface="Arial" panose="020B0604020202020204" pitchFamily="34" charset="0"/>
              </a:rPr>
              <a:t>Chúng ta phải lựa chọn giữa A hoặc B (và mỗi lựa chọn đều có nhược điểm riêng). </a:t>
            </a:r>
            <a:r>
              <a:rPr lang="vi-VN" sz="2000" b="0" i="0" u="none" strike="noStrike" dirty="0">
                <a:effectLst/>
                <a:latin typeface="Arial" panose="020B0604020202020204" pitchFamily="34" charset="0"/>
                <a:cs typeface="Arial" panose="020B0604020202020204" pitchFamily="34" charset="0"/>
              </a:rPr>
              <a:t>Trong lúc căng thẳng, chúng ta dễ bị thu hẹp tầm nhìn và hạn chế suy nghĩ của mình</a:t>
            </a:r>
            <a:r>
              <a:rPr lang="vi-VN" sz="2000" b="0" i="0" dirty="0">
                <a:effectLst/>
                <a:latin typeface="Arial" panose="020B0604020202020204" pitchFamily="34" charset="0"/>
                <a:cs typeface="Arial" panose="020B0604020202020204" pitchFamily="34" charset="0"/>
              </a:rPr>
              <a:t>. Đừng để điều đó xảy ra. Hãy học cách tạo ra nhiều lựa chọn hơn ( </a:t>
            </a:r>
            <a:r>
              <a:rPr lang="vi-VN" sz="2000" b="0" i="0" u="none" strike="noStrike" dirty="0">
                <a:effectLst/>
                <a:latin typeface="Arial" panose="020B0604020202020204" pitchFamily="34" charset="0"/>
                <a:cs typeface="Arial" panose="020B0604020202020204" pitchFamily="34" charset="0"/>
              </a:rPr>
              <a:t>C, D và E</a:t>
            </a:r>
            <a:r>
              <a:rPr lang="vi-VN" sz="2000" b="0" i="0" dirty="0">
                <a:effectLst/>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65E5D7C-B3F7-58B2-CE79-3C2888063669}"/>
              </a:ext>
            </a:extLst>
          </p:cNvPr>
          <p:cNvPicPr>
            <a:picLocks noChangeAspect="1"/>
          </p:cNvPicPr>
          <p:nvPr/>
        </p:nvPicPr>
        <p:blipFill>
          <a:blip r:embed="rId2"/>
          <a:stretch>
            <a:fillRect/>
          </a:stretch>
        </p:blipFill>
        <p:spPr>
          <a:xfrm>
            <a:off x="151613" y="2223082"/>
            <a:ext cx="4855934" cy="2835173"/>
          </a:xfrm>
          <a:prstGeom prst="rect">
            <a:avLst/>
          </a:prstGeom>
          <a:ln>
            <a:noFill/>
          </a:ln>
          <a:effectLst>
            <a:softEdge rad="112500"/>
          </a:effectLst>
        </p:spPr>
      </p:pic>
    </p:spTree>
    <p:extLst>
      <p:ext uri="{BB962C8B-B14F-4D97-AF65-F5344CB8AC3E}">
        <p14:creationId xmlns:p14="http://schemas.microsoft.com/office/powerpoint/2010/main" val="294931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6692-AE21-DCFF-D0CB-06AE47C08509}"/>
              </a:ext>
            </a:extLst>
          </p:cNvPr>
          <p:cNvSpPr>
            <a:spLocks noGrp="1"/>
          </p:cNvSpPr>
          <p:nvPr>
            <p:ph type="title"/>
          </p:nvPr>
        </p:nvSpPr>
        <p:spPr/>
        <p:txBody>
          <a:bodyPr/>
          <a:lstStyle/>
          <a:p>
            <a:r>
              <a:rPr lang="vi-VN" b="1" i="0" dirty="0">
                <a:solidFill>
                  <a:schemeClr val="accent4">
                    <a:lumMod val="75000"/>
                  </a:schemeClr>
                </a:solidFill>
                <a:effectLst/>
                <a:latin typeface="Bahnschrift Condensed" panose="020B0502040204020203" pitchFamily="34" charset="0"/>
              </a:rPr>
              <a:t>4. Dạy mọi người cách đưa ra quyết định</a:t>
            </a:r>
            <a:endParaRPr lang="en-US"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8A2D1013-7E11-36EB-7676-EA70E2336EC7}"/>
              </a:ext>
            </a:extLst>
          </p:cNvPr>
          <p:cNvSpPr>
            <a:spLocks noGrp="1"/>
          </p:cNvSpPr>
          <p:nvPr>
            <p:ph idx="1"/>
          </p:nvPr>
        </p:nvSpPr>
        <p:spPr>
          <a:xfrm>
            <a:off x="838200" y="1825625"/>
            <a:ext cx="6275664" cy="4351338"/>
          </a:xfrm>
        </p:spPr>
        <p:txBody>
          <a:bodyPr>
            <a:normAutofit/>
          </a:bodyPr>
          <a:lstStyle/>
          <a:p>
            <a:pPr algn="just"/>
            <a:r>
              <a:rPr lang="vi-VN" sz="2400" b="0" i="0" dirty="0">
                <a:effectLst/>
                <a:latin typeface="Muli"/>
              </a:rPr>
              <a:t>Một động lực khác khi mọi người cảm thấy căng thẳng vì hỗn loạn là họ chỉ dừng đưa ra quyết định. Mục tiêu của chúng ta là giúp họ </a:t>
            </a:r>
            <a:r>
              <a:rPr lang="vi-VN" sz="2400" b="0" i="0" u="none" strike="noStrike" dirty="0">
                <a:effectLst/>
                <a:latin typeface="Muli"/>
              </a:rPr>
              <a:t>đưa ra quyết định tốt nhất</a:t>
            </a:r>
            <a:r>
              <a:rPr lang="vi-VN" sz="2400" b="0" i="0" dirty="0">
                <a:effectLst/>
                <a:latin typeface="Muli"/>
              </a:rPr>
              <a:t>, mà không sợ rằng một sai lầm sẽ gây ra tai hại.</a:t>
            </a:r>
            <a:endParaRPr lang="en-US" sz="2400" b="0" i="0" dirty="0">
              <a:effectLst/>
              <a:latin typeface="Muli"/>
            </a:endParaRPr>
          </a:p>
          <a:p>
            <a:pPr algn="just"/>
            <a:r>
              <a:rPr lang="en-US" sz="2400" dirty="0" err="1">
                <a:latin typeface="Muli"/>
              </a:rPr>
              <a:t>Bên</a:t>
            </a:r>
            <a:r>
              <a:rPr lang="en-US" sz="2400" dirty="0">
                <a:latin typeface="Muli"/>
              </a:rPr>
              <a:t> </a:t>
            </a:r>
            <a:r>
              <a:rPr lang="en-US" sz="2400" dirty="0" err="1">
                <a:latin typeface="Muli"/>
              </a:rPr>
              <a:t>cạnh</a:t>
            </a:r>
            <a:r>
              <a:rPr lang="en-US" sz="2400" dirty="0">
                <a:latin typeface="Muli"/>
              </a:rPr>
              <a:t> </a:t>
            </a:r>
            <a:r>
              <a:rPr lang="en-US" sz="2400" dirty="0" err="1">
                <a:latin typeface="Muli"/>
              </a:rPr>
              <a:t>đó</a:t>
            </a:r>
            <a:r>
              <a:rPr lang="en-US" sz="2400" dirty="0">
                <a:latin typeface="Muli"/>
              </a:rPr>
              <a:t> </a:t>
            </a:r>
            <a:r>
              <a:rPr lang="en-US" sz="2400" dirty="0" err="1">
                <a:latin typeface="Muli"/>
              </a:rPr>
              <a:t>điều</a:t>
            </a:r>
            <a:r>
              <a:rPr lang="en-US" sz="2400" dirty="0">
                <a:latin typeface="Muli"/>
              </a:rPr>
              <a:t> </a:t>
            </a:r>
            <a:r>
              <a:rPr lang="en-US" sz="2400" dirty="0" err="1">
                <a:latin typeface="Muli"/>
              </a:rPr>
              <a:t>quan</a:t>
            </a:r>
            <a:r>
              <a:rPr lang="en-US" sz="2400" dirty="0">
                <a:latin typeface="Muli"/>
              </a:rPr>
              <a:t> </a:t>
            </a:r>
            <a:r>
              <a:rPr lang="en-US" sz="2400" dirty="0" err="1">
                <a:latin typeface="Muli"/>
              </a:rPr>
              <a:t>trọng</a:t>
            </a:r>
            <a:r>
              <a:rPr lang="en-US" sz="2400" dirty="0">
                <a:latin typeface="Muli"/>
              </a:rPr>
              <a:t> </a:t>
            </a:r>
            <a:r>
              <a:rPr lang="en-US" sz="2400" dirty="0" err="1">
                <a:latin typeface="Muli"/>
              </a:rPr>
              <a:t>nhất</a:t>
            </a:r>
            <a:r>
              <a:rPr lang="en-US" sz="2400" dirty="0">
                <a:latin typeface="Muli"/>
              </a:rPr>
              <a:t> </a:t>
            </a:r>
            <a:r>
              <a:rPr lang="en-US" sz="2400" dirty="0" err="1">
                <a:latin typeface="Muli"/>
              </a:rPr>
              <a:t>là</a:t>
            </a:r>
            <a:r>
              <a:rPr lang="en-US" sz="2400" dirty="0">
                <a:latin typeface="Muli"/>
              </a:rPr>
              <a:t> </a:t>
            </a:r>
            <a:r>
              <a:rPr lang="en-US" sz="2400" dirty="0" err="1">
                <a:latin typeface="Muli"/>
              </a:rPr>
              <a:t>mỗi</a:t>
            </a:r>
            <a:r>
              <a:rPr lang="en-US" sz="2400" dirty="0">
                <a:latin typeface="Muli"/>
              </a:rPr>
              <a:t> </a:t>
            </a:r>
            <a:r>
              <a:rPr lang="en-US" sz="2400" dirty="0" err="1">
                <a:latin typeface="Muli"/>
              </a:rPr>
              <a:t>chúng</a:t>
            </a:r>
            <a:r>
              <a:rPr lang="en-US" sz="2400" dirty="0">
                <a:latin typeface="Muli"/>
              </a:rPr>
              <a:t> ta </a:t>
            </a:r>
            <a:r>
              <a:rPr lang="en-US" sz="2400" dirty="0" err="1">
                <a:latin typeface="Muli"/>
              </a:rPr>
              <a:t>phải</a:t>
            </a:r>
            <a:r>
              <a:rPr lang="en-US" sz="2400" dirty="0">
                <a:latin typeface="Muli"/>
              </a:rPr>
              <a:t> </a:t>
            </a:r>
            <a:r>
              <a:rPr lang="en-US" sz="2400" dirty="0" err="1">
                <a:latin typeface="Muli"/>
              </a:rPr>
              <a:t>học</a:t>
            </a:r>
            <a:r>
              <a:rPr lang="en-US" sz="2400" dirty="0">
                <a:latin typeface="Muli"/>
              </a:rPr>
              <a:t> </a:t>
            </a:r>
            <a:r>
              <a:rPr lang="en-US" sz="2400" dirty="0" err="1">
                <a:latin typeface="Muli"/>
              </a:rPr>
              <a:t>cách</a:t>
            </a:r>
            <a:r>
              <a:rPr lang="en-US" sz="2400" dirty="0">
                <a:latin typeface="Muli"/>
              </a:rPr>
              <a:t> </a:t>
            </a:r>
            <a:r>
              <a:rPr lang="en-US" sz="2400" dirty="0" err="1">
                <a:latin typeface="Muli"/>
              </a:rPr>
              <a:t>tự</a:t>
            </a:r>
            <a:r>
              <a:rPr lang="en-US" sz="2400" dirty="0">
                <a:latin typeface="Muli"/>
              </a:rPr>
              <a:t> </a:t>
            </a:r>
            <a:r>
              <a:rPr lang="en-US" sz="2400" dirty="0" err="1">
                <a:latin typeface="Muli"/>
              </a:rPr>
              <a:t>ra</a:t>
            </a:r>
            <a:r>
              <a:rPr lang="en-US" sz="2400" dirty="0">
                <a:latin typeface="Muli"/>
              </a:rPr>
              <a:t> </a:t>
            </a:r>
            <a:r>
              <a:rPr lang="en-US" sz="2400" dirty="0" err="1">
                <a:latin typeface="Muli"/>
              </a:rPr>
              <a:t>quyết</a:t>
            </a:r>
            <a:r>
              <a:rPr lang="en-US" sz="2400" dirty="0">
                <a:latin typeface="Muli"/>
              </a:rPr>
              <a:t> </a:t>
            </a:r>
            <a:r>
              <a:rPr lang="en-US" sz="2400" dirty="0" err="1">
                <a:latin typeface="Muli"/>
              </a:rPr>
              <a:t>định</a:t>
            </a:r>
            <a:r>
              <a:rPr lang="en-US" sz="2400" dirty="0">
                <a:latin typeface="Muli"/>
              </a:rPr>
              <a:t> </a:t>
            </a:r>
            <a:r>
              <a:rPr lang="en-US" sz="2400" dirty="0" err="1">
                <a:latin typeface="Muli"/>
              </a:rPr>
              <a:t>trước</a:t>
            </a:r>
            <a:r>
              <a:rPr lang="en-US" sz="2400" dirty="0">
                <a:latin typeface="Muli"/>
              </a:rPr>
              <a:t> </a:t>
            </a:r>
            <a:r>
              <a:rPr lang="en-US" sz="2400" dirty="0" err="1">
                <a:latin typeface="Muli"/>
              </a:rPr>
              <a:t>sự</a:t>
            </a:r>
            <a:r>
              <a:rPr lang="en-US" sz="2400" dirty="0">
                <a:latin typeface="Muli"/>
              </a:rPr>
              <a:t> </a:t>
            </a:r>
            <a:r>
              <a:rPr lang="en-US" sz="2400" dirty="0" err="1">
                <a:latin typeface="Muli"/>
              </a:rPr>
              <a:t>hỗn</a:t>
            </a:r>
            <a:r>
              <a:rPr lang="en-US" sz="2400" dirty="0">
                <a:latin typeface="Muli"/>
              </a:rPr>
              <a:t> </a:t>
            </a:r>
            <a:r>
              <a:rPr lang="en-US" sz="2400" dirty="0" err="1">
                <a:latin typeface="Muli"/>
              </a:rPr>
              <a:t>loạn</a:t>
            </a:r>
            <a:r>
              <a:rPr lang="en-US" sz="2400" dirty="0">
                <a:latin typeface="Muli"/>
              </a:rPr>
              <a:t> </a:t>
            </a:r>
            <a:r>
              <a:rPr lang="en-US" sz="2400" dirty="0" err="1">
                <a:latin typeface="Muli"/>
              </a:rPr>
              <a:t>không</a:t>
            </a:r>
            <a:r>
              <a:rPr lang="en-US" sz="2400" dirty="0">
                <a:latin typeface="Muli"/>
              </a:rPr>
              <a:t> </a:t>
            </a:r>
            <a:r>
              <a:rPr lang="en-US" sz="2400" dirty="0" err="1">
                <a:latin typeface="Muli"/>
              </a:rPr>
              <a:t>ngừng</a:t>
            </a:r>
            <a:r>
              <a:rPr lang="en-US" sz="2400" dirty="0">
                <a:latin typeface="Muli"/>
              </a:rPr>
              <a:t>.</a:t>
            </a:r>
            <a:endParaRPr lang="en-US" sz="2400" dirty="0"/>
          </a:p>
        </p:txBody>
      </p:sp>
      <p:pic>
        <p:nvPicPr>
          <p:cNvPr id="2050" name="Picture 2" descr="3 Mô hình quản trị sự thay đổi và quy trình triển khai thành công">
            <a:extLst>
              <a:ext uri="{FF2B5EF4-FFF2-40B4-BE49-F238E27FC236}">
                <a16:creationId xmlns:a16="http://schemas.microsoft.com/office/drawing/2014/main" id="{B8FB21BF-6B45-E32A-FF0D-2B2FF9F0E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4950" y="2650920"/>
            <a:ext cx="3756477" cy="2201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80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64F1-9031-1462-35FD-172BD3AAC563}"/>
              </a:ext>
            </a:extLst>
          </p:cNvPr>
          <p:cNvSpPr>
            <a:spLocks noGrp="1"/>
          </p:cNvSpPr>
          <p:nvPr>
            <p:ph type="title"/>
          </p:nvPr>
        </p:nvSpPr>
        <p:spPr/>
        <p:txBody>
          <a:bodyPr/>
          <a:lstStyle/>
          <a:p>
            <a:r>
              <a:rPr lang="en-US" b="1" i="0" dirty="0">
                <a:solidFill>
                  <a:schemeClr val="accent4">
                    <a:lumMod val="75000"/>
                  </a:schemeClr>
                </a:solidFill>
                <a:effectLst/>
                <a:latin typeface="Bahnschrift Condensed" panose="020B0502040204020203" pitchFamily="34" charset="0"/>
              </a:rPr>
              <a:t>5. </a:t>
            </a:r>
            <a:r>
              <a:rPr lang="en-US" b="1" i="0" dirty="0" err="1">
                <a:solidFill>
                  <a:schemeClr val="accent4">
                    <a:lumMod val="75000"/>
                  </a:schemeClr>
                </a:solidFill>
                <a:effectLst/>
                <a:latin typeface="Bahnschrift Condensed" panose="020B0502040204020203" pitchFamily="34" charset="0"/>
              </a:rPr>
              <a:t>Quản</a:t>
            </a:r>
            <a:r>
              <a:rPr lang="en-US" b="1" i="0" dirty="0">
                <a:solidFill>
                  <a:schemeClr val="accent4">
                    <a:lumMod val="75000"/>
                  </a:schemeClr>
                </a:solidFill>
                <a:effectLst/>
                <a:latin typeface="Bahnschrift Condensed" panose="020B0502040204020203" pitchFamily="34" charset="0"/>
              </a:rPr>
              <a:t> </a:t>
            </a:r>
            <a:r>
              <a:rPr lang="en-US" b="1" i="0" dirty="0" err="1">
                <a:solidFill>
                  <a:schemeClr val="accent4">
                    <a:lumMod val="75000"/>
                  </a:schemeClr>
                </a:solidFill>
                <a:effectLst/>
                <a:latin typeface="Bahnschrift Condensed" panose="020B0502040204020203" pitchFamily="34" charset="0"/>
              </a:rPr>
              <a:t>lý</a:t>
            </a:r>
            <a:r>
              <a:rPr lang="en-US" b="1" i="0" dirty="0">
                <a:solidFill>
                  <a:schemeClr val="accent4">
                    <a:lumMod val="75000"/>
                  </a:schemeClr>
                </a:solidFill>
                <a:effectLst/>
                <a:latin typeface="Bahnschrift Condensed" panose="020B0502040204020203" pitchFamily="34" charset="0"/>
              </a:rPr>
              <a:t> t</a:t>
            </a:r>
            <a:r>
              <a:rPr lang="vi-VN" b="1" i="0" dirty="0">
                <a:solidFill>
                  <a:schemeClr val="accent4">
                    <a:lumMod val="75000"/>
                  </a:schemeClr>
                </a:solidFill>
                <a:effectLst/>
                <a:latin typeface="Bahnschrift Condensed" panose="020B0502040204020203" pitchFamily="34" charset="0"/>
              </a:rPr>
              <a:t>iền bạc</a:t>
            </a:r>
            <a:endParaRPr lang="en-US" b="1"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0CB4BFF7-60F0-74A2-D16F-93E2F9B4BB7B}"/>
              </a:ext>
            </a:extLst>
          </p:cNvPr>
          <p:cNvSpPr>
            <a:spLocks noGrp="1"/>
          </p:cNvSpPr>
          <p:nvPr>
            <p:ph idx="1"/>
          </p:nvPr>
        </p:nvSpPr>
        <p:spPr>
          <a:xfrm>
            <a:off x="4647501" y="1761965"/>
            <a:ext cx="7067026" cy="4351338"/>
          </a:xfrm>
        </p:spPr>
        <p:txBody>
          <a:bodyPr>
            <a:normAutofit fontScale="47500" lnSpcReduction="20000"/>
          </a:bodyPr>
          <a:lstStyle/>
          <a:p>
            <a:pPr algn="just">
              <a:lnSpc>
                <a:spcPct val="170000"/>
              </a:lnSpc>
            </a:pPr>
            <a:r>
              <a:rPr lang="vi-VN" b="0" i="0" dirty="0">
                <a:solidFill>
                  <a:srgbClr val="080809"/>
                </a:solidFill>
                <a:effectLst/>
                <a:latin typeface="inherit"/>
              </a:rPr>
              <a:t>Khi bạn mới bắt đầu dấn thân vào công việc, bạn làm việc cho các doanh nghiệp với tư cách là một người làm thuê. Bạn chăm chỉ một cách tối đa, tập trung, sáng tạo và rồi cuối cùng bạn nhận ra bản thân chỉ có một thu nhập hữu hạn từ đồng lương mà ra.</a:t>
            </a:r>
          </a:p>
          <a:p>
            <a:pPr algn="just">
              <a:lnSpc>
                <a:spcPct val="170000"/>
              </a:lnSpc>
            </a:pPr>
            <a:r>
              <a:rPr lang="vi-VN" b="0" i="0" dirty="0">
                <a:solidFill>
                  <a:srgbClr val="080809"/>
                </a:solidFill>
                <a:effectLst/>
                <a:latin typeface="inherit"/>
              </a:rPr>
              <a:t>Khi một người nhận thức được điều đó, bạn hiểu rằng chỉ có một cách duy nhất là rời khỏi đó và khởi nghiệp. Khi đó, mục tiêu của bạn bắt đầu xuất hiện, có thể đó là một sự hứa hẹn như bạn sẽ có nhiều tiền và rất nhiều tiền. Nhận thức được điều đó và bạn bắt đầu hành động, nhưng đến một lúc nào đó, như khi bạn đã có rất nhiều tiền thì bạn mới giật mình, tiền không phải là mục tiêu cuối cùng.</a:t>
            </a:r>
          </a:p>
          <a:p>
            <a:pPr algn="just">
              <a:lnSpc>
                <a:spcPct val="170000"/>
              </a:lnSpc>
            </a:pPr>
            <a:r>
              <a:rPr lang="vi-VN" b="0" i="0" dirty="0">
                <a:solidFill>
                  <a:srgbClr val="080809"/>
                </a:solidFill>
                <a:effectLst/>
                <a:latin typeface="inherit"/>
              </a:rPr>
              <a:t>Các cụ từ xưa đã dạy: "Theo tình thì tình chạy, chạy tình thì tình theo". Do đó, bạn tuyệt đối không được lấy tiền bạc làm mục tiêu, mà thay vào đó hãy xem tiền chính là công cụ để bạn đạt được mục tiêu của mình. Hãy để đồng tiền phục vụ cho mục đích của bạn. Hãy hiểu rằng, khi giá trị bạn càng được công nhận, mục tiêu càng lớn lao thì thù lao của bạn cũng sẽ gia tăng theo đó. Hãy nghĩ thật kỹ về điều này để không lầm đường, lạc lối.</a:t>
            </a:r>
          </a:p>
          <a:p>
            <a:pPr algn="just">
              <a:lnSpc>
                <a:spcPct val="170000"/>
              </a:lnSpc>
            </a:pPr>
            <a:endParaRPr lang="en-US" dirty="0"/>
          </a:p>
        </p:txBody>
      </p:sp>
      <p:pic>
        <p:nvPicPr>
          <p:cNvPr id="3074" name="Picture 2" descr="Quy tắc 50/20/30 – cách quản lý tiền bạc ai cũng nên biết – Học viện đào  tạo Kế Toán &amp; Kiểm Toán APT">
            <a:extLst>
              <a:ext uri="{FF2B5EF4-FFF2-40B4-BE49-F238E27FC236}">
                <a16:creationId xmlns:a16="http://schemas.microsoft.com/office/drawing/2014/main" id="{2CB1DD68-216C-3BE7-C25A-DF99A48CB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59" y="1761965"/>
            <a:ext cx="4070555" cy="40705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12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E9942-C558-E8A0-4A7C-28EDE57B487C}"/>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6. </a:t>
            </a:r>
            <a:r>
              <a:rPr lang="en-US" b="1" dirty="0" err="1">
                <a:solidFill>
                  <a:schemeClr val="accent4">
                    <a:lumMod val="75000"/>
                  </a:schemeClr>
                </a:solidFill>
                <a:latin typeface="Bahnschrift Condensed" panose="020B0502040204020203" pitchFamily="34" charset="0"/>
              </a:rPr>
              <a:t>Quản</a:t>
            </a:r>
            <a:r>
              <a:rPr lang="en-US" b="1" dirty="0">
                <a:solidFill>
                  <a:schemeClr val="accent4">
                    <a:lumMod val="75000"/>
                  </a:schemeClr>
                </a:solidFill>
                <a:latin typeface="Bahnschrift Condensed" panose="020B0502040204020203" pitchFamily="34" charset="0"/>
              </a:rPr>
              <a:t> </a:t>
            </a:r>
            <a:r>
              <a:rPr lang="en-US" b="1" dirty="0" err="1">
                <a:solidFill>
                  <a:schemeClr val="accent4">
                    <a:lumMod val="75000"/>
                  </a:schemeClr>
                </a:solidFill>
                <a:latin typeface="Bahnschrift Condensed" panose="020B0502040204020203" pitchFamily="34" charset="0"/>
              </a:rPr>
              <a:t>lý</a:t>
            </a:r>
            <a:r>
              <a:rPr lang="en-US" b="1" dirty="0">
                <a:solidFill>
                  <a:schemeClr val="accent4">
                    <a:lumMod val="75000"/>
                  </a:schemeClr>
                </a:solidFill>
                <a:latin typeface="Bahnschrift Condensed" panose="020B0502040204020203" pitchFamily="34" charset="0"/>
              </a:rPr>
              <a:t> t</a:t>
            </a:r>
            <a:r>
              <a:rPr lang="vi-VN" b="1" i="0" dirty="0">
                <a:solidFill>
                  <a:schemeClr val="accent4">
                    <a:lumMod val="75000"/>
                  </a:schemeClr>
                </a:solidFill>
                <a:effectLst/>
                <a:latin typeface="Bahnschrift Condensed" panose="020B0502040204020203" pitchFamily="34" charset="0"/>
              </a:rPr>
              <a:t>hời gian</a:t>
            </a:r>
            <a:endParaRPr lang="en-US" b="1"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93087CAB-8638-6500-4040-B62378E1C997}"/>
              </a:ext>
            </a:extLst>
          </p:cNvPr>
          <p:cNvSpPr>
            <a:spLocks noGrp="1"/>
          </p:cNvSpPr>
          <p:nvPr>
            <p:ph idx="1"/>
          </p:nvPr>
        </p:nvSpPr>
        <p:spPr>
          <a:xfrm>
            <a:off x="838200" y="1825625"/>
            <a:ext cx="7777294" cy="4351338"/>
          </a:xfrm>
        </p:spPr>
        <p:txBody>
          <a:bodyPr>
            <a:normAutofit fontScale="62500" lnSpcReduction="20000"/>
          </a:bodyPr>
          <a:lstStyle/>
          <a:p>
            <a:pPr algn="just">
              <a:lnSpc>
                <a:spcPct val="160000"/>
              </a:lnSpc>
            </a:pPr>
            <a:r>
              <a:rPr lang="vi-VN" b="0" i="0" dirty="0">
                <a:solidFill>
                  <a:srgbClr val="080809"/>
                </a:solidFill>
                <a:effectLst/>
                <a:latin typeface="inherit"/>
              </a:rPr>
              <a:t>Sự thật là với những người cảm thấy khi đủ tiền rồi, họ lại thấy thời gian là thứ quý giá nhất. Cho đến khi bạn quá nhiều tiền, bạn mới nhận ra rõ một điều rằng, không có lượng tiền nào mà có thể sướng bằng thời gian mà bạn dành cho nó.</a:t>
            </a:r>
          </a:p>
          <a:p>
            <a:pPr algn="just">
              <a:lnSpc>
                <a:spcPct val="160000"/>
              </a:lnSpc>
            </a:pPr>
            <a:r>
              <a:rPr lang="vi-VN" b="0" i="0" dirty="0">
                <a:solidFill>
                  <a:srgbClr val="080809"/>
                </a:solidFill>
                <a:effectLst/>
                <a:latin typeface="inherit"/>
              </a:rPr>
              <a:t>Để hiểu được giá trị của thời gian, hãy tưởng tượng rằng, khi bạn mua một món đồ, hãy xem mức giá của món đồ ấy đồng nghĩa với lượng thời gian bạn phải làm mới có thể có được số tiền đó. Đó là giá trị thực sự của thời gian. Người ta khi đã có tiền, họ sẵn sàng dùng nó để mua được thời gian. Hãy lên kế hoạch sử dụng thời gian, biết ưu tiên việc nào là quan trọng và cấp bách.</a:t>
            </a:r>
          </a:p>
          <a:p>
            <a:pPr algn="just">
              <a:lnSpc>
                <a:spcPct val="160000"/>
              </a:lnSpc>
            </a:pPr>
            <a:endParaRPr lang="en-US" dirty="0"/>
          </a:p>
        </p:txBody>
      </p:sp>
      <p:pic>
        <p:nvPicPr>
          <p:cNvPr id="4098" name="Picture 2" descr="5 bước giúp bạn quản lý thời gian hiệu quả - Thạc sĩ QTKD Đại học Andrews  Hoa Kỳ">
            <a:extLst>
              <a:ext uri="{FF2B5EF4-FFF2-40B4-BE49-F238E27FC236}">
                <a16:creationId xmlns:a16="http://schemas.microsoft.com/office/drawing/2014/main" id="{F486BDA8-F777-2240-58C9-EA52D53BF1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441" r="20189"/>
          <a:stretch/>
        </p:blipFill>
        <p:spPr bwMode="auto">
          <a:xfrm>
            <a:off x="9395670" y="2382474"/>
            <a:ext cx="2678096" cy="2419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08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701C-1525-BDCF-0079-FB8E368ACB24}"/>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7. </a:t>
            </a:r>
            <a:r>
              <a:rPr lang="vi-VN" b="1" i="0" dirty="0">
                <a:solidFill>
                  <a:schemeClr val="accent4">
                    <a:lumMod val="75000"/>
                  </a:schemeClr>
                </a:solidFill>
                <a:effectLst/>
                <a:latin typeface="Bahnschrift Condensed" panose="020B0502040204020203" pitchFamily="34" charset="0"/>
              </a:rPr>
              <a:t>Sự tự chủ</a:t>
            </a:r>
            <a:endParaRPr lang="en-US" b="1"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003CC994-105A-BED7-3CEF-781E465BE0E8}"/>
              </a:ext>
            </a:extLst>
          </p:cNvPr>
          <p:cNvSpPr>
            <a:spLocks noGrp="1"/>
          </p:cNvSpPr>
          <p:nvPr>
            <p:ph idx="1"/>
          </p:nvPr>
        </p:nvSpPr>
        <p:spPr>
          <a:xfrm>
            <a:off x="3875714" y="1825625"/>
            <a:ext cx="7478086" cy="4351338"/>
          </a:xfrm>
        </p:spPr>
        <p:txBody>
          <a:bodyPr>
            <a:normAutofit fontScale="77500" lnSpcReduction="20000"/>
          </a:bodyPr>
          <a:lstStyle/>
          <a:p>
            <a:pPr algn="just">
              <a:lnSpc>
                <a:spcPct val="150000"/>
              </a:lnSpc>
            </a:pPr>
            <a:r>
              <a:rPr lang="vi-VN" b="0" i="0" dirty="0">
                <a:solidFill>
                  <a:srgbClr val="080809"/>
                </a:solidFill>
                <a:effectLst/>
                <a:latin typeface="inherit"/>
              </a:rPr>
              <a:t>Đến khi bạn có thời gian rồi thì một vấn đề nữa lại nảy sinh. Đó là tiền bạc và thời gian vẫn không đổi được sự chủ động của mình. Tức là bạn không thoát được ức chế do không được làm theo ý tưởng của mình, suy nghĩ và đề xuất của mình mà lại phải làm theo ý nghĩ của người khác. Thậm chí, ý tưởng của người đó vô cùng ngu ngốc và khó tin. </a:t>
            </a:r>
            <a:endParaRPr lang="en-US" b="0" i="0" dirty="0">
              <a:solidFill>
                <a:srgbClr val="080809"/>
              </a:solidFill>
              <a:effectLst/>
              <a:latin typeface="inherit"/>
            </a:endParaRPr>
          </a:p>
          <a:p>
            <a:pPr algn="just">
              <a:lnSpc>
                <a:spcPct val="150000"/>
              </a:lnSpc>
            </a:pPr>
            <a:r>
              <a:rPr lang="vi-VN" b="0" i="0" dirty="0">
                <a:solidFill>
                  <a:srgbClr val="080809"/>
                </a:solidFill>
                <a:effectLst/>
                <a:latin typeface="inherit"/>
              </a:rPr>
              <a:t>Do đó, người ta khi đã có tiền và thời gian, họ luôn biết cách để có được sự tự chủ.</a:t>
            </a:r>
            <a:endParaRPr lang="en-US" dirty="0"/>
          </a:p>
        </p:txBody>
      </p:sp>
      <p:pic>
        <p:nvPicPr>
          <p:cNvPr id="5122" name="Picture 2" descr="4 phương pháp giúp học sinh THPT tăng khả năng tự chủ">
            <a:extLst>
              <a:ext uri="{FF2B5EF4-FFF2-40B4-BE49-F238E27FC236}">
                <a16:creationId xmlns:a16="http://schemas.microsoft.com/office/drawing/2014/main" id="{1A2F23BE-D9CC-CA16-3014-4B981885E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5695"/>
            <a:ext cx="3555352" cy="2845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69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D443-E450-3B6B-37D2-AA91D731BD12}"/>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8. </a:t>
            </a:r>
            <a:r>
              <a:rPr lang="vi-VN" b="1" i="0" dirty="0">
                <a:solidFill>
                  <a:schemeClr val="accent4">
                    <a:lumMod val="75000"/>
                  </a:schemeClr>
                </a:solidFill>
                <a:effectLst/>
                <a:latin typeface="Bahnschrift Condensed" panose="020B0502040204020203" pitchFamily="34" charset="0"/>
              </a:rPr>
              <a:t>Khát khao, hoài bão</a:t>
            </a:r>
            <a:br>
              <a:rPr lang="vi-VN" b="1" i="0" dirty="0">
                <a:solidFill>
                  <a:schemeClr val="accent4">
                    <a:lumMod val="75000"/>
                  </a:schemeClr>
                </a:solidFill>
                <a:effectLst/>
                <a:latin typeface="Bahnschrift Condensed" panose="020B0502040204020203" pitchFamily="34" charset="0"/>
              </a:rPr>
            </a:br>
            <a:endParaRPr lang="en-US" b="1"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B5BE6913-E89A-58C1-1FB7-715545E2A2B3}"/>
              </a:ext>
            </a:extLst>
          </p:cNvPr>
          <p:cNvSpPr>
            <a:spLocks noGrp="1"/>
          </p:cNvSpPr>
          <p:nvPr>
            <p:ph idx="1"/>
          </p:nvPr>
        </p:nvSpPr>
        <p:spPr>
          <a:xfrm>
            <a:off x="838200" y="1825625"/>
            <a:ext cx="6829338" cy="4351338"/>
          </a:xfrm>
        </p:spPr>
        <p:txBody>
          <a:bodyPr>
            <a:normAutofit fontScale="62500" lnSpcReduction="20000"/>
          </a:bodyPr>
          <a:lstStyle/>
          <a:p>
            <a:pPr algn="just">
              <a:lnSpc>
                <a:spcPct val="170000"/>
              </a:lnSpc>
            </a:pPr>
            <a:r>
              <a:rPr lang="vi-VN" b="0" i="0" dirty="0">
                <a:solidFill>
                  <a:srgbClr val="080809"/>
                </a:solidFill>
                <a:effectLst/>
                <a:latin typeface="inherit"/>
              </a:rPr>
              <a:t>Mục đích sống của mỗi người là khác nhau, nhưng mục đích cuối cùng đa phần chúng ta đều chính là sự tự do. Sự tự do cao thượng ở đây được hiểu là được làm mọi thứ theo khao khát, hoài bão của mình mà không lệ thuộc vào bất cứ ai. Đây còn được hiểu là nhu cầu thể hiện mình, nhu cầu cao nhất trong tháp nhu cầu của Maslow.</a:t>
            </a:r>
          </a:p>
          <a:p>
            <a:pPr algn="just">
              <a:lnSpc>
                <a:spcPct val="170000"/>
              </a:lnSpc>
            </a:pPr>
            <a:r>
              <a:rPr lang="vi-VN" b="0" i="0" dirty="0">
                <a:solidFill>
                  <a:srgbClr val="080809"/>
                </a:solidFill>
                <a:effectLst/>
                <a:latin typeface="inherit"/>
              </a:rPr>
              <a:t>Đã là một doanh nhân, bạn cần phải chuẩn bị thật kỹ trước những hỗn loạn sẽ ập đến. Khi bạn có tầm nhìn, khát khao cháy bỏng cùng với lòng đam mê, hãy mạnh dạng đương đầu và tự tin vào bản thân để luôn vững vàng trên hành trình của mình.</a:t>
            </a:r>
          </a:p>
          <a:p>
            <a:pPr algn="just">
              <a:lnSpc>
                <a:spcPct val="170000"/>
              </a:lnSpc>
            </a:pPr>
            <a:endParaRPr lang="en-US" dirty="0"/>
          </a:p>
        </p:txBody>
      </p:sp>
      <p:pic>
        <p:nvPicPr>
          <p:cNvPr id="6146" name="Picture 2" descr="Lý thuyết - Bài 2 Tự chủ - Giáo dục công dân 9">
            <a:extLst>
              <a:ext uri="{FF2B5EF4-FFF2-40B4-BE49-F238E27FC236}">
                <a16:creationId xmlns:a16="http://schemas.microsoft.com/office/drawing/2014/main" id="{84C0D235-4C90-2FA4-EF44-C4C3FDEA4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5687" y="2144218"/>
            <a:ext cx="4000500" cy="290512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08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4A7F-1A2C-3009-7826-1305C58AC75E}"/>
              </a:ext>
            </a:extLst>
          </p:cNvPr>
          <p:cNvSpPr>
            <a:spLocks noGrp="1"/>
          </p:cNvSpPr>
          <p:nvPr>
            <p:ph type="title"/>
          </p:nvPr>
        </p:nvSpPr>
        <p:spPr>
          <a:xfrm>
            <a:off x="838200" y="330755"/>
            <a:ext cx="10515600" cy="1325563"/>
          </a:xfrm>
        </p:spPr>
        <p:txBody>
          <a:bodyPr/>
          <a:lstStyle/>
          <a:p>
            <a:r>
              <a:rPr lang="en-US" b="1" dirty="0">
                <a:solidFill>
                  <a:schemeClr val="accent4">
                    <a:lumMod val="75000"/>
                  </a:schemeClr>
                </a:solidFill>
                <a:latin typeface="Bahnschrift Condensed" panose="020B0502040204020203" pitchFamily="34" charset="0"/>
              </a:rPr>
              <a:t>THANKS!</a:t>
            </a:r>
          </a:p>
        </p:txBody>
      </p:sp>
      <p:sp>
        <p:nvSpPr>
          <p:cNvPr id="5" name="Content Placeholder 4">
            <a:extLst>
              <a:ext uri="{FF2B5EF4-FFF2-40B4-BE49-F238E27FC236}">
                <a16:creationId xmlns:a16="http://schemas.microsoft.com/office/drawing/2014/main" id="{31410424-8D5B-CF76-C171-B6D1D4592FAE}"/>
              </a:ext>
            </a:extLst>
          </p:cNvPr>
          <p:cNvSpPr>
            <a:spLocks noGrp="1"/>
          </p:cNvSpPr>
          <p:nvPr>
            <p:ph idx="1"/>
          </p:nvPr>
        </p:nvSpPr>
        <p:spPr/>
        <p:txBody>
          <a:bodyPr/>
          <a:lstStyle/>
          <a:p>
            <a:endParaRPr lang="en-US"/>
          </a:p>
        </p:txBody>
      </p:sp>
      <p:pic>
        <p:nvPicPr>
          <p:cNvPr id="7170" name="Picture 2" descr="8 Năng Lực Cốt Lõi: Bí Quyết Thành Công Trong Kinh Doanh">
            <a:extLst>
              <a:ext uri="{FF2B5EF4-FFF2-40B4-BE49-F238E27FC236}">
                <a16:creationId xmlns:a16="http://schemas.microsoft.com/office/drawing/2014/main" id="{E2405250-97EB-9CE1-A7B5-BAB4C416F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6584" y="181743"/>
            <a:ext cx="5010303" cy="6345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724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1280</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Bahnschrift Condensed</vt:lpstr>
      <vt:lpstr>Bahnschrift SemiBold Condensed</vt:lpstr>
      <vt:lpstr>Calibri</vt:lpstr>
      <vt:lpstr>Calibri Light</vt:lpstr>
      <vt:lpstr>inherit</vt:lpstr>
      <vt:lpstr>Muli</vt:lpstr>
      <vt:lpstr>Wingdings</vt:lpstr>
      <vt:lpstr>Office Theme</vt:lpstr>
      <vt:lpstr>QUẢN TRỊ THỜI HỔN LOẠN</vt:lpstr>
      <vt:lpstr>Chúng ta không thể thoát khỏi sự hỗn loạn của mình </vt:lpstr>
      <vt:lpstr>1. Quản lý mọi người như những người trưởng thành.</vt:lpstr>
      <vt:lpstr>2. Sẽ có sai lầm. Hãy tận dụng chúng.</vt:lpstr>
      <vt:lpstr>3. Từ chối suy nghĩ "Hoặc là"</vt:lpstr>
      <vt:lpstr>4. Dạy mọi người cách đưa ra quyết định</vt:lpstr>
      <vt:lpstr>5. Quản lý tiền bạc</vt:lpstr>
      <vt:lpstr>6. Quản lý thời gian</vt:lpstr>
      <vt:lpstr>7. Sự tự chủ</vt:lpstr>
      <vt:lpstr>8. Khát khao, hoài bão </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TRỊ THỜI HỔN LOẠN</dc:title>
  <dc:creator>Administrator</dc:creator>
  <cp:lastModifiedBy>Administrator</cp:lastModifiedBy>
  <cp:revision>5</cp:revision>
  <dcterms:created xsi:type="dcterms:W3CDTF">2025-01-27T16:42:47Z</dcterms:created>
  <dcterms:modified xsi:type="dcterms:W3CDTF">2025-01-30T01:47:15Z</dcterms:modified>
</cp:coreProperties>
</file>