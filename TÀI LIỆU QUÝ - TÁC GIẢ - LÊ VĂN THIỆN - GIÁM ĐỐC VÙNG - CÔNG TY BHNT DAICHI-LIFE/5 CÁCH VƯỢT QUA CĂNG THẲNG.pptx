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177C0-267B-1ABD-890C-750533A7AD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229AE1-1E5D-0878-8B8F-0B22AB4453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A9DA04-96C5-90FA-0A02-78BF12F8CC1E}"/>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5" name="Footer Placeholder 4">
            <a:extLst>
              <a:ext uri="{FF2B5EF4-FFF2-40B4-BE49-F238E27FC236}">
                <a16:creationId xmlns:a16="http://schemas.microsoft.com/office/drawing/2014/main" id="{FA9D7301-416F-9403-2E0F-642E3F239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DD201-7165-0475-EF9D-DB7D90EB9222}"/>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2677705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E2E17-900C-1789-D8A9-9EB0B4F8AD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225869-A1D0-6A48-C593-DD02CD483F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8797C4-835E-1C19-5DA0-F0F7E887E51E}"/>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5" name="Footer Placeholder 4">
            <a:extLst>
              <a:ext uri="{FF2B5EF4-FFF2-40B4-BE49-F238E27FC236}">
                <a16:creationId xmlns:a16="http://schemas.microsoft.com/office/drawing/2014/main" id="{5BE9D231-9C2B-F703-50D8-7E5C7ED65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031D1F-31AA-D2BD-B874-E1D664A8C993}"/>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1462748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1E600-3FFF-93A8-2D39-34DD8BC306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165D5C-89EC-B5E0-5237-AEE06B9C32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FAE30D-262A-3F00-86F3-A7659EBEE1FC}"/>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5" name="Footer Placeholder 4">
            <a:extLst>
              <a:ext uri="{FF2B5EF4-FFF2-40B4-BE49-F238E27FC236}">
                <a16:creationId xmlns:a16="http://schemas.microsoft.com/office/drawing/2014/main" id="{F2347B57-D431-6860-8130-0B73F8100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01834B-974F-8158-545D-181C075CA143}"/>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2107853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D5947-D740-2534-75A4-DFFBFCAC07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F15C63-6EFF-3C9E-F742-58BF96432E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F7EA88-237C-E0E7-2C69-A1D6707B74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6AB38C-8C12-6562-D871-C29473D79866}"/>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6" name="Footer Placeholder 5">
            <a:extLst>
              <a:ext uri="{FF2B5EF4-FFF2-40B4-BE49-F238E27FC236}">
                <a16:creationId xmlns:a16="http://schemas.microsoft.com/office/drawing/2014/main" id="{05EB0D85-1432-EE1F-5B14-9AD3F2F31C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033BFE-0D5A-298B-F0E3-048DC19772B5}"/>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1225554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45D76-19AD-DC42-2026-06377DA58D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227207-9DE3-CAE4-0B2E-E099BA5C43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BFE100-1BD6-4223-813F-59A762AF10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E64139-3280-DAF6-EDC4-9DFFC9A69F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C43E21-CDD2-B202-1790-E82052D4BA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50A3A5-2016-8D80-C43D-CA32DA8DD355}"/>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8" name="Footer Placeholder 7">
            <a:extLst>
              <a:ext uri="{FF2B5EF4-FFF2-40B4-BE49-F238E27FC236}">
                <a16:creationId xmlns:a16="http://schemas.microsoft.com/office/drawing/2014/main" id="{FF70455E-EBCE-0C5D-C139-D79BE5617C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314608-7E72-FB83-612B-2EE4E6F52012}"/>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3080625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6ED45-48B2-DD37-CFD9-D6BA4455ED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EE1333-05FD-9868-2183-D7721CA7BB92}"/>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4" name="Footer Placeholder 3">
            <a:extLst>
              <a:ext uri="{FF2B5EF4-FFF2-40B4-BE49-F238E27FC236}">
                <a16:creationId xmlns:a16="http://schemas.microsoft.com/office/drawing/2014/main" id="{332D5533-E57A-7B09-6FA6-B46CAF966D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D528CF-7C34-A083-3DCC-A6B94A97CDA4}"/>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2309799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33BB3A-FC0D-7A77-BB56-9AC3DFA614AB}"/>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3" name="Footer Placeholder 2">
            <a:extLst>
              <a:ext uri="{FF2B5EF4-FFF2-40B4-BE49-F238E27FC236}">
                <a16:creationId xmlns:a16="http://schemas.microsoft.com/office/drawing/2014/main" id="{F2C0458F-A9DA-FA78-A8ED-A4468D5C26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540052-381D-9320-70EB-0382C1A1C313}"/>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2243212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2612-D7DC-78B8-9110-670D018C1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5A494B-373D-331A-5155-D2864D855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F99CF2-3A6E-75E1-6857-86B5DAA4A4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0A2993-43EF-2D8D-1B80-AD1A321D4AAB}"/>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6" name="Footer Placeholder 5">
            <a:extLst>
              <a:ext uri="{FF2B5EF4-FFF2-40B4-BE49-F238E27FC236}">
                <a16:creationId xmlns:a16="http://schemas.microsoft.com/office/drawing/2014/main" id="{0D8ACF8B-205E-CCDD-FD27-A5CD0417C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2AF7BF-E273-6B3D-5363-E8BDBAF4E05A}"/>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271533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6E4E-3A35-5293-0443-1B9B3BAF9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7458E9-C3B9-361F-A05F-4491129E01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A001D7-401A-BB77-2185-0EB440A844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0EFF7-A922-12DB-9ACD-37B9FF1286A2}"/>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6" name="Footer Placeholder 5">
            <a:extLst>
              <a:ext uri="{FF2B5EF4-FFF2-40B4-BE49-F238E27FC236}">
                <a16:creationId xmlns:a16="http://schemas.microsoft.com/office/drawing/2014/main" id="{E052EB18-7EB7-7701-E832-11F5CD2590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CDD507-1B73-9DF2-B1CB-C54B82708ADE}"/>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3892400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ACA22-7F57-23FA-E364-5C81C95620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50792E-334A-C070-3705-7B1EF184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DE4890-8166-ACD1-5404-9CCE549AFF1D}"/>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5" name="Footer Placeholder 4">
            <a:extLst>
              <a:ext uri="{FF2B5EF4-FFF2-40B4-BE49-F238E27FC236}">
                <a16:creationId xmlns:a16="http://schemas.microsoft.com/office/drawing/2014/main" id="{3B97CEC5-7DDD-7A20-3F12-0764C5F3B5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2EE43-CAC8-81B1-2360-0807868C07FB}"/>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341181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9D11E7-17BA-B3E0-BC7A-BF3F469BC0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83BB09-2F9F-D6FD-21DF-D15EEB1776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2EBDFA-0473-5D22-2944-88CF476254F7}"/>
              </a:ext>
            </a:extLst>
          </p:cNvPr>
          <p:cNvSpPr>
            <a:spLocks noGrp="1"/>
          </p:cNvSpPr>
          <p:nvPr>
            <p:ph type="dt" sz="half" idx="10"/>
          </p:nvPr>
        </p:nvSpPr>
        <p:spPr/>
        <p:txBody>
          <a:bodyPr/>
          <a:lstStyle/>
          <a:p>
            <a:fld id="{57CAEE34-413D-4E8A-A245-E7898554733C}" type="datetimeFigureOut">
              <a:rPr lang="en-US" smtClean="0"/>
              <a:t>12/17/2024</a:t>
            </a:fld>
            <a:endParaRPr lang="en-US"/>
          </a:p>
        </p:txBody>
      </p:sp>
      <p:sp>
        <p:nvSpPr>
          <p:cNvPr id="5" name="Footer Placeholder 4">
            <a:extLst>
              <a:ext uri="{FF2B5EF4-FFF2-40B4-BE49-F238E27FC236}">
                <a16:creationId xmlns:a16="http://schemas.microsoft.com/office/drawing/2014/main" id="{60762168-85E1-F605-7F04-3A7D79A41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BEA370-0EA2-C9E8-65D7-B44353471C83}"/>
              </a:ext>
            </a:extLst>
          </p:cNvPr>
          <p:cNvSpPr>
            <a:spLocks noGrp="1"/>
          </p:cNvSpPr>
          <p:nvPr>
            <p:ph type="sldNum" sz="quarter" idx="12"/>
          </p:nvPr>
        </p:nvSpPr>
        <p:spPr/>
        <p:txBody>
          <a:bodyPr/>
          <a:lstStyle/>
          <a:p>
            <a:fld id="{D7FF5429-23FB-4863-AD61-ADB9AB6E407F}" type="slidenum">
              <a:rPr lang="en-US" smtClean="0"/>
              <a:t>‹#›</a:t>
            </a:fld>
            <a:endParaRPr lang="en-US"/>
          </a:p>
        </p:txBody>
      </p:sp>
    </p:spTree>
    <p:extLst>
      <p:ext uri="{BB962C8B-B14F-4D97-AF65-F5344CB8AC3E}">
        <p14:creationId xmlns:p14="http://schemas.microsoft.com/office/powerpoint/2010/main" val="2210072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779E1-A7AA-5A32-245B-AC6277645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054F5F-0A64-C1BE-7611-5EBCB4D8CC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D713F4-7748-D7A3-F14B-49D3754454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CAEE34-413D-4E8A-A245-E7898554733C}" type="datetimeFigureOut">
              <a:rPr lang="en-US" smtClean="0"/>
              <a:t>12/17/2024</a:t>
            </a:fld>
            <a:endParaRPr lang="en-US"/>
          </a:p>
        </p:txBody>
      </p:sp>
      <p:sp>
        <p:nvSpPr>
          <p:cNvPr id="5" name="Footer Placeholder 4">
            <a:extLst>
              <a:ext uri="{FF2B5EF4-FFF2-40B4-BE49-F238E27FC236}">
                <a16:creationId xmlns:a16="http://schemas.microsoft.com/office/drawing/2014/main" id="{6A8EA9A2-90C4-1E21-9A0E-3FF5CD48A6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8FECF-9EF9-F929-2CEA-85A439DB92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FF5429-23FB-4863-AD61-ADB9AB6E407F}" type="slidenum">
              <a:rPr lang="en-US" smtClean="0"/>
              <a:t>‹#›</a:t>
            </a:fld>
            <a:endParaRPr lang="en-US"/>
          </a:p>
        </p:txBody>
      </p:sp>
    </p:spTree>
    <p:extLst>
      <p:ext uri="{BB962C8B-B14F-4D97-AF65-F5344CB8AC3E}">
        <p14:creationId xmlns:p14="http://schemas.microsoft.com/office/powerpoint/2010/main" val="3819500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70544-D770-1CCC-366A-F671DA104B90}"/>
              </a:ext>
            </a:extLst>
          </p:cNvPr>
          <p:cNvSpPr>
            <a:spLocks noGrp="1"/>
          </p:cNvSpPr>
          <p:nvPr>
            <p:ph type="ctrTitle"/>
          </p:nvPr>
        </p:nvSpPr>
        <p:spPr>
          <a:xfrm>
            <a:off x="1675000" y="3732372"/>
            <a:ext cx="9264243" cy="2232200"/>
          </a:xfrm>
        </p:spPr>
        <p:txBody>
          <a:bodyPr>
            <a:normAutofit/>
          </a:bodyPr>
          <a:lstStyle/>
          <a:p>
            <a:r>
              <a:rPr lang="vi-VN" sz="4000" b="1" i="1" dirty="0">
                <a:solidFill>
                  <a:schemeClr val="accent4">
                    <a:lumMod val="75000"/>
                  </a:schemeClr>
                </a:solidFill>
                <a:effectLst/>
                <a:latin typeface="Tahoma" panose="020B0604030504040204" pitchFamily="34" charset="0"/>
                <a:ea typeface="Tahoma" panose="020B0604030504040204" pitchFamily="34" charset="0"/>
                <a:cs typeface="Tahoma" panose="020B0604030504040204" pitchFamily="34" charset="0"/>
              </a:rPr>
              <a:t>5 CÁCH VƯỢT QUA CĂNG THẲNG</a:t>
            </a:r>
            <a:endParaRPr lang="en-US" sz="4000" b="1" i="1" dirty="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CB7BAC4C-E6A3-B8F4-6563-4462CFCDB901}"/>
              </a:ext>
            </a:extLst>
          </p:cNvPr>
          <p:cNvSpPr>
            <a:spLocks noGrp="1"/>
          </p:cNvSpPr>
          <p:nvPr>
            <p:ph type="subTitle" idx="1"/>
          </p:nvPr>
        </p:nvSpPr>
        <p:spPr/>
        <p:txBody>
          <a:bodyPr/>
          <a:lstStyle/>
          <a:p>
            <a:endParaRPr lang="en-US"/>
          </a:p>
        </p:txBody>
      </p:sp>
      <p:pic>
        <p:nvPicPr>
          <p:cNvPr id="1026" name="Picture 2" descr="Vì sao căng thẳng khiến chúng ta béo hơn?">
            <a:extLst>
              <a:ext uri="{FF2B5EF4-FFF2-40B4-BE49-F238E27FC236}">
                <a16:creationId xmlns:a16="http://schemas.microsoft.com/office/drawing/2014/main" id="{80F229AE-84AC-0C20-ADFD-BAE91377A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1501" y="488921"/>
            <a:ext cx="7620000" cy="4286250"/>
          </a:xfrm>
          <a:prstGeom prst="rect">
            <a:avLst/>
          </a:prstGeom>
          <a:noFill/>
          <a:effectLst>
            <a:glow rad="228600">
              <a:schemeClr val="accent6">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16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EA12B-9F2C-FA7B-E2FD-7744AEEBE6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E17551-CBF3-1665-269F-FC703C9CA466}"/>
              </a:ext>
            </a:extLst>
          </p:cNvPr>
          <p:cNvSpPr>
            <a:spLocks noGrp="1"/>
          </p:cNvSpPr>
          <p:nvPr>
            <p:ph idx="1"/>
          </p:nvPr>
        </p:nvSpPr>
        <p:spPr>
          <a:xfrm>
            <a:off x="931507" y="1253331"/>
            <a:ext cx="9938657" cy="4351338"/>
          </a:xfrm>
        </p:spPr>
        <p:txBody>
          <a:bodyPr>
            <a:normAutofit/>
          </a:bodyPr>
          <a:lstStyle/>
          <a:p>
            <a:pPr algn="just">
              <a:buFont typeface="Wingdings" panose="05000000000000000000" pitchFamily="2" charset="2"/>
              <a:buChar char="v"/>
            </a:pPr>
            <a:r>
              <a:rPr lang="vi-VN" sz="2000" b="0" i="0" dirty="0">
                <a:solidFill>
                  <a:srgbClr val="080809"/>
                </a:solidFill>
                <a:effectLst/>
                <a:latin typeface="inherit"/>
              </a:rPr>
              <a:t>Một số người rất thành công nhưng luôn bị bao trùm bởi sự lo lắng. Sự lo lắng đến từ việc họ suy nghĩ về những tình huống xấu nhất và những điều nhỏ nhặt có thể xảy ra. Họ luôn khắc ghi, chú trọng đến những sai lầm và thường so sánh bản thân với người khác một cách đầy tiêu cực.</a:t>
            </a:r>
          </a:p>
          <a:p>
            <a:pPr algn="just">
              <a:buFont typeface="Wingdings" panose="05000000000000000000" pitchFamily="2" charset="2"/>
              <a:buChar char="v"/>
            </a:pPr>
            <a:r>
              <a:rPr lang="vi-VN" sz="2000" b="0" i="0" dirty="0">
                <a:solidFill>
                  <a:srgbClr val="080809"/>
                </a:solidFill>
                <a:effectLst/>
                <a:latin typeface="inherit"/>
              </a:rPr>
              <a:t>Đồng thời, họ tập trung vào những phản hồi tiêu cực trong khi loại bỏ những lời khen ngợi, tán thưởng của người khác. Nếu bạn đang có được những thành tựu nhất định nào đó và luôn cảm thấy lo lắng về việc bản thân sẽ sa lầy. Điều đó không sao cả. Bạn có thể vượt qua chúng thông qua một số gợi ý dưới đây.</a:t>
            </a:r>
          </a:p>
          <a:p>
            <a:pPr algn="just">
              <a:buFont typeface="Wingdings" panose="05000000000000000000" pitchFamily="2" charset="2"/>
              <a:buChar char="v"/>
            </a:pPr>
            <a:endParaRPr lang="en-US" sz="2000" dirty="0"/>
          </a:p>
        </p:txBody>
      </p:sp>
      <p:pic>
        <p:nvPicPr>
          <p:cNvPr id="2050" name="Picture 2" descr="Những cách chữa bệnh căng thẳng thần kinh tại nhà hiệu quả">
            <a:extLst>
              <a:ext uri="{FF2B5EF4-FFF2-40B4-BE49-F238E27FC236}">
                <a16:creationId xmlns:a16="http://schemas.microsoft.com/office/drawing/2014/main" id="{4262DB27-B784-CE46-C9A3-DE9329F4B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8449" y="3545631"/>
            <a:ext cx="4077478" cy="305810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68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2FAB3-391C-DCD0-7AD3-7353EAE3F99A}"/>
              </a:ext>
            </a:extLst>
          </p:cNvPr>
          <p:cNvSpPr>
            <a:spLocks noGrp="1"/>
          </p:cNvSpPr>
          <p:nvPr>
            <p:ph type="title"/>
          </p:nvPr>
        </p:nvSpPr>
        <p:spPr/>
        <p:txBody>
          <a:bodyPr>
            <a:normAutofit/>
          </a:bodyPr>
          <a:lstStyle/>
          <a:p>
            <a:r>
              <a:rPr lang="en-US" sz="4000" b="1" i="0" dirty="0">
                <a:solidFill>
                  <a:schemeClr val="accent4">
                    <a:lumMod val="75000"/>
                  </a:schemeClr>
                </a:solidFill>
                <a:effectLst/>
                <a:latin typeface="Segoe UI Historic" panose="020B0502040204020203" pitchFamily="34" charset="0"/>
              </a:rPr>
              <a:t>1. </a:t>
            </a:r>
            <a:r>
              <a:rPr lang="en-US" sz="4000" b="1" i="0" dirty="0" err="1">
                <a:solidFill>
                  <a:schemeClr val="accent4">
                    <a:lumMod val="75000"/>
                  </a:schemeClr>
                </a:solidFill>
                <a:effectLst/>
                <a:latin typeface="Segoe UI Historic" panose="020B0502040204020203" pitchFamily="34" charset="0"/>
              </a:rPr>
              <a:t>Hãy</a:t>
            </a:r>
            <a:r>
              <a:rPr lang="en-US" sz="4000" b="1" i="0" dirty="0">
                <a:solidFill>
                  <a:schemeClr val="accent4">
                    <a:lumMod val="75000"/>
                  </a:schemeClr>
                </a:solidFill>
                <a:effectLst/>
                <a:latin typeface="Segoe UI Historic" panose="020B0502040204020203" pitchFamily="34" charset="0"/>
              </a:rPr>
              <a:t> </a:t>
            </a:r>
            <a:r>
              <a:rPr lang="en-US" sz="4000" b="1" i="0" dirty="0" err="1">
                <a:solidFill>
                  <a:schemeClr val="accent4">
                    <a:lumMod val="75000"/>
                  </a:schemeClr>
                </a:solidFill>
                <a:effectLst/>
                <a:latin typeface="Segoe UI Historic" panose="020B0502040204020203" pitchFamily="34" charset="0"/>
              </a:rPr>
              <a:t>biến</a:t>
            </a:r>
            <a:r>
              <a:rPr lang="en-US" sz="4000" b="1" i="0" dirty="0">
                <a:solidFill>
                  <a:schemeClr val="accent4">
                    <a:lumMod val="75000"/>
                  </a:schemeClr>
                </a:solidFill>
                <a:effectLst/>
                <a:latin typeface="Segoe UI Historic" panose="020B0502040204020203" pitchFamily="34" charset="0"/>
              </a:rPr>
              <a:t> </a:t>
            </a:r>
            <a:r>
              <a:rPr lang="en-US" sz="4000" b="1" i="0" dirty="0" err="1">
                <a:solidFill>
                  <a:schemeClr val="accent4">
                    <a:lumMod val="75000"/>
                  </a:schemeClr>
                </a:solidFill>
                <a:effectLst/>
                <a:latin typeface="Segoe UI Historic" panose="020B0502040204020203" pitchFamily="34" charset="0"/>
              </a:rPr>
              <a:t>nỗi</a:t>
            </a:r>
            <a:r>
              <a:rPr lang="en-US" sz="4000" b="1" i="0" dirty="0">
                <a:solidFill>
                  <a:schemeClr val="accent4">
                    <a:lumMod val="75000"/>
                  </a:schemeClr>
                </a:solidFill>
                <a:effectLst/>
                <a:latin typeface="Segoe UI Historic" panose="020B0502040204020203" pitchFamily="34" charset="0"/>
              </a:rPr>
              <a:t> </a:t>
            </a:r>
            <a:r>
              <a:rPr lang="en-US" sz="4000" b="1" i="0" dirty="0" err="1">
                <a:solidFill>
                  <a:schemeClr val="accent4">
                    <a:lumMod val="75000"/>
                  </a:schemeClr>
                </a:solidFill>
                <a:effectLst/>
                <a:latin typeface="Segoe UI Historic" panose="020B0502040204020203" pitchFamily="34" charset="0"/>
              </a:rPr>
              <a:t>căng</a:t>
            </a:r>
            <a:r>
              <a:rPr lang="en-US" sz="4000" b="1" i="0" dirty="0">
                <a:solidFill>
                  <a:schemeClr val="accent4">
                    <a:lumMod val="75000"/>
                  </a:schemeClr>
                </a:solidFill>
                <a:effectLst/>
                <a:latin typeface="Segoe UI Historic" panose="020B0502040204020203" pitchFamily="34" charset="0"/>
              </a:rPr>
              <a:t> </a:t>
            </a:r>
            <a:r>
              <a:rPr lang="en-US" sz="4000" b="1" i="0" dirty="0" err="1">
                <a:solidFill>
                  <a:schemeClr val="accent4">
                    <a:lumMod val="75000"/>
                  </a:schemeClr>
                </a:solidFill>
                <a:effectLst/>
                <a:latin typeface="Segoe UI Historic" panose="020B0502040204020203" pitchFamily="34" charset="0"/>
              </a:rPr>
              <a:t>thẳng</a:t>
            </a:r>
            <a:r>
              <a:rPr lang="en-US" sz="4000" b="1" i="0" dirty="0">
                <a:solidFill>
                  <a:schemeClr val="accent4">
                    <a:lumMod val="75000"/>
                  </a:schemeClr>
                </a:solidFill>
                <a:effectLst/>
                <a:latin typeface="Segoe UI Historic" panose="020B0502040204020203" pitchFamily="34" charset="0"/>
              </a:rPr>
              <a:t> </a:t>
            </a:r>
            <a:r>
              <a:rPr lang="en-US" sz="4000" b="1" i="0" dirty="0" err="1">
                <a:solidFill>
                  <a:schemeClr val="accent4">
                    <a:lumMod val="75000"/>
                  </a:schemeClr>
                </a:solidFill>
                <a:effectLst/>
                <a:latin typeface="Segoe UI Historic" panose="020B0502040204020203" pitchFamily="34" charset="0"/>
              </a:rPr>
              <a:t>thành</a:t>
            </a:r>
            <a:r>
              <a:rPr lang="en-US" sz="4000" b="1" i="0" dirty="0">
                <a:solidFill>
                  <a:schemeClr val="accent4">
                    <a:lumMod val="75000"/>
                  </a:schemeClr>
                </a:solidFill>
                <a:effectLst/>
                <a:latin typeface="Segoe UI Historic" panose="020B0502040204020203" pitchFamily="34" charset="0"/>
              </a:rPr>
              <a:t> </a:t>
            </a:r>
            <a:r>
              <a:rPr lang="en-US" sz="4000" b="1" i="0" dirty="0" err="1">
                <a:solidFill>
                  <a:schemeClr val="accent4">
                    <a:lumMod val="75000"/>
                  </a:schemeClr>
                </a:solidFill>
                <a:effectLst/>
                <a:latin typeface="Segoe UI Historic" panose="020B0502040204020203" pitchFamily="34" charset="0"/>
              </a:rPr>
              <a:t>đồng</a:t>
            </a:r>
            <a:r>
              <a:rPr lang="en-US" sz="4000" b="1" i="0" dirty="0">
                <a:solidFill>
                  <a:schemeClr val="accent4">
                    <a:lumMod val="75000"/>
                  </a:schemeClr>
                </a:solidFill>
                <a:effectLst/>
                <a:latin typeface="Segoe UI Historic" panose="020B0502040204020203" pitchFamily="34" charset="0"/>
              </a:rPr>
              <a:t> </a:t>
            </a:r>
            <a:r>
              <a:rPr lang="en-US" sz="4000" b="1" i="0" dirty="0" err="1">
                <a:solidFill>
                  <a:schemeClr val="accent4">
                    <a:lumMod val="75000"/>
                  </a:schemeClr>
                </a:solidFill>
                <a:effectLst/>
                <a:latin typeface="Segoe UI Historic" panose="020B0502040204020203" pitchFamily="34" charset="0"/>
              </a:rPr>
              <a:t>minh</a:t>
            </a:r>
            <a:endParaRPr lang="en-US" sz="4000" b="1" dirty="0">
              <a:solidFill>
                <a:schemeClr val="accent4">
                  <a:lumMod val="75000"/>
                </a:schemeClr>
              </a:solidFill>
            </a:endParaRPr>
          </a:p>
        </p:txBody>
      </p:sp>
      <p:sp>
        <p:nvSpPr>
          <p:cNvPr id="3" name="Content Placeholder 2">
            <a:extLst>
              <a:ext uri="{FF2B5EF4-FFF2-40B4-BE49-F238E27FC236}">
                <a16:creationId xmlns:a16="http://schemas.microsoft.com/office/drawing/2014/main" id="{9CA08B2F-611E-E438-92E6-E31070D41B8A}"/>
              </a:ext>
            </a:extLst>
          </p:cNvPr>
          <p:cNvSpPr>
            <a:spLocks noGrp="1"/>
          </p:cNvSpPr>
          <p:nvPr>
            <p:ph idx="1"/>
          </p:nvPr>
        </p:nvSpPr>
        <p:spPr>
          <a:xfrm>
            <a:off x="3984170" y="1825625"/>
            <a:ext cx="7369629" cy="4351338"/>
          </a:xfrm>
        </p:spPr>
        <p:txBody>
          <a:bodyPr>
            <a:normAutofit lnSpcReduction="10000"/>
          </a:bodyPr>
          <a:lstStyle/>
          <a:p>
            <a:pPr algn="just">
              <a:buFont typeface="Wingdings" panose="05000000000000000000" pitchFamily="2" charset="2"/>
              <a:buChar char="Ø"/>
            </a:pPr>
            <a:r>
              <a:rPr lang="vi-VN" b="0" i="0" dirty="0">
                <a:solidFill>
                  <a:srgbClr val="080809"/>
                </a:solidFill>
                <a:effectLst/>
                <a:latin typeface="inherit"/>
              </a:rPr>
              <a:t>Chợt nghe có vẻ phức tạp nhưng thực chất để làm được điều này, bạn chỉ cần trả lời được những câu hỏi sau: "Chính xác thì điều gì đang làm bạn lo lắng?", "Nỗi lo lắng đó đến từ một cá nhân, một sự việc, hay một yếu tố bên ngoài nào đó?", "Vì sao chúng khiến bạn cảm thấy lo lắng, căng thẳng?".</a:t>
            </a:r>
          </a:p>
          <a:p>
            <a:pPr algn="just">
              <a:buFont typeface="Wingdings" panose="05000000000000000000" pitchFamily="2" charset="2"/>
              <a:buChar char="Ø"/>
            </a:pPr>
            <a:r>
              <a:rPr lang="vi-VN" b="0" i="0" dirty="0">
                <a:solidFill>
                  <a:srgbClr val="080809"/>
                </a:solidFill>
                <a:effectLst/>
                <a:latin typeface="inherit"/>
              </a:rPr>
              <a:t>Con người thường chỉ sợ những thứ mà họ đang không hiểu rõ về nó. Vì vậy, nếu trả lời được các câu hỏi trên, hiểu rõ nỗi lo lắng của mình, đó sẽ chính là bước đầu tiên để bạn thoát khỏi chúng.</a:t>
            </a:r>
          </a:p>
          <a:p>
            <a:pPr algn="just">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A725095C-522F-09F2-6F81-43B37C8CA206}"/>
              </a:ext>
            </a:extLst>
          </p:cNvPr>
          <p:cNvPicPr>
            <a:picLocks noChangeAspect="1"/>
          </p:cNvPicPr>
          <p:nvPr/>
        </p:nvPicPr>
        <p:blipFill>
          <a:blip r:embed="rId2"/>
          <a:stretch>
            <a:fillRect/>
          </a:stretch>
        </p:blipFill>
        <p:spPr>
          <a:xfrm>
            <a:off x="419878" y="2416629"/>
            <a:ext cx="3806888" cy="2526822"/>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spTree>
    <p:extLst>
      <p:ext uri="{BB962C8B-B14F-4D97-AF65-F5344CB8AC3E}">
        <p14:creationId xmlns:p14="http://schemas.microsoft.com/office/powerpoint/2010/main" val="2673503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3647-6D70-1510-01D6-16D065234E74}"/>
              </a:ext>
            </a:extLst>
          </p:cNvPr>
          <p:cNvSpPr>
            <a:spLocks noGrp="1"/>
          </p:cNvSpPr>
          <p:nvPr>
            <p:ph type="title"/>
          </p:nvPr>
        </p:nvSpPr>
        <p:spPr/>
        <p:txBody>
          <a:bodyPr/>
          <a:lstStyle/>
          <a:p>
            <a:r>
              <a:rPr lang="en-US" b="1" i="0" dirty="0">
                <a:solidFill>
                  <a:schemeClr val="accent4">
                    <a:lumMod val="75000"/>
                  </a:schemeClr>
                </a:solidFill>
                <a:effectLst/>
                <a:latin typeface="Segoe UI Historic" panose="020B0502040204020203" pitchFamily="34" charset="0"/>
              </a:rPr>
              <a:t>2. </a:t>
            </a:r>
            <a:r>
              <a:rPr lang="en-US" b="1" i="0" dirty="0" err="1">
                <a:solidFill>
                  <a:schemeClr val="accent4">
                    <a:lumMod val="75000"/>
                  </a:schemeClr>
                </a:solidFill>
                <a:effectLst/>
                <a:latin typeface="Segoe UI Historic" panose="020B0502040204020203" pitchFamily="34" charset="0"/>
              </a:rPr>
              <a:t>Thực</a:t>
            </a:r>
            <a:r>
              <a:rPr lang="en-US" b="1" i="0" dirty="0">
                <a:solidFill>
                  <a:schemeClr val="accent4">
                    <a:lumMod val="75000"/>
                  </a:schemeClr>
                </a:solidFill>
                <a:effectLst/>
                <a:latin typeface="Segoe UI Historic" panose="020B0502040204020203" pitchFamily="34" charset="0"/>
              </a:rPr>
              <a:t> </a:t>
            </a:r>
            <a:r>
              <a:rPr lang="en-US" b="1" i="0" dirty="0" err="1">
                <a:solidFill>
                  <a:schemeClr val="accent4">
                    <a:lumMod val="75000"/>
                  </a:schemeClr>
                </a:solidFill>
                <a:effectLst/>
                <a:latin typeface="Segoe UI Historic" panose="020B0502040204020203" pitchFamily="34" charset="0"/>
              </a:rPr>
              <a:t>hành</a:t>
            </a:r>
            <a:r>
              <a:rPr lang="en-US" b="1" i="0" dirty="0">
                <a:solidFill>
                  <a:schemeClr val="accent4">
                    <a:lumMod val="75000"/>
                  </a:schemeClr>
                </a:solidFill>
                <a:effectLst/>
                <a:latin typeface="Segoe UI Historic" panose="020B0502040204020203" pitchFamily="34" charset="0"/>
              </a:rPr>
              <a:t> "</a:t>
            </a:r>
            <a:r>
              <a:rPr lang="en-US" b="1" i="0" dirty="0" err="1">
                <a:solidFill>
                  <a:schemeClr val="accent4">
                    <a:lumMod val="75000"/>
                  </a:schemeClr>
                </a:solidFill>
                <a:effectLst/>
                <a:latin typeface="Segoe UI Historic" panose="020B0502040204020203" pitchFamily="34" charset="0"/>
              </a:rPr>
              <a:t>lòng</a:t>
            </a:r>
            <a:r>
              <a:rPr lang="en-US" b="1" i="0" dirty="0">
                <a:solidFill>
                  <a:schemeClr val="accent4">
                    <a:lumMod val="75000"/>
                  </a:schemeClr>
                </a:solidFill>
                <a:effectLst/>
                <a:latin typeface="Segoe UI Historic" panose="020B0502040204020203" pitchFamily="34" charset="0"/>
              </a:rPr>
              <a:t> </a:t>
            </a:r>
            <a:r>
              <a:rPr lang="en-US" b="1" i="0" dirty="0" err="1">
                <a:solidFill>
                  <a:schemeClr val="accent4">
                    <a:lumMod val="75000"/>
                  </a:schemeClr>
                </a:solidFill>
                <a:effectLst/>
                <a:latin typeface="Segoe UI Historic" panose="020B0502040204020203" pitchFamily="34" charset="0"/>
              </a:rPr>
              <a:t>trắc</a:t>
            </a:r>
            <a:r>
              <a:rPr lang="en-US" b="1" i="0" dirty="0">
                <a:solidFill>
                  <a:schemeClr val="accent4">
                    <a:lumMod val="75000"/>
                  </a:schemeClr>
                </a:solidFill>
                <a:effectLst/>
                <a:latin typeface="Segoe UI Historic" panose="020B0502040204020203" pitchFamily="34" charset="0"/>
              </a:rPr>
              <a:t> </a:t>
            </a:r>
            <a:r>
              <a:rPr lang="en-US" b="1" i="0" dirty="0" err="1">
                <a:solidFill>
                  <a:schemeClr val="accent4">
                    <a:lumMod val="75000"/>
                  </a:schemeClr>
                </a:solidFill>
                <a:effectLst/>
                <a:latin typeface="Segoe UI Historic" panose="020B0502040204020203" pitchFamily="34" charset="0"/>
              </a:rPr>
              <a:t>ẩn</a:t>
            </a:r>
            <a:r>
              <a:rPr lang="en-US" b="1" i="0" dirty="0">
                <a:solidFill>
                  <a:schemeClr val="accent4">
                    <a:lumMod val="75000"/>
                  </a:schemeClr>
                </a:solidFill>
                <a:effectLst/>
                <a:latin typeface="Segoe UI Historic" panose="020B0502040204020203" pitchFamily="34" charset="0"/>
              </a:rPr>
              <a:t>"</a:t>
            </a:r>
            <a:endParaRPr lang="en-US" b="1" dirty="0">
              <a:solidFill>
                <a:schemeClr val="accent4">
                  <a:lumMod val="75000"/>
                </a:schemeClr>
              </a:solidFill>
            </a:endParaRPr>
          </a:p>
        </p:txBody>
      </p:sp>
      <p:sp>
        <p:nvSpPr>
          <p:cNvPr id="3" name="Content Placeholder 2">
            <a:extLst>
              <a:ext uri="{FF2B5EF4-FFF2-40B4-BE49-F238E27FC236}">
                <a16:creationId xmlns:a16="http://schemas.microsoft.com/office/drawing/2014/main" id="{FB92212D-5F07-DEE0-E9A9-2C4A959B3A2C}"/>
              </a:ext>
            </a:extLst>
          </p:cNvPr>
          <p:cNvSpPr>
            <a:spLocks noGrp="1"/>
          </p:cNvSpPr>
          <p:nvPr>
            <p:ph idx="1"/>
          </p:nvPr>
        </p:nvSpPr>
        <p:spPr>
          <a:xfrm>
            <a:off x="838200" y="1825625"/>
            <a:ext cx="10890380" cy="4351338"/>
          </a:xfrm>
        </p:spPr>
        <p:txBody>
          <a:bodyPr>
            <a:normAutofit/>
          </a:bodyPr>
          <a:lstStyle/>
          <a:p>
            <a:pPr algn="just">
              <a:buFont typeface="Wingdings" panose="05000000000000000000" pitchFamily="2" charset="2"/>
              <a:buChar char="Ø"/>
            </a:pPr>
            <a:r>
              <a:rPr lang="vi-VN" sz="2000" b="0" i="0" dirty="0">
                <a:solidFill>
                  <a:srgbClr val="080809"/>
                </a:solidFill>
                <a:effectLst/>
                <a:latin typeface="inherit"/>
              </a:rPr>
              <a:t>Thay vì luôn đánh giá, phán xét một sự việc hay một người nào đó, hãy thể hiện sự tử tế. Điều đó sẽ giúp bạn giảm đáng kể nỗi căng thẳng bên trong mình. Đừng quên cho bản thân "tận hưởng" một chút thành tích của mình nếu đã làm tốt.</a:t>
            </a:r>
            <a:endParaRPr lang="en-US" sz="2000" b="0" i="0" dirty="0">
              <a:solidFill>
                <a:srgbClr val="080809"/>
              </a:solidFill>
              <a:effectLst/>
              <a:latin typeface="inherit"/>
            </a:endParaRPr>
          </a:p>
          <a:p>
            <a:pPr algn="just">
              <a:buFont typeface="Wingdings" panose="05000000000000000000" pitchFamily="2" charset="2"/>
              <a:buChar char="Ø"/>
            </a:pPr>
            <a:endParaRPr lang="en-US" sz="2000" dirty="0">
              <a:solidFill>
                <a:srgbClr val="080809"/>
              </a:solidFill>
              <a:latin typeface="inherit"/>
            </a:endParaRPr>
          </a:p>
          <a:p>
            <a:pPr algn="just">
              <a:buFont typeface="Wingdings" panose="05000000000000000000" pitchFamily="2" charset="2"/>
              <a:buChar char="Ø"/>
            </a:pPr>
            <a:endParaRPr lang="en-US" sz="2000" b="0" i="0" dirty="0">
              <a:solidFill>
                <a:srgbClr val="080809"/>
              </a:solidFill>
              <a:effectLst/>
              <a:latin typeface="inherit"/>
            </a:endParaRPr>
          </a:p>
          <a:p>
            <a:pPr algn="just">
              <a:buFont typeface="Wingdings" panose="05000000000000000000" pitchFamily="2" charset="2"/>
              <a:buChar char="Ø"/>
            </a:pPr>
            <a:endParaRPr lang="en-US" sz="2000" dirty="0">
              <a:solidFill>
                <a:srgbClr val="080809"/>
              </a:solidFill>
              <a:latin typeface="inherit"/>
            </a:endParaRPr>
          </a:p>
          <a:p>
            <a:pPr algn="just">
              <a:buFont typeface="Wingdings" panose="05000000000000000000" pitchFamily="2" charset="2"/>
              <a:buChar char="Ø"/>
            </a:pPr>
            <a:endParaRPr lang="en-US" sz="2000" b="0" i="0" dirty="0">
              <a:solidFill>
                <a:srgbClr val="080809"/>
              </a:solidFill>
              <a:effectLst/>
              <a:latin typeface="inherit"/>
            </a:endParaRPr>
          </a:p>
          <a:p>
            <a:pPr algn="just">
              <a:buFont typeface="Wingdings" panose="05000000000000000000" pitchFamily="2" charset="2"/>
              <a:buChar char="Ø"/>
            </a:pPr>
            <a:endParaRPr lang="en-US" sz="2000" dirty="0">
              <a:solidFill>
                <a:srgbClr val="080809"/>
              </a:solidFill>
              <a:latin typeface="inherit"/>
            </a:endParaRPr>
          </a:p>
          <a:p>
            <a:pPr algn="just">
              <a:buFont typeface="Wingdings" panose="05000000000000000000" pitchFamily="2" charset="2"/>
              <a:buChar char="Ø"/>
            </a:pPr>
            <a:endParaRPr lang="vi-VN" sz="2000" b="0" i="0" dirty="0">
              <a:solidFill>
                <a:srgbClr val="080809"/>
              </a:solidFill>
              <a:effectLst/>
              <a:latin typeface="inherit"/>
            </a:endParaRPr>
          </a:p>
          <a:p>
            <a:pPr algn="just">
              <a:buFont typeface="Wingdings" panose="05000000000000000000" pitchFamily="2" charset="2"/>
              <a:buChar char="Ø"/>
            </a:pPr>
            <a:r>
              <a:rPr lang="vi-VN" sz="2000" b="0" i="0" dirty="0">
                <a:solidFill>
                  <a:srgbClr val="080809"/>
                </a:solidFill>
                <a:effectLst/>
                <a:latin typeface="inherit"/>
              </a:rPr>
              <a:t>Bên cạnh đó, khi bạn giữ được sự lạc quan trong mọi tình huống, bạn sẽ đưa ra được quyết định sáng suốt nhất cho tình huống đó mà không phải sợ làm mình hối hận trong tương lai và đồng thời tránh được "tâm lý nạn nhân".</a:t>
            </a:r>
          </a:p>
          <a:p>
            <a:pPr algn="just">
              <a:buFont typeface="Wingdings" panose="05000000000000000000" pitchFamily="2" charset="2"/>
              <a:buChar char="Ø"/>
            </a:pPr>
            <a:endParaRPr lang="en-US" sz="2000" dirty="0"/>
          </a:p>
        </p:txBody>
      </p:sp>
      <p:pic>
        <p:nvPicPr>
          <p:cNvPr id="4098" name="Picture 2" descr="Những câu nói hay về lòng người, lòng tin, lòng vị tha, lòng tự trọng |  VFO.VN">
            <a:extLst>
              <a:ext uri="{FF2B5EF4-FFF2-40B4-BE49-F238E27FC236}">
                <a16:creationId xmlns:a16="http://schemas.microsoft.com/office/drawing/2014/main" id="{FC6084F1-7C95-28EA-63C0-97B161ACCE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7221" y="2799184"/>
            <a:ext cx="3596483" cy="2247802"/>
          </a:xfrm>
          <a:prstGeom prst="rect">
            <a:avLst/>
          </a:prstGeom>
          <a:noFill/>
          <a:ln>
            <a:noFill/>
          </a:ln>
          <a:effectLst>
            <a:glow rad="139700">
              <a:schemeClr val="accent4">
                <a:satMod val="175000"/>
                <a:alpha val="40000"/>
              </a:schemeClr>
            </a:glow>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917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wipe(down)">
                                      <p:cBhvr>
                                        <p:cTn id="1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FC487-8108-6CDF-E96F-BF605816C509}"/>
              </a:ext>
            </a:extLst>
          </p:cNvPr>
          <p:cNvSpPr>
            <a:spLocks noGrp="1"/>
          </p:cNvSpPr>
          <p:nvPr>
            <p:ph type="title"/>
          </p:nvPr>
        </p:nvSpPr>
        <p:spPr>
          <a:xfrm>
            <a:off x="838200" y="421109"/>
            <a:ext cx="10515600" cy="1325563"/>
          </a:xfrm>
        </p:spPr>
        <p:txBody>
          <a:bodyPr/>
          <a:lstStyle/>
          <a:p>
            <a:r>
              <a:rPr lang="vi-VN" b="1" i="0" dirty="0">
                <a:solidFill>
                  <a:schemeClr val="accent4">
                    <a:lumMod val="75000"/>
                  </a:schemeClr>
                </a:solidFill>
                <a:effectLst/>
                <a:latin typeface="Segoe UI Historic" panose="020B0502040204020203" pitchFamily="34" charset="0"/>
              </a:rPr>
              <a:t>3. Học cách hài hước</a:t>
            </a:r>
            <a:endParaRPr lang="en-US" b="1" dirty="0">
              <a:solidFill>
                <a:schemeClr val="accent4">
                  <a:lumMod val="75000"/>
                </a:schemeClr>
              </a:solidFill>
            </a:endParaRPr>
          </a:p>
        </p:txBody>
      </p:sp>
      <p:sp>
        <p:nvSpPr>
          <p:cNvPr id="3" name="Content Placeholder 2">
            <a:extLst>
              <a:ext uri="{FF2B5EF4-FFF2-40B4-BE49-F238E27FC236}">
                <a16:creationId xmlns:a16="http://schemas.microsoft.com/office/drawing/2014/main" id="{CCD8B0B4-831E-48ED-4E43-9A950CFD73C4}"/>
              </a:ext>
            </a:extLst>
          </p:cNvPr>
          <p:cNvSpPr>
            <a:spLocks noGrp="1"/>
          </p:cNvSpPr>
          <p:nvPr>
            <p:ph idx="1"/>
          </p:nvPr>
        </p:nvSpPr>
        <p:spPr>
          <a:xfrm>
            <a:off x="4954557" y="2413453"/>
            <a:ext cx="6819121" cy="4351338"/>
          </a:xfrm>
        </p:spPr>
        <p:txBody>
          <a:bodyPr>
            <a:normAutofit/>
          </a:bodyPr>
          <a:lstStyle/>
          <a:p>
            <a:pPr algn="just">
              <a:buFont typeface="Wingdings" panose="05000000000000000000" pitchFamily="2" charset="2"/>
              <a:buChar char="Ø"/>
            </a:pPr>
            <a:r>
              <a:rPr lang="vi-VN" sz="2000" b="0" i="0" dirty="0">
                <a:solidFill>
                  <a:srgbClr val="080809"/>
                </a:solidFill>
                <a:effectLst/>
                <a:latin typeface="inherit"/>
              </a:rPr>
              <a:t>Sự hài hước ở đây, hoàn toàn không có nghĩa là việc thiếu nghiêm túc. Điều này không chỉ giúp cho bạn nâng cao hiệu suất trong công việc. Mặt khác, nó còn giúp bạn thư giãn và có được sự thả lỏng cần thiết khi xảy ra căng thẳng.</a:t>
            </a:r>
            <a:endParaRPr lang="en-US" sz="2000" b="0" i="0" dirty="0">
              <a:solidFill>
                <a:srgbClr val="080809"/>
              </a:solidFill>
              <a:effectLst/>
              <a:latin typeface="inherit"/>
            </a:endParaRPr>
          </a:p>
          <a:p>
            <a:pPr marL="0" indent="0" algn="just">
              <a:buNone/>
            </a:pPr>
            <a:endParaRPr lang="vi-VN" sz="2000" b="0" i="0" dirty="0">
              <a:solidFill>
                <a:srgbClr val="080809"/>
              </a:solidFill>
              <a:effectLst/>
              <a:latin typeface="inherit"/>
            </a:endParaRPr>
          </a:p>
          <a:p>
            <a:pPr algn="just">
              <a:buFont typeface="Wingdings" panose="05000000000000000000" pitchFamily="2" charset="2"/>
              <a:buChar char="Ø"/>
            </a:pPr>
            <a:r>
              <a:rPr lang="vi-VN" sz="2000" b="0" i="0" dirty="0">
                <a:solidFill>
                  <a:srgbClr val="080809"/>
                </a:solidFill>
                <a:effectLst/>
                <a:latin typeface="inherit"/>
              </a:rPr>
              <a:t>Hơn nữa, sự hài hước còn nói lên việc bạn có một bộ óc đầy thông minh và linh hoạt. Đồng thời điều này còn giúp lan toả sự tích cực, vui vẻ đến những người xung quanh, từ đó mang lại hiệu quả giải toả căng thẳng rất tích cực.</a:t>
            </a:r>
          </a:p>
          <a:p>
            <a:pPr algn="just">
              <a:buFont typeface="Wingdings" panose="05000000000000000000" pitchFamily="2" charset="2"/>
              <a:buChar char="Ø"/>
            </a:pPr>
            <a:endParaRPr lang="en-US" sz="2000" dirty="0"/>
          </a:p>
        </p:txBody>
      </p:sp>
      <p:pic>
        <p:nvPicPr>
          <p:cNvPr id="5122" name="Picture 2" descr="7 QUY TẮC “LÀM BẠN” VỚI CUỘC ĐỜI – Thái Phạm Blog">
            <a:extLst>
              <a:ext uri="{FF2B5EF4-FFF2-40B4-BE49-F238E27FC236}">
                <a16:creationId xmlns:a16="http://schemas.microsoft.com/office/drawing/2014/main" id="{79D3150A-B178-173B-431A-C853161BA9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245"/>
          <a:stretch/>
        </p:blipFill>
        <p:spPr bwMode="auto">
          <a:xfrm>
            <a:off x="418322" y="2054583"/>
            <a:ext cx="4262569" cy="3740622"/>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15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BB0C7-A948-311F-DBC0-2A9E38B01AA1}"/>
              </a:ext>
            </a:extLst>
          </p:cNvPr>
          <p:cNvSpPr>
            <a:spLocks noGrp="1"/>
          </p:cNvSpPr>
          <p:nvPr>
            <p:ph type="title"/>
          </p:nvPr>
        </p:nvSpPr>
        <p:spPr/>
        <p:txBody>
          <a:bodyPr/>
          <a:lstStyle/>
          <a:p>
            <a:r>
              <a:rPr lang="en-US" b="1" i="0" dirty="0">
                <a:solidFill>
                  <a:schemeClr val="accent4">
                    <a:lumMod val="75000"/>
                  </a:schemeClr>
                </a:solidFill>
                <a:effectLst/>
                <a:latin typeface="Segoe UI Historic" panose="020B0502040204020203" pitchFamily="34" charset="0"/>
              </a:rPr>
              <a:t>4. </a:t>
            </a:r>
            <a:r>
              <a:rPr lang="en-US" b="1" i="0" dirty="0" err="1">
                <a:solidFill>
                  <a:schemeClr val="accent4">
                    <a:lumMod val="75000"/>
                  </a:schemeClr>
                </a:solidFill>
                <a:effectLst/>
                <a:latin typeface="Segoe UI Historic" panose="020B0502040204020203" pitchFamily="34" charset="0"/>
              </a:rPr>
              <a:t>Thử</a:t>
            </a:r>
            <a:r>
              <a:rPr lang="en-US" b="1" i="0" dirty="0">
                <a:solidFill>
                  <a:schemeClr val="accent4">
                    <a:lumMod val="75000"/>
                  </a:schemeClr>
                </a:solidFill>
                <a:effectLst/>
                <a:latin typeface="Segoe UI Historic" panose="020B0502040204020203" pitchFamily="34" charset="0"/>
              </a:rPr>
              <a:t> </a:t>
            </a:r>
            <a:r>
              <a:rPr lang="en-US" b="1" i="0" dirty="0" err="1">
                <a:solidFill>
                  <a:schemeClr val="accent4">
                    <a:lumMod val="75000"/>
                  </a:schemeClr>
                </a:solidFill>
                <a:effectLst/>
                <a:latin typeface="Segoe UI Historic" panose="020B0502040204020203" pitchFamily="34" charset="0"/>
              </a:rPr>
              <a:t>tập</a:t>
            </a:r>
            <a:r>
              <a:rPr lang="en-US" b="1" i="0" dirty="0">
                <a:solidFill>
                  <a:schemeClr val="accent4">
                    <a:lumMod val="75000"/>
                  </a:schemeClr>
                </a:solidFill>
                <a:effectLst/>
                <a:latin typeface="Segoe UI Historic" panose="020B0502040204020203" pitchFamily="34" charset="0"/>
              </a:rPr>
              <a:t> </a:t>
            </a:r>
            <a:r>
              <a:rPr lang="en-US" b="1" i="0" dirty="0" err="1">
                <a:solidFill>
                  <a:schemeClr val="accent4">
                    <a:lumMod val="75000"/>
                  </a:schemeClr>
                </a:solidFill>
                <a:effectLst/>
                <a:latin typeface="Segoe UI Historic" panose="020B0502040204020203" pitchFamily="34" charset="0"/>
              </a:rPr>
              <a:t>thiền</a:t>
            </a:r>
            <a:r>
              <a:rPr lang="en-US" b="1" i="0" dirty="0">
                <a:solidFill>
                  <a:schemeClr val="accent4">
                    <a:lumMod val="75000"/>
                  </a:schemeClr>
                </a:solidFill>
                <a:effectLst/>
                <a:latin typeface="Segoe UI Historic" panose="020B0502040204020203" pitchFamily="34" charset="0"/>
              </a:rPr>
              <a:t> </a:t>
            </a:r>
            <a:r>
              <a:rPr lang="en-US" b="1" i="0" dirty="0" err="1">
                <a:solidFill>
                  <a:schemeClr val="accent4">
                    <a:lumMod val="75000"/>
                  </a:schemeClr>
                </a:solidFill>
                <a:effectLst/>
                <a:latin typeface="Segoe UI Historic" panose="020B0502040204020203" pitchFamily="34" charset="0"/>
              </a:rPr>
              <a:t>định</a:t>
            </a:r>
            <a:endParaRPr lang="en-US" b="1" dirty="0">
              <a:solidFill>
                <a:schemeClr val="accent4">
                  <a:lumMod val="75000"/>
                </a:schemeClr>
              </a:solidFill>
            </a:endParaRPr>
          </a:p>
        </p:txBody>
      </p:sp>
      <p:sp>
        <p:nvSpPr>
          <p:cNvPr id="3" name="Content Placeholder 2">
            <a:extLst>
              <a:ext uri="{FF2B5EF4-FFF2-40B4-BE49-F238E27FC236}">
                <a16:creationId xmlns:a16="http://schemas.microsoft.com/office/drawing/2014/main" id="{1CCD835F-6E57-3529-6566-A4F8BA0AAB08}"/>
              </a:ext>
            </a:extLst>
          </p:cNvPr>
          <p:cNvSpPr>
            <a:spLocks noGrp="1"/>
          </p:cNvSpPr>
          <p:nvPr>
            <p:ph idx="1"/>
          </p:nvPr>
        </p:nvSpPr>
        <p:spPr>
          <a:xfrm>
            <a:off x="838200" y="1825625"/>
            <a:ext cx="5637245" cy="4351338"/>
          </a:xfrm>
        </p:spPr>
        <p:txBody>
          <a:bodyPr>
            <a:normAutofit/>
          </a:bodyPr>
          <a:lstStyle/>
          <a:p>
            <a:pPr algn="just">
              <a:buFont typeface="Wingdings" panose="05000000000000000000" pitchFamily="2" charset="2"/>
              <a:buChar char="Ø"/>
            </a:pPr>
            <a:r>
              <a:rPr lang="vi-VN" sz="2400" b="0" i="0" dirty="0">
                <a:solidFill>
                  <a:srgbClr val="080809"/>
                </a:solidFill>
                <a:effectLst/>
                <a:latin typeface="Segoe UI Historic" panose="020B0502040204020203" pitchFamily="34" charset="0"/>
              </a:rPr>
              <a:t>Điều kỳ diệu sẽ đến nếu bạn sống, hoạt động chậm lại và tự reset bản thân. Thiền định là một bộ môn hữu ích có thể giúp bạn làm việc này. </a:t>
            </a:r>
            <a:endParaRPr lang="en-US" sz="24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400" b="0" i="0" dirty="0">
                <a:solidFill>
                  <a:srgbClr val="080809"/>
                </a:solidFill>
                <a:effectLst/>
                <a:latin typeface="Segoe UI Historic" panose="020B0502040204020203" pitchFamily="34" charset="0"/>
              </a:rPr>
              <a:t>Song song với đó, hãy thử suy ngẫm về những lời nói của người khác thay vì lặng im, không để tâm đến họ mà chỉ tập trung vào suy nghĩ của riêng mình.</a:t>
            </a:r>
            <a:endParaRPr lang="en-US" sz="2400" dirty="0"/>
          </a:p>
        </p:txBody>
      </p:sp>
      <p:pic>
        <p:nvPicPr>
          <p:cNvPr id="5" name="Picture 4">
            <a:extLst>
              <a:ext uri="{FF2B5EF4-FFF2-40B4-BE49-F238E27FC236}">
                <a16:creationId xmlns:a16="http://schemas.microsoft.com/office/drawing/2014/main" id="{B348C054-7482-E64E-A2E1-FB3D3529BE0B}"/>
              </a:ext>
            </a:extLst>
          </p:cNvPr>
          <p:cNvPicPr>
            <a:picLocks noChangeAspect="1"/>
          </p:cNvPicPr>
          <p:nvPr/>
        </p:nvPicPr>
        <p:blipFill>
          <a:blip r:embed="rId2"/>
          <a:stretch>
            <a:fillRect/>
          </a:stretch>
        </p:blipFill>
        <p:spPr>
          <a:xfrm>
            <a:off x="6746033" y="1958553"/>
            <a:ext cx="4962850" cy="2791603"/>
          </a:xfrm>
          <a:prstGeom prst="rect">
            <a:avLst/>
          </a:prstGeom>
          <a:effectLst>
            <a:glow rad="228600">
              <a:schemeClr val="accent6">
                <a:satMod val="175000"/>
                <a:alpha val="40000"/>
              </a:schemeClr>
            </a:glow>
          </a:effectLst>
        </p:spPr>
      </p:pic>
    </p:spTree>
    <p:extLst>
      <p:ext uri="{BB962C8B-B14F-4D97-AF65-F5344CB8AC3E}">
        <p14:creationId xmlns:p14="http://schemas.microsoft.com/office/powerpoint/2010/main" val="375687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8878A-D420-8CDC-255F-C0203C6E6B17}"/>
              </a:ext>
            </a:extLst>
          </p:cNvPr>
          <p:cNvSpPr>
            <a:spLocks noGrp="1"/>
          </p:cNvSpPr>
          <p:nvPr>
            <p:ph type="title"/>
          </p:nvPr>
        </p:nvSpPr>
        <p:spPr/>
        <p:txBody>
          <a:bodyPr>
            <a:normAutofit/>
          </a:bodyPr>
          <a:lstStyle/>
          <a:p>
            <a:r>
              <a:rPr lang="en-US" sz="3600" b="1" i="0" dirty="0">
                <a:solidFill>
                  <a:schemeClr val="accent4">
                    <a:lumMod val="75000"/>
                  </a:schemeClr>
                </a:solidFill>
                <a:effectLst/>
                <a:latin typeface="Segoe UI Historic" panose="020B0502040204020203" pitchFamily="34" charset="0"/>
              </a:rPr>
              <a:t>5. </a:t>
            </a:r>
            <a:r>
              <a:rPr lang="en-US" sz="3600" b="1" i="0" dirty="0" err="1">
                <a:solidFill>
                  <a:schemeClr val="accent4">
                    <a:lumMod val="75000"/>
                  </a:schemeClr>
                </a:solidFill>
                <a:effectLst/>
                <a:latin typeface="Segoe UI Historic" panose="020B0502040204020203" pitchFamily="34" charset="0"/>
              </a:rPr>
              <a:t>Nói</a:t>
            </a:r>
            <a:r>
              <a:rPr lang="en-US" sz="3600" b="1" i="0" dirty="0">
                <a:solidFill>
                  <a:schemeClr val="accent4">
                    <a:lumMod val="75000"/>
                  </a:schemeClr>
                </a:solidFill>
                <a:effectLst/>
                <a:latin typeface="Segoe UI Historic" panose="020B0502040204020203" pitchFamily="34" charset="0"/>
              </a:rPr>
              <a:t> “</a:t>
            </a:r>
            <a:r>
              <a:rPr lang="en-US" sz="3600" b="1" i="0" dirty="0" err="1">
                <a:solidFill>
                  <a:schemeClr val="accent4">
                    <a:lumMod val="75000"/>
                  </a:schemeClr>
                </a:solidFill>
                <a:effectLst/>
                <a:latin typeface="Segoe UI Historic" panose="020B0502040204020203" pitchFamily="34" charset="0"/>
              </a:rPr>
              <a:t>không</a:t>
            </a:r>
            <a:r>
              <a:rPr lang="en-US" sz="3600" b="1" i="0" dirty="0">
                <a:solidFill>
                  <a:schemeClr val="accent4">
                    <a:lumMod val="75000"/>
                  </a:schemeClr>
                </a:solidFill>
                <a:effectLst/>
                <a:latin typeface="Segoe UI Historic" panose="020B0502040204020203" pitchFamily="34" charset="0"/>
              </a:rPr>
              <a:t>” </a:t>
            </a:r>
            <a:r>
              <a:rPr lang="en-US" sz="3600" b="1" i="0" dirty="0" err="1">
                <a:solidFill>
                  <a:schemeClr val="accent4">
                    <a:lumMod val="75000"/>
                  </a:schemeClr>
                </a:solidFill>
                <a:effectLst/>
                <a:latin typeface="Segoe UI Historic" panose="020B0502040204020203" pitchFamily="34" charset="0"/>
              </a:rPr>
              <a:t>với</a:t>
            </a:r>
            <a:r>
              <a:rPr lang="en-US" sz="3600" b="1" i="0" dirty="0">
                <a:solidFill>
                  <a:schemeClr val="accent4">
                    <a:lumMod val="75000"/>
                  </a:schemeClr>
                </a:solidFill>
                <a:effectLst/>
                <a:latin typeface="Segoe UI Historic" panose="020B0502040204020203" pitchFamily="34" charset="0"/>
              </a:rPr>
              <a:t> </a:t>
            </a:r>
            <a:r>
              <a:rPr lang="en-US" sz="3600" b="1" i="0" dirty="0" err="1">
                <a:solidFill>
                  <a:schemeClr val="accent4">
                    <a:lumMod val="75000"/>
                  </a:schemeClr>
                </a:solidFill>
                <a:effectLst/>
                <a:latin typeface="Segoe UI Historic" panose="020B0502040204020203" pitchFamily="34" charset="0"/>
              </a:rPr>
              <a:t>những</a:t>
            </a:r>
            <a:r>
              <a:rPr lang="en-US" sz="3600" b="1" i="0" dirty="0">
                <a:solidFill>
                  <a:schemeClr val="accent4">
                    <a:lumMod val="75000"/>
                  </a:schemeClr>
                </a:solidFill>
                <a:effectLst/>
                <a:latin typeface="Segoe UI Historic" panose="020B0502040204020203" pitchFamily="34" charset="0"/>
              </a:rPr>
              <a:t> </a:t>
            </a:r>
            <a:r>
              <a:rPr lang="en-US" sz="3600" b="1" i="0" dirty="0" err="1">
                <a:solidFill>
                  <a:schemeClr val="accent4">
                    <a:lumMod val="75000"/>
                  </a:schemeClr>
                </a:solidFill>
                <a:effectLst/>
                <a:latin typeface="Segoe UI Historic" panose="020B0502040204020203" pitchFamily="34" charset="0"/>
              </a:rPr>
              <a:t>suy</a:t>
            </a:r>
            <a:r>
              <a:rPr lang="en-US" sz="3600" b="1" i="0" dirty="0">
                <a:solidFill>
                  <a:schemeClr val="accent4">
                    <a:lumMod val="75000"/>
                  </a:schemeClr>
                </a:solidFill>
                <a:effectLst/>
                <a:latin typeface="Segoe UI Historic" panose="020B0502040204020203" pitchFamily="34" charset="0"/>
              </a:rPr>
              <a:t> </a:t>
            </a:r>
            <a:r>
              <a:rPr lang="en-US" sz="3600" b="1" i="0" dirty="0" err="1">
                <a:solidFill>
                  <a:schemeClr val="accent4">
                    <a:lumMod val="75000"/>
                  </a:schemeClr>
                </a:solidFill>
                <a:effectLst/>
                <a:latin typeface="Segoe UI Historic" panose="020B0502040204020203" pitchFamily="34" charset="0"/>
              </a:rPr>
              <a:t>nghĩ</a:t>
            </a:r>
            <a:r>
              <a:rPr lang="en-US" sz="3600" b="1" i="0" dirty="0">
                <a:solidFill>
                  <a:schemeClr val="accent4">
                    <a:lumMod val="75000"/>
                  </a:schemeClr>
                </a:solidFill>
                <a:effectLst/>
                <a:latin typeface="Segoe UI Historic" panose="020B0502040204020203" pitchFamily="34" charset="0"/>
              </a:rPr>
              <a:t> </a:t>
            </a:r>
            <a:r>
              <a:rPr lang="en-US" sz="3600" b="1" i="0" dirty="0" err="1">
                <a:solidFill>
                  <a:schemeClr val="accent4">
                    <a:lumMod val="75000"/>
                  </a:schemeClr>
                </a:solidFill>
                <a:effectLst/>
                <a:latin typeface="Segoe UI Historic" panose="020B0502040204020203" pitchFamily="34" charset="0"/>
              </a:rPr>
              <a:t>tiêu</a:t>
            </a:r>
            <a:r>
              <a:rPr lang="en-US" sz="3600" b="1" i="0" dirty="0">
                <a:solidFill>
                  <a:schemeClr val="accent4">
                    <a:lumMod val="75000"/>
                  </a:schemeClr>
                </a:solidFill>
                <a:effectLst/>
                <a:latin typeface="Segoe UI Historic" panose="020B0502040204020203" pitchFamily="34" charset="0"/>
              </a:rPr>
              <a:t> </a:t>
            </a:r>
            <a:r>
              <a:rPr lang="en-US" sz="3600" b="1" i="0" dirty="0" err="1">
                <a:solidFill>
                  <a:schemeClr val="accent4">
                    <a:lumMod val="75000"/>
                  </a:schemeClr>
                </a:solidFill>
                <a:effectLst/>
                <a:latin typeface="Segoe UI Historic" panose="020B0502040204020203" pitchFamily="34" charset="0"/>
              </a:rPr>
              <a:t>cực</a:t>
            </a:r>
            <a:endParaRPr lang="en-US" sz="3600" b="1" dirty="0">
              <a:solidFill>
                <a:schemeClr val="accent4">
                  <a:lumMod val="75000"/>
                </a:schemeClr>
              </a:solidFill>
            </a:endParaRPr>
          </a:p>
        </p:txBody>
      </p:sp>
      <p:sp>
        <p:nvSpPr>
          <p:cNvPr id="3" name="Content Placeholder 2">
            <a:extLst>
              <a:ext uri="{FF2B5EF4-FFF2-40B4-BE49-F238E27FC236}">
                <a16:creationId xmlns:a16="http://schemas.microsoft.com/office/drawing/2014/main" id="{38DB6CEB-0EFE-C954-7D2E-A81310E143B5}"/>
              </a:ext>
            </a:extLst>
          </p:cNvPr>
          <p:cNvSpPr>
            <a:spLocks noGrp="1"/>
          </p:cNvSpPr>
          <p:nvPr>
            <p:ph idx="1"/>
          </p:nvPr>
        </p:nvSpPr>
        <p:spPr>
          <a:xfrm>
            <a:off x="5775649" y="2254833"/>
            <a:ext cx="5850292" cy="3259559"/>
          </a:xfrm>
        </p:spPr>
        <p:txBody>
          <a:bodyPr>
            <a:normAutofit/>
          </a:bodyPr>
          <a:lstStyle/>
          <a:p>
            <a:pPr algn="just">
              <a:buFont typeface="Wingdings" panose="05000000000000000000" pitchFamily="2" charset="2"/>
              <a:buChar char="Ø"/>
            </a:pPr>
            <a:r>
              <a:rPr lang="vi-VN" sz="2400" b="0" i="0" dirty="0">
                <a:solidFill>
                  <a:srgbClr val="080809"/>
                </a:solidFill>
                <a:effectLst/>
                <a:latin typeface="Segoe UI Historic" panose="020B0502040204020203" pitchFamily="34" charset="0"/>
              </a:rPr>
              <a:t>Một bí quyết rất hay để giảm căng thẳng rất hiệu quả là ngay khi bạn nhận ra bản thân có bất kỳ suy nghĩ tiêu cực nào, hãy lập tức nói “không” với chúng. </a:t>
            </a:r>
            <a:endParaRPr lang="en-US" sz="24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400" b="0" i="0" dirty="0">
                <a:solidFill>
                  <a:srgbClr val="080809"/>
                </a:solidFill>
                <a:effectLst/>
                <a:latin typeface="Segoe UI Historic" panose="020B0502040204020203" pitchFamily="34" charset="0"/>
              </a:rPr>
              <a:t>Hãy tự tạo cho mình một thói quen có thể khiến bộ não của bạn có phản ứng ngay lập tức để thoát ra khỏi căng thẳng một cách dễ dàng hơn.</a:t>
            </a:r>
            <a:endParaRPr lang="en-US" sz="2400" dirty="0"/>
          </a:p>
        </p:txBody>
      </p:sp>
      <p:pic>
        <p:nvPicPr>
          <p:cNvPr id="7170" name="Picture 2" descr="Một suy nghĩ tiêu cực...">
            <a:extLst>
              <a:ext uri="{FF2B5EF4-FFF2-40B4-BE49-F238E27FC236}">
                <a16:creationId xmlns:a16="http://schemas.microsoft.com/office/drawing/2014/main" id="{30506886-C1F5-0A6E-C3F4-C89B4EF9AB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767"/>
          <a:stretch/>
        </p:blipFill>
        <p:spPr bwMode="auto">
          <a:xfrm>
            <a:off x="672193" y="2039355"/>
            <a:ext cx="4665563" cy="2715208"/>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15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25798-A0AF-31A7-7841-CEFC9B4E3270}"/>
              </a:ext>
            </a:extLst>
          </p:cNvPr>
          <p:cNvSpPr>
            <a:spLocks noGrp="1"/>
          </p:cNvSpPr>
          <p:nvPr>
            <p:ph type="title"/>
          </p:nvPr>
        </p:nvSpPr>
        <p:spPr/>
        <p:txBody>
          <a:bodyPr/>
          <a:lstStyle/>
          <a:p>
            <a:r>
              <a:rPr lang="en-US" b="1" dirty="0">
                <a:solidFill>
                  <a:schemeClr val="accent4">
                    <a:lumMod val="75000"/>
                  </a:schemeClr>
                </a:solidFill>
              </a:rPr>
              <a:t>THANKS!</a:t>
            </a:r>
          </a:p>
        </p:txBody>
      </p:sp>
      <p:sp>
        <p:nvSpPr>
          <p:cNvPr id="3" name="Content Placeholder 2">
            <a:extLst>
              <a:ext uri="{FF2B5EF4-FFF2-40B4-BE49-F238E27FC236}">
                <a16:creationId xmlns:a16="http://schemas.microsoft.com/office/drawing/2014/main" id="{9C1A79E4-6416-EC6C-7447-6A968AA9D5F8}"/>
              </a:ext>
            </a:extLst>
          </p:cNvPr>
          <p:cNvSpPr>
            <a:spLocks noGrp="1"/>
          </p:cNvSpPr>
          <p:nvPr>
            <p:ph idx="1"/>
          </p:nvPr>
        </p:nvSpPr>
        <p:spPr/>
        <p:txBody>
          <a:bodyPr/>
          <a:lstStyle/>
          <a:p>
            <a:endParaRPr lang="en-US"/>
          </a:p>
        </p:txBody>
      </p:sp>
      <p:grpSp>
        <p:nvGrpSpPr>
          <p:cNvPr id="5" name="Group 4">
            <a:extLst>
              <a:ext uri="{FF2B5EF4-FFF2-40B4-BE49-F238E27FC236}">
                <a16:creationId xmlns:a16="http://schemas.microsoft.com/office/drawing/2014/main" id="{E69A443E-F7CA-F33E-80D6-7D5FF8FE7DD2}"/>
              </a:ext>
            </a:extLst>
          </p:cNvPr>
          <p:cNvGrpSpPr/>
          <p:nvPr/>
        </p:nvGrpSpPr>
        <p:grpSpPr>
          <a:xfrm>
            <a:off x="3610947" y="1978861"/>
            <a:ext cx="7246620" cy="3758693"/>
            <a:chOff x="2286000" y="1698943"/>
            <a:chExt cx="7246620" cy="3758693"/>
          </a:xfrm>
        </p:grpSpPr>
        <p:sp>
          <p:nvSpPr>
            <p:cNvPr id="6" name="Frame 5">
              <a:extLst>
                <a:ext uri="{FF2B5EF4-FFF2-40B4-BE49-F238E27FC236}">
                  <a16:creationId xmlns:a16="http://schemas.microsoft.com/office/drawing/2014/main" id="{ADC84751-638E-D691-1D3D-D8BE023E5772}"/>
                </a:ext>
              </a:extLst>
            </p:cNvPr>
            <p:cNvSpPr/>
            <p:nvPr/>
          </p:nvSpPr>
          <p:spPr>
            <a:xfrm>
              <a:off x="2467356" y="2101123"/>
              <a:ext cx="4716780" cy="3356513"/>
            </a:xfrm>
            <a:prstGeom prst="frame">
              <a:avLst>
                <a:gd name="adj1" fmla="val 5450"/>
              </a:avLst>
            </a:prstGeom>
            <a:scene3d>
              <a:camera prst="orthographicFront">
                <a:rot lat="0" lon="0" rev="0"/>
              </a:camera>
              <a:lightRig rig="contrasting" dir="t">
                <a:rot lat="0" lon="0" rev="1200000"/>
              </a:lightRig>
            </a:scene3d>
            <a:sp3d z="-152400" prstMaterial="matte"/>
          </p:spPr>
          <p:style>
            <a:lnRef idx="1">
              <a:schemeClr val="accent2">
                <a:hueOff val="0"/>
                <a:satOff val="0"/>
                <a:lumOff val="0"/>
                <a:alphaOff val="0"/>
              </a:schemeClr>
            </a:lnRef>
            <a:fillRef idx="1">
              <a:schemeClr val="accent2">
                <a:tint val="50000"/>
                <a:alpha val="55000"/>
                <a:hueOff val="0"/>
                <a:satOff val="0"/>
                <a:lumOff val="0"/>
                <a:alphaOff val="0"/>
              </a:schemeClr>
            </a:fillRef>
            <a:effectRef idx="0">
              <a:schemeClr val="accent2">
                <a:tint val="50000"/>
                <a:alpha val="55000"/>
                <a:hueOff val="0"/>
                <a:satOff val="0"/>
                <a:lumOff val="0"/>
                <a:alphaOff val="0"/>
              </a:schemeClr>
            </a:effectRef>
            <a:fontRef idx="minor">
              <a:schemeClr val="lt1">
                <a:hueOff val="0"/>
                <a:satOff val="0"/>
                <a:lumOff val="0"/>
                <a:alphaOff val="0"/>
              </a:schemeClr>
            </a:fontRef>
          </p:style>
        </p:sp>
        <p:sp>
          <p:nvSpPr>
            <p:cNvPr id="7" name="Rectangle 6" descr="Suy nghĩ tiêu cực là gì? Làm sao để ngừng suy nghĩ tiêu cực?">
              <a:extLst>
                <a:ext uri="{FF2B5EF4-FFF2-40B4-BE49-F238E27FC236}">
                  <a16:creationId xmlns:a16="http://schemas.microsoft.com/office/drawing/2014/main" id="{2F406203-D823-C334-A1F1-115989C4C42F}"/>
                </a:ext>
              </a:extLst>
            </p:cNvPr>
            <p:cNvSpPr/>
            <p:nvPr/>
          </p:nvSpPr>
          <p:spPr>
            <a:xfrm>
              <a:off x="2286000" y="1698943"/>
              <a:ext cx="4535424" cy="3174968"/>
            </a:xfrm>
            <a:prstGeom prst="rect">
              <a:avLst/>
            </a:prstGeom>
            <a:blipFill>
              <a:blip r:embed="rId2">
                <a:extLst>
                  <a:ext uri="{28A0092B-C50C-407E-A947-70E740481C1C}">
                    <a14:useLocalDpi xmlns:a14="http://schemas.microsoft.com/office/drawing/2010/main" val="0"/>
                  </a:ext>
                </a:extLst>
              </a:blip>
              <a:srcRect/>
              <a:stretch>
                <a:fillRect l="-12000" r="-12000"/>
              </a:stretch>
            </a:blipFill>
            <a:scene3d>
              <a:camera prst="orthographicFront">
                <a:rot lat="0" lon="0" rev="0"/>
              </a:camera>
              <a:lightRig rig="contrasting" dir="t">
                <a:rot lat="0" lon="0" rev="1200000"/>
              </a:lightRig>
            </a:scene3d>
            <a:sp3d contourW="12700" prstMaterial="flat">
              <a:bevelT w="177800" h="254000"/>
              <a:bevelB w="152400"/>
            </a:sp3d>
          </p:spPr>
          <p:style>
            <a:lnRef idx="0">
              <a:schemeClr val="lt1">
                <a:hueOff val="0"/>
                <a:satOff val="0"/>
                <a:lumOff val="0"/>
                <a:alphaOff val="0"/>
              </a:schemeClr>
            </a:lnRef>
            <a:fillRef idx="1">
              <a:scrgbClr r="0" g="0" b="0"/>
            </a:fillRef>
            <a:effectRef idx="1">
              <a:schemeClr val="accent2">
                <a:tint val="50000"/>
                <a:hueOff val="0"/>
                <a:satOff val="0"/>
                <a:lumOff val="0"/>
                <a:alphaOff val="0"/>
              </a:schemeClr>
            </a:effectRef>
            <a:fontRef idx="minor">
              <a:schemeClr val="lt1">
                <a:hueOff val="0"/>
                <a:satOff val="0"/>
                <a:lumOff val="0"/>
                <a:alphaOff val="0"/>
              </a:schemeClr>
            </a:fontRef>
          </p:style>
        </p:sp>
        <p:sp>
          <p:nvSpPr>
            <p:cNvPr id="8" name="Freeform: Shape 7">
              <a:extLst>
                <a:ext uri="{FF2B5EF4-FFF2-40B4-BE49-F238E27FC236}">
                  <a16:creationId xmlns:a16="http://schemas.microsoft.com/office/drawing/2014/main" id="{71B60F3D-9F5C-9030-A1F7-C852DF28D423}"/>
                </a:ext>
              </a:extLst>
            </p:cNvPr>
            <p:cNvSpPr/>
            <p:nvPr/>
          </p:nvSpPr>
          <p:spPr>
            <a:xfrm>
              <a:off x="2651760" y="4875039"/>
              <a:ext cx="4351020" cy="398421"/>
            </a:xfrm>
            <a:custGeom>
              <a:avLst/>
              <a:gdLst>
                <a:gd name="connsiteX0" fmla="*/ 0 w 4351020"/>
                <a:gd name="connsiteY0" fmla="*/ 0 h 398421"/>
                <a:gd name="connsiteX1" fmla="*/ 4351020 w 4351020"/>
                <a:gd name="connsiteY1" fmla="*/ 0 h 398421"/>
                <a:gd name="connsiteX2" fmla="*/ 4351020 w 4351020"/>
                <a:gd name="connsiteY2" fmla="*/ 398421 h 398421"/>
                <a:gd name="connsiteX3" fmla="*/ 0 w 4351020"/>
                <a:gd name="connsiteY3" fmla="*/ 398421 h 398421"/>
                <a:gd name="connsiteX4" fmla="*/ 0 w 4351020"/>
                <a:gd name="connsiteY4" fmla="*/ 0 h 39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1020" h="398421">
                  <a:moveTo>
                    <a:pt x="0" y="0"/>
                  </a:moveTo>
                  <a:lnTo>
                    <a:pt x="4351020" y="0"/>
                  </a:lnTo>
                  <a:lnTo>
                    <a:pt x="4351020" y="398421"/>
                  </a:lnTo>
                  <a:lnTo>
                    <a:pt x="0" y="398421"/>
                  </a:lnTo>
                  <a:lnTo>
                    <a:pt x="0" y="0"/>
                  </a:lnTo>
                  <a:close/>
                </a:path>
              </a:pathLst>
            </a:cu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82880" tIns="68580" rIns="182880" bIns="68580" numCol="1" spcCol="1270" anchor="ctr" anchorCtr="0">
              <a:noAutofit/>
            </a:bodyPr>
            <a:lstStyle/>
            <a:p>
              <a:pPr marL="0" lvl="0" indent="0" algn="l" defTabSz="800100">
                <a:lnSpc>
                  <a:spcPct val="90000"/>
                </a:lnSpc>
                <a:spcBef>
                  <a:spcPct val="0"/>
                </a:spcBef>
                <a:spcAft>
                  <a:spcPct val="35000"/>
                </a:spcAft>
                <a:buNone/>
              </a:pPr>
              <a:endParaRPr lang="en-US" sz="1800" kern="1200"/>
            </a:p>
          </p:txBody>
        </p:sp>
        <p:sp>
          <p:nvSpPr>
            <p:cNvPr id="9" name="Rectangle 8">
              <a:extLst>
                <a:ext uri="{FF2B5EF4-FFF2-40B4-BE49-F238E27FC236}">
                  <a16:creationId xmlns:a16="http://schemas.microsoft.com/office/drawing/2014/main" id="{72E73AA7-EB4B-1BF4-9E51-3EBA0617E223}"/>
                </a:ext>
              </a:extLst>
            </p:cNvPr>
            <p:cNvSpPr/>
            <p:nvPr/>
          </p:nvSpPr>
          <p:spPr>
            <a:xfrm>
              <a:off x="7376160" y="2101123"/>
              <a:ext cx="2156460" cy="3356513"/>
            </a:xfrm>
            <a:prstGeom prst="rect">
              <a:avLst/>
            </a:pr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pSp>
    </p:spTree>
    <p:extLst>
      <p:ext uri="{BB962C8B-B14F-4D97-AF65-F5344CB8AC3E}">
        <p14:creationId xmlns:p14="http://schemas.microsoft.com/office/powerpoint/2010/main" val="849666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683</Words>
  <Application>Microsoft Office PowerPoint</Application>
  <PresentationFormat>Widescreen</PresentationFormat>
  <Paragraphs>26</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Calibri Light</vt:lpstr>
      <vt:lpstr>inherit</vt:lpstr>
      <vt:lpstr>Segoe UI Historic</vt:lpstr>
      <vt:lpstr>Tahoma</vt:lpstr>
      <vt:lpstr>Wingdings</vt:lpstr>
      <vt:lpstr>Office Theme</vt:lpstr>
      <vt:lpstr>5 CÁCH VƯỢT QUA CĂNG THẲNG</vt:lpstr>
      <vt:lpstr>PowerPoint Presentation</vt:lpstr>
      <vt:lpstr>1. Hãy biến nỗi căng thẳng thành đồng minh</vt:lpstr>
      <vt:lpstr>2. Thực hành "lòng trắc ẩn"</vt:lpstr>
      <vt:lpstr>3. Học cách hài hước</vt:lpstr>
      <vt:lpstr>4. Thử tập thiền định</vt:lpstr>
      <vt:lpstr>5. Nói “không” với những suy nghĩ tiêu cực</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 CÁCH VƯỢT QUA CĂNG THẲNG</dc:title>
  <dc:creator>Administrator</dc:creator>
  <cp:lastModifiedBy>Administrator</cp:lastModifiedBy>
  <cp:revision>1</cp:revision>
  <dcterms:created xsi:type="dcterms:W3CDTF">2024-12-17T04:44:42Z</dcterms:created>
  <dcterms:modified xsi:type="dcterms:W3CDTF">2024-12-17T04:44:45Z</dcterms:modified>
</cp:coreProperties>
</file>