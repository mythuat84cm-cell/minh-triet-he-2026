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2" r:id="rId16"/>
    <p:sldId id="274" r:id="rId17"/>
    <p:sldId id="273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5" r:id="rId28"/>
    <p:sldId id="286" r:id="rId29"/>
    <p:sldId id="287" r:id="rId30"/>
    <p:sldId id="28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8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D09DB-2B2F-7E6F-7F32-82288D82B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BEEEFA-0397-9F2A-0872-A4B8FFCE61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28CA1-6FAA-2EA9-34F4-BC8D2ADC5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A4551-4BC7-4A6B-959C-DD9CA9958815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8431D-4A4A-F025-57FF-CECFE271C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65B5C-9C82-472D-B5BB-F652E658D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AE994-4499-47EC-9FEE-8FD14E5A9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489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70544-E244-D30A-EA4B-00B2918AA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7FFFD-A9D6-CE8D-EB9E-CC9AD7BB2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62291-36A3-B6D8-AECA-E8E7630D2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A4551-4BC7-4A6B-959C-DD9CA9958815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64AF-A7F9-21ED-106E-408658AF3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12AEE-4E55-D4A2-6341-256D6DD3C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AE994-4499-47EC-9FEE-8FD14E5A9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871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FAAF0-6B18-72B5-1FAA-A85E2FCCC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0F0100-CB5E-B160-60EE-7723DAC9F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463EB-DE91-5827-1250-2AA7DDD3C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A4551-4BC7-4A6B-959C-DD9CA9958815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2A0A7-33DF-A5DD-E431-2701DEFED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FE148-6257-1ABC-9538-CFD9DAD7F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AE994-4499-47EC-9FEE-8FD14E5A9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547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EDC1C-523B-CBBD-ADED-1BC0CDEDA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AD221-1DE8-EEFD-4207-F12659C639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6909C5-5611-EB6D-01E0-55C9F0B46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9E5D7-B0BE-99EF-F430-B4D443409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A4551-4BC7-4A6B-959C-DD9CA9958815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89751F-6196-1052-42F3-94BAA8C27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2051FE-13B5-353A-5CC4-B71150A23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AE994-4499-47EC-9FEE-8FD14E5A9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864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B07CA-0D21-17AC-BB47-FB3944296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1A5643-573D-7A4E-CE85-B7D7951EF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CEDB24-290B-9D34-64AD-FEBA6B62FF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2D79A3-7870-9780-3171-EABF6B79E3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8FAA31-050F-0E21-9E93-3849F76D1D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6F33B8-3869-8E01-5364-650F0634B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A4551-4BC7-4A6B-959C-DD9CA9958815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4242D2-D012-3597-3C60-C21ADEF2D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841407-5156-3864-F736-C5883595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AE994-4499-47EC-9FEE-8FD14E5A9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53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955AE-3A76-57C0-CB53-9D7B27195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B6D90F-6FAF-6735-5BF6-BF595E94D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A4551-4BC7-4A6B-959C-DD9CA9958815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BC9498-5E6E-192D-2B14-3750A7B57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5901E1-3121-6AC7-A857-F3FBB4337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AE994-4499-47EC-9FEE-8FD14E5A9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748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91BDF2-390E-6105-FDB0-E8A19D999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A4551-4BC7-4A6B-959C-DD9CA9958815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F26F3B-770F-64A8-60F2-A269DA355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57DC78-891C-4E21-69D3-7E99066EC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AE994-4499-47EC-9FEE-8FD14E5A9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769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7A2D7-8EC8-3531-8EB4-9C1815775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63407-3BF7-3BA7-371C-2A0F73F7F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85A687-3DD9-9A3D-7878-73C3231B9C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58EEAF-5B7A-AB2D-AF89-302CBC8AA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A4551-4BC7-4A6B-959C-DD9CA9958815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11144D-7765-3EE3-7D4A-D9EB73453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004549-50BB-8200-6F05-D6B70F131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AE994-4499-47EC-9FEE-8FD14E5A9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949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D78BE-CCB0-194D-1853-73E2CC082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C7C46B-709A-0814-3734-C2CA4D4019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1766B9-4E56-DC05-CE67-46B23E2DF7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FAC191-F467-15C5-BDCF-05E5EDFB4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A4551-4BC7-4A6B-959C-DD9CA9958815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37274-40DE-FA31-017D-97766D4C5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0A8EA7-14AE-3207-E6F7-B7D2EBC5C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AE994-4499-47EC-9FEE-8FD14E5A9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576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3331C-0114-2EF5-0F29-CD2B7188D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FE4852-2C38-B280-3845-16B3268322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BFB06-84C0-8FF0-6744-704437F3E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A4551-4BC7-4A6B-959C-DD9CA9958815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10521-BF8F-194E-4AD8-F35B295D4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AB436-18D0-0449-1694-0D95C9572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AE994-4499-47EC-9FEE-8FD14E5A9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588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9FC47A-F6C1-5C59-D29F-3F4953DB53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005EA7-21C0-D86A-8A35-35653300E6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E955D-DA10-5F28-6903-3D6777787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A4551-4BC7-4A6B-959C-DD9CA9958815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D6720-33F9-35E3-4709-A5C9EA54D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45FE2-B361-6DCE-8039-56BBD21AE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AE994-4499-47EC-9FEE-8FD14E5A9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28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8A9E61-D855-86C0-7251-B9BD3BE1C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BF868-832B-E5BA-31C5-2B1E5D14A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5162F-D437-0939-98ED-E1FDC3FBA6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0A4551-4BC7-4A6B-959C-DD9CA9958815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956F1-0E97-E133-200A-E69506F843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E351B-85E9-919D-91B4-A50E2DD054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6AE994-4499-47EC-9FEE-8FD14E5A9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104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C9C88-BC6A-9D8C-9F62-B1547C05CA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6596" y="3429000"/>
            <a:ext cx="9144000" cy="2387600"/>
          </a:xfrm>
        </p:spPr>
        <p:txBody>
          <a:bodyPr/>
          <a:lstStyle/>
          <a:p>
            <a:r>
              <a:rPr lang="en-US" b="1" i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CỐ VẤN CHO NGƯỜI KHÁC</a:t>
            </a:r>
          </a:p>
        </p:txBody>
      </p:sp>
      <p:pic>
        <p:nvPicPr>
          <p:cNvPr id="1026" name="Picture 2" descr="Làm thế nào để trở thành người cố vấn tài giỏi trên con đường đi đến">
            <a:extLst>
              <a:ext uri="{FF2B5EF4-FFF2-40B4-BE49-F238E27FC236}">
                <a16:creationId xmlns:a16="http://schemas.microsoft.com/office/drawing/2014/main" id="{BBA07244-4184-64DE-5EF6-D8D1A86BB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0596" y="660076"/>
            <a:ext cx="6096000" cy="3810000"/>
          </a:xfrm>
          <a:prstGeom prst="rect">
            <a:avLst/>
          </a:prstGeom>
          <a:noFill/>
          <a:effectLst>
            <a:glow rad="228600">
              <a:schemeClr val="accent4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5652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1B84-4FFE-EC24-CDC6-B6774B31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I. TỔNG QUAN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3FC23-E826-BCBA-F7B3-73525B402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837" y="2506662"/>
            <a:ext cx="10515600" cy="4351338"/>
          </a:xfrm>
        </p:spPr>
        <p:txBody>
          <a:bodyPr/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4 </a:t>
            </a:r>
            <a:r>
              <a:rPr lang="en-US" dirty="0" err="1"/>
              <a:t>yếu</a:t>
            </a:r>
            <a:r>
              <a:rPr lang="en-US" dirty="0"/>
              <a:t> </a:t>
            </a:r>
            <a:r>
              <a:rPr lang="en-US" dirty="0" err="1"/>
              <a:t>tố</a:t>
            </a:r>
            <a:r>
              <a:rPr lang="en-US" dirty="0"/>
              <a:t> </a:t>
            </a:r>
            <a:r>
              <a:rPr lang="en-US" dirty="0" err="1"/>
              <a:t>xét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độ</a:t>
            </a:r>
            <a:endParaRPr lang="en-US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(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+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)</a:t>
            </a:r>
          </a:p>
          <a:p>
            <a:pPr lvl="2">
              <a:buFont typeface="Wingdings" panose="05000000000000000000" pitchFamily="2" charset="2"/>
              <a:buChar char="§"/>
            </a:pPr>
            <a:endParaRPr lang="en-US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Quan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 err="1">
                <a:sym typeface="Wingdings" panose="05000000000000000000" pitchFamily="2" charset="2"/>
              </a:rPr>
              <a:t>tập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thể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đội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ngũ</a:t>
            </a:r>
            <a:endParaRPr lang="en-US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 err="1">
                <a:sym typeface="Wingdings" panose="05000000000000000000" pitchFamily="2" charset="2"/>
              </a:rPr>
              <a:t>Ảnh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hưởng</a:t>
            </a:r>
            <a:r>
              <a:rPr lang="en-US" dirty="0">
                <a:sym typeface="Wingdings" panose="05000000000000000000" pitchFamily="2" charset="2"/>
              </a:rPr>
              <a:t>  </a:t>
            </a:r>
            <a:r>
              <a:rPr lang="en-US" dirty="0" err="1">
                <a:sym typeface="Wingdings" panose="05000000000000000000" pitchFamily="2" charset="2"/>
              </a:rPr>
              <a:t>Tập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thể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đội</a:t>
            </a:r>
            <a:r>
              <a:rPr lang="en-US" dirty="0">
                <a:sym typeface="Wingdings" panose="05000000000000000000" pitchFamily="2" charset="2"/>
              </a:rPr>
              <a:t> + Sai </a:t>
            </a:r>
            <a:r>
              <a:rPr lang="en-US" dirty="0" err="1">
                <a:sym typeface="Wingdings" panose="05000000000000000000" pitchFamily="2" charset="2"/>
              </a:rPr>
              <a:t>khiến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đội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ngũ</a:t>
            </a:r>
            <a:endParaRPr lang="en-US" dirty="0">
              <a:sym typeface="Wingdings" panose="05000000000000000000" pitchFamily="2" charset="2"/>
            </a:endParaRPr>
          </a:p>
          <a:p>
            <a:pPr lvl="3">
              <a:buFont typeface="Wingdings" panose="05000000000000000000" pitchFamily="2" charset="2"/>
              <a:buChar char="è"/>
            </a:pPr>
            <a:r>
              <a:rPr lang="en-US" dirty="0" err="1">
                <a:solidFill>
                  <a:srgbClr val="C00000"/>
                </a:solidFill>
                <a:sym typeface="Wingdings" panose="05000000000000000000" pitchFamily="2" charset="2"/>
              </a:rPr>
              <a:t>Hãy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C00000"/>
                </a:solidFill>
                <a:sym typeface="Wingdings" panose="05000000000000000000" pitchFamily="2" charset="2"/>
              </a:rPr>
              <a:t>huấn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C00000"/>
                </a:solidFill>
                <a:sym typeface="Wingdings" panose="05000000000000000000" pitchFamily="2" charset="2"/>
              </a:rPr>
              <a:t>luyện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C00000"/>
                </a:solidFill>
                <a:sym typeface="Wingdings" panose="05000000000000000000" pitchFamily="2" charset="2"/>
              </a:rPr>
              <a:t>đội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C00000"/>
                </a:solidFill>
                <a:sym typeface="Wingdings" panose="05000000000000000000" pitchFamily="2" charset="2"/>
              </a:rPr>
              <a:t>ngũ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, </a:t>
            </a:r>
            <a:r>
              <a:rPr lang="en-US" dirty="0" err="1">
                <a:solidFill>
                  <a:srgbClr val="C00000"/>
                </a:solidFill>
                <a:sym typeface="Wingdings" panose="05000000000000000000" pitchFamily="2" charset="2"/>
              </a:rPr>
              <a:t>đừng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C00000"/>
                </a:solidFill>
                <a:sym typeface="Wingdings" panose="05000000000000000000" pitchFamily="2" charset="2"/>
              </a:rPr>
              <a:t>quản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C00000"/>
                </a:solidFill>
                <a:sym typeface="Wingdings" panose="05000000000000000000" pitchFamily="2" charset="2"/>
              </a:rPr>
              <a:t>trị</a:t>
            </a:r>
            <a:endParaRPr lang="en-US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lvl="3">
              <a:buFont typeface="Wingdings" panose="05000000000000000000" pitchFamily="2" charset="2"/>
              <a:buChar char="è"/>
            </a:pPr>
            <a:r>
              <a:rPr lang="en-US" dirty="0" err="1">
                <a:solidFill>
                  <a:srgbClr val="C00000"/>
                </a:solidFill>
                <a:sym typeface="Wingdings" panose="05000000000000000000" pitchFamily="2" charset="2"/>
              </a:rPr>
              <a:t>Muốn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C00000"/>
                </a:solidFill>
                <a:sym typeface="Wingdings" panose="05000000000000000000" pitchFamily="2" charset="2"/>
              </a:rPr>
              <a:t>thành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C00000"/>
                </a:solidFill>
                <a:sym typeface="Wingdings" panose="05000000000000000000" pitchFamily="2" charset="2"/>
              </a:rPr>
              <a:t>công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C00000"/>
                </a:solidFill>
                <a:sym typeface="Wingdings" panose="05000000000000000000" pitchFamily="2" charset="2"/>
              </a:rPr>
              <a:t>phải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C00000"/>
                </a:solidFill>
                <a:sym typeface="Wingdings" panose="05000000000000000000" pitchFamily="2" charset="2"/>
              </a:rPr>
              <a:t>xây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C00000"/>
                </a:solidFill>
                <a:sym typeface="Wingdings" panose="05000000000000000000" pitchFamily="2" charset="2"/>
              </a:rPr>
              <a:t>dựng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C00000"/>
                </a:solidFill>
                <a:sym typeface="Wingdings" panose="05000000000000000000" pitchFamily="2" charset="2"/>
              </a:rPr>
              <a:t>đội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C00000"/>
                </a:solidFill>
                <a:sym typeface="Wingdings" panose="05000000000000000000" pitchFamily="2" charset="2"/>
              </a:rPr>
              <a:t>ngũ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C00000"/>
                </a:solidFill>
                <a:sym typeface="Wingdings" panose="05000000000000000000" pitchFamily="2" charset="2"/>
              </a:rPr>
              <a:t>thành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C00000"/>
                </a:solidFill>
                <a:sym typeface="Wingdings" panose="05000000000000000000" pitchFamily="2" charset="2"/>
              </a:rPr>
              <a:t>công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C653B-3B85-5893-AD15-565797D1D804}"/>
              </a:ext>
            </a:extLst>
          </p:cNvPr>
          <p:cNvSpPr txBox="1"/>
          <p:nvPr/>
        </p:nvSpPr>
        <p:spPr>
          <a:xfrm>
            <a:off x="1080020" y="1312999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AutoNum type="arabicPeriod"/>
            </a:pPr>
            <a:r>
              <a:rPr lang="en-US" sz="2400" b="1" dirty="0" err="1">
                <a:solidFill>
                  <a:srgbClr val="002060"/>
                </a:solidFill>
              </a:rPr>
              <a:t>Vì</a:t>
            </a:r>
            <a:r>
              <a:rPr lang="en-US" sz="2400" b="1" dirty="0">
                <a:solidFill>
                  <a:srgbClr val="002060"/>
                </a:solidFill>
              </a:rPr>
              <a:t> </a:t>
            </a:r>
            <a:r>
              <a:rPr lang="en-US" sz="2400" b="1" dirty="0" err="1">
                <a:solidFill>
                  <a:srgbClr val="002060"/>
                </a:solidFill>
              </a:rPr>
              <a:t>sao</a:t>
            </a:r>
            <a:r>
              <a:rPr lang="en-US" sz="2400" b="1" dirty="0">
                <a:solidFill>
                  <a:srgbClr val="002060"/>
                </a:solidFill>
              </a:rPr>
              <a:t> </a:t>
            </a:r>
            <a:r>
              <a:rPr lang="en-US" sz="2400" b="1" dirty="0" err="1">
                <a:solidFill>
                  <a:srgbClr val="002060"/>
                </a:solidFill>
              </a:rPr>
              <a:t>phải</a:t>
            </a:r>
            <a:r>
              <a:rPr lang="en-US" sz="2400" b="1" dirty="0">
                <a:solidFill>
                  <a:srgbClr val="002060"/>
                </a:solidFill>
              </a:rPr>
              <a:t> </a:t>
            </a:r>
            <a:r>
              <a:rPr lang="en-US" sz="2400" b="1" dirty="0" err="1">
                <a:solidFill>
                  <a:srgbClr val="002060"/>
                </a:solidFill>
              </a:rPr>
              <a:t>trang</a:t>
            </a:r>
            <a:r>
              <a:rPr lang="en-US" sz="2400" b="1" dirty="0">
                <a:solidFill>
                  <a:srgbClr val="002060"/>
                </a:solidFill>
              </a:rPr>
              <a:t> </a:t>
            </a:r>
            <a:r>
              <a:rPr lang="en-US" sz="2400" b="1" dirty="0" err="1">
                <a:solidFill>
                  <a:srgbClr val="002060"/>
                </a:solidFill>
              </a:rPr>
              <a:t>bị</a:t>
            </a:r>
            <a:r>
              <a:rPr lang="en-US" sz="2400" b="1" dirty="0">
                <a:solidFill>
                  <a:srgbClr val="002060"/>
                </a:solidFill>
              </a:rPr>
              <a:t> </a:t>
            </a:r>
            <a:r>
              <a:rPr lang="en-US" sz="2400" b="1" dirty="0" err="1">
                <a:solidFill>
                  <a:srgbClr val="002060"/>
                </a:solidFill>
              </a:rPr>
              <a:t>cho</a:t>
            </a:r>
            <a:r>
              <a:rPr lang="en-US" sz="2400" b="1" dirty="0">
                <a:solidFill>
                  <a:srgbClr val="002060"/>
                </a:solidFill>
              </a:rPr>
              <a:t> </a:t>
            </a:r>
            <a:r>
              <a:rPr lang="en-US" sz="2400" b="1" dirty="0" err="1">
                <a:solidFill>
                  <a:srgbClr val="002060"/>
                </a:solidFill>
              </a:rPr>
              <a:t>người</a:t>
            </a:r>
            <a:r>
              <a:rPr lang="en-US" sz="2400" b="1" dirty="0">
                <a:solidFill>
                  <a:srgbClr val="002060"/>
                </a:solidFill>
              </a:rPr>
              <a:t> </a:t>
            </a:r>
            <a:r>
              <a:rPr lang="en-US" sz="2400" b="1" dirty="0" err="1">
                <a:solidFill>
                  <a:srgbClr val="002060"/>
                </a:solidFill>
              </a:rPr>
              <a:t>khác</a:t>
            </a:r>
            <a:r>
              <a:rPr lang="en-US" sz="2400" b="1" dirty="0">
                <a:solidFill>
                  <a:srgbClr val="002060"/>
                </a:solidFill>
              </a:rPr>
              <a:t>?</a:t>
            </a:r>
          </a:p>
        </p:txBody>
      </p:sp>
      <p:pic>
        <p:nvPicPr>
          <p:cNvPr id="5122" name="Picture 2" descr="Kỹ năng xây dựng và phát triển đội nhóm: Ứng dụng mô hình phân loại và đào  tạo đúng cách">
            <a:extLst>
              <a:ext uri="{FF2B5EF4-FFF2-40B4-BE49-F238E27FC236}">
                <a16:creationId xmlns:a16="http://schemas.microsoft.com/office/drawing/2014/main" id="{924CDED0-D598-0663-FF49-C9852FD49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3020" y="1774664"/>
            <a:ext cx="3593417" cy="34287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6160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1B84-4FFE-EC24-CDC6-B6774B31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I. TỔNG QUAN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3FC23-E826-BCBA-F7B3-73525B402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432" y="2141537"/>
            <a:ext cx="7699310" cy="4351338"/>
          </a:xfrm>
        </p:spPr>
        <p:txBody>
          <a:bodyPr/>
          <a:lstStyle/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chúng</a:t>
            </a:r>
            <a:r>
              <a:rPr lang="en-US" dirty="0"/>
              <a:t> ta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huyễn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cá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chúng</a:t>
            </a:r>
            <a:r>
              <a:rPr lang="en-US" dirty="0"/>
              <a:t> (</a:t>
            </a:r>
            <a:r>
              <a:rPr lang="en-US" dirty="0" err="1"/>
              <a:t>người</a:t>
            </a:r>
            <a:r>
              <a:rPr lang="en-US" dirty="0"/>
              <a:t> ta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ta </a:t>
            </a:r>
            <a:r>
              <a:rPr lang="en-US" dirty="0" err="1"/>
              <a:t>quỳ</a:t>
            </a:r>
            <a:r>
              <a:rPr lang="en-US" dirty="0"/>
              <a:t> </a:t>
            </a:r>
            <a:r>
              <a:rPr lang="en-US" dirty="0" err="1"/>
              <a:t>xuống</a:t>
            </a:r>
            <a:r>
              <a:rPr lang="en-US" dirty="0"/>
              <a:t>).</a:t>
            </a:r>
          </a:p>
          <a:p>
            <a:pPr lvl="2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chứng</a:t>
            </a:r>
            <a:r>
              <a:rPr lang="en-US" dirty="0"/>
              <a:t> </a:t>
            </a:r>
            <a:r>
              <a:rPr lang="en-US" dirty="0" err="1"/>
              <a:t>minh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1 </a:t>
            </a:r>
            <a:r>
              <a:rPr lang="en-US" dirty="0" err="1"/>
              <a:t>cá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mình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. </a:t>
            </a:r>
            <a:r>
              <a:rPr lang="en-US" dirty="0" err="1"/>
              <a:t>Nếu</a:t>
            </a:r>
            <a:r>
              <a:rPr lang="en-US" dirty="0"/>
              <a:t> ai tin </a:t>
            </a:r>
            <a:r>
              <a:rPr lang="en-US" dirty="0" err="1"/>
              <a:t>rằng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chắc</a:t>
            </a:r>
            <a:r>
              <a:rPr lang="en-US" dirty="0"/>
              <a:t> </a:t>
            </a:r>
            <a:r>
              <a:rPr lang="en-US" dirty="0" err="1"/>
              <a:t>chắn</a:t>
            </a:r>
            <a:r>
              <a:rPr lang="en-US" dirty="0"/>
              <a:t> </a:t>
            </a:r>
            <a:r>
              <a:rPr lang="en-US" dirty="0" err="1"/>
              <a:t>kẻ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huyễn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( </a:t>
            </a:r>
            <a:r>
              <a:rPr lang="en-US" dirty="0" err="1"/>
              <a:t>lừa</a:t>
            </a:r>
            <a:r>
              <a:rPr lang="en-US" dirty="0"/>
              <a:t> </a:t>
            </a:r>
            <a:r>
              <a:rPr lang="en-US" dirty="0" err="1"/>
              <a:t>dối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mình</a:t>
            </a:r>
            <a:r>
              <a:rPr lang="en-US" dirty="0"/>
              <a:t>). </a:t>
            </a:r>
            <a:r>
              <a:rPr lang="en-US" dirty="0" err="1"/>
              <a:t>Kể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vẽ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mình</a:t>
            </a:r>
            <a:r>
              <a:rPr lang="en-US" dirty="0"/>
              <a:t>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. </a:t>
            </a:r>
          </a:p>
          <a:p>
            <a:pPr lvl="2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 err="1"/>
              <a:t>Chúng</a:t>
            </a:r>
            <a:r>
              <a:rPr lang="en-US" dirty="0"/>
              <a:t> ta </a:t>
            </a:r>
            <a:r>
              <a:rPr lang="en-US" dirty="0" err="1"/>
              <a:t>luôn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đội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chúng</a:t>
            </a:r>
            <a:r>
              <a:rPr lang="en-US" dirty="0"/>
              <a:t> ta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mình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 err="1">
                <a:sym typeface="Wingdings" panose="05000000000000000000" pitchFamily="2" charset="2"/>
              </a:rPr>
              <a:t>phía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sau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một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người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tài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giỏi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luôn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có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một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người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tài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giỏi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khác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i="1" dirty="0">
                <a:sym typeface="Wingdings" panose="05000000000000000000" pitchFamily="2" charset="2"/>
              </a:rPr>
              <a:t>( </a:t>
            </a:r>
            <a:r>
              <a:rPr lang="en-US" i="1" dirty="0" err="1">
                <a:sym typeface="Wingdings" panose="05000000000000000000" pitchFamily="2" charset="2"/>
              </a:rPr>
              <a:t>ngạn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ngữ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trung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hoa</a:t>
            </a:r>
            <a:r>
              <a:rPr lang="en-US" i="1" dirty="0">
                <a:sym typeface="Wingdings" panose="05000000000000000000" pitchFamily="2" charset="2"/>
              </a:rPr>
              <a:t>).</a:t>
            </a:r>
          </a:p>
          <a:p>
            <a:pPr lvl="2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Trang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bị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cho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người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khác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chính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là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đang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trang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bị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cho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chính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mình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.</a:t>
            </a:r>
            <a:endParaRPr lang="en-US" i="1" dirty="0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C653B-3B85-5893-AD15-565797D1D804}"/>
              </a:ext>
            </a:extLst>
          </p:cNvPr>
          <p:cNvSpPr txBox="1"/>
          <p:nvPr/>
        </p:nvSpPr>
        <p:spPr>
          <a:xfrm>
            <a:off x="1080020" y="1312999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Vì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sao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phải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trang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bị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cho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người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khác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</a:p>
        </p:txBody>
      </p:sp>
      <p:pic>
        <p:nvPicPr>
          <p:cNvPr id="2050" name="Picture 2" descr="Giúp Đỡ Người Khác Là Giúp Cho Sự Thành Công Của Bạn | Career Advice">
            <a:extLst>
              <a:ext uri="{FF2B5EF4-FFF2-40B4-BE49-F238E27FC236}">
                <a16:creationId xmlns:a16="http://schemas.microsoft.com/office/drawing/2014/main" id="{D26ED122-3BE6-68C6-15B0-6119EC751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9216" y="2453951"/>
            <a:ext cx="3558704" cy="237246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0553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1B84-4FFE-EC24-CDC6-B6774B31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I. TỔNG QUAN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3FC23-E826-BCBA-F7B3-73525B402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8797" y="2049258"/>
            <a:ext cx="7699310" cy="4351338"/>
          </a:xfrm>
        </p:spPr>
        <p:txBody>
          <a:bodyPr>
            <a:normAutofit fontScale="77500" lnSpcReduction="20000"/>
          </a:bodyPr>
          <a:lstStyle/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khoa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ràng</a:t>
            </a:r>
            <a:endParaRPr lang="en-US" dirty="0"/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i="1" dirty="0" err="1"/>
              <a:t>Tập</a:t>
            </a:r>
            <a:r>
              <a:rPr lang="en-US" i="1" dirty="0"/>
              <a:t> </a:t>
            </a:r>
            <a:r>
              <a:rPr lang="en-US" i="1" dirty="0" err="1"/>
              <a:t>thể</a:t>
            </a:r>
            <a:r>
              <a:rPr lang="en-US" i="1" dirty="0"/>
              <a:t> </a:t>
            </a:r>
            <a:r>
              <a:rPr lang="en-US" i="1" dirty="0" err="1"/>
              <a:t>có</a:t>
            </a:r>
            <a:r>
              <a:rPr lang="en-US" i="1" dirty="0"/>
              <a:t> </a:t>
            </a:r>
            <a:r>
              <a:rPr lang="en-US" i="1" dirty="0" err="1"/>
              <a:t>nhiều</a:t>
            </a:r>
            <a:r>
              <a:rPr lang="en-US" i="1" dirty="0"/>
              <a:t> </a:t>
            </a:r>
            <a:r>
              <a:rPr lang="en-US" i="1" dirty="0" err="1"/>
              <a:t>thành</a:t>
            </a:r>
            <a:r>
              <a:rPr lang="en-US" i="1" dirty="0"/>
              <a:t> </a:t>
            </a:r>
            <a:r>
              <a:rPr lang="en-US" i="1" dirty="0" err="1"/>
              <a:t>viên</a:t>
            </a:r>
            <a:r>
              <a:rPr lang="en-US" i="1" dirty="0"/>
              <a:t> </a:t>
            </a:r>
            <a:r>
              <a:rPr lang="en-US" i="1" dirty="0" err="1"/>
              <a:t>vì</a:t>
            </a:r>
            <a:r>
              <a:rPr lang="en-US" i="1" dirty="0"/>
              <a:t> </a:t>
            </a:r>
            <a:r>
              <a:rPr lang="en-US" i="1" dirty="0" err="1"/>
              <a:t>vậy</a:t>
            </a:r>
            <a:r>
              <a:rPr lang="en-US" i="1" dirty="0"/>
              <a:t> </a:t>
            </a:r>
            <a:r>
              <a:rPr lang="en-US" i="1" dirty="0" err="1"/>
              <a:t>sẽ</a:t>
            </a:r>
            <a:r>
              <a:rPr lang="en-US" i="1" dirty="0"/>
              <a:t> </a:t>
            </a:r>
            <a:r>
              <a:rPr lang="en-US" i="1" dirty="0" err="1"/>
              <a:t>có</a:t>
            </a:r>
            <a:r>
              <a:rPr lang="en-US" i="1" dirty="0"/>
              <a:t> </a:t>
            </a:r>
            <a:r>
              <a:rPr lang="en-US" i="1" dirty="0" err="1"/>
              <a:t>nhiều</a:t>
            </a:r>
            <a:r>
              <a:rPr lang="en-US" i="1" dirty="0"/>
              <a:t> </a:t>
            </a:r>
            <a:r>
              <a:rPr lang="en-US" i="1" dirty="0" err="1"/>
              <a:t>nguồn</a:t>
            </a:r>
            <a:r>
              <a:rPr lang="en-US" i="1" dirty="0"/>
              <a:t> </a:t>
            </a:r>
            <a:r>
              <a:rPr lang="en-US" i="1" dirty="0" err="1"/>
              <a:t>lực</a:t>
            </a:r>
            <a:r>
              <a:rPr lang="en-US" i="1" dirty="0"/>
              <a:t>, ý </a:t>
            </a:r>
            <a:r>
              <a:rPr lang="en-US" i="1" dirty="0" err="1"/>
              <a:t>tưởng</a:t>
            </a:r>
            <a:r>
              <a:rPr lang="en-US" i="1" dirty="0"/>
              <a:t>, </a:t>
            </a:r>
            <a:r>
              <a:rPr lang="en-US" i="1" dirty="0" err="1"/>
              <a:t>năng</a:t>
            </a:r>
            <a:r>
              <a:rPr lang="en-US" i="1" dirty="0"/>
              <a:t> </a:t>
            </a:r>
            <a:r>
              <a:rPr lang="en-US" i="1" dirty="0" err="1"/>
              <a:t>lượng</a:t>
            </a:r>
            <a:r>
              <a:rPr lang="en-US" i="1" dirty="0"/>
              <a:t> </a:t>
            </a:r>
            <a:r>
              <a:rPr lang="en-US" i="1" dirty="0" err="1"/>
              <a:t>hơn</a:t>
            </a:r>
            <a:r>
              <a:rPr lang="en-US" i="1" dirty="0"/>
              <a:t> </a:t>
            </a:r>
            <a:r>
              <a:rPr lang="en-US" i="1" dirty="0" err="1"/>
              <a:t>bất</a:t>
            </a:r>
            <a:r>
              <a:rPr lang="en-US" i="1" dirty="0"/>
              <a:t> </a:t>
            </a:r>
            <a:r>
              <a:rPr lang="en-US" i="1" dirty="0" err="1"/>
              <a:t>cứ</a:t>
            </a:r>
            <a:r>
              <a:rPr lang="en-US" i="1" dirty="0"/>
              <a:t> </a:t>
            </a:r>
            <a:r>
              <a:rPr lang="en-US" i="1" dirty="0" err="1"/>
              <a:t>cá</a:t>
            </a:r>
            <a:r>
              <a:rPr lang="en-US" i="1" dirty="0"/>
              <a:t> </a:t>
            </a:r>
            <a:r>
              <a:rPr lang="en-US" i="1" dirty="0" err="1"/>
              <a:t>nhân</a:t>
            </a:r>
            <a:r>
              <a:rPr lang="en-US" i="1" dirty="0"/>
              <a:t> </a:t>
            </a:r>
            <a:r>
              <a:rPr lang="en-US" i="1" dirty="0" err="1"/>
              <a:t>nào</a:t>
            </a:r>
            <a:r>
              <a:rPr lang="en-US" i="1" dirty="0"/>
              <a:t>. 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i="1" dirty="0" err="1"/>
              <a:t>Một</a:t>
            </a:r>
            <a:r>
              <a:rPr lang="en-US" i="1" dirty="0"/>
              <a:t> </a:t>
            </a:r>
            <a:r>
              <a:rPr lang="en-US" i="1" dirty="0" err="1"/>
              <a:t>đội</a:t>
            </a:r>
            <a:r>
              <a:rPr lang="en-US" i="1" dirty="0"/>
              <a:t> </a:t>
            </a:r>
            <a:r>
              <a:rPr lang="en-US" i="1" dirty="0" err="1"/>
              <a:t>có</a:t>
            </a:r>
            <a:r>
              <a:rPr lang="en-US" i="1" dirty="0"/>
              <a:t> </a:t>
            </a:r>
            <a:r>
              <a:rPr lang="en-US" i="1" dirty="0" err="1"/>
              <a:t>thể</a:t>
            </a:r>
            <a:r>
              <a:rPr lang="en-US" i="1" dirty="0"/>
              <a:t> </a:t>
            </a:r>
            <a:r>
              <a:rPr lang="en-US" i="1" dirty="0" err="1"/>
              <a:t>tận</a:t>
            </a:r>
            <a:r>
              <a:rPr lang="en-US" i="1" dirty="0"/>
              <a:t> </a:t>
            </a:r>
            <a:r>
              <a:rPr lang="en-US" i="1" dirty="0" err="1"/>
              <a:t>dụng</a:t>
            </a:r>
            <a:r>
              <a:rPr lang="en-US" i="1" dirty="0"/>
              <a:t> </a:t>
            </a:r>
            <a:r>
              <a:rPr lang="en-US" i="1" dirty="0" err="1"/>
              <a:t>tối</a:t>
            </a:r>
            <a:r>
              <a:rPr lang="en-US" i="1" dirty="0"/>
              <a:t> </a:t>
            </a:r>
            <a:r>
              <a:rPr lang="en-US" i="1" dirty="0" err="1"/>
              <a:t>đa</a:t>
            </a:r>
            <a:r>
              <a:rPr lang="en-US" i="1" dirty="0"/>
              <a:t> </a:t>
            </a:r>
            <a:r>
              <a:rPr lang="en-US" i="1" dirty="0" err="1"/>
              <a:t>tiềm</a:t>
            </a:r>
            <a:r>
              <a:rPr lang="en-US" i="1" dirty="0"/>
              <a:t> </a:t>
            </a:r>
            <a:r>
              <a:rPr lang="en-US" i="1" dirty="0" err="1"/>
              <a:t>lực</a:t>
            </a:r>
            <a:r>
              <a:rPr lang="en-US" i="1" dirty="0"/>
              <a:t> </a:t>
            </a:r>
            <a:r>
              <a:rPr lang="en-US" i="1" dirty="0" err="1"/>
              <a:t>của</a:t>
            </a:r>
            <a:r>
              <a:rPr lang="en-US" i="1" dirty="0"/>
              <a:t> </a:t>
            </a:r>
            <a:r>
              <a:rPr lang="en-US" i="1" dirty="0" err="1"/>
              <a:t>từng</a:t>
            </a:r>
            <a:r>
              <a:rPr lang="en-US" i="1" dirty="0"/>
              <a:t> </a:t>
            </a:r>
            <a:r>
              <a:rPr lang="en-US" i="1" dirty="0" err="1"/>
              <a:t>thành</a:t>
            </a:r>
            <a:r>
              <a:rPr lang="en-US" i="1" dirty="0"/>
              <a:t> </a:t>
            </a:r>
            <a:r>
              <a:rPr lang="en-US" i="1" dirty="0" err="1"/>
              <a:t>viên</a:t>
            </a:r>
            <a:r>
              <a:rPr lang="en-US" i="1" dirty="0"/>
              <a:t> </a:t>
            </a:r>
            <a:r>
              <a:rPr lang="en-US" i="1" dirty="0" err="1"/>
              <a:t>và</a:t>
            </a:r>
            <a:r>
              <a:rPr lang="en-US" i="1" dirty="0"/>
              <a:t> </a:t>
            </a:r>
            <a:r>
              <a:rPr lang="en-US" i="1" dirty="0" err="1"/>
              <a:t>giảm</a:t>
            </a:r>
            <a:r>
              <a:rPr lang="en-US" i="1" dirty="0"/>
              <a:t> </a:t>
            </a:r>
            <a:r>
              <a:rPr lang="en-US" i="1" dirty="0" err="1"/>
              <a:t>nhược</a:t>
            </a:r>
            <a:r>
              <a:rPr lang="en-US" i="1" dirty="0"/>
              <a:t> </a:t>
            </a:r>
            <a:r>
              <a:rPr lang="en-US" i="1" dirty="0" err="1"/>
              <a:t>điểm</a:t>
            </a:r>
            <a:r>
              <a:rPr lang="en-US" i="1" dirty="0"/>
              <a:t> </a:t>
            </a:r>
            <a:r>
              <a:rPr lang="en-US" i="1" dirty="0" err="1"/>
              <a:t>của</a:t>
            </a:r>
            <a:r>
              <a:rPr lang="en-US" i="1" dirty="0"/>
              <a:t> </a:t>
            </a:r>
            <a:r>
              <a:rPr lang="en-US" i="1" dirty="0" err="1"/>
              <a:t>từng</a:t>
            </a:r>
            <a:r>
              <a:rPr lang="en-US" i="1" dirty="0"/>
              <a:t> </a:t>
            </a:r>
            <a:r>
              <a:rPr lang="en-US" i="1" dirty="0" err="1"/>
              <a:t>thành</a:t>
            </a:r>
            <a:r>
              <a:rPr lang="en-US" i="1" dirty="0"/>
              <a:t> </a:t>
            </a:r>
            <a:r>
              <a:rPr lang="en-US" i="1" dirty="0" err="1"/>
              <a:t>viên</a:t>
            </a:r>
            <a:r>
              <a:rPr lang="en-US" i="1" dirty="0"/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i="1" dirty="0" err="1"/>
              <a:t>Một</a:t>
            </a:r>
            <a:r>
              <a:rPr lang="en-US" i="1" dirty="0"/>
              <a:t> </a:t>
            </a:r>
            <a:r>
              <a:rPr lang="en-US" i="1" dirty="0" err="1"/>
              <a:t>đội</a:t>
            </a:r>
            <a:r>
              <a:rPr lang="en-US" i="1" dirty="0"/>
              <a:t> </a:t>
            </a:r>
            <a:r>
              <a:rPr lang="en-US" i="1" dirty="0" err="1"/>
              <a:t>cho</a:t>
            </a:r>
            <a:r>
              <a:rPr lang="en-US" i="1" dirty="0"/>
              <a:t> </a:t>
            </a:r>
            <a:r>
              <a:rPr lang="en-US" i="1" dirty="0" err="1"/>
              <a:t>phép</a:t>
            </a:r>
            <a:r>
              <a:rPr lang="en-US" i="1" dirty="0"/>
              <a:t> ta </a:t>
            </a:r>
            <a:r>
              <a:rPr lang="en-US" i="1" dirty="0" err="1"/>
              <a:t>nhìn</a:t>
            </a:r>
            <a:r>
              <a:rPr lang="en-US" i="1" dirty="0"/>
              <a:t> </a:t>
            </a:r>
            <a:r>
              <a:rPr lang="en-US" i="1" dirty="0" err="1"/>
              <a:t>vấn</a:t>
            </a:r>
            <a:r>
              <a:rPr lang="en-US" i="1" dirty="0"/>
              <a:t> </a:t>
            </a:r>
            <a:r>
              <a:rPr lang="en-US" i="1" dirty="0" err="1"/>
              <a:t>đề</a:t>
            </a:r>
            <a:r>
              <a:rPr lang="en-US" i="1" dirty="0"/>
              <a:t> ở </a:t>
            </a:r>
            <a:r>
              <a:rPr lang="en-US" i="1" dirty="0" err="1"/>
              <a:t>nhiều</a:t>
            </a:r>
            <a:r>
              <a:rPr lang="en-US" i="1" dirty="0"/>
              <a:t> </a:t>
            </a:r>
            <a:r>
              <a:rPr lang="en-US" i="1" dirty="0" err="1"/>
              <a:t>góc</a:t>
            </a:r>
            <a:r>
              <a:rPr lang="en-US" i="1" dirty="0"/>
              <a:t> </a:t>
            </a:r>
            <a:r>
              <a:rPr lang="en-US" i="1" dirty="0" err="1"/>
              <a:t>độ</a:t>
            </a:r>
            <a:r>
              <a:rPr lang="en-US" i="1" dirty="0"/>
              <a:t> </a:t>
            </a:r>
            <a:r>
              <a:rPr lang="en-US" i="1" dirty="0" err="1"/>
              <a:t>khác</a:t>
            </a:r>
            <a:r>
              <a:rPr lang="en-US" i="1" dirty="0"/>
              <a:t> </a:t>
            </a:r>
            <a:r>
              <a:rPr lang="en-US" i="1" dirty="0" err="1"/>
              <a:t>nhau</a:t>
            </a:r>
            <a:r>
              <a:rPr lang="en-US" i="1" dirty="0"/>
              <a:t>, </a:t>
            </a:r>
            <a:r>
              <a:rPr lang="en-US" i="1" dirty="0" err="1"/>
              <a:t>nhiều</a:t>
            </a:r>
            <a:r>
              <a:rPr lang="en-US" i="1" dirty="0"/>
              <a:t> </a:t>
            </a:r>
            <a:r>
              <a:rPr lang="en-US" i="1" dirty="0" err="1"/>
              <a:t>cách</a:t>
            </a:r>
            <a:r>
              <a:rPr lang="en-US" i="1" dirty="0"/>
              <a:t> </a:t>
            </a:r>
            <a:r>
              <a:rPr lang="en-US" i="1" dirty="0" err="1"/>
              <a:t>đạt</a:t>
            </a:r>
            <a:r>
              <a:rPr lang="en-US" i="1" dirty="0"/>
              <a:t> </a:t>
            </a:r>
            <a:r>
              <a:rPr lang="en-US" i="1" dirty="0" err="1"/>
              <a:t>mục</a:t>
            </a:r>
            <a:r>
              <a:rPr lang="en-US" i="1" dirty="0"/>
              <a:t> </a:t>
            </a:r>
            <a:r>
              <a:rPr lang="en-US" i="1" dirty="0" err="1"/>
              <a:t>tiêu</a:t>
            </a:r>
            <a:r>
              <a:rPr lang="en-US" i="1" dirty="0"/>
              <a:t> </a:t>
            </a:r>
            <a:r>
              <a:rPr lang="en-US" i="1" dirty="0" err="1"/>
              <a:t>khác</a:t>
            </a:r>
            <a:r>
              <a:rPr lang="en-US" i="1" dirty="0"/>
              <a:t> </a:t>
            </a:r>
            <a:r>
              <a:rPr lang="en-US" i="1" dirty="0" err="1"/>
              <a:t>nhau</a:t>
            </a:r>
            <a:r>
              <a:rPr lang="en-US" i="1" dirty="0"/>
              <a:t>. Do </a:t>
            </a:r>
            <a:r>
              <a:rPr lang="en-US" i="1" dirty="0" err="1"/>
              <a:t>đó</a:t>
            </a:r>
            <a:r>
              <a:rPr lang="en-US" i="1" dirty="0"/>
              <a:t>, </a:t>
            </a:r>
            <a:r>
              <a:rPr lang="en-US" i="1" dirty="0" err="1"/>
              <a:t>có</a:t>
            </a:r>
            <a:r>
              <a:rPr lang="en-US" i="1" dirty="0"/>
              <a:t> </a:t>
            </a:r>
            <a:r>
              <a:rPr lang="en-US" i="1" dirty="0" err="1"/>
              <a:t>nhiều</a:t>
            </a:r>
            <a:r>
              <a:rPr lang="en-US" i="1" dirty="0"/>
              <a:t> </a:t>
            </a:r>
            <a:r>
              <a:rPr lang="en-US" i="1" dirty="0" err="1"/>
              <a:t>phương</a:t>
            </a:r>
            <a:r>
              <a:rPr lang="en-US" i="1" dirty="0"/>
              <a:t> </a:t>
            </a:r>
            <a:r>
              <a:rPr lang="en-US" i="1" dirty="0" err="1"/>
              <a:t>án</a:t>
            </a:r>
            <a:r>
              <a:rPr lang="en-US" i="1" dirty="0"/>
              <a:t> </a:t>
            </a:r>
            <a:r>
              <a:rPr lang="en-US" i="1" dirty="0" err="1"/>
              <a:t>tối</a:t>
            </a:r>
            <a:r>
              <a:rPr lang="en-US" i="1" dirty="0"/>
              <a:t> </a:t>
            </a:r>
            <a:r>
              <a:rPr lang="en-US" i="1" dirty="0" err="1"/>
              <a:t>ưu</a:t>
            </a:r>
            <a:r>
              <a:rPr lang="en-US" i="1" dirty="0"/>
              <a:t> </a:t>
            </a:r>
            <a:r>
              <a:rPr lang="en-US" i="1" dirty="0" err="1"/>
              <a:t>hơn</a:t>
            </a:r>
            <a:r>
              <a:rPr lang="en-US" i="1" dirty="0"/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i="1" dirty="0" err="1"/>
              <a:t>Một</a:t>
            </a:r>
            <a:r>
              <a:rPr lang="en-US" i="1" dirty="0"/>
              <a:t> </a:t>
            </a:r>
            <a:r>
              <a:rPr lang="en-US" i="1" dirty="0" err="1"/>
              <a:t>đội</a:t>
            </a:r>
            <a:r>
              <a:rPr lang="en-US" i="1" dirty="0"/>
              <a:t> </a:t>
            </a:r>
            <a:r>
              <a:rPr lang="en-US" i="1" dirty="0" err="1"/>
              <a:t>mới</a:t>
            </a:r>
            <a:r>
              <a:rPr lang="en-US" i="1" dirty="0"/>
              <a:t> </a:t>
            </a:r>
            <a:r>
              <a:rPr lang="en-US" i="1" dirty="0" err="1"/>
              <a:t>có</a:t>
            </a:r>
            <a:r>
              <a:rPr lang="en-US" i="1" dirty="0"/>
              <a:t> </a:t>
            </a:r>
            <a:r>
              <a:rPr lang="en-US" i="1" dirty="0" err="1"/>
              <a:t>cơ</a:t>
            </a:r>
            <a:r>
              <a:rPr lang="en-US" i="1" dirty="0"/>
              <a:t> </a:t>
            </a:r>
            <a:r>
              <a:rPr lang="en-US" i="1" dirty="0" err="1"/>
              <a:t>hội</a:t>
            </a:r>
            <a:r>
              <a:rPr lang="en-US" i="1" dirty="0"/>
              <a:t> chia </a:t>
            </a:r>
            <a:r>
              <a:rPr lang="en-US" i="1" dirty="0" err="1"/>
              <a:t>sẻ</a:t>
            </a:r>
            <a:r>
              <a:rPr lang="en-US" i="1" dirty="0"/>
              <a:t> </a:t>
            </a:r>
            <a:r>
              <a:rPr lang="en-US" i="1" dirty="0" err="1"/>
              <a:t>thành</a:t>
            </a:r>
            <a:r>
              <a:rPr lang="en-US" i="1" dirty="0"/>
              <a:t> </a:t>
            </a:r>
            <a:r>
              <a:rPr lang="en-US" i="1" dirty="0" err="1"/>
              <a:t>công</a:t>
            </a:r>
            <a:r>
              <a:rPr lang="en-US" i="1" dirty="0"/>
              <a:t> </a:t>
            </a:r>
            <a:r>
              <a:rPr lang="en-US" i="1" dirty="0" err="1"/>
              <a:t>và</a:t>
            </a:r>
            <a:r>
              <a:rPr lang="en-US" i="1" dirty="0"/>
              <a:t> </a:t>
            </a:r>
            <a:r>
              <a:rPr lang="en-US" i="1" dirty="0" err="1"/>
              <a:t>thất</a:t>
            </a:r>
            <a:r>
              <a:rPr lang="en-US" i="1" dirty="0"/>
              <a:t> </a:t>
            </a:r>
            <a:r>
              <a:rPr lang="en-US" i="1" dirty="0" err="1"/>
              <a:t>bại</a:t>
            </a:r>
            <a:r>
              <a:rPr lang="en-US" i="1" dirty="0"/>
              <a:t>, do </a:t>
            </a:r>
            <a:r>
              <a:rPr lang="en-US" i="1" dirty="0" err="1"/>
              <a:t>đó</a:t>
            </a:r>
            <a:r>
              <a:rPr lang="en-US" i="1" dirty="0"/>
              <a:t> </a:t>
            </a:r>
            <a:r>
              <a:rPr lang="en-US" i="1" dirty="0" err="1"/>
              <a:t>nó</a:t>
            </a:r>
            <a:r>
              <a:rPr lang="en-US" i="1" dirty="0"/>
              <a:t> </a:t>
            </a:r>
            <a:r>
              <a:rPr lang="en-US" i="1" dirty="0" err="1"/>
              <a:t>mang</a:t>
            </a:r>
            <a:r>
              <a:rPr lang="en-US" i="1" dirty="0"/>
              <a:t> </a:t>
            </a:r>
            <a:r>
              <a:rPr lang="en-US" i="1" dirty="0" err="1"/>
              <a:t>lại</a:t>
            </a:r>
            <a:r>
              <a:rPr lang="en-US" i="1" dirty="0"/>
              <a:t> </a:t>
            </a:r>
            <a:r>
              <a:rPr lang="en-US" i="1" dirty="0" err="1"/>
              <a:t>sự</a:t>
            </a:r>
            <a:r>
              <a:rPr lang="en-US" i="1" dirty="0"/>
              <a:t> </a:t>
            </a:r>
            <a:r>
              <a:rPr lang="en-US" i="1" dirty="0" err="1"/>
              <a:t>khiêm</a:t>
            </a:r>
            <a:r>
              <a:rPr lang="en-US" i="1" dirty="0"/>
              <a:t> </a:t>
            </a:r>
            <a:r>
              <a:rPr lang="en-US" i="1" dirty="0" err="1"/>
              <a:t>tốn</a:t>
            </a:r>
            <a:r>
              <a:rPr lang="en-US" i="1" dirty="0"/>
              <a:t> </a:t>
            </a:r>
            <a:r>
              <a:rPr lang="en-US" i="1" dirty="0" err="1"/>
              <a:t>mặc</a:t>
            </a:r>
            <a:r>
              <a:rPr lang="en-US" i="1" dirty="0"/>
              <a:t> </a:t>
            </a:r>
            <a:r>
              <a:rPr lang="en-US" i="1" dirty="0" err="1"/>
              <a:t>định</a:t>
            </a:r>
            <a:r>
              <a:rPr lang="en-US" i="1" dirty="0"/>
              <a:t> </a:t>
            </a:r>
            <a:r>
              <a:rPr lang="en-US" i="1" dirty="0">
                <a:sym typeface="Wingdings" panose="05000000000000000000" pitchFamily="2" charset="2"/>
              </a:rPr>
              <a:t> </a:t>
            </a:r>
            <a:r>
              <a:rPr lang="en-US" i="1" dirty="0" err="1">
                <a:sym typeface="Wingdings" panose="05000000000000000000" pitchFamily="2" charset="2"/>
              </a:rPr>
              <a:t>đoàn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kết</a:t>
            </a:r>
            <a:r>
              <a:rPr lang="en-US" i="1" dirty="0"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i="1" dirty="0" err="1">
                <a:sym typeface="Wingdings" panose="05000000000000000000" pitchFamily="2" charset="2"/>
              </a:rPr>
              <a:t>Tập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thể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cùng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hướng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đi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giúp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mọi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người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tập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trung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vào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mục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tiêu</a:t>
            </a:r>
            <a:r>
              <a:rPr lang="en-US" i="1" dirty="0">
                <a:sym typeface="Wingdings" panose="05000000000000000000" pitchFamily="2" charset="2"/>
              </a:rPr>
              <a:t>. </a:t>
            </a:r>
            <a:r>
              <a:rPr lang="en-US" i="1" dirty="0" err="1">
                <a:sym typeface="Wingdings" panose="05000000000000000000" pitchFamily="2" charset="2"/>
              </a:rPr>
              <a:t>Một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đội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có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thể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giải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quyết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nhiều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công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việc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hơn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bất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kỳ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cá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nhân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nào</a:t>
            </a:r>
            <a:r>
              <a:rPr lang="en-US" i="1" dirty="0"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 3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cái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đầu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luôn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hơn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một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cái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đầu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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Các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cá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nhân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đi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thi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đấu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nhưng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tập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thể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mới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đoạt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chức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vô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địch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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Muốn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biến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tiềm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năng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của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mình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thành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hiện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thực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buộc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phải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có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và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buộc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phải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biết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làm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việc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với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tập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thể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.</a:t>
            </a:r>
            <a:endParaRPr lang="en-US" i="1" dirty="0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C653B-3B85-5893-AD15-565797D1D804}"/>
              </a:ext>
            </a:extLst>
          </p:cNvPr>
          <p:cNvSpPr txBox="1"/>
          <p:nvPr/>
        </p:nvSpPr>
        <p:spPr>
          <a:xfrm>
            <a:off x="1080020" y="1312999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Vì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sao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phải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trang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bị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cho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người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khác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</a:p>
        </p:txBody>
      </p:sp>
      <p:pic>
        <p:nvPicPr>
          <p:cNvPr id="3074" name="Picture 2" descr="Bí Mật Của THÀNH CÔNG: Hãy giúp NGƯỜI KHÁC thành công trước | Trần Thịnh Lâm">
            <a:extLst>
              <a:ext uri="{FF2B5EF4-FFF2-40B4-BE49-F238E27FC236}">
                <a16:creationId xmlns:a16="http://schemas.microsoft.com/office/drawing/2014/main" id="{0DA66E69-0C48-3CBB-55C7-9ED172D43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670" y="2638562"/>
            <a:ext cx="4748206" cy="2670866"/>
          </a:xfrm>
          <a:prstGeom prst="rect">
            <a:avLst/>
          </a:prstGeom>
          <a:noFill/>
          <a:effectLst>
            <a:glow rad="228600">
              <a:schemeClr val="accent6">
                <a:satMod val="175000"/>
                <a:alpha val="40000"/>
              </a:schemeClr>
            </a:glow>
          </a:effectLst>
          <a:scene3d>
            <a:camera prst="isometricOffAxis2Lef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139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1B84-4FFE-EC24-CDC6-B6774B31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I. TỔNG QUAN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3FC23-E826-BCBA-F7B3-73525B402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532" y="2141537"/>
            <a:ext cx="7699310" cy="4351338"/>
          </a:xfrm>
        </p:spPr>
        <p:txBody>
          <a:bodyPr>
            <a:normAutofit lnSpcReduction="10000"/>
          </a:bodyPr>
          <a:lstStyle/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rằng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đội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đội</a:t>
            </a:r>
            <a:r>
              <a:rPr lang="en-US" dirty="0"/>
              <a:t>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chúng</a:t>
            </a:r>
            <a:r>
              <a:rPr lang="en-US" dirty="0"/>
              <a:t> ta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Do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bất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an (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lợi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nhuận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là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phần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thưởng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của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rủi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ro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):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ym typeface="Wingdings" panose="05000000000000000000" pitchFamily="2" charset="2"/>
              </a:rPr>
              <a:t>  </a:t>
            </a:r>
            <a:r>
              <a:rPr lang="en-US" i="1" dirty="0" err="1">
                <a:sym typeface="Wingdings" panose="05000000000000000000" pitchFamily="2" charset="2"/>
              </a:rPr>
              <a:t>loại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người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là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người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thất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bại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vì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không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có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đội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hoặc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có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đội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mà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không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trang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bị</a:t>
            </a:r>
            <a:r>
              <a:rPr lang="en-US" i="1" dirty="0">
                <a:sym typeface="Wingdings" panose="05000000000000000000" pitchFamily="2" charset="2"/>
              </a:rPr>
              <a:t> (</a:t>
            </a:r>
            <a:r>
              <a:rPr lang="en-US" i="1" dirty="0" err="1">
                <a:sym typeface="Wingdings" panose="05000000000000000000" pitchFamily="2" charset="2"/>
              </a:rPr>
              <a:t>chỉ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là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tập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thể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phá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hoại</a:t>
            </a:r>
            <a:r>
              <a:rPr lang="en-US" i="1" dirty="0">
                <a:sym typeface="Wingdings" panose="05000000000000000000" pitchFamily="2" charset="2"/>
              </a:rPr>
              <a:t>)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ym typeface="Wingdings" panose="05000000000000000000" pitchFamily="2" charset="2"/>
              </a:rPr>
              <a:t>  </a:t>
            </a:r>
            <a:r>
              <a:rPr lang="en-US" i="1" dirty="0" err="1">
                <a:sym typeface="Wingdings" panose="05000000000000000000" pitchFamily="2" charset="2"/>
              </a:rPr>
              <a:t>họ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bất</a:t>
            </a:r>
            <a:r>
              <a:rPr lang="en-US" i="1" dirty="0">
                <a:sym typeface="Wingdings" panose="05000000000000000000" pitchFamily="2" charset="2"/>
              </a:rPr>
              <a:t> an </a:t>
            </a:r>
            <a:r>
              <a:rPr lang="en-US" i="1" dirty="0" err="1">
                <a:sym typeface="Wingdings" panose="05000000000000000000" pitchFamily="2" charset="2"/>
              </a:rPr>
              <a:t>chứ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không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phải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họ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kém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thông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minh</a:t>
            </a:r>
            <a:r>
              <a:rPr lang="en-US" i="1" dirty="0">
                <a:sym typeface="Wingdings" panose="05000000000000000000" pitchFamily="2" charset="2"/>
              </a:rPr>
              <a:t>, </a:t>
            </a:r>
            <a:r>
              <a:rPr lang="en-US" i="1" dirty="0" err="1">
                <a:sym typeface="Wingdings" panose="05000000000000000000" pitchFamily="2" charset="2"/>
              </a:rPr>
              <a:t>kỹ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năng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hoặc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phán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xét</a:t>
            </a:r>
            <a:r>
              <a:rPr lang="en-US" i="1" dirty="0">
                <a:sym typeface="Wingdings" panose="05000000000000000000" pitchFamily="2" charset="2"/>
              </a:rPr>
              <a:t>. ( </a:t>
            </a:r>
            <a:r>
              <a:rPr lang="en-US" i="1" dirty="0" err="1">
                <a:sym typeface="Wingdings" panose="05000000000000000000" pitchFamily="2" charset="2"/>
              </a:rPr>
              <a:t>Muốn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xem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tài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năng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của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một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vị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vua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hãy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nhìn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vào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cận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thần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của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ông</a:t>
            </a:r>
            <a:r>
              <a:rPr lang="en-US" i="1" dirty="0">
                <a:sym typeface="Wingdings" panose="05000000000000000000" pitchFamily="2" charset="2"/>
              </a:rPr>
              <a:t> ta). 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ym typeface="Wingdings" panose="05000000000000000000" pitchFamily="2" charset="2"/>
              </a:rPr>
              <a:t> ở </a:t>
            </a:r>
            <a:r>
              <a:rPr lang="en-US" i="1" dirty="0" err="1">
                <a:sym typeface="Wingdings" panose="05000000000000000000" pitchFamily="2" charset="2"/>
              </a:rPr>
              <a:t>khía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cạnh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khác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người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bất</a:t>
            </a:r>
            <a:r>
              <a:rPr lang="en-US" i="1" dirty="0">
                <a:sym typeface="Wingdings" panose="05000000000000000000" pitchFamily="2" charset="2"/>
              </a:rPr>
              <a:t> an </a:t>
            </a:r>
            <a:r>
              <a:rPr lang="en-US" i="1" dirty="0" err="1">
                <a:sym typeface="Wingdings" panose="05000000000000000000" pitchFamily="2" charset="2"/>
              </a:rPr>
              <a:t>thất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bại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là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không</a:t>
            </a:r>
            <a:r>
              <a:rPr lang="en-US" i="1" dirty="0">
                <a:sym typeface="Wingdings" panose="05000000000000000000" pitchFamily="2" charset="2"/>
              </a:rPr>
              <a:t> tin </a:t>
            </a:r>
            <a:r>
              <a:rPr lang="en-US" i="1" dirty="0" err="1">
                <a:sym typeface="Wingdings" panose="05000000000000000000" pitchFamily="2" charset="2"/>
              </a:rPr>
              <a:t>mình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có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thể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không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chế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được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người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giỏi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trong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đội</a:t>
            </a:r>
            <a:r>
              <a:rPr lang="en-US" i="1" dirty="0">
                <a:sym typeface="Wingdings" panose="05000000000000000000" pitchFamily="2" charset="2"/>
              </a:rPr>
              <a:t>. Do </a:t>
            </a:r>
            <a:r>
              <a:rPr lang="en-US" i="1" dirty="0" err="1">
                <a:sym typeface="Wingdings" panose="05000000000000000000" pitchFamily="2" charset="2"/>
              </a:rPr>
              <a:t>đó</a:t>
            </a:r>
            <a:r>
              <a:rPr lang="en-US" i="1" dirty="0">
                <a:sym typeface="Wingdings" panose="05000000000000000000" pitchFamily="2" charset="2"/>
              </a:rPr>
              <a:t>, </a:t>
            </a:r>
            <a:r>
              <a:rPr lang="en-US" i="1" dirty="0" err="1">
                <a:sym typeface="Wingdings" panose="05000000000000000000" pitchFamily="2" charset="2"/>
              </a:rPr>
              <a:t>chính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họ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phá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huỷ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tập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thể</a:t>
            </a:r>
            <a:r>
              <a:rPr lang="en-US" i="1" dirty="0">
                <a:sym typeface="Wingdings" panose="05000000000000000000" pitchFamily="2" charset="2"/>
              </a:rPr>
              <a:t>, </a:t>
            </a:r>
            <a:r>
              <a:rPr lang="en-US" i="1" dirty="0" err="1">
                <a:sym typeface="Wingdings" panose="05000000000000000000" pitchFamily="2" charset="2"/>
              </a:rPr>
              <a:t>làm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hỏng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chính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mình</a:t>
            </a:r>
            <a:r>
              <a:rPr lang="en-US" i="1" dirty="0">
                <a:sym typeface="Wingdings" panose="05000000000000000000" pitchFamily="2" charset="2"/>
              </a:rPr>
              <a:t>, </a:t>
            </a:r>
            <a:r>
              <a:rPr lang="en-US" i="1" dirty="0" err="1">
                <a:sym typeface="Wingdings" panose="05000000000000000000" pitchFamily="2" charset="2"/>
              </a:rPr>
              <a:t>hỏng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luôn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tiềm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năng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của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tập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thể</a:t>
            </a:r>
            <a:r>
              <a:rPr lang="en-US" i="1" dirty="0"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C653B-3B85-5893-AD15-565797D1D804}"/>
              </a:ext>
            </a:extLst>
          </p:cNvPr>
          <p:cNvSpPr txBox="1"/>
          <p:nvPr/>
        </p:nvSpPr>
        <p:spPr>
          <a:xfrm>
            <a:off x="1080020" y="1312999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Vì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sao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phải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trang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bị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cho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người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khác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</a:p>
        </p:txBody>
      </p:sp>
      <p:pic>
        <p:nvPicPr>
          <p:cNvPr id="4098" name="Picture 2" descr="Tranh động lực Nếu bạn không cố gắng người khác muốn kéo bạn lên cũng không  biết tay bạn ở đâu VP01648">
            <a:extLst>
              <a:ext uri="{FF2B5EF4-FFF2-40B4-BE49-F238E27FC236}">
                <a16:creationId xmlns:a16="http://schemas.microsoft.com/office/drawing/2014/main" id="{CECB3298-4ABD-ACEF-3DD4-2DCC73C287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0" y="2231472"/>
            <a:ext cx="3123850" cy="31238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glow rad="139700">
              <a:schemeClr val="accent4">
                <a:satMod val="175000"/>
                <a:alpha val="40000"/>
              </a:schemeClr>
            </a:glow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965949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1B84-4FFE-EC24-CDC6-B6774B31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I. TỔNG QUAN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3FC23-E826-BCBA-F7B3-73525B402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532" y="2141537"/>
            <a:ext cx="7699310" cy="4351338"/>
          </a:xfrm>
        </p:spPr>
        <p:txBody>
          <a:bodyPr>
            <a:normAutofit/>
          </a:bodyPr>
          <a:lstStyle/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rằng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đội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đội</a:t>
            </a:r>
            <a:r>
              <a:rPr lang="en-US" dirty="0"/>
              <a:t>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chúng</a:t>
            </a:r>
            <a:r>
              <a:rPr lang="en-US" dirty="0"/>
              <a:t> ta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Vì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chữ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tôi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(con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người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luôn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đánh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giá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mình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quá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cao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):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Rất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ít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người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nhận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ra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rằng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mình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có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thể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làm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được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mợi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thứ</a:t>
            </a:r>
            <a:r>
              <a:rPr lang="en-US" i="1" dirty="0">
                <a:sym typeface="Wingdings" panose="05000000000000000000" pitchFamily="2" charset="2"/>
              </a:rPr>
              <a:t>.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i="1" dirty="0" err="1">
                <a:sym typeface="Wingdings" panose="05000000000000000000" pitchFamily="2" charset="2"/>
              </a:rPr>
              <a:t>Vấn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đề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mấu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chốt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là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không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phải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chỉ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có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mình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không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làm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được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mọi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thứ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mà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là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mất</a:t>
            </a:r>
            <a:r>
              <a:rPr lang="en-US" i="1" dirty="0">
                <a:sym typeface="Wingdings" panose="05000000000000000000" pitchFamily="2" charset="2"/>
              </a:rPr>
              <a:t> bao </a:t>
            </a:r>
            <a:r>
              <a:rPr lang="en-US" i="1" dirty="0" err="1">
                <a:sym typeface="Wingdings" panose="05000000000000000000" pitchFamily="2" charset="2"/>
              </a:rPr>
              <a:t>nhiêu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laau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để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nhận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ra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mình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không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làm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được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mọi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thứ</a:t>
            </a:r>
            <a:r>
              <a:rPr lang="en-US" i="1" dirty="0">
                <a:sym typeface="Wingdings" panose="05000000000000000000" pitchFamily="2" charset="2"/>
              </a:rPr>
              <a:t>.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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Bạn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sẽ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đạt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một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bước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tiến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lớn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khi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nhận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ra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rằng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những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người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khác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có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thể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giúp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bạn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làm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được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điều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tuyệt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vời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hơn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so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với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làm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một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mình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.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endParaRPr lang="en-US" i="1" dirty="0">
              <a:sym typeface="Wingdings" panose="05000000000000000000" pitchFamily="2" charset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C653B-3B85-5893-AD15-565797D1D804}"/>
              </a:ext>
            </a:extLst>
          </p:cNvPr>
          <p:cNvSpPr txBox="1"/>
          <p:nvPr/>
        </p:nvSpPr>
        <p:spPr>
          <a:xfrm>
            <a:off x="1080020" y="1312999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Vì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sao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phải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trang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bị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cho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người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khác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</a:p>
        </p:txBody>
      </p:sp>
      <p:pic>
        <p:nvPicPr>
          <p:cNvPr id="1026" name="Picture 2" descr="Sức mạnh của tập thể và tổ chức là... - Học Viện Quản Lý PACE | Facebook">
            <a:extLst>
              <a:ext uri="{FF2B5EF4-FFF2-40B4-BE49-F238E27FC236}">
                <a16:creationId xmlns:a16="http://schemas.microsoft.com/office/drawing/2014/main" id="{C6B282FE-04A4-1559-274B-429D9EDA71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97"/>
          <a:stretch/>
        </p:blipFill>
        <p:spPr bwMode="auto">
          <a:xfrm>
            <a:off x="9067931" y="2793534"/>
            <a:ext cx="2609544" cy="2374766"/>
          </a:xfrm>
          <a:prstGeom prst="rect">
            <a:avLst/>
          </a:prstGeom>
          <a:noFill/>
          <a:effectLst>
            <a:glow rad="228600">
              <a:schemeClr val="accent4">
                <a:satMod val="175000"/>
                <a:alpha val="40000"/>
              </a:schemeClr>
            </a:glow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9225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1B84-4FFE-EC24-CDC6-B6774B31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I. TỔNG QUAN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3FC23-E826-BCBA-F7B3-73525B402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532" y="2141537"/>
            <a:ext cx="7699310" cy="4351338"/>
          </a:xfrm>
        </p:spPr>
        <p:txBody>
          <a:bodyPr>
            <a:normAutofit/>
          </a:bodyPr>
          <a:lstStyle/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rằng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đội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đội</a:t>
            </a:r>
            <a:r>
              <a:rPr lang="en-US" dirty="0"/>
              <a:t>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chúng</a:t>
            </a:r>
            <a:r>
              <a:rPr lang="en-US" dirty="0"/>
              <a:t> ta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Do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sự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ngây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thơ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( con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người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luôn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ảo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vọng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bản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thân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):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i="1" dirty="0" err="1">
                <a:sym typeface="Wingdings" panose="05000000000000000000" pitchFamily="2" charset="2"/>
              </a:rPr>
              <a:t>Người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này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đã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quá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ngây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thơ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khi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thường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các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khó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khăn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để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thành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công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vì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không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hiểu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được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vai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trò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của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nhóm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nên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tự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cho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mình</a:t>
            </a:r>
            <a:r>
              <a:rPr lang="en-US" i="1" dirty="0">
                <a:sym typeface="Wingdings" panose="05000000000000000000" pitchFamily="2" charset="2"/>
              </a:rPr>
              <a:t> hay </a:t>
            </a:r>
            <a:r>
              <a:rPr lang="en-US" i="1" dirty="0" err="1">
                <a:sym typeface="Wingdings" panose="05000000000000000000" pitchFamily="2" charset="2"/>
              </a:rPr>
              <a:t>và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làm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một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mình</a:t>
            </a:r>
            <a:r>
              <a:rPr lang="en-US" i="1" dirty="0">
                <a:sym typeface="Wingdings" panose="05000000000000000000" pitchFamily="2" charset="2"/>
              </a:rPr>
              <a:t>.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i="1" dirty="0" err="1">
                <a:sym typeface="Wingdings" panose="05000000000000000000" pitchFamily="2" charset="2"/>
              </a:rPr>
              <a:t>Trong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thực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tế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một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số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người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thành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công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một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mình</a:t>
            </a:r>
            <a:r>
              <a:rPr lang="en-US" i="1" dirty="0">
                <a:sym typeface="Wingdings" panose="05000000000000000000" pitchFamily="2" charset="2"/>
              </a:rPr>
              <a:t>, </a:t>
            </a:r>
            <a:r>
              <a:rPr lang="en-US" i="1" dirty="0" err="1">
                <a:sym typeface="Wingdings" panose="05000000000000000000" pitchFamily="2" charset="2"/>
              </a:rPr>
              <a:t>nhưng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đó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chỉ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là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thành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công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nhỏ</a:t>
            </a:r>
            <a:r>
              <a:rPr lang="en-US" i="1" dirty="0">
                <a:sym typeface="Wingdings" panose="05000000000000000000" pitchFamily="2" charset="2"/>
              </a:rPr>
              <a:t>. </a:t>
            </a:r>
            <a:r>
              <a:rPr lang="en-US" i="1" dirty="0" err="1">
                <a:sym typeface="Wingdings" panose="05000000000000000000" pitchFamily="2" charset="2"/>
              </a:rPr>
              <a:t>Và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họ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cho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rằng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những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thành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công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lớn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đều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nằm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ngoài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tầm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với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của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họ</a:t>
            </a:r>
            <a:r>
              <a:rPr lang="en-US" i="1" dirty="0">
                <a:sym typeface="Wingdings" panose="05000000000000000000" pitchFamily="2" charset="2"/>
              </a:rPr>
              <a:t>.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i="1" dirty="0" err="1">
                <a:sym typeface="Wingdings" panose="05000000000000000000" pitchFamily="2" charset="2"/>
              </a:rPr>
              <a:t>Gần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cuối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đời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một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vài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người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nhận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ra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sự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ngây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thờ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của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mình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nhưng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đã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muộn</a:t>
            </a:r>
            <a:r>
              <a:rPr lang="en-US" i="1" dirty="0">
                <a:sym typeface="Wingdings" panose="05000000000000000000" pitchFamily="2" charset="2"/>
              </a:rPr>
              <a:t>.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endParaRPr lang="en-US" i="1" dirty="0">
              <a:sym typeface="Wingdings" panose="05000000000000000000" pitchFamily="2" charset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C653B-3B85-5893-AD15-565797D1D804}"/>
              </a:ext>
            </a:extLst>
          </p:cNvPr>
          <p:cNvSpPr txBox="1"/>
          <p:nvPr/>
        </p:nvSpPr>
        <p:spPr>
          <a:xfrm>
            <a:off x="1080020" y="1312999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Vì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sao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phải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trang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bị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cho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người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khác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</a:p>
        </p:txBody>
      </p:sp>
      <p:pic>
        <p:nvPicPr>
          <p:cNvPr id="2050" name="Picture 2" descr="Tinh Thần Đồng Đội Là gì? Lợi Ích &amp; Cách Khích Lệ Hiệu Quả">
            <a:extLst>
              <a:ext uri="{FF2B5EF4-FFF2-40B4-BE49-F238E27FC236}">
                <a16:creationId xmlns:a16="http://schemas.microsoft.com/office/drawing/2014/main" id="{5436D480-2E3F-AAAF-5EE7-4A0600D0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3898" y="2692866"/>
            <a:ext cx="3380413" cy="2535310"/>
          </a:xfrm>
          <a:prstGeom prst="rect">
            <a:avLst/>
          </a:prstGeom>
          <a:noFill/>
          <a:effectLst>
            <a:glow rad="228600">
              <a:schemeClr val="accent6">
                <a:satMod val="175000"/>
                <a:alpha val="40000"/>
              </a:schemeClr>
            </a:glow>
          </a:effectLst>
          <a:scene3d>
            <a:camera prst="isometricOffAxis2Lef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0403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1B84-4FFE-EC24-CDC6-B6774B31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I. TỔNG QUAN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3FC23-E826-BCBA-F7B3-73525B402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532" y="2141537"/>
            <a:ext cx="7699310" cy="4351338"/>
          </a:xfrm>
        </p:spPr>
        <p:txBody>
          <a:bodyPr>
            <a:normAutofit/>
          </a:bodyPr>
          <a:lstStyle/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rằng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đội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đội</a:t>
            </a:r>
            <a:r>
              <a:rPr lang="en-US" dirty="0"/>
              <a:t>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chúng</a:t>
            </a:r>
            <a:r>
              <a:rPr lang="en-US" dirty="0"/>
              <a:t> ta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Vì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tính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cách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bản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chất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con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người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là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vĩ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B050"/>
                </a:solidFill>
                <a:sym typeface="Wingdings" panose="05000000000000000000" pitchFamily="2" charset="2"/>
              </a:rPr>
              <a:t>cuồng</a:t>
            </a:r>
            <a:r>
              <a:rPr lang="en-US" i="1" dirty="0">
                <a:solidFill>
                  <a:srgbClr val="00B050"/>
                </a:solidFill>
                <a:sym typeface="Wingdings" panose="05000000000000000000" pitchFamily="2" charset="2"/>
              </a:rPr>
              <a:t>):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i="1" dirty="0" err="1">
                <a:sym typeface="Wingdings" panose="05000000000000000000" pitchFamily="2" charset="2"/>
              </a:rPr>
              <a:t>Một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số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người</a:t>
            </a:r>
            <a:r>
              <a:rPr lang="en-US" i="1" dirty="0">
                <a:sym typeface="Wingdings" panose="05000000000000000000" pitchFamily="2" charset="2"/>
              </a:rPr>
              <a:t> do </a:t>
            </a:r>
            <a:r>
              <a:rPr lang="en-US" i="1" dirty="0" err="1">
                <a:sym typeface="Wingdings" panose="05000000000000000000" pitchFamily="2" charset="2"/>
              </a:rPr>
              <a:t>tính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cách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không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cởi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mở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không</a:t>
            </a:r>
            <a:r>
              <a:rPr lang="en-US" i="1" dirty="0">
                <a:sym typeface="Wingdings" panose="05000000000000000000" pitchFamily="2" charset="2"/>
              </a:rPr>
              <a:t> bao </a:t>
            </a:r>
            <a:r>
              <a:rPr lang="en-US" i="1" dirty="0" err="1">
                <a:sym typeface="Wingdings" panose="05000000000000000000" pitchFamily="2" charset="2"/>
              </a:rPr>
              <a:t>giờ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nghĩ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tới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mình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cần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tới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tập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thể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và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trang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bị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cho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tập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thể</a:t>
            </a:r>
            <a:r>
              <a:rPr lang="en-US" i="1" dirty="0">
                <a:sym typeface="Wingdings" panose="05000000000000000000" pitchFamily="2" charset="2"/>
              </a:rPr>
              <a:t>. </a:t>
            </a:r>
            <a:r>
              <a:rPr lang="en-US" i="1" dirty="0" err="1">
                <a:sym typeface="Wingdings" panose="05000000000000000000" pitchFamily="2" charset="2"/>
              </a:rPr>
              <a:t>Họ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có</a:t>
            </a:r>
            <a:r>
              <a:rPr lang="en-US" i="1" dirty="0">
                <a:sym typeface="Wingdings" panose="05000000000000000000" pitchFamily="2" charset="2"/>
              </a:rPr>
              <a:t> xu </a:t>
            </a:r>
            <a:r>
              <a:rPr lang="en-US" i="1" dirty="0" err="1">
                <a:sym typeface="Wingdings" panose="05000000000000000000" pitchFamily="2" charset="2"/>
              </a:rPr>
              <a:t>hướng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không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làm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việc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theo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nhóm</a:t>
            </a:r>
            <a:r>
              <a:rPr lang="en-US" i="1" dirty="0">
                <a:sym typeface="Wingdings" panose="05000000000000000000" pitchFamily="2" charset="2"/>
              </a:rPr>
              <a:t> do </a:t>
            </a:r>
            <a:r>
              <a:rPr lang="en-US" i="1" dirty="0" err="1">
                <a:sym typeface="Wingdings" panose="05000000000000000000" pitchFamily="2" charset="2"/>
              </a:rPr>
              <a:t>đó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cánh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cửa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thành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công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sẽ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đóng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lại</a:t>
            </a:r>
            <a:r>
              <a:rPr lang="en-US" i="1" dirty="0">
                <a:sym typeface="Wingdings" panose="05000000000000000000" pitchFamily="2" charset="2"/>
              </a:rPr>
              <a:t>.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i="1" dirty="0" err="1">
                <a:sym typeface="Wingdings" panose="05000000000000000000" pitchFamily="2" charset="2"/>
              </a:rPr>
              <a:t>Nguyên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nhân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chính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yếu</a:t>
            </a:r>
            <a:r>
              <a:rPr lang="en-US" i="1" dirty="0">
                <a:sym typeface="Wingdings" panose="05000000000000000000" pitchFamily="2" charset="2"/>
              </a:rPr>
              <a:t> do </a:t>
            </a:r>
            <a:r>
              <a:rPr lang="en-US" i="1" dirty="0" err="1">
                <a:sym typeface="Wingdings" panose="05000000000000000000" pitchFamily="2" charset="2"/>
              </a:rPr>
              <a:t>họ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tự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đóng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của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thành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công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vì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tính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cách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của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họ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chứ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không</a:t>
            </a:r>
            <a:r>
              <a:rPr lang="en-US" i="1" dirty="0">
                <a:sym typeface="Wingdings" panose="05000000000000000000" pitchFamily="2" charset="2"/>
              </a:rPr>
              <a:t> ai </a:t>
            </a:r>
            <a:r>
              <a:rPr lang="en-US" i="1" dirty="0" err="1">
                <a:sym typeface="Wingdings" panose="05000000000000000000" pitchFamily="2" charset="2"/>
              </a:rPr>
              <a:t>làm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điều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đó</a:t>
            </a:r>
            <a:r>
              <a:rPr lang="en-US" i="1" dirty="0">
                <a:sym typeface="Wingdings" panose="05000000000000000000" pitchFamily="2" charset="2"/>
              </a:rPr>
              <a:t>.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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hãy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nhớ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là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có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mợ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thì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chợ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vẫn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đông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,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không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mợ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thì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chợ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cũng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chẵng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bỏ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không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hôm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nào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.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endParaRPr lang="en-US" i="1" dirty="0">
              <a:sym typeface="Wingdings" panose="05000000000000000000" pitchFamily="2" charset="2"/>
            </a:endParaRP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endParaRPr lang="en-US" i="1" dirty="0">
              <a:sym typeface="Wingdings" panose="05000000000000000000" pitchFamily="2" charset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C653B-3B85-5893-AD15-565797D1D804}"/>
              </a:ext>
            </a:extLst>
          </p:cNvPr>
          <p:cNvSpPr txBox="1"/>
          <p:nvPr/>
        </p:nvSpPr>
        <p:spPr>
          <a:xfrm>
            <a:off x="1080020" y="1312999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Vì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sao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phải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trang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bị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cho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người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khác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43876D-2D8F-9D82-DFE8-D114F7EF7C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9289" b="994"/>
          <a:stretch/>
        </p:blipFill>
        <p:spPr>
          <a:xfrm>
            <a:off x="8504367" y="2200346"/>
            <a:ext cx="3322867" cy="29728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365149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1B84-4FFE-EC24-CDC6-B6774B31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I. TỔNG QUAN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3FC23-E826-BCBA-F7B3-73525B402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858640"/>
            <a:ext cx="7699310" cy="4351338"/>
          </a:xfrm>
        </p:spPr>
        <p:txBody>
          <a:bodyPr>
            <a:noAutofit/>
          </a:bodyPr>
          <a:lstStyle/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i="1" u="sng" dirty="0" err="1">
                <a:sym typeface="Wingdings" panose="05000000000000000000" pitchFamily="2" charset="2"/>
              </a:rPr>
              <a:t>Bước</a:t>
            </a:r>
            <a:r>
              <a:rPr lang="en-US" sz="1600" i="1" u="sng" dirty="0">
                <a:sym typeface="Wingdings" panose="05000000000000000000" pitchFamily="2" charset="2"/>
              </a:rPr>
              <a:t> 1: </a:t>
            </a:r>
            <a:r>
              <a:rPr lang="en-US" sz="1600" dirty="0" err="1">
                <a:sym typeface="Wingdings" panose="05000000000000000000" pitchFamily="2" charset="2"/>
              </a:rPr>
              <a:t>Thành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lập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một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nhóm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nhiệm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vụ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của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mình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khởi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đầu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tính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quyết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định</a:t>
            </a:r>
            <a:r>
              <a:rPr lang="en-US" sz="1600" dirty="0">
                <a:sym typeface="Wingdings" panose="05000000000000000000" pitchFamily="2" charset="2"/>
              </a:rPr>
              <a:t>.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i="1" u="sng" dirty="0" err="1">
                <a:sym typeface="Wingdings" panose="05000000000000000000" pitchFamily="2" charset="2"/>
              </a:rPr>
              <a:t>Bươc</a:t>
            </a:r>
            <a:r>
              <a:rPr lang="en-US" sz="1600" i="1" u="sng" dirty="0">
                <a:sym typeface="Wingdings" panose="05000000000000000000" pitchFamily="2" charset="2"/>
              </a:rPr>
              <a:t> 2: </a:t>
            </a:r>
            <a:r>
              <a:rPr lang="en-US" sz="1600" dirty="0" err="1">
                <a:sym typeface="Wingdings" panose="05000000000000000000" pitchFamily="2" charset="2"/>
              </a:rPr>
              <a:t>Về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nguyên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tắc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hãy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tập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hợp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một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nhóm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mạnh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nhất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thể</a:t>
            </a:r>
            <a:r>
              <a:rPr lang="en-US" sz="1600" dirty="0">
                <a:sym typeface="Wingdings" panose="05000000000000000000" pitchFamily="2" charset="2"/>
              </a:rPr>
              <a:t> (</a:t>
            </a:r>
            <a:r>
              <a:rPr lang="en-US" sz="1600" dirty="0" err="1">
                <a:sym typeface="Wingdings" panose="05000000000000000000" pitchFamily="2" charset="2"/>
              </a:rPr>
              <a:t>không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phải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nhóm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đình</a:t>
            </a:r>
            <a:r>
              <a:rPr lang="en-US" sz="1600" dirty="0">
                <a:sym typeface="Wingdings" panose="05000000000000000000" pitchFamily="2" charset="2"/>
              </a:rPr>
              <a:t>). </a:t>
            </a:r>
            <a:r>
              <a:rPr lang="en-US" sz="1600" dirty="0" err="1">
                <a:sym typeface="Wingdings" panose="05000000000000000000" pitchFamily="2" charset="2"/>
              </a:rPr>
              <a:t>Cố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gắng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tuyển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hoặc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chơi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giỏi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giàu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tiềm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năng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cùng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lý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tưởng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mục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đích</a:t>
            </a:r>
            <a:r>
              <a:rPr lang="en-US" sz="1600" dirty="0">
                <a:sym typeface="Wingdings" panose="05000000000000000000" pitchFamily="2" charset="2"/>
              </a:rPr>
              <a:t>…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i="1" u="sng" dirty="0" err="1">
                <a:sym typeface="Wingdings" panose="05000000000000000000" pitchFamily="2" charset="2"/>
              </a:rPr>
              <a:t>Bước</a:t>
            </a:r>
            <a:r>
              <a:rPr lang="en-US" sz="1600" i="1" u="sng" dirty="0">
                <a:sym typeface="Wingdings" panose="05000000000000000000" pitchFamily="2" charset="2"/>
              </a:rPr>
              <a:t> 3: </a:t>
            </a:r>
            <a:r>
              <a:rPr lang="en-US" sz="1600" dirty="0" err="1">
                <a:sym typeface="Wingdings" panose="05000000000000000000" pitchFamily="2" charset="2"/>
              </a:rPr>
              <a:t>Bắt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buộc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phải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trả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giá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cho</a:t>
            </a:r>
            <a:r>
              <a:rPr lang="en-US" sz="1600" dirty="0">
                <a:sym typeface="Wingdings" panose="05000000000000000000" pitchFamily="2" charset="2"/>
              </a:rPr>
              <a:t> chi </a:t>
            </a:r>
            <a:r>
              <a:rPr lang="en-US" sz="1600" dirty="0" err="1">
                <a:sym typeface="Wingdings" panose="05000000000000000000" pitchFamily="2" charset="2"/>
              </a:rPr>
              <a:t>phí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xây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dựng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đội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nhóm</a:t>
            </a:r>
            <a:r>
              <a:rPr lang="en-US" sz="1600" dirty="0">
                <a:sym typeface="Wingdings" panose="05000000000000000000" pitchFamily="2" charset="2"/>
              </a:rPr>
              <a:t>: chi </a:t>
            </a:r>
            <a:r>
              <a:rPr lang="en-US" sz="1600" dirty="0" err="1">
                <a:sym typeface="Wingdings" panose="05000000000000000000" pitchFamily="2" charset="2"/>
              </a:rPr>
              <a:t>phí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này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gồm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tiền</a:t>
            </a:r>
            <a:r>
              <a:rPr lang="en-US" sz="1600" dirty="0">
                <a:sym typeface="Wingdings" panose="05000000000000000000" pitchFamily="2" charset="2"/>
              </a:rPr>
              <a:t> + </a:t>
            </a:r>
            <a:r>
              <a:rPr lang="en-US" sz="1600" dirty="0" err="1">
                <a:sym typeface="Wingdings" panose="05000000000000000000" pitchFamily="2" charset="2"/>
              </a:rPr>
              <a:t>công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sức</a:t>
            </a:r>
            <a:r>
              <a:rPr lang="en-US" sz="1600" dirty="0">
                <a:sym typeface="Wingdings" panose="05000000000000000000" pitchFamily="2" charset="2"/>
              </a:rPr>
              <a:t> + </a:t>
            </a:r>
            <a:r>
              <a:rPr lang="en-US" sz="1600" dirty="0" err="1">
                <a:sym typeface="Wingdings" panose="05000000000000000000" pitchFamily="2" charset="2"/>
              </a:rPr>
              <a:t>thời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gian</a:t>
            </a:r>
            <a:r>
              <a:rPr lang="en-US" sz="1600" dirty="0">
                <a:sym typeface="Wingdings" panose="05000000000000000000" pitchFamily="2" charset="2"/>
              </a:rPr>
              <a:t>.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i="1" u="sng" dirty="0" err="1">
                <a:sym typeface="Wingdings" panose="05000000000000000000" pitchFamily="2" charset="2"/>
              </a:rPr>
              <a:t>Bước</a:t>
            </a:r>
            <a:r>
              <a:rPr lang="en-US" sz="1600" i="1" u="sng" dirty="0">
                <a:sym typeface="Wingdings" panose="05000000000000000000" pitchFamily="2" charset="2"/>
              </a:rPr>
              <a:t> 4</a:t>
            </a:r>
            <a:r>
              <a:rPr lang="en-US" sz="1600" dirty="0">
                <a:sym typeface="Wingdings" panose="05000000000000000000" pitchFamily="2" charset="2"/>
              </a:rPr>
              <a:t>: </a:t>
            </a:r>
            <a:r>
              <a:rPr lang="en-US" sz="1600" dirty="0" err="1">
                <a:sym typeface="Wingdings" panose="05000000000000000000" pitchFamily="2" charset="2"/>
              </a:rPr>
              <a:t>Bắt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đầu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việc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nhau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nhiều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nhất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thể</a:t>
            </a:r>
            <a:r>
              <a:rPr lang="en-US" sz="1600" dirty="0">
                <a:sym typeface="Wingdings" panose="05000000000000000000" pitchFamily="2" charset="2"/>
              </a:rPr>
              <a:t>  </a:t>
            </a:r>
            <a:r>
              <a:rPr lang="en-US" sz="1600" dirty="0" err="1">
                <a:sym typeface="Wingdings" panose="05000000000000000000" pitchFamily="2" charset="2"/>
              </a:rPr>
              <a:t>tạo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sự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hiểu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biết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đoàn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kết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giúp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bộc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lộ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ưu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điểm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nhược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điểm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để</a:t>
            </a:r>
            <a:r>
              <a:rPr lang="en-US" sz="1600" dirty="0">
                <a:sym typeface="Wingdings" panose="05000000000000000000" pitchFamily="2" charset="2"/>
              </a:rPr>
              <a:t> ta </a:t>
            </a:r>
            <a:r>
              <a:rPr lang="en-US" sz="1600" dirty="0" err="1">
                <a:sym typeface="Wingdings" panose="05000000000000000000" pitchFamily="2" charset="2"/>
              </a:rPr>
              <a:t>đánh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giá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lãnh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đạo</a:t>
            </a:r>
            <a:r>
              <a:rPr lang="en-US" sz="1600" dirty="0">
                <a:sym typeface="Wingdings" panose="05000000000000000000" pitchFamily="2" charset="2"/>
              </a:rPr>
              <a:t>. 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i="1" u="sng" dirty="0" err="1">
                <a:sym typeface="Wingdings" panose="05000000000000000000" pitchFamily="2" charset="2"/>
              </a:rPr>
              <a:t>Bước</a:t>
            </a:r>
            <a:r>
              <a:rPr lang="en-US" sz="1600" i="1" u="sng" dirty="0">
                <a:sym typeface="Wingdings" panose="05000000000000000000" pitchFamily="2" charset="2"/>
              </a:rPr>
              <a:t> 5: 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sz="1400" dirty="0" err="1">
                <a:sym typeface="Wingdings" panose="05000000000000000000" pitchFamily="2" charset="2"/>
              </a:rPr>
              <a:t>Trao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thêm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trách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nhiệm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quyền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hạn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 </a:t>
            </a:r>
            <a:r>
              <a:rPr lang="en-US" sz="1400" dirty="0" err="1">
                <a:sym typeface="Wingdings" panose="05000000000000000000" pitchFamily="2" charset="2"/>
              </a:rPr>
              <a:t>tăng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thêm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sự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phát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triển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các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thành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viên</a:t>
            </a:r>
            <a:r>
              <a:rPr lang="en-US" sz="1400" dirty="0">
                <a:sym typeface="Wingdings" panose="05000000000000000000" pitchFamily="2" charset="2"/>
              </a:rPr>
              <a:t>  </a:t>
            </a:r>
            <a:r>
              <a:rPr lang="en-US" sz="1400" dirty="0" err="1">
                <a:sym typeface="Wingdings" panose="05000000000000000000" pitchFamily="2" charset="2"/>
              </a:rPr>
              <a:t>tìm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ra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kẻ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nổi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trội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giao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quyền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lãnh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đạo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nhóm</a:t>
            </a:r>
            <a:r>
              <a:rPr lang="en-US" sz="1400" dirty="0">
                <a:sym typeface="Wingdings" panose="05000000000000000000" pitchFamily="2" charset="2"/>
              </a:rPr>
              <a:t>. (</a:t>
            </a:r>
            <a:r>
              <a:rPr lang="en-US" sz="1400" dirty="0" err="1">
                <a:sym typeface="Wingdings" panose="05000000000000000000" pitchFamily="2" charset="2"/>
              </a:rPr>
              <a:t>lúc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này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chúng</a:t>
            </a:r>
            <a:r>
              <a:rPr lang="en-US" sz="1400" dirty="0">
                <a:sym typeface="Wingdings" panose="05000000000000000000" pitchFamily="2" charset="2"/>
              </a:rPr>
              <a:t> ta </a:t>
            </a:r>
            <a:r>
              <a:rPr lang="en-US" sz="1400" dirty="0" err="1">
                <a:sym typeface="Wingdings" panose="05000000000000000000" pitchFamily="2" charset="2"/>
              </a:rPr>
              <a:t>không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được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tham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quyền</a:t>
            </a:r>
            <a:r>
              <a:rPr lang="en-US" sz="1400" dirty="0">
                <a:sym typeface="Wingdings" panose="05000000000000000000" pitchFamily="2" charset="2"/>
              </a:rPr>
              <a:t>).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sz="1400" dirty="0" err="1">
                <a:sym typeface="Wingdings" panose="05000000000000000000" pitchFamily="2" charset="2"/>
              </a:rPr>
              <a:t>Bước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này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bước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đột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phá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nhất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để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xây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dựng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đội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vì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thành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viên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thêm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trách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nhiệm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thêm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sai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lầm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thêm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sửa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chữa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sai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lầm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để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phát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triển</a:t>
            </a:r>
            <a:r>
              <a:rPr lang="en-US" sz="1400" dirty="0">
                <a:sym typeface="Wingdings" panose="05000000000000000000" pitchFamily="2" charset="2"/>
              </a:rPr>
              <a:t>  </a:t>
            </a:r>
            <a:r>
              <a:rPr lang="en-US" sz="1400" dirty="0" err="1">
                <a:sym typeface="Wingdings" panose="05000000000000000000" pitchFamily="2" charset="2"/>
              </a:rPr>
              <a:t>có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sai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sửa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sai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thì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mới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đúng</a:t>
            </a:r>
            <a:r>
              <a:rPr lang="en-US" sz="1400" dirty="0"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endParaRPr lang="en-US" sz="1400" dirty="0">
              <a:sym typeface="Wingdings" panose="05000000000000000000" pitchFamily="2" charset="2"/>
            </a:endParaRP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1400" dirty="0">
              <a:sym typeface="Wingdings" panose="05000000000000000000" pitchFamily="2" charset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C653B-3B85-5893-AD15-565797D1D804}"/>
              </a:ext>
            </a:extLst>
          </p:cNvPr>
          <p:cNvSpPr txBox="1"/>
          <p:nvPr/>
        </p:nvSpPr>
        <p:spPr>
          <a:xfrm>
            <a:off x="1080020" y="1312999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Đầu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tư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để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lập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nhóm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thành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công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pic>
        <p:nvPicPr>
          <p:cNvPr id="1030" name="Picture 6" descr="5 giai đoạn phát triển đội nhóm của mô hình Tuckman Ladder">
            <a:extLst>
              <a:ext uri="{FF2B5EF4-FFF2-40B4-BE49-F238E27FC236}">
                <a16:creationId xmlns:a16="http://schemas.microsoft.com/office/drawing/2014/main" id="{74931D9E-3B9A-B642-3351-191FE71DB0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59" t="10397" r="7523" b="7890"/>
          <a:stretch/>
        </p:blipFill>
        <p:spPr bwMode="auto">
          <a:xfrm>
            <a:off x="8420387" y="2541863"/>
            <a:ext cx="3693320" cy="2030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9296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1B84-4FFE-EC24-CDC6-B6774B31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I. TỔNG QUAN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3FC23-E826-BCBA-F7B3-73525B402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142" y="1881478"/>
            <a:ext cx="7699310" cy="4351338"/>
          </a:xfrm>
        </p:spPr>
        <p:txBody>
          <a:bodyPr>
            <a:noAutofit/>
          </a:bodyPr>
          <a:lstStyle/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i="1" u="sng" dirty="0" err="1">
                <a:sym typeface="Wingdings" panose="05000000000000000000" pitchFamily="2" charset="2"/>
              </a:rPr>
              <a:t>Bước</a:t>
            </a:r>
            <a:r>
              <a:rPr lang="en-US" sz="1600" i="1" u="sng" dirty="0">
                <a:sym typeface="Wingdings" panose="05000000000000000000" pitchFamily="2" charset="2"/>
              </a:rPr>
              <a:t> 6: 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sz="1200" dirty="0" err="1">
                <a:sym typeface="Wingdings" panose="05000000000000000000" pitchFamily="2" charset="2"/>
              </a:rPr>
              <a:t>Thiết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chế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một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cơ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chế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ghi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nhận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thành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quả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của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cả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nhóm</a:t>
            </a:r>
            <a:r>
              <a:rPr lang="en-US" sz="1200" dirty="0">
                <a:sym typeface="Wingdings" panose="05000000000000000000" pitchFamily="2" charset="2"/>
              </a:rPr>
              <a:t>  </a:t>
            </a:r>
            <a:r>
              <a:rPr lang="en-US" sz="1200" dirty="0" err="1">
                <a:sym typeface="Wingdings" panose="05000000000000000000" pitchFamily="2" charset="2"/>
              </a:rPr>
              <a:t>điều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này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giúp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tinh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thần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cả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đội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được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thúc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đẩy</a:t>
            </a:r>
            <a:r>
              <a:rPr lang="en-US" sz="1200" dirty="0">
                <a:sym typeface="Wingdings" panose="05000000000000000000" pitchFamily="2" charset="2"/>
              </a:rPr>
              <a:t>. </a:t>
            </a:r>
            <a:r>
              <a:rPr lang="en-US" sz="1200" i="1" dirty="0">
                <a:solidFill>
                  <a:srgbClr val="00B050"/>
                </a:solidFill>
                <a:sym typeface="Wingdings" panose="05000000000000000000" pitchFamily="2" charset="2"/>
              </a:rPr>
              <a:t>(</a:t>
            </a:r>
            <a:r>
              <a:rPr lang="en-US" sz="12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Bản</a:t>
            </a:r>
            <a:r>
              <a:rPr lang="en-US" sz="12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chất</a:t>
            </a:r>
            <a:r>
              <a:rPr lang="en-US" sz="1200" i="1" dirty="0">
                <a:solidFill>
                  <a:srgbClr val="00B050"/>
                </a:solidFill>
                <a:sym typeface="Wingdings" panose="05000000000000000000" pitchFamily="2" charset="2"/>
              </a:rPr>
              <a:t> ai </a:t>
            </a:r>
            <a:r>
              <a:rPr lang="en-US" sz="12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cũng</a:t>
            </a:r>
            <a:r>
              <a:rPr lang="en-US" sz="12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muốn</a:t>
            </a:r>
            <a:r>
              <a:rPr lang="en-US" sz="12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được</a:t>
            </a:r>
            <a:r>
              <a:rPr lang="en-US" sz="12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ghi</a:t>
            </a:r>
            <a:r>
              <a:rPr lang="en-US" sz="12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nhận</a:t>
            </a:r>
            <a:r>
              <a:rPr lang="en-US" sz="12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dù</a:t>
            </a:r>
            <a:r>
              <a:rPr lang="en-US" sz="12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là</a:t>
            </a:r>
            <a:r>
              <a:rPr lang="en-US" sz="12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vật</a:t>
            </a:r>
            <a:r>
              <a:rPr lang="en-US" sz="12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chất</a:t>
            </a:r>
            <a:r>
              <a:rPr lang="en-US" sz="1200" i="1" dirty="0">
                <a:solidFill>
                  <a:srgbClr val="00B050"/>
                </a:solidFill>
                <a:sym typeface="Wingdings" panose="05000000000000000000" pitchFamily="2" charset="2"/>
              </a:rPr>
              <a:t> hay phi </a:t>
            </a:r>
            <a:r>
              <a:rPr lang="en-US" sz="12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vật</a:t>
            </a:r>
            <a:r>
              <a:rPr lang="en-US" sz="12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chât</a:t>
            </a:r>
            <a:r>
              <a:rPr lang="en-US" sz="1200" i="1" dirty="0">
                <a:solidFill>
                  <a:srgbClr val="00B050"/>
                </a:solidFill>
                <a:sym typeface="Wingdings" panose="05000000000000000000" pitchFamily="2" charset="2"/>
              </a:rPr>
              <a:t> </a:t>
            </a:r>
            <a:r>
              <a:rPr lang="en-US" sz="12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hãy</a:t>
            </a:r>
            <a:r>
              <a:rPr lang="en-US" sz="12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thường</a:t>
            </a:r>
            <a:r>
              <a:rPr lang="en-US" sz="12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xuyên</a:t>
            </a:r>
            <a:r>
              <a:rPr lang="en-US" sz="12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ghi</a:t>
            </a:r>
            <a:r>
              <a:rPr lang="en-US" sz="12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nhân</a:t>
            </a:r>
            <a:r>
              <a:rPr lang="en-US" sz="12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dù</a:t>
            </a:r>
            <a:r>
              <a:rPr lang="en-US" sz="12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là</a:t>
            </a:r>
            <a:r>
              <a:rPr lang="en-US" sz="12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thành</a:t>
            </a:r>
            <a:r>
              <a:rPr lang="en-US" sz="12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quả</a:t>
            </a:r>
            <a:r>
              <a:rPr lang="en-US" sz="12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nhỏ</a:t>
            </a:r>
            <a:r>
              <a:rPr lang="en-US" sz="12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2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nhất</a:t>
            </a:r>
            <a:r>
              <a:rPr lang="en-US" sz="1200" i="1" dirty="0">
                <a:solidFill>
                  <a:srgbClr val="00B050"/>
                </a:solidFill>
                <a:sym typeface="Wingdings" panose="05000000000000000000" pitchFamily="2" charset="2"/>
              </a:rPr>
              <a:t>).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sz="1200" dirty="0" err="1">
                <a:sym typeface="Wingdings" panose="05000000000000000000" pitchFamily="2" charset="2"/>
              </a:rPr>
              <a:t>Trong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đội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với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cá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nhân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người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thành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lập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đội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luôn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luôn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nhận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lỗi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về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mình</a:t>
            </a:r>
            <a:r>
              <a:rPr lang="en-US" sz="1200" dirty="0">
                <a:sym typeface="Wingdings" panose="05000000000000000000" pitchFamily="2" charset="2"/>
              </a:rPr>
              <a:t>. </a:t>
            </a:r>
            <a:r>
              <a:rPr lang="en-US" sz="1200" dirty="0" err="1">
                <a:sym typeface="Wingdings" panose="05000000000000000000" pitchFamily="2" charset="2"/>
              </a:rPr>
              <a:t>Dành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toàn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bộ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lời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khen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và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ghi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nhận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cho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thanh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viên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nhóm</a:t>
            </a:r>
            <a:r>
              <a:rPr lang="en-US" sz="1200" dirty="0">
                <a:sym typeface="Wingdings" panose="05000000000000000000" pitchFamily="2" charset="2"/>
              </a:rPr>
              <a:t>  </a:t>
            </a:r>
            <a:r>
              <a:rPr lang="en-US" sz="1200" dirty="0" err="1">
                <a:sym typeface="Wingdings" panose="05000000000000000000" pitchFamily="2" charset="2"/>
              </a:rPr>
              <a:t>liên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tục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tán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dương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đội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họ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sẽ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sống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vì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mình</a:t>
            </a:r>
            <a:r>
              <a:rPr lang="en-US" sz="1200" dirty="0">
                <a:sym typeface="Wingdings" panose="05000000000000000000" pitchFamily="2" charset="2"/>
              </a:rPr>
              <a:t>.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i="1" u="sng" dirty="0" err="1">
                <a:sym typeface="Wingdings" panose="05000000000000000000" pitchFamily="2" charset="2"/>
              </a:rPr>
              <a:t>Bước</a:t>
            </a:r>
            <a:r>
              <a:rPr lang="en-US" sz="1600" i="1" u="sng" dirty="0">
                <a:sym typeface="Wingdings" panose="05000000000000000000" pitchFamily="2" charset="2"/>
              </a:rPr>
              <a:t> 7: 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sz="1200" dirty="0" err="1">
                <a:sym typeface="Wingdings" panose="05000000000000000000" pitchFamily="2" charset="2"/>
              </a:rPr>
              <a:t>Liên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tục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đánh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giá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hiệu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quả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việc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đầu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tư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vào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nhóm</a:t>
            </a:r>
            <a:r>
              <a:rPr lang="en-US" sz="1200" dirty="0">
                <a:sym typeface="Wingdings" panose="05000000000000000000" pitchFamily="2" charset="2"/>
              </a:rPr>
              <a:t>, </a:t>
            </a:r>
            <a:r>
              <a:rPr lang="en-US" sz="1200" dirty="0" err="1">
                <a:sym typeface="Wingdings" panose="05000000000000000000" pitchFamily="2" charset="2"/>
              </a:rPr>
              <a:t>phân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tích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những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điểm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mạnh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yếu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cơ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hội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và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thách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thức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để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phát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triển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hơn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nữa</a:t>
            </a:r>
            <a:r>
              <a:rPr lang="en-US" sz="1200" dirty="0"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sz="1200" dirty="0" err="1">
                <a:sym typeface="Wingdings" panose="05000000000000000000" pitchFamily="2" charset="2"/>
              </a:rPr>
              <a:t>Hãy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quan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tâm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theo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dõi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khoản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đầu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tư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vào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nhóm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bằng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cách</a:t>
            </a:r>
            <a:r>
              <a:rPr lang="en-US" sz="1200" dirty="0">
                <a:sym typeface="Wingdings" panose="05000000000000000000" pitchFamily="2" charset="2"/>
              </a:rPr>
              <a:t> so </a:t>
            </a:r>
            <a:r>
              <a:rPr lang="en-US" sz="1200" dirty="0" err="1">
                <a:sym typeface="Wingdings" panose="05000000000000000000" pitchFamily="2" charset="2"/>
              </a:rPr>
              <a:t>kết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quả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nhóm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đạt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được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với</a:t>
            </a:r>
            <a:r>
              <a:rPr lang="en-US" sz="1200" dirty="0">
                <a:sym typeface="Wingdings" panose="05000000000000000000" pitchFamily="2" charset="2"/>
              </a:rPr>
              <a:t> chi </a:t>
            </a:r>
            <a:r>
              <a:rPr lang="en-US" sz="1200" dirty="0" err="1">
                <a:sym typeface="Wingdings" panose="05000000000000000000" pitchFamily="2" charset="2"/>
              </a:rPr>
              <a:t>phí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bỏ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ra.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Thước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đo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hiệu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quả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trong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trường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hợp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này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là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sự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trưởng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thành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của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từng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thành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viên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trong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nhóm</a:t>
            </a:r>
            <a:r>
              <a:rPr lang="en-US" sz="1200" dirty="0">
                <a:sym typeface="Wingdings" panose="05000000000000000000" pitchFamily="2" charset="2"/>
              </a:rPr>
              <a:t>.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i="1" u="sng" dirty="0" err="1">
                <a:sym typeface="Wingdings" panose="05000000000000000000" pitchFamily="2" charset="2"/>
              </a:rPr>
              <a:t>Bước</a:t>
            </a:r>
            <a:r>
              <a:rPr lang="en-US" sz="1600" i="1" u="sng" dirty="0">
                <a:sym typeface="Wingdings" panose="05000000000000000000" pitchFamily="2" charset="2"/>
              </a:rPr>
              <a:t> 8: 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sz="1200" dirty="0" err="1">
                <a:sym typeface="Wingdings" panose="05000000000000000000" pitchFamily="2" charset="2"/>
              </a:rPr>
              <a:t>Tuyệt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đối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không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đầu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tư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vào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người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không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tiến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bộ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vì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điều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này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chỉ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thiệt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hại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cho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chính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mình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mà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còn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thiệt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cả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nhóm</a:t>
            </a:r>
            <a:r>
              <a:rPr lang="en-US" sz="1200" dirty="0"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sz="1200" dirty="0" err="1">
                <a:sym typeface="Wingdings" panose="05000000000000000000" pitchFamily="2" charset="2"/>
              </a:rPr>
              <a:t>Việc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loại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bỏ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này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là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vô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cùng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khó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khăn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tuy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nhiên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đây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là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điều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bắt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buộc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phải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làm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để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giúp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các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thành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viên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khác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tiến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bộ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hơn</a:t>
            </a:r>
            <a:r>
              <a:rPr lang="en-US" sz="1200" dirty="0">
                <a:sym typeface="Wingdings" panose="05000000000000000000" pitchFamily="2" charset="2"/>
              </a:rPr>
              <a:t>.</a:t>
            </a:r>
            <a:endParaRPr lang="en-US" sz="1400" dirty="0">
              <a:sym typeface="Wingdings" panose="05000000000000000000" pitchFamily="2" charset="2"/>
            </a:endParaRP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1400" dirty="0">
              <a:sym typeface="Wingdings" panose="05000000000000000000" pitchFamily="2" charset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C653B-3B85-5893-AD15-565797D1D804}"/>
              </a:ext>
            </a:extLst>
          </p:cNvPr>
          <p:cNvSpPr txBox="1"/>
          <p:nvPr/>
        </p:nvSpPr>
        <p:spPr>
          <a:xfrm>
            <a:off x="1080020" y="1312999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Đầu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tư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để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lập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nhóm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thành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công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pic>
        <p:nvPicPr>
          <p:cNvPr id="3074" name="Picture 2" descr="9+ Kỹ năng quản lý đội nhóm giúp lãnh đạo giữ chân nhân tài">
            <a:extLst>
              <a:ext uri="{FF2B5EF4-FFF2-40B4-BE49-F238E27FC236}">
                <a16:creationId xmlns:a16="http://schemas.microsoft.com/office/drawing/2014/main" id="{2CEC134A-6C55-377E-7D3C-EA3981D5A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6824" y="2197915"/>
            <a:ext cx="3959486" cy="3129094"/>
          </a:xfrm>
          <a:prstGeom prst="rect">
            <a:avLst/>
          </a:prstGeom>
          <a:noFill/>
          <a:effectLst>
            <a:glow rad="228600">
              <a:schemeClr val="accent4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3942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1B84-4FFE-EC24-CDC6-B6774B31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I. TỔNG QUAN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3FC23-E826-BCBA-F7B3-73525B402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532" y="2141537"/>
            <a:ext cx="6038661" cy="4351338"/>
          </a:xfrm>
        </p:spPr>
        <p:txBody>
          <a:bodyPr>
            <a:noAutofit/>
          </a:bodyPr>
          <a:lstStyle/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b="1" u="sng" dirty="0" err="1">
                <a:sym typeface="Wingdings" panose="05000000000000000000" pitchFamily="2" charset="2"/>
              </a:rPr>
              <a:t>Bước</a:t>
            </a:r>
            <a:r>
              <a:rPr lang="en-US" sz="1600" b="1" u="sng" dirty="0">
                <a:sym typeface="Wingdings" panose="05000000000000000000" pitchFamily="2" charset="2"/>
              </a:rPr>
              <a:t> 9: </a:t>
            </a:r>
            <a:r>
              <a:rPr lang="en-US" sz="1600" dirty="0">
                <a:sym typeface="Wingdings" panose="05000000000000000000" pitchFamily="2" charset="2"/>
              </a:rPr>
              <a:t>Sau </a:t>
            </a:r>
            <a:r>
              <a:rPr lang="en-US" sz="1600" dirty="0" err="1">
                <a:sym typeface="Wingdings" panose="05000000000000000000" pitchFamily="2" charset="2"/>
              </a:rPr>
              <a:t>khi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loại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bỏ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những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tiến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bộ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thì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tạo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nhiều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cơ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hợi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hơn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nữa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cả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nhóm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nhằm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mục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tiêu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đầy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nỗ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lực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hơn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nữa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vì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nếu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giao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tiếp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cơ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hội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hì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thử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thách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buộc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đội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phải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thích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nghi</a:t>
            </a:r>
            <a:r>
              <a:rPr lang="en-US" sz="1600" dirty="0">
                <a:sym typeface="Wingdings" panose="05000000000000000000" pitchFamily="2" charset="2"/>
              </a:rPr>
              <a:t>.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1600" dirty="0">
              <a:sym typeface="Wingdings" panose="05000000000000000000" pitchFamily="2" charset="2"/>
            </a:endParaRP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b="1" u="sng" dirty="0" err="1">
                <a:sym typeface="Wingdings" panose="05000000000000000000" pitchFamily="2" charset="2"/>
              </a:rPr>
              <a:t>Bước</a:t>
            </a:r>
            <a:r>
              <a:rPr lang="en-US" sz="1600" b="1" u="sng" dirty="0">
                <a:sym typeface="Wingdings" panose="05000000000000000000" pitchFamily="2" charset="2"/>
              </a:rPr>
              <a:t> 10</a:t>
            </a:r>
            <a:r>
              <a:rPr lang="en-US" sz="1600" b="1" dirty="0">
                <a:sym typeface="Wingdings" panose="05000000000000000000" pitchFamily="2" charset="2"/>
              </a:rPr>
              <a:t>: </a:t>
            </a:r>
            <a:r>
              <a:rPr lang="en-US" sz="1600" dirty="0" err="1">
                <a:sym typeface="Wingdings" panose="05000000000000000000" pitchFamily="2" charset="2"/>
              </a:rPr>
              <a:t>Tạo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cơ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hội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tốt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nhất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từng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thành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viên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phát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huy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tiềm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năng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giúp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nhóm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đột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phá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thành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công</a:t>
            </a:r>
            <a:r>
              <a:rPr lang="en-US" sz="1600" dirty="0">
                <a:sym typeface="Wingdings" panose="05000000000000000000" pitchFamily="2" charset="2"/>
              </a:rPr>
              <a:t>. Do </a:t>
            </a:r>
            <a:r>
              <a:rPr lang="en-US" sz="1600" dirty="0" err="1">
                <a:sym typeface="Wingdings" panose="05000000000000000000" pitchFamily="2" charset="2"/>
              </a:rPr>
              <a:t>đó</a:t>
            </a:r>
            <a:r>
              <a:rPr lang="en-US" sz="1600" dirty="0">
                <a:sym typeface="Wingdings" panose="05000000000000000000" pitchFamily="2" charset="2"/>
              </a:rPr>
              <a:t> ở </a:t>
            </a:r>
            <a:r>
              <a:rPr lang="en-US" sz="1600" dirty="0" err="1">
                <a:sym typeface="Wingdings" panose="05000000000000000000" pitchFamily="2" charset="2"/>
              </a:rPr>
              <a:t>bước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này</a:t>
            </a:r>
            <a:r>
              <a:rPr lang="en-US" sz="1600" dirty="0">
                <a:sym typeface="Wingdings" panose="05000000000000000000" pitchFamily="2" charset="2"/>
              </a:rPr>
              <a:t> hi </a:t>
            </a:r>
            <a:r>
              <a:rPr lang="en-US" sz="1600" dirty="0" err="1">
                <a:sym typeface="Wingdings" panose="05000000000000000000" pitchFamily="2" charset="2"/>
              </a:rPr>
              <a:t>sinh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mình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một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chút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để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tạo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một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nhóm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đầy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đủ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môi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trường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năng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lượng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cơ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sở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phát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triển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i="1" dirty="0">
                <a:solidFill>
                  <a:srgbClr val="00B050"/>
                </a:solidFill>
                <a:sym typeface="Wingdings" panose="05000000000000000000" pitchFamily="2" charset="2"/>
              </a:rPr>
              <a:t> </a:t>
            </a:r>
            <a:r>
              <a:rPr lang="en-US" sz="16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Tập</a:t>
            </a:r>
            <a:r>
              <a:rPr lang="en-US" sz="16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hợp</a:t>
            </a:r>
            <a:r>
              <a:rPr lang="en-US" sz="16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nhóm</a:t>
            </a:r>
            <a:r>
              <a:rPr lang="en-US" sz="16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là</a:t>
            </a:r>
            <a:r>
              <a:rPr lang="en-US" sz="16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điểm</a:t>
            </a:r>
            <a:r>
              <a:rPr lang="en-US" sz="16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bắt</a:t>
            </a:r>
            <a:r>
              <a:rPr lang="en-US" sz="16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đầu</a:t>
            </a:r>
            <a:r>
              <a:rPr lang="en-US" sz="1600" i="1" dirty="0">
                <a:solidFill>
                  <a:srgbClr val="00B050"/>
                </a:solidFill>
                <a:sym typeface="Wingdings" panose="05000000000000000000" pitchFamily="2" charset="2"/>
              </a:rPr>
              <a:t>, </a:t>
            </a:r>
            <a:r>
              <a:rPr lang="en-US" sz="16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gắn</a:t>
            </a:r>
            <a:r>
              <a:rPr lang="en-US" sz="16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kết</a:t>
            </a:r>
            <a:r>
              <a:rPr lang="en-US" sz="16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nhóm</a:t>
            </a:r>
            <a:r>
              <a:rPr lang="en-US" sz="16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phát</a:t>
            </a:r>
            <a:r>
              <a:rPr lang="en-US" sz="16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triển</a:t>
            </a:r>
            <a:r>
              <a:rPr lang="en-US" sz="16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và</a:t>
            </a:r>
            <a:r>
              <a:rPr lang="en-US" sz="16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làm</a:t>
            </a:r>
            <a:r>
              <a:rPr lang="en-US" sz="16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việc</a:t>
            </a:r>
            <a:r>
              <a:rPr lang="en-US" sz="16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cùng</a:t>
            </a:r>
            <a:r>
              <a:rPr lang="en-US" sz="16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nhau</a:t>
            </a:r>
            <a:r>
              <a:rPr lang="en-US" sz="16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thành</a:t>
            </a:r>
            <a:r>
              <a:rPr lang="en-US" sz="16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công</a:t>
            </a:r>
            <a:r>
              <a:rPr lang="en-US" sz="16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là</a:t>
            </a:r>
            <a:r>
              <a:rPr lang="en-US" sz="16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đích</a:t>
            </a:r>
            <a:r>
              <a:rPr lang="en-US" sz="16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6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đến</a:t>
            </a:r>
            <a:r>
              <a:rPr lang="en-US" sz="1600" i="1" dirty="0">
                <a:solidFill>
                  <a:srgbClr val="00B050"/>
                </a:solidFill>
                <a:sym typeface="Wingdings" panose="05000000000000000000" pitchFamily="2" charset="2"/>
              </a:rPr>
              <a:t>”</a:t>
            </a:r>
            <a:endParaRPr lang="en-US" sz="1400" i="1" dirty="0">
              <a:solidFill>
                <a:srgbClr val="00B050"/>
              </a:solidFill>
              <a:sym typeface="Wingdings" panose="05000000000000000000" pitchFamily="2" charset="2"/>
            </a:endParaRP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1400" dirty="0">
              <a:sym typeface="Wingdings" panose="05000000000000000000" pitchFamily="2" charset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C653B-3B85-5893-AD15-565797D1D804}"/>
              </a:ext>
            </a:extLst>
          </p:cNvPr>
          <p:cNvSpPr txBox="1"/>
          <p:nvPr/>
        </p:nvSpPr>
        <p:spPr>
          <a:xfrm>
            <a:off x="1080020" y="1312999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Đầu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tư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để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lập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nhóm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thành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công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pic>
        <p:nvPicPr>
          <p:cNvPr id="4" name="Picture 2" descr="5 Giai đoạn Phát triển đội nhóm: Chiến lược để thành công">
            <a:extLst>
              <a:ext uri="{FF2B5EF4-FFF2-40B4-BE49-F238E27FC236}">
                <a16:creationId xmlns:a16="http://schemas.microsoft.com/office/drawing/2014/main" id="{F146C7CE-9ED6-77D6-7928-36D03F38CB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6" t="9297" r="9772"/>
          <a:stretch/>
        </p:blipFill>
        <p:spPr bwMode="auto">
          <a:xfrm>
            <a:off x="6837027" y="1690688"/>
            <a:ext cx="5294140" cy="4162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4580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1B84-4FFE-EC24-CDC6-B6774B31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I. TỔNG QUAN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3FC23-E826-BCBA-F7B3-73525B402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858640"/>
            <a:ext cx="7699310" cy="4351338"/>
          </a:xfrm>
        </p:spPr>
        <p:txBody>
          <a:bodyPr>
            <a:noAutofit/>
          </a:bodyPr>
          <a:lstStyle/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ym typeface="Wingdings" panose="05000000000000000000" pitchFamily="2" charset="2"/>
              </a:rPr>
              <a:t>Khoa </a:t>
            </a:r>
            <a:r>
              <a:rPr lang="en-US" sz="1400" dirty="0" err="1">
                <a:sym typeface="Wingdings" panose="05000000000000000000" pitchFamily="2" charset="2"/>
              </a:rPr>
              <a:t>học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quản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lý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chứng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minh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rằng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tinh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thần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việc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của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nhân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viên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liên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quan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trực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tiếp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tới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lợi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nhuận</a:t>
            </a:r>
            <a:r>
              <a:rPr lang="en-US" sz="1400" dirty="0">
                <a:sym typeface="Wingdings" panose="05000000000000000000" pitchFamily="2" charset="2"/>
              </a:rPr>
              <a:t> (</a:t>
            </a:r>
            <a:r>
              <a:rPr lang="en-US" sz="1400" dirty="0" err="1">
                <a:sym typeface="Wingdings" panose="05000000000000000000" pitchFamily="2" charset="2"/>
              </a:rPr>
              <a:t>tinh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thần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việc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hài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lòng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với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việc</a:t>
            </a:r>
            <a:r>
              <a:rPr lang="en-US" sz="1400" dirty="0">
                <a:sym typeface="Wingdings" panose="05000000000000000000" pitchFamily="2" charset="2"/>
              </a:rPr>
              <a:t>).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ym typeface="Wingdings" panose="05000000000000000000" pitchFamily="2" charset="2"/>
              </a:rPr>
              <a:t>Xét</a:t>
            </a:r>
            <a:r>
              <a:rPr lang="en-US" sz="1400" dirty="0">
                <a:sym typeface="Wingdings" panose="05000000000000000000" pitchFamily="2" charset="2"/>
              </a:rPr>
              <a:t> ở </a:t>
            </a:r>
            <a:r>
              <a:rPr lang="en-US" sz="1400" dirty="0" err="1">
                <a:sym typeface="Wingdings" panose="05000000000000000000" pitchFamily="2" charset="2"/>
              </a:rPr>
              <a:t>độ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dài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của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gian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thì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khen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thưởng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bằng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tiền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lỗi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thời</a:t>
            </a:r>
            <a:r>
              <a:rPr lang="en-US" sz="1400" dirty="0">
                <a:sym typeface="Wingdings" panose="05000000000000000000" pitchFamily="2" charset="2"/>
              </a:rPr>
              <a:t>.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ym typeface="Wingdings" panose="05000000000000000000" pitchFamily="2" charset="2"/>
              </a:rPr>
              <a:t>Hai </a:t>
            </a:r>
            <a:r>
              <a:rPr lang="en-US" sz="1400" dirty="0" err="1">
                <a:sym typeface="Wingdings" panose="05000000000000000000" pitchFamily="2" charset="2"/>
              </a:rPr>
              <a:t>phần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đến</a:t>
            </a:r>
            <a:r>
              <a:rPr lang="en-US" sz="1400" dirty="0">
                <a:sym typeface="Wingdings" panose="05000000000000000000" pitchFamily="2" charset="2"/>
              </a:rPr>
              <a:t> ¾ </a:t>
            </a:r>
            <a:r>
              <a:rPr lang="en-US" sz="1400" dirty="0" err="1">
                <a:sym typeface="Wingdings" panose="05000000000000000000" pitchFamily="2" charset="2"/>
              </a:rPr>
              <a:t>các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nhân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viên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trên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toàn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cầu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nhân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viên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kém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hiệu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quả</a:t>
            </a:r>
            <a:r>
              <a:rPr lang="en-US" sz="1400" dirty="0">
                <a:sym typeface="Wingdings" panose="05000000000000000000" pitchFamily="2" charset="2"/>
              </a:rPr>
              <a:t>. Do </a:t>
            </a:r>
            <a:r>
              <a:rPr lang="en-US" sz="1400" dirty="0" err="1">
                <a:sym typeface="Wingdings" panose="05000000000000000000" pitchFamily="2" charset="2"/>
              </a:rPr>
              <a:t>đó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nhà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quản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trị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tìm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cahs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quản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lý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thành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công</a:t>
            </a:r>
            <a:r>
              <a:rPr lang="en-US" sz="1400" dirty="0">
                <a:sym typeface="Wingdings" panose="05000000000000000000" pitchFamily="2" charset="2"/>
              </a:rPr>
              <a:t> 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ta </a:t>
            </a:r>
            <a:r>
              <a:rPr lang="en-US" sz="1400" dirty="0" err="1">
                <a:sym typeface="Wingdings" panose="05000000000000000000" pitchFamily="2" charset="2"/>
              </a:rPr>
              <a:t>có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kết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luận</a:t>
            </a:r>
            <a:r>
              <a:rPr lang="en-US" sz="1400" dirty="0">
                <a:sym typeface="Wingdings" panose="05000000000000000000" pitchFamily="2" charset="2"/>
              </a:rPr>
              <a:t> “ </a:t>
            </a:r>
            <a:r>
              <a:rPr lang="en-US" sz="14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Quản</a:t>
            </a:r>
            <a:r>
              <a:rPr lang="en-US" sz="14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lý</a:t>
            </a:r>
            <a:r>
              <a:rPr lang="en-US" sz="1400" i="1" dirty="0">
                <a:solidFill>
                  <a:srgbClr val="00B050"/>
                </a:solidFill>
                <a:sym typeface="Wingdings" panose="05000000000000000000" pitchFamily="2" charset="2"/>
              </a:rPr>
              <a:t> con </a:t>
            </a:r>
            <a:r>
              <a:rPr lang="en-US" sz="14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người</a:t>
            </a:r>
            <a:r>
              <a:rPr lang="en-US" sz="14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và</a:t>
            </a:r>
            <a:r>
              <a:rPr lang="en-US" sz="14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quản</a:t>
            </a:r>
            <a:r>
              <a:rPr lang="en-US" sz="14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lý</a:t>
            </a:r>
            <a:r>
              <a:rPr lang="en-US" sz="14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hành</a:t>
            </a:r>
            <a:r>
              <a:rPr lang="en-US" sz="1400" i="1" dirty="0">
                <a:solidFill>
                  <a:srgbClr val="00B050"/>
                </a:solidFill>
                <a:sym typeface="Wingdings" panose="05000000000000000000" pitchFamily="2" charset="2"/>
              </a:rPr>
              <a:t> vi con </a:t>
            </a:r>
            <a:r>
              <a:rPr lang="en-US" sz="14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người</a:t>
            </a:r>
            <a:r>
              <a:rPr lang="en-US" sz="14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không</a:t>
            </a:r>
            <a:r>
              <a:rPr lang="en-US" sz="14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dẫn</a:t>
            </a:r>
            <a:r>
              <a:rPr lang="en-US" sz="14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tới</a:t>
            </a:r>
            <a:r>
              <a:rPr lang="en-US" sz="14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sự</a:t>
            </a:r>
            <a:r>
              <a:rPr lang="en-US" sz="14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thanh</a:t>
            </a:r>
            <a:r>
              <a:rPr lang="en-US" sz="14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đổi</a:t>
            </a:r>
            <a:r>
              <a:rPr lang="en-US" sz="14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trong</a:t>
            </a:r>
            <a:r>
              <a:rPr lang="en-US" sz="14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phát</a:t>
            </a:r>
            <a:r>
              <a:rPr lang="en-US" sz="1400" i="1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triển</a:t>
            </a:r>
            <a:r>
              <a:rPr lang="en-US" sz="1400" i="1" dirty="0">
                <a:solidFill>
                  <a:srgbClr val="00B050"/>
                </a:solidFill>
                <a:sym typeface="Wingdings" panose="05000000000000000000" pitchFamily="2" charset="2"/>
              </a:rPr>
              <a:t>”.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ym typeface="Wingdings" panose="05000000000000000000" pitchFamily="2" charset="2"/>
              </a:rPr>
              <a:t>Do </a:t>
            </a:r>
            <a:r>
              <a:rPr lang="en-US" sz="1400" dirty="0" err="1">
                <a:sym typeface="Wingdings" panose="05000000000000000000" pitchFamily="2" charset="2"/>
              </a:rPr>
              <a:t>đó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mô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hình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huấn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luyện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tập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trung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vào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tinh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thần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việc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của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nhóm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được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hình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thành</a:t>
            </a:r>
            <a:r>
              <a:rPr lang="en-US" sz="1400" dirty="0">
                <a:sym typeface="Wingdings" panose="05000000000000000000" pitchFamily="2" charset="2"/>
              </a:rPr>
              <a:t>  </a:t>
            </a:r>
            <a:r>
              <a:rPr lang="en-US" sz="1400" dirty="0" err="1">
                <a:sym typeface="Wingdings" panose="05000000000000000000" pitchFamily="2" charset="2"/>
              </a:rPr>
              <a:t>xây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dựng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tư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duy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mới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điều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quết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định</a:t>
            </a:r>
            <a:r>
              <a:rPr lang="en-US" sz="1400" dirty="0">
                <a:sym typeface="Wingdings" panose="05000000000000000000" pitchFamily="2" charset="2"/>
              </a:rPr>
              <a:t>.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ym typeface="Wingdings" panose="05000000000000000000" pitchFamily="2" charset="2"/>
              </a:rPr>
              <a:t>Kết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quả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của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mô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hình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huấn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luyện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này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đem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lại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kết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quả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cao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hơn</a:t>
            </a:r>
            <a:r>
              <a:rPr lang="en-US" sz="1400" dirty="0">
                <a:sym typeface="Wingdings" panose="05000000000000000000" pitchFamily="2" charset="2"/>
              </a:rPr>
              <a:t> so </a:t>
            </a:r>
            <a:r>
              <a:rPr lang="en-US" sz="1400" dirty="0" err="1">
                <a:sym typeface="Wingdings" panose="05000000000000000000" pitchFamily="2" charset="2"/>
              </a:rPr>
              <a:t>với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mô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hình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quản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lý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kiểm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soát</a:t>
            </a:r>
            <a:r>
              <a:rPr lang="en-US" sz="1400" dirty="0">
                <a:sym typeface="Wingdings" panose="05000000000000000000" pitchFamily="2" charset="2"/>
              </a:rPr>
              <a:t>  con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điều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khiển</a:t>
            </a:r>
            <a:r>
              <a:rPr lang="en-US" sz="1400" dirty="0">
                <a:sym typeface="Wingdings" panose="05000000000000000000" pitchFamily="2" charset="2"/>
              </a:rPr>
              <a:t> con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.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ym typeface="Wingdings" panose="05000000000000000000" pitchFamily="2" charset="2"/>
              </a:rPr>
              <a:t> </a:t>
            </a:r>
            <a:r>
              <a:rPr lang="en-US" sz="1400" dirty="0" err="1">
                <a:sym typeface="Wingdings" panose="05000000000000000000" pitchFamily="2" charset="2"/>
              </a:rPr>
              <a:t>Lý</a:t>
            </a:r>
            <a:r>
              <a:rPr lang="en-US" sz="1400" dirty="0">
                <a:sym typeface="Wingdings" panose="05000000000000000000" pitchFamily="2" charset="2"/>
              </a:rPr>
              <a:t> do, </a:t>
            </a:r>
            <a:r>
              <a:rPr lang="en-US" sz="1400" dirty="0" err="1">
                <a:sym typeface="Wingdings" panose="05000000000000000000" pitchFamily="2" charset="2"/>
              </a:rPr>
              <a:t>nhiệt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huyết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lực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việc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không</a:t>
            </a:r>
            <a:r>
              <a:rPr lang="en-US" sz="1400" dirty="0">
                <a:sym typeface="Wingdings" panose="05000000000000000000" pitchFamily="2" charset="2"/>
              </a:rPr>
              <a:t> bao </a:t>
            </a:r>
            <a:r>
              <a:rPr lang="en-US" sz="1400" dirty="0" err="1">
                <a:sym typeface="Wingdings" panose="05000000000000000000" pitchFamily="2" charset="2"/>
              </a:rPr>
              <a:t>giờ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đến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từ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bên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ngoài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đến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từ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bên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trong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mỗi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cá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nhân</a:t>
            </a:r>
            <a:r>
              <a:rPr lang="en-US" sz="1400" dirty="0">
                <a:sym typeface="Wingdings" panose="05000000000000000000" pitchFamily="2" charset="2"/>
              </a:rPr>
              <a:t>.  </a:t>
            </a:r>
            <a:r>
              <a:rPr lang="en-US" sz="1400" dirty="0" err="1">
                <a:sym typeface="Wingdings" panose="05000000000000000000" pitchFamily="2" charset="2"/>
              </a:rPr>
              <a:t>từ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đòi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hỏi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một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sự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thay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đổi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tích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cực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lớn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từ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lãnh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đạo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mang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lại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tư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duy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phát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triển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mỗi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cá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nhân</a:t>
            </a:r>
            <a:r>
              <a:rPr lang="en-US" sz="1400" dirty="0">
                <a:sym typeface="Wingdings" panose="05000000000000000000" pitchFamily="2" charset="2"/>
              </a:rPr>
              <a:t>.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ym typeface="Wingdings" panose="05000000000000000000" pitchFamily="2" charset="2"/>
              </a:rPr>
              <a:t> </a:t>
            </a:r>
            <a:r>
              <a:rPr lang="en-US" sz="1400" dirty="0" err="1">
                <a:sym typeface="Wingdings" panose="05000000000000000000" pitchFamily="2" charset="2"/>
              </a:rPr>
              <a:t>Mỗi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nhân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viên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cần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tới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quản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lý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để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lãnh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đạo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hay </a:t>
            </a:r>
            <a:r>
              <a:rPr lang="en-US" sz="1400" dirty="0" err="1">
                <a:sym typeface="Wingdings" panose="05000000000000000000" pitchFamily="2" charset="2"/>
              </a:rPr>
              <a:t>quản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lý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cố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thay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đổi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hành</a:t>
            </a:r>
            <a:r>
              <a:rPr lang="en-US" sz="1400" dirty="0">
                <a:sym typeface="Wingdings" panose="05000000000000000000" pitchFamily="2" charset="2"/>
              </a:rPr>
              <a:t> vi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đặt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trên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nền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tảng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tầm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nhìn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sứ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mạng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của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mới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quyết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định</a:t>
            </a:r>
            <a:r>
              <a:rPr lang="en-US" sz="1400" dirty="0"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C653B-3B85-5893-AD15-565797D1D804}"/>
              </a:ext>
            </a:extLst>
          </p:cNvPr>
          <p:cNvSpPr txBox="1"/>
          <p:nvPr/>
        </p:nvSpPr>
        <p:spPr>
          <a:xfrm>
            <a:off x="1080020" y="1312999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rgbClr val="002060"/>
                </a:solidFill>
                <a:latin typeface="Calibri" panose="020F0502020204030204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Hãy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huấn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luyện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từng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quản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lý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pic>
        <p:nvPicPr>
          <p:cNvPr id="4098" name="Picture 2" descr="Các kỹ năng quản lý đội nhóm giúp lãnh đạo giữ chân nhân tài">
            <a:extLst>
              <a:ext uri="{FF2B5EF4-FFF2-40B4-BE49-F238E27FC236}">
                <a16:creationId xmlns:a16="http://schemas.microsoft.com/office/drawing/2014/main" id="{44EAB104-AF34-84A7-39F7-6E0E261B7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310" y="2121191"/>
            <a:ext cx="4111690" cy="2855340"/>
          </a:xfrm>
          <a:prstGeom prst="rect">
            <a:avLst/>
          </a:prstGeom>
          <a:noFill/>
          <a:effectLst>
            <a:glow rad="228600">
              <a:schemeClr val="accent6">
                <a:satMod val="175000"/>
                <a:alpha val="40000"/>
              </a:schemeClr>
            </a:glow>
          </a:effectLst>
          <a:scene3d>
            <a:camera prst="isometricOffAxis1Righ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1051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1B84-4FFE-EC24-CDC6-B6774B31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II. TRANG BỊ CHO NHÓM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3FC23-E826-BCBA-F7B3-73525B402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071" y="1798995"/>
            <a:ext cx="7699310" cy="4351338"/>
          </a:xfrm>
        </p:spPr>
        <p:txBody>
          <a:bodyPr>
            <a:noAutofit/>
          </a:bodyPr>
          <a:lstStyle/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ym typeface="Wingdings" panose="05000000000000000000" pitchFamily="2" charset="2"/>
              </a:rPr>
              <a:t>Những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thân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cận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nhất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với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lãnh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đạo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quyết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định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mọi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thành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của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lãnh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đạo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i="1" dirty="0">
                <a:solidFill>
                  <a:srgbClr val="C00000"/>
                </a:solidFill>
                <a:sym typeface="Wingdings" panose="05000000000000000000" pitchFamily="2" charset="2"/>
              </a:rPr>
              <a:t>(</a:t>
            </a:r>
            <a:r>
              <a:rPr lang="en-US" sz="1400" i="1" dirty="0" err="1">
                <a:solidFill>
                  <a:srgbClr val="C00000"/>
                </a:solidFill>
                <a:sym typeface="Wingdings" panose="05000000000000000000" pitchFamily="2" charset="2"/>
              </a:rPr>
              <a:t>Lãnh</a:t>
            </a:r>
            <a:r>
              <a:rPr lang="en-US" sz="1400" i="1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 err="1">
                <a:solidFill>
                  <a:srgbClr val="C00000"/>
                </a:solidFill>
                <a:sym typeface="Wingdings" panose="05000000000000000000" pitchFamily="2" charset="2"/>
              </a:rPr>
              <a:t>đạo</a:t>
            </a:r>
            <a:r>
              <a:rPr lang="en-US" sz="1400" i="1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 err="1">
                <a:solidFill>
                  <a:srgbClr val="C00000"/>
                </a:solidFill>
                <a:sym typeface="Wingdings" panose="05000000000000000000" pitchFamily="2" charset="2"/>
              </a:rPr>
              <a:t>thành</a:t>
            </a:r>
            <a:r>
              <a:rPr lang="en-US" sz="1400" i="1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 err="1">
                <a:solidFill>
                  <a:srgbClr val="C00000"/>
                </a:solidFill>
                <a:sym typeface="Wingdings" panose="05000000000000000000" pitchFamily="2" charset="2"/>
              </a:rPr>
              <a:t>công</a:t>
            </a:r>
            <a:r>
              <a:rPr lang="en-US" sz="1400" i="1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 err="1">
                <a:solidFill>
                  <a:srgbClr val="C00000"/>
                </a:solidFill>
                <a:sym typeface="Wingdings" panose="05000000000000000000" pitchFamily="2" charset="2"/>
              </a:rPr>
              <a:t>thông</a:t>
            </a:r>
            <a:r>
              <a:rPr lang="en-US" sz="1400" i="1" dirty="0">
                <a:solidFill>
                  <a:srgbClr val="C00000"/>
                </a:solidFill>
                <a:sym typeface="Wingdings" panose="05000000000000000000" pitchFamily="2" charset="2"/>
              </a:rPr>
              <a:t> qua </a:t>
            </a:r>
            <a:r>
              <a:rPr lang="en-US" sz="1400" i="1" dirty="0" err="1">
                <a:solidFill>
                  <a:srgbClr val="C00000"/>
                </a:solidFill>
                <a:sym typeface="Wingdings" panose="05000000000000000000" pitchFamily="2" charset="2"/>
              </a:rPr>
              <a:t>người</a:t>
            </a:r>
            <a:r>
              <a:rPr lang="en-US" sz="1400" i="1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 err="1">
                <a:solidFill>
                  <a:srgbClr val="C00000"/>
                </a:solidFill>
                <a:sym typeface="Wingdings" panose="05000000000000000000" pitchFamily="2" charset="2"/>
              </a:rPr>
              <a:t>khác</a:t>
            </a:r>
            <a:r>
              <a:rPr lang="en-US" sz="1400" i="1" dirty="0">
                <a:solidFill>
                  <a:srgbClr val="C00000"/>
                </a:solidFill>
                <a:sym typeface="Wingdings" panose="05000000000000000000" pitchFamily="2" charset="2"/>
              </a:rPr>
              <a:t>).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ym typeface="Wingdings" panose="05000000000000000000" pitchFamily="2" charset="2"/>
              </a:rPr>
              <a:t>Những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lãnh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đạo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vĩ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đại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đều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những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đặc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điểm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chung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sau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đây</a:t>
            </a:r>
            <a:r>
              <a:rPr lang="en-US" sz="1400" dirty="0">
                <a:sym typeface="Wingdings" panose="05000000000000000000" pitchFamily="2" charset="2"/>
              </a:rPr>
              <a:t> (1%/</a:t>
            </a:r>
            <a:r>
              <a:rPr lang="en-US" sz="1400" dirty="0" err="1">
                <a:sym typeface="Wingdings" panose="05000000000000000000" pitchFamily="2" charset="2"/>
              </a:rPr>
              <a:t>các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lãnh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đạo</a:t>
            </a:r>
            <a:r>
              <a:rPr lang="en-US" sz="1400" dirty="0">
                <a:sym typeface="Wingdings" panose="05000000000000000000" pitchFamily="2" charset="2"/>
              </a:rPr>
              <a:t>):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sz="1200" dirty="0" err="1">
                <a:sym typeface="Wingdings" panose="05000000000000000000" pitchFamily="2" charset="2"/>
              </a:rPr>
              <a:t>Họ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biết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thu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nhận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và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kéo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người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giỏi</a:t>
            </a:r>
            <a:r>
              <a:rPr lang="en-US" sz="1200" dirty="0">
                <a:sym typeface="Wingdings" panose="05000000000000000000" pitchFamily="2" charset="2"/>
              </a:rPr>
              <a:t>, </a:t>
            </a:r>
            <a:r>
              <a:rPr lang="en-US" sz="1200" dirty="0" err="1">
                <a:sym typeface="Wingdings" panose="05000000000000000000" pitchFamily="2" charset="2"/>
              </a:rPr>
              <a:t>họ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chính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là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người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quan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trọng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nhất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của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nhà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lãnh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đạo</a:t>
            </a:r>
            <a:r>
              <a:rPr lang="en-US" sz="1200" dirty="0">
                <a:sym typeface="Wingdings" panose="05000000000000000000" pitchFamily="2" charset="2"/>
              </a:rPr>
              <a:t>. </a:t>
            </a:r>
            <a:r>
              <a:rPr lang="en-US" sz="1200" dirty="0" err="1">
                <a:sym typeface="Wingdings" panose="05000000000000000000" pitchFamily="2" charset="2"/>
              </a:rPr>
              <a:t>Vì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một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tổ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chức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không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thể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tăng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hiệu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quả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nhưng</a:t>
            </a:r>
            <a:r>
              <a:rPr lang="en-US" sz="1200" dirty="0">
                <a:sym typeface="Wingdings" panose="05000000000000000000" pitchFamily="2" charset="2"/>
              </a:rPr>
              <a:t> con </a:t>
            </a:r>
            <a:r>
              <a:rPr lang="en-US" sz="1200" dirty="0" err="1">
                <a:sym typeface="Wingdings" panose="05000000000000000000" pitchFamily="2" charset="2"/>
              </a:rPr>
              <a:t>người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có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thể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tăng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được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hiệu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quả</a:t>
            </a:r>
            <a:r>
              <a:rPr lang="en-US" sz="1200" dirty="0">
                <a:sym typeface="Wingdings" panose="05000000000000000000" pitchFamily="2" charset="2"/>
              </a:rPr>
              <a:t>, </a:t>
            </a:r>
            <a:r>
              <a:rPr lang="en-US" sz="1200" dirty="0" err="1">
                <a:sym typeface="Wingdings" panose="05000000000000000000" pitchFamily="2" charset="2"/>
              </a:rPr>
              <a:t>máy</a:t>
            </a:r>
            <a:r>
              <a:rPr lang="en-US" sz="1200" dirty="0">
                <a:sym typeface="Wingdings" panose="05000000000000000000" pitchFamily="2" charset="2"/>
              </a:rPr>
              <a:t> hao </a:t>
            </a:r>
            <a:r>
              <a:rPr lang="en-US" sz="1200" dirty="0" err="1">
                <a:sym typeface="Wingdings" panose="05000000000000000000" pitchFamily="2" charset="2"/>
              </a:rPr>
              <a:t>mòn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theo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thời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gian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nhưng</a:t>
            </a:r>
            <a:r>
              <a:rPr lang="en-US" sz="1200" dirty="0">
                <a:sym typeface="Wingdings" panose="05000000000000000000" pitchFamily="2" charset="2"/>
              </a:rPr>
              <a:t> con </a:t>
            </a:r>
            <a:r>
              <a:rPr lang="en-US" sz="1200" dirty="0" err="1">
                <a:sym typeface="Wingdings" panose="05000000000000000000" pitchFamily="2" charset="2"/>
              </a:rPr>
              <a:t>người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được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rèn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luyện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sẽ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trưởng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thành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theo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thời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gian</a:t>
            </a:r>
            <a:r>
              <a:rPr lang="en-US" sz="1200" dirty="0">
                <a:sym typeface="Wingdings" panose="05000000000000000000" pitchFamily="2" charset="2"/>
              </a:rPr>
              <a:t> (</a:t>
            </a:r>
            <a:r>
              <a:rPr lang="en-US" sz="1200" dirty="0" err="1">
                <a:sym typeface="Wingdings" panose="05000000000000000000" pitchFamily="2" charset="2"/>
              </a:rPr>
              <a:t>nếu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họ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là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người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giỏi</a:t>
            </a:r>
            <a:r>
              <a:rPr lang="en-US" sz="1200" dirty="0">
                <a:sym typeface="Wingdings" panose="05000000000000000000" pitchFamily="2" charset="2"/>
              </a:rPr>
              <a:t>).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sz="1200" dirty="0" err="1">
                <a:sym typeface="Wingdings" panose="05000000000000000000" pitchFamily="2" charset="2"/>
              </a:rPr>
              <a:t>Họ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phát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triển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và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huấn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luyện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cho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người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thân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cận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thành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người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lãnh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đạo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xung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quanh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mình</a:t>
            </a:r>
            <a:r>
              <a:rPr lang="en-US" sz="1200" dirty="0">
                <a:sym typeface="Wingdings" panose="05000000000000000000" pitchFamily="2" charset="2"/>
              </a:rPr>
              <a:t>, </a:t>
            </a:r>
            <a:r>
              <a:rPr lang="en-US" sz="1200" dirty="0" err="1">
                <a:sym typeface="Wingdings" panose="05000000000000000000" pitchFamily="2" charset="2"/>
              </a:rPr>
              <a:t>đê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biến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viễn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cãnh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thânhf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hiện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thực</a:t>
            </a:r>
            <a:r>
              <a:rPr lang="en-US" sz="1200" dirty="0">
                <a:sym typeface="Wingdings" panose="05000000000000000000" pitchFamily="2" charset="2"/>
              </a:rPr>
              <a:t> (</a:t>
            </a:r>
            <a:r>
              <a:rPr lang="en-US" sz="1200" dirty="0" err="1">
                <a:sym typeface="Wingdings" panose="05000000000000000000" pitchFamily="2" charset="2"/>
              </a:rPr>
              <a:t>còn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chính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họ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chỉ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ngồi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nhìn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bức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tranh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tổng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thể</a:t>
            </a:r>
            <a:r>
              <a:rPr lang="en-US" sz="1200" dirty="0">
                <a:sym typeface="Wingdings" panose="05000000000000000000" pitchFamily="2" charset="2"/>
              </a:rPr>
              <a:t>).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sz="1200" dirty="0" err="1">
                <a:sym typeface="Wingdings" panose="05000000000000000000" pitchFamily="2" charset="2"/>
              </a:rPr>
              <a:t>Họ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liên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tục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thạo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ra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thân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cận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với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một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số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đông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để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giảm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gánh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nặng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tối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đa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cho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họ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và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đương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nhiên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họ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mở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rộng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được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tầm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nhìn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dài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hạn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cho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tổ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chức</a:t>
            </a:r>
            <a:r>
              <a:rPr lang="en-US" sz="1200" dirty="0">
                <a:sym typeface="Wingdings" panose="05000000000000000000" pitchFamily="2" charset="2"/>
              </a:rPr>
              <a:t>.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ym typeface="Wingdings" panose="05000000000000000000" pitchFamily="2" charset="2"/>
              </a:rPr>
              <a:t>Do </a:t>
            </a:r>
            <a:r>
              <a:rPr lang="en-US" sz="1400" dirty="0" err="1">
                <a:sym typeface="Wingdings" panose="05000000000000000000" pitchFamily="2" charset="2"/>
              </a:rPr>
              <a:t>vậy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chọn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để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trang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bị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cực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quan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trọng</a:t>
            </a:r>
            <a:r>
              <a:rPr lang="en-US" sz="1400" dirty="0">
                <a:sym typeface="Wingdings" panose="05000000000000000000" pitchFamily="2" charset="2"/>
              </a:rPr>
              <a:t>. </a:t>
            </a:r>
            <a:r>
              <a:rPr lang="en-US" sz="1400" dirty="0" err="1">
                <a:sym typeface="Wingdings" panose="05000000000000000000" pitchFamily="2" charset="2"/>
              </a:rPr>
              <a:t>Vì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chìa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khoá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của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đẹ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tử</a:t>
            </a:r>
            <a:r>
              <a:rPr lang="en-US" sz="1400" dirty="0">
                <a:sym typeface="Wingdings" panose="05000000000000000000" pitchFamily="2" charset="2"/>
              </a:rPr>
              <a:t> ở </a:t>
            </a:r>
            <a:r>
              <a:rPr lang="en-US" sz="1400" dirty="0" err="1">
                <a:sym typeface="Wingdings" panose="05000000000000000000" pitchFamily="2" charset="2"/>
              </a:rPr>
              <a:t>chổ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phải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giỏi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nhất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sau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phải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trang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bị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giỏi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hơn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nữa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để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tiếp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tục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tạo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ra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kẻ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lãnh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đạo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giỏi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hơn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nữa</a:t>
            </a:r>
            <a:r>
              <a:rPr lang="en-US" sz="1400" dirty="0">
                <a:sym typeface="Wingdings" panose="05000000000000000000" pitchFamily="2" charset="2"/>
              </a:rPr>
              <a:t>.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lãnh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đạo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cấp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trung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quyết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định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mọi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thành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công</a:t>
            </a:r>
            <a:r>
              <a:rPr lang="en-US" sz="1400" dirty="0">
                <a:sym typeface="Wingdings" panose="05000000000000000000" pitchFamily="2" charset="2"/>
              </a:rPr>
              <a:t> hay </a:t>
            </a:r>
            <a:r>
              <a:rPr lang="en-US" sz="1400" dirty="0" err="1">
                <a:sym typeface="Wingdings" panose="05000000000000000000" pitchFamily="2" charset="2"/>
              </a:rPr>
              <a:t>thất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bại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của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lãnh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đạo</a:t>
            </a:r>
            <a:r>
              <a:rPr lang="en-US" sz="1400" dirty="0"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endParaRPr lang="en-US" sz="1200" dirty="0">
              <a:sym typeface="Wingdings" panose="05000000000000000000" pitchFamily="2" charset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C653B-3B85-5893-AD15-565797D1D804}"/>
              </a:ext>
            </a:extLst>
          </p:cNvPr>
          <p:cNvSpPr txBox="1"/>
          <p:nvPr/>
        </p:nvSpPr>
        <p:spPr>
          <a:xfrm>
            <a:off x="1080020" y="1312999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Lãnh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đạo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nhóm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pic>
        <p:nvPicPr>
          <p:cNvPr id="7170" name="Picture 2" descr="Làm lãnh đạo mà không có 5 đặc điểm này, đừng hỏi vì sao nhân viên thay  nhau nghỉ việc: Gặp sếp hội tụ đủ, bạn nhớ phò tá lâu dài!">
            <a:extLst>
              <a:ext uri="{FF2B5EF4-FFF2-40B4-BE49-F238E27FC236}">
                <a16:creationId xmlns:a16="http://schemas.microsoft.com/office/drawing/2014/main" id="{551D1706-9DB3-E8DC-A7A2-01BE4F5C77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52" r="20882"/>
          <a:stretch/>
        </p:blipFill>
        <p:spPr bwMode="auto">
          <a:xfrm>
            <a:off x="8244374" y="2247416"/>
            <a:ext cx="3813304" cy="2530772"/>
          </a:xfrm>
          <a:prstGeom prst="rect">
            <a:avLst/>
          </a:prstGeom>
          <a:noFill/>
          <a:effectLst>
            <a:glow rad="228600">
              <a:schemeClr val="accent4">
                <a:satMod val="175000"/>
                <a:alpha val="40000"/>
              </a:schemeClr>
            </a:glow>
          </a:effectLst>
          <a:scene3d>
            <a:camera prst="isometricOffAxis2Lef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3083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1B84-4FFE-EC24-CDC6-B6774B31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II. TRANG BỊ CHO NHÓM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3FC23-E826-BCBA-F7B3-73525B402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858640"/>
            <a:ext cx="7699310" cy="4351338"/>
          </a:xfrm>
        </p:spPr>
        <p:txBody>
          <a:bodyPr>
            <a:noAutofit/>
          </a:bodyPr>
          <a:lstStyle/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Chú</a:t>
            </a:r>
            <a:r>
              <a:rPr lang="en-US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 ý: </a:t>
            </a:r>
            <a:r>
              <a:rPr lang="en-US" sz="1400" dirty="0" err="1">
                <a:sym typeface="Wingdings" panose="05000000000000000000" pitchFamily="2" charset="2"/>
              </a:rPr>
              <a:t>khó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khăn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lớn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nhất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chọn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đệ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tử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lả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nỗi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sợ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hãi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tại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sao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mình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phải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tạo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ra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kẻ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ngang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hàng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mình</a:t>
            </a:r>
            <a:r>
              <a:rPr lang="en-US" sz="1400" dirty="0">
                <a:sym typeface="Wingdings" panose="05000000000000000000" pitchFamily="2" charset="2"/>
              </a:rPr>
              <a:t>. Do </a:t>
            </a:r>
            <a:r>
              <a:rPr lang="en-US" sz="1400" dirty="0" err="1">
                <a:sym typeface="Wingdings" panose="05000000000000000000" pitchFamily="2" charset="2"/>
              </a:rPr>
              <a:t>đó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để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khắc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phục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ta </a:t>
            </a:r>
            <a:r>
              <a:rPr lang="en-US" sz="1400" dirty="0" err="1">
                <a:sym typeface="Wingdings" panose="05000000000000000000" pitchFamily="2" charset="2"/>
              </a:rPr>
              <a:t>chọn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phương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án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loại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bỏ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nỗi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sợ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hải</a:t>
            </a:r>
            <a:r>
              <a:rPr lang="en-US" sz="1400" dirty="0">
                <a:sym typeface="Wingdings" panose="05000000000000000000" pitchFamily="2" charset="2"/>
              </a:rPr>
              <a:t>  </a:t>
            </a:r>
            <a:r>
              <a:rPr lang="en-US" sz="1400" dirty="0" err="1">
                <a:sym typeface="Wingdings" panose="05000000000000000000" pitchFamily="2" charset="2"/>
              </a:rPr>
              <a:t>chiến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thắng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bằng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dự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hợp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tác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đôi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bên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đều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lợi</a:t>
            </a:r>
            <a:r>
              <a:rPr lang="en-US" sz="1400" dirty="0"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endParaRPr lang="en-US" sz="1200" dirty="0">
              <a:sym typeface="Wingdings" panose="05000000000000000000" pitchFamily="2" charset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C653B-3B85-5893-AD15-565797D1D804}"/>
              </a:ext>
            </a:extLst>
          </p:cNvPr>
          <p:cNvSpPr txBox="1"/>
          <p:nvPr/>
        </p:nvSpPr>
        <p:spPr>
          <a:xfrm>
            <a:off x="1080020" y="1312999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noProof="0" dirty="0">
                <a:solidFill>
                  <a:srgbClr val="002060"/>
                </a:solidFill>
                <a:latin typeface="Calibri" panose="020F0502020204030204"/>
              </a:rPr>
              <a:t>1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Lãnh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đạo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nhóm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pic>
        <p:nvPicPr>
          <p:cNvPr id="6146" name="Picture 2" descr="MÔ HÌNH CHIẾN LƯỢC QUẢN TRỊ NHÂN TÀI - Công ty TNHH Tư vấn Quản lý OD Click">
            <a:extLst>
              <a:ext uri="{FF2B5EF4-FFF2-40B4-BE49-F238E27FC236}">
                <a16:creationId xmlns:a16="http://schemas.microsoft.com/office/drawing/2014/main" id="{5E2A2359-C212-3129-3C41-7D8E980CC8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661" y="1981200"/>
            <a:ext cx="3977499" cy="3334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53C5BCCB-DFD3-8EDF-16CF-A74970BF85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526978"/>
              </p:ext>
            </p:extLst>
          </p:nvPr>
        </p:nvGraphicFramePr>
        <p:xfrm>
          <a:off x="381000" y="3040370"/>
          <a:ext cx="8128000" cy="33375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5620706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404737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CHIẾN THẮNG BẰNG CẠNH TRANH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CHIẾN THẮNG BẰNG HỢP TÁC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616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Coi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người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khác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là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đối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thủ</a:t>
                      </a:r>
                      <a:endParaRPr lang="en-US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người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khác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là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chính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mình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912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Tập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trung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vào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chính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mình</a:t>
                      </a:r>
                      <a:endParaRPr lang="en-US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Tập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trung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vào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mọi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người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045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Luôn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nghi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ngời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người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khác</a:t>
                      </a:r>
                      <a:endParaRPr lang="en-US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Luôn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hỗ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trợ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người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khác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740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Chiến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thắng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khi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ta 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đủ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 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giỏi</a:t>
                      </a:r>
                      <a:endParaRPr lang="en-US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Chiến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thắng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khi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người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khác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đủ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giỏi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1204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Chiến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thắng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bằng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kỹ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năng</a:t>
                      </a:r>
                      <a:endParaRPr lang="en-US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Chiến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thắng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bằng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đội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nhóm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047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Chiến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thắng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nhỏ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(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cá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nhân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Chiến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thắng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lớn</a:t>
                      </a:r>
                      <a:r>
                        <a:rPr lang="en-US" dirty="0"/>
                        <a:t> ( </a:t>
                      </a:r>
                      <a:r>
                        <a:rPr lang="en-US" dirty="0" err="1"/>
                        <a:t>toàn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đội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432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Có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niềm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vui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nhưng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rất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ít</a:t>
                      </a:r>
                      <a:endParaRPr lang="en-US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Có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niềm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vui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chung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rất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nhiều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407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Có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người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thắng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– 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có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người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thua</a:t>
                      </a:r>
                      <a:endParaRPr lang="en-US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Cả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hai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cùng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thằng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6119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9891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1B84-4FFE-EC24-CDC6-B6774B31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II. TRANG BỊ CHO NHÓM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3FC23-E826-BCBA-F7B3-73525B402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7565" y="1774664"/>
            <a:ext cx="8018929" cy="4351338"/>
          </a:xfrm>
        </p:spPr>
        <p:txBody>
          <a:bodyPr>
            <a:noAutofit/>
          </a:bodyPr>
          <a:lstStyle/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Chú</a:t>
            </a:r>
            <a:r>
              <a:rPr lang="en-US" sz="1600" b="1" dirty="0">
                <a:solidFill>
                  <a:srgbClr val="FF0000"/>
                </a:solidFill>
                <a:sym typeface="Wingdings" panose="05000000000000000000" pitchFamily="2" charset="2"/>
              </a:rPr>
              <a:t> ý </a:t>
            </a:r>
            <a:r>
              <a:rPr lang="en-US" sz="16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khi</a:t>
            </a:r>
            <a:r>
              <a:rPr lang="en-US" sz="16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chọn</a:t>
            </a:r>
            <a:r>
              <a:rPr lang="en-US" sz="1600" b="1" dirty="0">
                <a:solidFill>
                  <a:srgbClr val="FF0000"/>
                </a:solidFill>
                <a:sym typeface="Wingdings" panose="05000000000000000000" pitchFamily="2" charset="2"/>
              </a:rPr>
              <a:t>: 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Có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một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thứ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rất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hiếm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găp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và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quan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trọng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hơn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tài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năng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đó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chính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là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nhận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diện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được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khả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năng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của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người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khác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Khả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năng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nhìn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thấy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bức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tranh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tổng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thể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của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một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cá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nhân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chọn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đệ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tử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là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điều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khó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khăn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Khả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năng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phán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xét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ứng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viên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tiềm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năng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phải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rất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nhanh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nhạy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mới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có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(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trực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giác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phải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sym typeface="Wingdings" panose="05000000000000000000" pitchFamily="2" charset="2"/>
              </a:rPr>
              <a:t>tốt</a:t>
            </a:r>
            <a:r>
              <a:rPr lang="en-US" sz="1400" b="1" dirty="0">
                <a:solidFill>
                  <a:srgbClr val="002060"/>
                </a:solidFill>
                <a:sym typeface="Wingdings" panose="05000000000000000000" pitchFamily="2" charset="2"/>
              </a:rPr>
              <a:t>).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r>
              <a:rPr lang="en-US" sz="1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Đệ</a:t>
            </a:r>
            <a:r>
              <a:rPr lang="en-US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tử</a:t>
            </a:r>
            <a:r>
              <a:rPr lang="en-US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cẩn</a:t>
            </a:r>
            <a:r>
              <a:rPr lang="en-US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phải</a:t>
            </a:r>
            <a:r>
              <a:rPr lang="en-US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có</a:t>
            </a:r>
            <a:r>
              <a:rPr lang="en-US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những</a:t>
            </a:r>
            <a:r>
              <a:rPr lang="en-US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phẩm</a:t>
            </a:r>
            <a:r>
              <a:rPr lang="en-US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chất</a:t>
            </a:r>
            <a:r>
              <a:rPr lang="en-US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như</a:t>
            </a:r>
            <a:r>
              <a:rPr lang="en-US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sau</a:t>
            </a:r>
            <a:r>
              <a:rPr lang="en-US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.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b="1" dirty="0" err="1">
                <a:sym typeface="Wingdings" panose="05000000000000000000" pitchFamily="2" charset="2"/>
              </a:rPr>
              <a:t>Phẩm</a:t>
            </a:r>
            <a:r>
              <a:rPr lang="en-US" sz="1600" b="1" dirty="0">
                <a:sym typeface="Wingdings" panose="05000000000000000000" pitchFamily="2" charset="2"/>
              </a:rPr>
              <a:t> </a:t>
            </a:r>
            <a:r>
              <a:rPr lang="en-US" sz="1600" b="1" dirty="0" err="1">
                <a:sym typeface="Wingdings" panose="05000000000000000000" pitchFamily="2" charset="2"/>
              </a:rPr>
              <a:t>chách</a:t>
            </a:r>
            <a:r>
              <a:rPr lang="en-US" sz="1600" b="1" dirty="0">
                <a:sym typeface="Wingdings" panose="05000000000000000000" pitchFamily="2" charset="2"/>
              </a:rPr>
              <a:t> ( </a:t>
            </a:r>
            <a:r>
              <a:rPr lang="en-US" sz="1600" b="1" dirty="0" err="1">
                <a:sym typeface="Wingdings" panose="05000000000000000000" pitchFamily="2" charset="2"/>
              </a:rPr>
              <a:t>nhân</a:t>
            </a:r>
            <a:r>
              <a:rPr lang="en-US" sz="1600" b="1" dirty="0">
                <a:sym typeface="Wingdings" panose="05000000000000000000" pitchFamily="2" charset="2"/>
              </a:rPr>
              <a:t> </a:t>
            </a:r>
            <a:r>
              <a:rPr lang="en-US" sz="1600" b="1" dirty="0" err="1">
                <a:sym typeface="Wingdings" panose="05000000000000000000" pitchFamily="2" charset="2"/>
              </a:rPr>
              <a:t>cách</a:t>
            </a:r>
            <a:r>
              <a:rPr lang="en-US" sz="1600" b="1" dirty="0">
                <a:sym typeface="Wingdings" panose="05000000000000000000" pitchFamily="2" charset="2"/>
              </a:rPr>
              <a:t>)  </a:t>
            </a:r>
            <a:r>
              <a:rPr lang="en-US" sz="1600" b="1" dirty="0" err="1">
                <a:sym typeface="Wingdings" panose="05000000000000000000" pitchFamily="2" charset="2"/>
              </a:rPr>
              <a:t>làm</a:t>
            </a:r>
            <a:r>
              <a:rPr lang="en-US" sz="1600" b="1" dirty="0">
                <a:sym typeface="Wingdings" panose="05000000000000000000" pitchFamily="2" charset="2"/>
              </a:rPr>
              <a:t> </a:t>
            </a:r>
            <a:r>
              <a:rPr lang="en-US" sz="1600" b="1" dirty="0" err="1">
                <a:sym typeface="Wingdings" panose="05000000000000000000" pitchFamily="2" charset="2"/>
              </a:rPr>
              <a:t>người</a:t>
            </a:r>
            <a:endParaRPr lang="en-US" sz="1600" dirty="0">
              <a:sym typeface="Wingdings" panose="05000000000000000000" pitchFamily="2" charset="2"/>
            </a:endParaRP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yếu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tố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quan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trọng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nhất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tạo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ra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quyền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các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nhân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của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lãnh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đạo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tương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lai</a:t>
            </a:r>
            <a:r>
              <a:rPr lang="en-US" sz="1400" dirty="0"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ym typeface="Wingdings" panose="05000000000000000000" pitchFamily="2" charset="2"/>
              </a:rPr>
              <a:t>Nhân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cách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tiêu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chí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được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châm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chước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không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linh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hoạt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không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ngoại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lệ</a:t>
            </a:r>
            <a:r>
              <a:rPr lang="en-US" sz="1400" dirty="0">
                <a:sym typeface="Wingdings" panose="05000000000000000000" pitchFamily="2" charset="2"/>
              </a:rPr>
              <a:t>  </a:t>
            </a:r>
            <a:r>
              <a:rPr lang="en-US" sz="1400" dirty="0" err="1">
                <a:sym typeface="Wingdings" panose="05000000000000000000" pitchFamily="2" charset="2"/>
              </a:rPr>
              <a:t>Nhân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viên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yếu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tố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này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nhận</a:t>
            </a:r>
            <a:r>
              <a:rPr lang="en-US" sz="1400" dirty="0"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ym typeface="Wingdings" panose="05000000000000000000" pitchFamily="2" charset="2"/>
              </a:rPr>
              <a:t>Nhân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cách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đồng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nghĩa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với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điểm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yếu</a:t>
            </a:r>
            <a:r>
              <a:rPr lang="en-US" sz="1400" dirty="0">
                <a:sym typeface="Wingdings" panose="05000000000000000000" pitchFamily="2" charset="2"/>
              </a:rPr>
              <a:t> (</a:t>
            </a:r>
            <a:r>
              <a:rPr lang="en-US" sz="1400" dirty="0" err="1">
                <a:sym typeface="Wingdings" panose="05000000000000000000" pitchFamily="2" charset="2"/>
              </a:rPr>
              <a:t>vì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điểm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yếu</a:t>
            </a:r>
            <a:r>
              <a:rPr lang="en-US" sz="1400" dirty="0">
                <a:sym typeface="Wingdings" panose="05000000000000000000" pitchFamily="2" charset="2"/>
              </a:rPr>
              <a:t> ai </a:t>
            </a:r>
            <a:r>
              <a:rPr lang="en-US" sz="1400" dirty="0" err="1">
                <a:sym typeface="Wingdings" panose="05000000000000000000" pitchFamily="2" charset="2"/>
              </a:rPr>
              <a:t>cũng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sửa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được</a:t>
            </a:r>
            <a:r>
              <a:rPr lang="en-US" sz="1400" dirty="0">
                <a:sym typeface="Wingdings" panose="05000000000000000000" pitchFamily="2" charset="2"/>
              </a:rPr>
              <a:t>)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ym typeface="Wingdings" panose="05000000000000000000" pitchFamily="2" charset="2"/>
              </a:rPr>
              <a:t>Biểu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hiện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của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nhân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cách</a:t>
            </a:r>
            <a:r>
              <a:rPr lang="en-US" sz="1400" dirty="0">
                <a:sym typeface="Wingdings" panose="05000000000000000000" pitchFamily="2" charset="2"/>
              </a:rPr>
              <a:t>  </a:t>
            </a:r>
            <a:r>
              <a:rPr lang="en-US" sz="1400" dirty="0" err="1">
                <a:sym typeface="Wingdings" panose="05000000000000000000" pitchFamily="2" charset="2"/>
              </a:rPr>
              <a:t>dường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như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sửa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được</a:t>
            </a:r>
            <a:r>
              <a:rPr lang="en-US" sz="1400" dirty="0">
                <a:sym typeface="Wingdings" panose="05000000000000000000" pitchFamily="2" charset="2"/>
              </a:rPr>
              <a:t>: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endParaRPr lang="en-US" sz="1400" dirty="0">
              <a:sym typeface="Wingdings" panose="05000000000000000000" pitchFamily="2" charset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C653B-3B85-5893-AD15-565797D1D804}"/>
              </a:ext>
            </a:extLst>
          </p:cNvPr>
          <p:cNvSpPr txBox="1"/>
          <p:nvPr/>
        </p:nvSpPr>
        <p:spPr>
          <a:xfrm>
            <a:off x="1080020" y="1312999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noProof="0" dirty="0">
                <a:solidFill>
                  <a:srgbClr val="002060"/>
                </a:solidFill>
                <a:latin typeface="Calibri" panose="020F0502020204030204"/>
              </a:rPr>
              <a:t>2. </a:t>
            </a:r>
            <a:r>
              <a:rPr lang="en-US" sz="2400" b="1" noProof="0" dirty="0" err="1">
                <a:solidFill>
                  <a:srgbClr val="002060"/>
                </a:solidFill>
                <a:latin typeface="Calibri" panose="020F0502020204030204"/>
              </a:rPr>
              <a:t>Phẩm</a:t>
            </a:r>
            <a:r>
              <a:rPr lang="en-US" sz="2400" b="1" noProof="0" dirty="0">
                <a:solidFill>
                  <a:srgbClr val="002060"/>
                </a:solidFill>
                <a:latin typeface="Calibri" panose="020F0502020204030204"/>
              </a:rPr>
              <a:t> </a:t>
            </a:r>
            <a:r>
              <a:rPr lang="en-US" sz="2400" b="1" noProof="0" dirty="0" err="1">
                <a:solidFill>
                  <a:srgbClr val="002060"/>
                </a:solidFill>
                <a:latin typeface="Calibri" panose="020F0502020204030204"/>
              </a:rPr>
              <a:t>chất</a:t>
            </a:r>
            <a:r>
              <a:rPr lang="en-US" sz="2400" b="1" noProof="0" dirty="0">
                <a:solidFill>
                  <a:srgbClr val="002060"/>
                </a:solidFill>
                <a:latin typeface="Calibri" panose="020F0502020204030204"/>
              </a:rPr>
              <a:t> </a:t>
            </a:r>
            <a:r>
              <a:rPr lang="en-US" sz="2400" b="1" noProof="0" dirty="0" err="1">
                <a:solidFill>
                  <a:srgbClr val="002060"/>
                </a:solidFill>
                <a:latin typeface="Calibri" panose="020F0502020204030204"/>
              </a:rPr>
              <a:t>kẻ</a:t>
            </a:r>
            <a:r>
              <a:rPr lang="en-US" sz="2400" b="1" noProof="0" dirty="0">
                <a:solidFill>
                  <a:srgbClr val="002060"/>
                </a:solidFill>
                <a:latin typeface="Calibri" panose="020F0502020204030204"/>
              </a:rPr>
              <a:t> </a:t>
            </a:r>
            <a:r>
              <a:rPr lang="en-US" sz="2400" b="1" noProof="0" dirty="0" err="1">
                <a:solidFill>
                  <a:srgbClr val="002060"/>
                </a:solidFill>
                <a:latin typeface="Calibri" panose="020F0502020204030204"/>
              </a:rPr>
              <a:t>làm</a:t>
            </a:r>
            <a:r>
              <a:rPr lang="en-US" sz="2400" b="1" noProof="0" dirty="0">
                <a:solidFill>
                  <a:srgbClr val="002060"/>
                </a:solidFill>
                <a:latin typeface="Calibri" panose="020F0502020204030204"/>
              </a:rPr>
              <a:t> </a:t>
            </a:r>
            <a:r>
              <a:rPr lang="en-US" sz="2400" b="1" noProof="0" dirty="0" err="1">
                <a:solidFill>
                  <a:srgbClr val="002060"/>
                </a:solidFill>
                <a:latin typeface="Calibri" panose="020F0502020204030204"/>
              </a:rPr>
              <a:t>đệ</a:t>
            </a:r>
            <a:r>
              <a:rPr lang="en-US" sz="2400" b="1" noProof="0" dirty="0">
                <a:solidFill>
                  <a:srgbClr val="002060"/>
                </a:solidFill>
                <a:latin typeface="Calibri" panose="020F0502020204030204"/>
              </a:rPr>
              <a:t> </a:t>
            </a:r>
            <a:r>
              <a:rPr lang="en-US" sz="2400" b="1" noProof="0" dirty="0" err="1">
                <a:solidFill>
                  <a:srgbClr val="002060"/>
                </a:solidFill>
                <a:latin typeface="Calibri" panose="020F0502020204030204"/>
              </a:rPr>
              <a:t>tử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5D163705-6F7C-92A4-0F1E-690BED264E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035524"/>
              </p:ext>
            </p:extLst>
          </p:nvPr>
        </p:nvGraphicFramePr>
        <p:xfrm>
          <a:off x="5316071" y="5584061"/>
          <a:ext cx="5922300" cy="10838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1150">
                  <a:extLst>
                    <a:ext uri="{9D8B030D-6E8A-4147-A177-3AD203B41FA5}">
                      <a16:colId xmlns:a16="http://schemas.microsoft.com/office/drawing/2014/main" val="2273283940"/>
                    </a:ext>
                  </a:extLst>
                </a:gridCol>
                <a:gridCol w="2961150">
                  <a:extLst>
                    <a:ext uri="{9D8B030D-6E8A-4147-A177-3AD203B41FA5}">
                      <a16:colId xmlns:a16="http://schemas.microsoft.com/office/drawing/2014/main" val="9469343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3" algn="just">
                        <a:lnSpc>
                          <a:spcPct val="12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1100" dirty="0" err="1">
                          <a:sym typeface="Wingdings" panose="05000000000000000000" pitchFamily="2" charset="2"/>
                        </a:rPr>
                        <a:t>Không</a:t>
                      </a:r>
                      <a:r>
                        <a:rPr lang="en-US" sz="11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100" dirty="0" err="1">
                          <a:sym typeface="Wingdings" panose="05000000000000000000" pitchFamily="2" charset="2"/>
                        </a:rPr>
                        <a:t>trung</a:t>
                      </a:r>
                      <a:r>
                        <a:rPr lang="en-US" sz="11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100" dirty="0" err="1">
                          <a:sym typeface="Wingdings" panose="05000000000000000000" pitchFamily="2" charset="2"/>
                        </a:rPr>
                        <a:t>thực</a:t>
                      </a:r>
                      <a:endParaRPr lang="en-US" sz="1100" dirty="0">
                        <a:sym typeface="Wingdings" panose="05000000000000000000" pitchFamily="2" charset="2"/>
                      </a:endParaRPr>
                    </a:p>
                    <a:p>
                      <a:pPr lvl="3" algn="just">
                        <a:lnSpc>
                          <a:spcPct val="12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1100" dirty="0" err="1">
                          <a:sym typeface="Wingdings" panose="05000000000000000000" pitchFamily="2" charset="2"/>
                        </a:rPr>
                        <a:t>Không</a:t>
                      </a:r>
                      <a:r>
                        <a:rPr lang="en-US" sz="11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100" dirty="0" err="1">
                          <a:sym typeface="Wingdings" panose="05000000000000000000" pitchFamily="2" charset="2"/>
                        </a:rPr>
                        <a:t>chính</a:t>
                      </a:r>
                      <a:r>
                        <a:rPr lang="en-US" sz="11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100" dirty="0" err="1">
                          <a:sym typeface="Wingdings" panose="05000000000000000000" pitchFamily="2" charset="2"/>
                        </a:rPr>
                        <a:t>trực</a:t>
                      </a:r>
                      <a:endParaRPr lang="en-US" sz="1100" dirty="0">
                        <a:sym typeface="Wingdings" panose="05000000000000000000" pitchFamily="2" charset="2"/>
                      </a:endParaRPr>
                    </a:p>
                    <a:p>
                      <a:pPr lvl="3" algn="just">
                        <a:lnSpc>
                          <a:spcPct val="12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1100" dirty="0" err="1">
                          <a:sym typeface="Wingdings" panose="05000000000000000000" pitchFamily="2" charset="2"/>
                        </a:rPr>
                        <a:t>Không</a:t>
                      </a:r>
                      <a:r>
                        <a:rPr lang="en-US" sz="11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100" dirty="0" err="1">
                          <a:sym typeface="Wingdings" panose="05000000000000000000" pitchFamily="2" charset="2"/>
                        </a:rPr>
                        <a:t>kỷ</a:t>
                      </a:r>
                      <a:r>
                        <a:rPr lang="en-US" sz="11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100" dirty="0" err="1">
                          <a:sym typeface="Wingdings" panose="05000000000000000000" pitchFamily="2" charset="2"/>
                        </a:rPr>
                        <a:t>luật</a:t>
                      </a:r>
                      <a:endParaRPr lang="en-US" sz="1100" dirty="0">
                        <a:sym typeface="Wingdings" panose="05000000000000000000" pitchFamily="2" charset="2"/>
                      </a:endParaRPr>
                    </a:p>
                    <a:p>
                      <a:pPr lvl="3" algn="just">
                        <a:lnSpc>
                          <a:spcPct val="12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1100" dirty="0" err="1">
                          <a:sym typeface="Wingdings" panose="05000000000000000000" pitchFamily="2" charset="2"/>
                        </a:rPr>
                        <a:t>Không</a:t>
                      </a:r>
                      <a:r>
                        <a:rPr lang="en-US" sz="11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100" dirty="0" err="1">
                          <a:sym typeface="Wingdings" panose="05000000000000000000" pitchFamily="2" charset="2"/>
                        </a:rPr>
                        <a:t>đáng</a:t>
                      </a:r>
                      <a:r>
                        <a:rPr lang="en-US" sz="1100" dirty="0">
                          <a:sym typeface="Wingdings" panose="05000000000000000000" pitchFamily="2" charset="2"/>
                        </a:rPr>
                        <a:t> tin </a:t>
                      </a:r>
                      <a:r>
                        <a:rPr lang="en-US" sz="1100" dirty="0" err="1">
                          <a:sym typeface="Wingdings" panose="05000000000000000000" pitchFamily="2" charset="2"/>
                        </a:rPr>
                        <a:t>cậy</a:t>
                      </a:r>
                      <a:endParaRPr lang="en-US" sz="1100" dirty="0">
                        <a:sym typeface="Wingdings" panose="05000000000000000000" pitchFamily="2" charset="2"/>
                      </a:endParaRPr>
                    </a:p>
                    <a:p>
                      <a:pPr lvl="3" algn="just">
                        <a:lnSpc>
                          <a:spcPct val="12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1100" dirty="0" err="1">
                          <a:sym typeface="Wingdings" panose="05000000000000000000" pitchFamily="2" charset="2"/>
                        </a:rPr>
                        <a:t>Không</a:t>
                      </a:r>
                      <a:r>
                        <a:rPr lang="en-US" sz="11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100" dirty="0" err="1">
                          <a:sym typeface="Wingdings" panose="05000000000000000000" pitchFamily="2" charset="2"/>
                        </a:rPr>
                        <a:t>kiên</a:t>
                      </a:r>
                      <a:r>
                        <a:rPr lang="en-US" sz="11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100" dirty="0" err="1">
                          <a:sym typeface="Wingdings" panose="05000000000000000000" pitchFamily="2" charset="2"/>
                        </a:rPr>
                        <a:t>trì</a:t>
                      </a:r>
                      <a:endParaRPr lang="en-US" sz="1100" dirty="0">
                        <a:sym typeface="Wingdings" panose="05000000000000000000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3" algn="just">
                        <a:lnSpc>
                          <a:spcPct val="12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1100" dirty="0" err="1">
                          <a:sym typeface="Wingdings" panose="05000000000000000000" pitchFamily="2" charset="2"/>
                        </a:rPr>
                        <a:t>Bất</a:t>
                      </a:r>
                      <a:r>
                        <a:rPr lang="en-US" sz="11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100" dirty="0" err="1">
                          <a:sym typeface="Wingdings" panose="05000000000000000000" pitchFamily="2" charset="2"/>
                        </a:rPr>
                        <a:t>nhân</a:t>
                      </a:r>
                      <a:endParaRPr lang="en-US" sz="1100" dirty="0">
                        <a:sym typeface="Wingdings" panose="05000000000000000000" pitchFamily="2" charset="2"/>
                      </a:endParaRPr>
                    </a:p>
                    <a:p>
                      <a:pPr lvl="3" algn="just">
                        <a:lnSpc>
                          <a:spcPct val="12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1100" dirty="0" err="1">
                          <a:sym typeface="Wingdings" panose="05000000000000000000" pitchFamily="2" charset="2"/>
                        </a:rPr>
                        <a:t>Không</a:t>
                      </a:r>
                      <a:r>
                        <a:rPr lang="en-US" sz="11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100" dirty="0" err="1">
                          <a:sym typeface="Wingdings" panose="05000000000000000000" pitchFamily="2" charset="2"/>
                        </a:rPr>
                        <a:t>cẩn</a:t>
                      </a:r>
                      <a:r>
                        <a:rPr lang="en-US" sz="11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100" dirty="0" err="1">
                          <a:sym typeface="Wingdings" panose="05000000000000000000" pitchFamily="2" charset="2"/>
                        </a:rPr>
                        <a:t>trọng</a:t>
                      </a:r>
                      <a:endParaRPr lang="en-US" sz="1100" dirty="0">
                        <a:sym typeface="Wingdings" panose="05000000000000000000" pitchFamily="2" charset="2"/>
                      </a:endParaRPr>
                    </a:p>
                    <a:p>
                      <a:pPr lvl="3" algn="just">
                        <a:lnSpc>
                          <a:spcPct val="12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1100" dirty="0" err="1">
                          <a:sym typeface="Wingdings" panose="05000000000000000000" pitchFamily="2" charset="2"/>
                        </a:rPr>
                        <a:t>Không</a:t>
                      </a:r>
                      <a:r>
                        <a:rPr lang="en-US" sz="11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100" dirty="0" err="1">
                          <a:sym typeface="Wingdings" panose="05000000000000000000" pitchFamily="2" charset="2"/>
                        </a:rPr>
                        <a:t>có</a:t>
                      </a:r>
                      <a:r>
                        <a:rPr lang="en-US" sz="11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100" dirty="0" err="1">
                          <a:sym typeface="Wingdings" panose="05000000000000000000" pitchFamily="2" charset="2"/>
                        </a:rPr>
                        <a:t>đạo</a:t>
                      </a:r>
                      <a:r>
                        <a:rPr lang="en-US" sz="11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100" dirty="0" err="1">
                          <a:sym typeface="Wingdings" panose="05000000000000000000" pitchFamily="2" charset="2"/>
                        </a:rPr>
                        <a:t>đức</a:t>
                      </a:r>
                      <a:endParaRPr lang="en-US" sz="1100" dirty="0">
                        <a:sym typeface="Wingdings" panose="05000000000000000000" pitchFamily="2" charset="2"/>
                      </a:endParaRPr>
                    </a:p>
                    <a:p>
                      <a:pPr lvl="3" algn="just">
                        <a:lnSpc>
                          <a:spcPct val="12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1100" dirty="0" err="1">
                          <a:sym typeface="Wingdings" panose="05000000000000000000" pitchFamily="2" charset="2"/>
                        </a:rPr>
                        <a:t>Không</a:t>
                      </a:r>
                      <a:r>
                        <a:rPr lang="en-US" sz="11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100" dirty="0" err="1">
                          <a:sym typeface="Wingdings" panose="05000000000000000000" pitchFamily="2" charset="2"/>
                        </a:rPr>
                        <a:t>chịu</a:t>
                      </a:r>
                      <a:r>
                        <a:rPr lang="en-US" sz="11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100" dirty="0" err="1">
                          <a:sym typeface="Wingdings" panose="05000000000000000000" pitchFamily="2" charset="2"/>
                        </a:rPr>
                        <a:t>tiếp</a:t>
                      </a:r>
                      <a:r>
                        <a:rPr lang="en-US" sz="11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100" dirty="0" err="1">
                          <a:sym typeface="Wingdings" panose="05000000000000000000" pitchFamily="2" charset="2"/>
                        </a:rPr>
                        <a:t>thu</a:t>
                      </a:r>
                      <a:endParaRPr lang="en-US" sz="1100" dirty="0">
                        <a:sym typeface="Wingdings" panose="05000000000000000000" pitchFamily="2" charset="2"/>
                      </a:endParaRPr>
                    </a:p>
                    <a:p>
                      <a:pPr lvl="3" algn="just">
                        <a:lnSpc>
                          <a:spcPct val="12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1100" dirty="0" err="1">
                          <a:sym typeface="Wingdings" panose="05000000000000000000" pitchFamily="2" charset="2"/>
                        </a:rPr>
                        <a:t>Không</a:t>
                      </a:r>
                      <a:r>
                        <a:rPr lang="en-US" sz="11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100" dirty="0" err="1">
                          <a:sym typeface="Wingdings" panose="05000000000000000000" pitchFamily="2" charset="2"/>
                        </a:rPr>
                        <a:t>lương</a:t>
                      </a:r>
                      <a:r>
                        <a:rPr lang="en-US" sz="11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100" dirty="0" err="1">
                          <a:sym typeface="Wingdings" panose="05000000000000000000" pitchFamily="2" charset="2"/>
                        </a:rPr>
                        <a:t>thiện</a:t>
                      </a:r>
                      <a:endParaRPr lang="en-US" sz="1100" dirty="0">
                        <a:sym typeface="Wingdings" panose="05000000000000000000" pitchFamily="2" charset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539595"/>
                  </a:ext>
                </a:extLst>
              </a:tr>
            </a:tbl>
          </a:graphicData>
        </a:graphic>
      </p:graphicFrame>
      <p:pic>
        <p:nvPicPr>
          <p:cNvPr id="2050" name="Picture 2" descr="Những câu nói hay về nhân cách sống đáng suy ngẫm, đọc là “thấm”">
            <a:extLst>
              <a:ext uri="{FF2B5EF4-FFF2-40B4-BE49-F238E27FC236}">
                <a16:creationId xmlns:a16="http://schemas.microsoft.com/office/drawing/2014/main" id="{E706F091-73C8-7186-314C-CA7D820086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00" t="8509" r="14824" b="10821"/>
          <a:stretch/>
        </p:blipFill>
        <p:spPr bwMode="auto">
          <a:xfrm>
            <a:off x="668981" y="2595491"/>
            <a:ext cx="3187793" cy="2709684"/>
          </a:xfrm>
          <a:prstGeom prst="rect">
            <a:avLst/>
          </a:prstGeo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3593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1B84-4FFE-EC24-CDC6-B6774B31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II. TRANG BỊ CHO NHÓM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3FC23-E826-BCBA-F7B3-73525B402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8797" y="2559957"/>
            <a:ext cx="7699310" cy="4351338"/>
          </a:xfrm>
        </p:spPr>
        <p:txBody>
          <a:bodyPr>
            <a:noAutofit/>
          </a:bodyPr>
          <a:lstStyle/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800" b="1" dirty="0" err="1">
                <a:sym typeface="Wingdings" panose="05000000000000000000" pitchFamily="2" charset="2"/>
              </a:rPr>
              <a:t>Thái</a:t>
            </a:r>
            <a:r>
              <a:rPr lang="en-US" sz="1800" b="1" dirty="0">
                <a:sym typeface="Wingdings" panose="05000000000000000000" pitchFamily="2" charset="2"/>
              </a:rPr>
              <a:t> </a:t>
            </a:r>
            <a:r>
              <a:rPr lang="en-US" sz="1800" b="1" dirty="0" err="1">
                <a:sym typeface="Wingdings" panose="05000000000000000000" pitchFamily="2" charset="2"/>
              </a:rPr>
              <a:t>độ</a:t>
            </a:r>
            <a:r>
              <a:rPr lang="en-US" sz="1800" b="1" dirty="0">
                <a:sym typeface="Wingdings" panose="05000000000000000000" pitchFamily="2" charset="2"/>
              </a:rPr>
              <a:t> </a:t>
            </a:r>
            <a:r>
              <a:rPr lang="en-US" sz="1800" b="1" dirty="0" err="1">
                <a:sym typeface="Wingdings" panose="05000000000000000000" pitchFamily="2" charset="2"/>
              </a:rPr>
              <a:t>tích</a:t>
            </a:r>
            <a:r>
              <a:rPr lang="en-US" sz="1800" b="1" dirty="0">
                <a:sym typeface="Wingdings" panose="05000000000000000000" pitchFamily="2" charset="2"/>
              </a:rPr>
              <a:t> </a:t>
            </a:r>
            <a:r>
              <a:rPr lang="en-US" sz="1800" b="1" dirty="0" err="1">
                <a:sym typeface="Wingdings" panose="05000000000000000000" pitchFamily="2" charset="2"/>
              </a:rPr>
              <a:t>cực</a:t>
            </a:r>
            <a:r>
              <a:rPr lang="en-US" sz="1800" b="1" dirty="0">
                <a:sym typeface="Wingdings" panose="05000000000000000000" pitchFamily="2" charset="2"/>
              </a:rPr>
              <a:t>: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tài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sản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lớn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nhất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của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mỗi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dirty="0" err="1">
                <a:sym typeface="Wingdings" panose="05000000000000000000" pitchFamily="2" charset="2"/>
              </a:rPr>
              <a:t>Thường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điều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mọi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vấn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đề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thì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thực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sự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phải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vấn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đề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mà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vấn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đề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nằm</a:t>
            </a:r>
            <a:r>
              <a:rPr lang="en-US" sz="1600" dirty="0">
                <a:sym typeface="Wingdings" panose="05000000000000000000" pitchFamily="2" charset="2"/>
              </a:rPr>
              <a:t> ở </a:t>
            </a:r>
            <a:r>
              <a:rPr lang="en-US" sz="1600" dirty="0" err="1">
                <a:sym typeface="Wingdings" panose="05000000000000000000" pitchFamily="2" charset="2"/>
              </a:rPr>
              <a:t>chổ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vượt</a:t>
            </a:r>
            <a:r>
              <a:rPr lang="en-US" sz="1600" dirty="0">
                <a:sym typeface="Wingdings" panose="05000000000000000000" pitchFamily="2" charset="2"/>
              </a:rPr>
              <a:t> qua </a:t>
            </a:r>
            <a:r>
              <a:rPr lang="en-US" sz="1600" dirty="0" err="1">
                <a:sym typeface="Wingdings" panose="05000000000000000000" pitchFamily="2" charset="2"/>
              </a:rPr>
              <a:t>trở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ngại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vấn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đề</a:t>
            </a:r>
            <a:r>
              <a:rPr lang="en-US" sz="1600" dirty="0">
                <a:sym typeface="Wingdings" panose="05000000000000000000" pitchFamily="2" charset="2"/>
              </a:rPr>
              <a:t>  </a:t>
            </a:r>
            <a:r>
              <a:rPr lang="en-US" sz="1600" dirty="0" err="1">
                <a:sym typeface="Wingdings" panose="05000000000000000000" pitchFamily="2" charset="2"/>
              </a:rPr>
              <a:t>khả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năng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vượt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khó</a:t>
            </a:r>
            <a:r>
              <a:rPr lang="en-US" sz="1600" dirty="0"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thái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độ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tích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cực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tiếp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cận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cuộc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sống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hạn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giống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khác</a:t>
            </a:r>
            <a:r>
              <a:rPr lang="en-US" sz="1600" dirty="0">
                <a:sym typeface="Wingdings" panose="05000000000000000000" pitchFamily="2" charset="2"/>
              </a:rPr>
              <a:t> ở </a:t>
            </a:r>
            <a:r>
              <a:rPr lang="en-US" sz="1600" dirty="0" err="1">
                <a:sym typeface="Wingdings" panose="05000000000000000000" pitchFamily="2" charset="2"/>
              </a:rPr>
              <a:t>chổ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tìm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mọi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cách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để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phát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huy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hết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tiềm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năng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của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mình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không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tự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hạn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tiềm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năng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của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mình</a:t>
            </a:r>
            <a:r>
              <a:rPr lang="en-US" sz="1600" dirty="0">
                <a:sym typeface="Wingdings" panose="05000000000000000000" pitchFamily="2" charset="2"/>
              </a:rPr>
              <a:t> 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luôn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đón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chờ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sự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việc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một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tâm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thế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tích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cực</a:t>
            </a:r>
            <a:r>
              <a:rPr lang="en-US" sz="1600" dirty="0"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đón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nhân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mỗi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ngày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tâm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thế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luôn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phấn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khởi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lạc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quan</a:t>
            </a:r>
            <a:r>
              <a:rPr lang="en-US" sz="1600" dirty="0">
                <a:sym typeface="Wingdings" panose="05000000000000000000" pitchFamily="2" charset="2"/>
              </a:rPr>
              <a:t> ( </a:t>
            </a:r>
            <a:r>
              <a:rPr lang="en-US" sz="1600" dirty="0" err="1">
                <a:sym typeface="Wingdings" panose="05000000000000000000" pitchFamily="2" charset="2"/>
              </a:rPr>
              <a:t>nó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biểu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hiện</a:t>
            </a:r>
            <a:r>
              <a:rPr lang="en-US" sz="1600" dirty="0">
                <a:sym typeface="Wingdings" panose="05000000000000000000" pitchFamily="2" charset="2"/>
              </a:rPr>
              <a:t> qua </a:t>
            </a:r>
            <a:r>
              <a:rPr lang="en-US" sz="1600" dirty="0" err="1">
                <a:sym typeface="Wingdings" panose="05000000000000000000" pitchFamily="2" charset="2"/>
              </a:rPr>
              <a:t>lời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nói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hành</a:t>
            </a:r>
            <a:r>
              <a:rPr lang="en-US" sz="1600" dirty="0">
                <a:sym typeface="Wingdings" panose="05000000000000000000" pitchFamily="2" charset="2"/>
              </a:rPr>
              <a:t> vi </a:t>
            </a:r>
            <a:r>
              <a:rPr lang="en-US" sz="1600" dirty="0" err="1">
                <a:sym typeface="Wingdings" panose="05000000000000000000" pitchFamily="2" charset="2"/>
              </a:rPr>
              <a:t>của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).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1600" dirty="0">
              <a:sym typeface="Wingdings" panose="05000000000000000000" pitchFamily="2" charset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C653B-3B85-5893-AD15-565797D1D804}"/>
              </a:ext>
            </a:extLst>
          </p:cNvPr>
          <p:cNvSpPr txBox="1"/>
          <p:nvPr/>
        </p:nvSpPr>
        <p:spPr>
          <a:xfrm>
            <a:off x="1080020" y="1312999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noProof="0" dirty="0">
                <a:solidFill>
                  <a:srgbClr val="002060"/>
                </a:solidFill>
                <a:latin typeface="Calibri" panose="020F0502020204030204"/>
              </a:rPr>
              <a:t>2. </a:t>
            </a:r>
            <a:r>
              <a:rPr lang="en-US" sz="2400" b="1" noProof="0" dirty="0" err="1">
                <a:solidFill>
                  <a:srgbClr val="002060"/>
                </a:solidFill>
                <a:latin typeface="Calibri" panose="020F0502020204030204"/>
              </a:rPr>
              <a:t>Phẩm</a:t>
            </a:r>
            <a:r>
              <a:rPr lang="en-US" sz="2400" b="1" noProof="0" dirty="0">
                <a:solidFill>
                  <a:srgbClr val="002060"/>
                </a:solidFill>
                <a:latin typeface="Calibri" panose="020F0502020204030204"/>
              </a:rPr>
              <a:t> </a:t>
            </a:r>
            <a:r>
              <a:rPr lang="en-US" sz="2400" b="1" noProof="0" dirty="0" err="1">
                <a:solidFill>
                  <a:srgbClr val="002060"/>
                </a:solidFill>
                <a:latin typeface="Calibri" panose="020F0502020204030204"/>
              </a:rPr>
              <a:t>chất</a:t>
            </a:r>
            <a:r>
              <a:rPr lang="en-US" sz="2400" b="1" noProof="0" dirty="0">
                <a:solidFill>
                  <a:srgbClr val="002060"/>
                </a:solidFill>
                <a:latin typeface="Calibri" panose="020F0502020204030204"/>
              </a:rPr>
              <a:t> </a:t>
            </a:r>
            <a:r>
              <a:rPr lang="en-US" sz="2400" b="1" noProof="0" dirty="0" err="1">
                <a:solidFill>
                  <a:srgbClr val="002060"/>
                </a:solidFill>
                <a:latin typeface="Calibri" panose="020F0502020204030204"/>
              </a:rPr>
              <a:t>kẻ</a:t>
            </a:r>
            <a:r>
              <a:rPr lang="en-US" sz="2400" b="1" noProof="0" dirty="0">
                <a:solidFill>
                  <a:srgbClr val="002060"/>
                </a:solidFill>
                <a:latin typeface="Calibri" panose="020F0502020204030204"/>
              </a:rPr>
              <a:t> </a:t>
            </a:r>
            <a:r>
              <a:rPr lang="en-US" sz="2400" b="1" noProof="0" dirty="0" err="1">
                <a:solidFill>
                  <a:srgbClr val="002060"/>
                </a:solidFill>
                <a:latin typeface="Calibri" panose="020F0502020204030204"/>
              </a:rPr>
              <a:t>làm</a:t>
            </a:r>
            <a:r>
              <a:rPr lang="en-US" sz="2400" b="1" noProof="0" dirty="0">
                <a:solidFill>
                  <a:srgbClr val="002060"/>
                </a:solidFill>
                <a:latin typeface="Calibri" panose="020F0502020204030204"/>
              </a:rPr>
              <a:t> </a:t>
            </a:r>
            <a:r>
              <a:rPr lang="en-US" sz="2400" b="1" noProof="0" dirty="0" err="1">
                <a:solidFill>
                  <a:srgbClr val="002060"/>
                </a:solidFill>
                <a:latin typeface="Calibri" panose="020F0502020204030204"/>
              </a:rPr>
              <a:t>đệ</a:t>
            </a:r>
            <a:r>
              <a:rPr lang="en-US" sz="2400" b="1" noProof="0" dirty="0">
                <a:solidFill>
                  <a:srgbClr val="002060"/>
                </a:solidFill>
                <a:latin typeface="Calibri" panose="020F0502020204030204"/>
              </a:rPr>
              <a:t> </a:t>
            </a:r>
            <a:r>
              <a:rPr lang="en-US" sz="2400" b="1" noProof="0" dirty="0" err="1">
                <a:solidFill>
                  <a:srgbClr val="002060"/>
                </a:solidFill>
                <a:latin typeface="Calibri" panose="020F0502020204030204"/>
              </a:rPr>
              <a:t>tử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pic>
        <p:nvPicPr>
          <p:cNvPr id="1026" name="Picture 2" descr="Thái độ làm việc tích cực - Yếu tố tạo nên sự thành công - Blog | Got It  Vietnam">
            <a:extLst>
              <a:ext uri="{FF2B5EF4-FFF2-40B4-BE49-F238E27FC236}">
                <a16:creationId xmlns:a16="http://schemas.microsoft.com/office/drawing/2014/main" id="{AB9926AC-F7B9-C332-36EB-25F09D8BD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93" y="2638562"/>
            <a:ext cx="3854824" cy="2097064"/>
          </a:xfrm>
          <a:prstGeom prst="rect">
            <a:avLst/>
          </a:prstGeom>
          <a:noFill/>
          <a:effectLst>
            <a:glow rad="228600">
              <a:schemeClr val="accent4">
                <a:satMod val="175000"/>
                <a:alpha val="40000"/>
              </a:schemeClr>
            </a:glow>
          </a:effectLst>
          <a:scene3d>
            <a:camera prst="isometricOffAxis1Righ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5730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1B84-4FFE-EC24-CDC6-B6774B31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II. TRANG BỊ CHO NHÓM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3FC23-E826-BCBA-F7B3-73525B402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8797" y="2506662"/>
            <a:ext cx="7699310" cy="4351338"/>
          </a:xfrm>
        </p:spPr>
        <p:txBody>
          <a:bodyPr>
            <a:noAutofit/>
          </a:bodyPr>
          <a:lstStyle/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b="1" dirty="0" err="1">
                <a:sym typeface="Wingdings" panose="05000000000000000000" pitchFamily="2" charset="2"/>
              </a:rPr>
              <a:t>Sự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b="1" dirty="0" err="1">
                <a:sym typeface="Wingdings" panose="05000000000000000000" pitchFamily="2" charset="2"/>
              </a:rPr>
              <a:t>ảnh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b="1" dirty="0" err="1">
                <a:sym typeface="Wingdings" panose="05000000000000000000" pitchFamily="2" charset="2"/>
              </a:rPr>
              <a:t>hưởng</a:t>
            </a:r>
            <a:r>
              <a:rPr lang="en-US" b="1" dirty="0">
                <a:sym typeface="Wingdings" panose="05000000000000000000" pitchFamily="2" charset="2"/>
              </a:rPr>
              <a:t>: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800" dirty="0" err="1">
                <a:sym typeface="Wingdings" panose="05000000000000000000" pitchFamily="2" charset="2"/>
              </a:rPr>
              <a:t>Sự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ảnh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hưởng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có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triệu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chứng</a:t>
            </a:r>
            <a:r>
              <a:rPr lang="en-US" sz="1800" dirty="0">
                <a:sym typeface="Wingdings" panose="05000000000000000000" pitchFamily="2" charset="2"/>
              </a:rPr>
              <a:t> ở </a:t>
            </a:r>
            <a:r>
              <a:rPr lang="en-US" sz="1800" dirty="0" err="1">
                <a:sym typeface="Wingdings" panose="05000000000000000000" pitchFamily="2" charset="2"/>
              </a:rPr>
              <a:t>người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có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mục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đích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sống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rỏ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ràng</a:t>
            </a:r>
            <a:r>
              <a:rPr lang="en-US" sz="1800" dirty="0"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800" dirty="0" err="1">
                <a:sym typeface="Wingdings" panose="05000000000000000000" pitchFamily="2" charset="2"/>
              </a:rPr>
              <a:t>Người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có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triệu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chứng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này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có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khả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năng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thuyết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phục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người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khác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cùng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mình</a:t>
            </a:r>
            <a:r>
              <a:rPr lang="en-US" sz="1800" dirty="0"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800" dirty="0" err="1">
                <a:sym typeface="Wingdings" panose="05000000000000000000" pitchFamily="2" charset="2"/>
              </a:rPr>
              <a:t>Mức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độ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ảnh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hưởng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đang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có</a:t>
            </a:r>
            <a:r>
              <a:rPr lang="en-US" sz="1800" dirty="0">
                <a:sym typeface="Wingdings" panose="05000000000000000000" pitchFamily="2" charset="2"/>
              </a:rPr>
              <a:t>: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sym typeface="Wingdings" panose="05000000000000000000" pitchFamily="2" charset="2"/>
              </a:rPr>
              <a:t>Anh </a:t>
            </a:r>
            <a:r>
              <a:rPr lang="en-US" sz="1600" dirty="0" err="1">
                <a:sym typeface="Wingdings" panose="05000000000000000000" pitchFamily="2" charset="2"/>
              </a:rPr>
              <a:t>hưởng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được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đến</a:t>
            </a:r>
            <a:r>
              <a:rPr lang="en-US" sz="1600" dirty="0">
                <a:sym typeface="Wingdings" panose="05000000000000000000" pitchFamily="2" charset="2"/>
              </a:rPr>
              <a:t> ai.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đang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bị</a:t>
            </a:r>
            <a:r>
              <a:rPr lang="en-US" sz="1600" dirty="0">
                <a:sym typeface="Wingdings" panose="05000000000000000000" pitchFamily="2" charset="2"/>
              </a:rPr>
              <a:t> ai </a:t>
            </a:r>
            <a:r>
              <a:rPr lang="en-US" sz="1600" dirty="0" err="1">
                <a:sym typeface="Wingdings" panose="05000000000000000000" pitchFamily="2" charset="2"/>
              </a:rPr>
              <a:t>ảnh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hưởng</a:t>
            </a:r>
            <a:r>
              <a:rPr lang="en-US" sz="1600" dirty="0">
                <a:sym typeface="Wingdings" panose="05000000000000000000" pitchFamily="2" charset="2"/>
              </a:rPr>
              <a:t>.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dirty="0" err="1">
                <a:sym typeface="Wingdings" panose="05000000000000000000" pitchFamily="2" charset="2"/>
              </a:rPr>
              <a:t>Mức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độ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ảnh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hưởng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của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đang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vì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nguyên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nhân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gì</a:t>
            </a:r>
            <a:r>
              <a:rPr lang="en-US" sz="1600" dirty="0">
                <a:sym typeface="Wingdings" panose="05000000000000000000" pitchFamily="2" charset="2"/>
              </a:rPr>
              <a:t>  (</a:t>
            </a:r>
            <a:r>
              <a:rPr lang="en-US" sz="1600" dirty="0" err="1">
                <a:sym typeface="Wingdings" panose="05000000000000000000" pitchFamily="2" charset="2"/>
              </a:rPr>
              <a:t>vị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trí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tuổi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đời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thành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tích</a:t>
            </a:r>
            <a:r>
              <a:rPr lang="en-US" sz="1600" dirty="0">
                <a:sym typeface="Wingdings" panose="05000000000000000000" pitchFamily="2" charset="2"/>
              </a:rPr>
              <a:t> …)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C653B-3B85-5893-AD15-565797D1D804}"/>
              </a:ext>
            </a:extLst>
          </p:cNvPr>
          <p:cNvSpPr txBox="1"/>
          <p:nvPr/>
        </p:nvSpPr>
        <p:spPr>
          <a:xfrm>
            <a:off x="1080020" y="1312999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noProof="0" dirty="0">
                <a:solidFill>
                  <a:srgbClr val="002060"/>
                </a:solidFill>
                <a:latin typeface="Calibri" panose="020F0502020204030204"/>
              </a:rPr>
              <a:t>2. </a:t>
            </a:r>
            <a:r>
              <a:rPr lang="en-US" sz="2400" b="1" noProof="0" dirty="0" err="1">
                <a:solidFill>
                  <a:srgbClr val="002060"/>
                </a:solidFill>
                <a:latin typeface="Calibri" panose="020F0502020204030204"/>
              </a:rPr>
              <a:t>Phẩm</a:t>
            </a:r>
            <a:r>
              <a:rPr lang="en-US" sz="2400" b="1" noProof="0" dirty="0">
                <a:solidFill>
                  <a:srgbClr val="002060"/>
                </a:solidFill>
                <a:latin typeface="Calibri" panose="020F0502020204030204"/>
              </a:rPr>
              <a:t> </a:t>
            </a:r>
            <a:r>
              <a:rPr lang="en-US" sz="2400" b="1" noProof="0" dirty="0" err="1">
                <a:solidFill>
                  <a:srgbClr val="002060"/>
                </a:solidFill>
                <a:latin typeface="Calibri" panose="020F0502020204030204"/>
              </a:rPr>
              <a:t>chất</a:t>
            </a:r>
            <a:r>
              <a:rPr lang="en-US" sz="2400" b="1" noProof="0" dirty="0">
                <a:solidFill>
                  <a:srgbClr val="002060"/>
                </a:solidFill>
                <a:latin typeface="Calibri" panose="020F0502020204030204"/>
              </a:rPr>
              <a:t> </a:t>
            </a:r>
            <a:r>
              <a:rPr lang="en-US" sz="2400" b="1" noProof="0" dirty="0" err="1">
                <a:solidFill>
                  <a:srgbClr val="002060"/>
                </a:solidFill>
                <a:latin typeface="Calibri" panose="020F0502020204030204"/>
              </a:rPr>
              <a:t>kẻ</a:t>
            </a:r>
            <a:r>
              <a:rPr lang="en-US" sz="2400" b="1" noProof="0" dirty="0">
                <a:solidFill>
                  <a:srgbClr val="002060"/>
                </a:solidFill>
                <a:latin typeface="Calibri" panose="020F0502020204030204"/>
              </a:rPr>
              <a:t> </a:t>
            </a:r>
            <a:r>
              <a:rPr lang="en-US" sz="2400" b="1" noProof="0" dirty="0" err="1">
                <a:solidFill>
                  <a:srgbClr val="002060"/>
                </a:solidFill>
                <a:latin typeface="Calibri" panose="020F0502020204030204"/>
              </a:rPr>
              <a:t>làm</a:t>
            </a:r>
            <a:r>
              <a:rPr lang="en-US" sz="2400" b="1" noProof="0" dirty="0">
                <a:solidFill>
                  <a:srgbClr val="002060"/>
                </a:solidFill>
                <a:latin typeface="Calibri" panose="020F0502020204030204"/>
              </a:rPr>
              <a:t> </a:t>
            </a:r>
            <a:r>
              <a:rPr lang="en-US" sz="2400" b="1" noProof="0" dirty="0" err="1">
                <a:solidFill>
                  <a:srgbClr val="002060"/>
                </a:solidFill>
                <a:latin typeface="Calibri" panose="020F0502020204030204"/>
              </a:rPr>
              <a:t>đệ</a:t>
            </a:r>
            <a:r>
              <a:rPr lang="en-US" sz="2400" b="1" noProof="0" dirty="0">
                <a:solidFill>
                  <a:srgbClr val="002060"/>
                </a:solidFill>
                <a:latin typeface="Calibri" panose="020F0502020204030204"/>
              </a:rPr>
              <a:t> </a:t>
            </a:r>
            <a:r>
              <a:rPr lang="en-US" sz="2400" b="1" noProof="0" dirty="0" err="1">
                <a:solidFill>
                  <a:srgbClr val="002060"/>
                </a:solidFill>
                <a:latin typeface="Calibri" panose="020F0502020204030204"/>
              </a:rPr>
              <a:t>tử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pic>
        <p:nvPicPr>
          <p:cNvPr id="1028" name="Picture 4" descr="Tranh văn phòng tôi không muốn mọi người có cái túi sâu nhưng tâm hồn lại">
            <a:extLst>
              <a:ext uri="{FF2B5EF4-FFF2-40B4-BE49-F238E27FC236}">
                <a16:creationId xmlns:a16="http://schemas.microsoft.com/office/drawing/2014/main" id="{23ED2C0C-762C-B216-4F2E-15CB02033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524" y="2506662"/>
            <a:ext cx="3247465" cy="3247465"/>
          </a:xfrm>
          <a:prstGeom prst="rect">
            <a:avLst/>
          </a:prstGeom>
          <a:ln>
            <a:noFill/>
          </a:ln>
          <a:effectLst>
            <a:glow rad="228600">
              <a:schemeClr val="accent6">
                <a:satMod val="175000"/>
                <a:alpha val="40000"/>
              </a:schemeClr>
            </a:glow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1196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1B84-4FFE-EC24-CDC6-B6774B31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II. TRANG BỊ CHO NHÓM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3FC23-E826-BCBA-F7B3-73525B402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8797" y="2506662"/>
            <a:ext cx="7699310" cy="4351338"/>
          </a:xfrm>
        </p:spPr>
        <p:txBody>
          <a:bodyPr>
            <a:noAutofit/>
          </a:bodyPr>
          <a:lstStyle/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b="1" dirty="0" err="1">
                <a:sym typeface="Wingdings" panose="05000000000000000000" pitchFamily="2" charset="2"/>
              </a:rPr>
              <a:t>Giỏi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b="1" dirty="0" err="1">
                <a:sym typeface="Wingdings" panose="05000000000000000000" pitchFamily="2" charset="2"/>
              </a:rPr>
              <a:t>về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b="1" dirty="0" err="1">
                <a:sym typeface="Wingdings" panose="05000000000000000000" pitchFamily="2" charset="2"/>
              </a:rPr>
              <a:t>kỷ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b="1" dirty="0" err="1">
                <a:sym typeface="Wingdings" panose="05000000000000000000" pitchFamily="2" charset="2"/>
              </a:rPr>
              <a:t>năng</a:t>
            </a:r>
            <a:r>
              <a:rPr lang="en-US" b="1" dirty="0">
                <a:sym typeface="Wingdings" panose="05000000000000000000" pitchFamily="2" charset="2"/>
              </a:rPr>
              <a:t> con </a:t>
            </a:r>
            <a:r>
              <a:rPr lang="en-US" b="1" dirty="0" err="1">
                <a:sym typeface="Wingdings" panose="05000000000000000000" pitchFamily="2" charset="2"/>
              </a:rPr>
              <a:t>người</a:t>
            </a:r>
            <a:r>
              <a:rPr lang="en-US" b="1" dirty="0">
                <a:sym typeface="Wingdings" panose="05000000000000000000" pitchFamily="2" charset="2"/>
              </a:rPr>
              <a:t>: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800" dirty="0" err="1">
                <a:sym typeface="Wingdings" panose="05000000000000000000" pitchFamily="2" charset="2"/>
              </a:rPr>
              <a:t>Người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lãnh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đạo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không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có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kỹ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năng</a:t>
            </a:r>
            <a:r>
              <a:rPr lang="en-US" sz="1800" dirty="0">
                <a:sym typeface="Wingdings" panose="05000000000000000000" pitchFamily="2" charset="2"/>
              </a:rPr>
              <a:t> con </a:t>
            </a:r>
            <a:r>
              <a:rPr lang="en-US" sz="1800" dirty="0" err="1">
                <a:sym typeface="Wingdings" panose="05000000000000000000" pitchFamily="2" charset="2"/>
              </a:rPr>
              <a:t>người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thì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không</a:t>
            </a:r>
            <a:r>
              <a:rPr lang="en-US" sz="1800" dirty="0">
                <a:sym typeface="Wingdings" panose="05000000000000000000" pitchFamily="2" charset="2"/>
              </a:rPr>
              <a:t> ai </a:t>
            </a:r>
            <a:r>
              <a:rPr lang="en-US" sz="1800" dirty="0" err="1">
                <a:sym typeface="Wingdings" panose="05000000000000000000" pitchFamily="2" charset="2"/>
              </a:rPr>
              <a:t>theo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mình</a:t>
            </a:r>
            <a:r>
              <a:rPr lang="en-US" sz="1800" dirty="0">
                <a:sym typeface="Wingdings" panose="05000000000000000000" pitchFamily="2" charset="2"/>
              </a:rPr>
              <a:t> (</a:t>
            </a:r>
            <a:r>
              <a:rPr lang="en-US" sz="1800" dirty="0" err="1">
                <a:sym typeface="Wingdings" panose="05000000000000000000" pitchFamily="2" charset="2"/>
              </a:rPr>
              <a:t>tâm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lý</a:t>
            </a:r>
            <a:r>
              <a:rPr lang="en-US" sz="1800" dirty="0">
                <a:sym typeface="Wingdings" panose="05000000000000000000" pitchFamily="2" charset="2"/>
              </a:rPr>
              <a:t>, </a:t>
            </a:r>
            <a:r>
              <a:rPr lang="en-US" sz="1800" dirty="0" err="1">
                <a:sym typeface="Wingdings" panose="05000000000000000000" pitchFamily="2" charset="2"/>
              </a:rPr>
              <a:t>triết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lý</a:t>
            </a:r>
            <a:r>
              <a:rPr lang="en-US" sz="1800" dirty="0">
                <a:sym typeface="Wingdings" panose="05000000000000000000" pitchFamily="2" charset="2"/>
              </a:rPr>
              <a:t>, </a:t>
            </a:r>
            <a:r>
              <a:rPr lang="en-US" sz="1800" dirty="0" err="1">
                <a:sym typeface="Wingdings" panose="05000000000000000000" pitchFamily="2" charset="2"/>
              </a:rPr>
              <a:t>giao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tiếp</a:t>
            </a:r>
            <a:r>
              <a:rPr lang="en-US" sz="1800" dirty="0">
                <a:sym typeface="Wingdings" panose="05000000000000000000" pitchFamily="2" charset="2"/>
              </a:rPr>
              <a:t>…).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800" dirty="0" err="1">
                <a:sym typeface="Wingdings" panose="05000000000000000000" pitchFamily="2" charset="2"/>
              </a:rPr>
              <a:t>Người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có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kỹ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năng</a:t>
            </a:r>
            <a:r>
              <a:rPr lang="en-US" sz="1800" dirty="0">
                <a:sym typeface="Wingdings" panose="05000000000000000000" pitchFamily="2" charset="2"/>
              </a:rPr>
              <a:t> con </a:t>
            </a:r>
            <a:r>
              <a:rPr lang="en-US" sz="1800" dirty="0" err="1">
                <a:sym typeface="Wingdings" panose="05000000000000000000" pitchFamily="2" charset="2"/>
              </a:rPr>
              <a:t>người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được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biểu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hiện</a:t>
            </a:r>
            <a:r>
              <a:rPr lang="en-US" sz="1800" dirty="0">
                <a:sym typeface="Wingdings" panose="05000000000000000000" pitchFamily="2" charset="2"/>
              </a:rPr>
              <a:t>: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dirty="0" err="1">
                <a:sym typeface="Wingdings" panose="05000000000000000000" pitchFamily="2" charset="2"/>
              </a:rPr>
              <a:t>Có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khả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năng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thấu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cảm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khác</a:t>
            </a:r>
            <a:r>
              <a:rPr lang="en-US" sz="1600" dirty="0">
                <a:sym typeface="Wingdings" panose="05000000000000000000" pitchFamily="2" charset="2"/>
              </a:rPr>
              <a:t>.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thật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sự</a:t>
            </a:r>
            <a:r>
              <a:rPr lang="en-US" sz="1600" dirty="0">
                <a:sym typeface="Wingdings" panose="05000000000000000000" pitchFamily="2" charset="2"/>
              </a:rPr>
              <a:t> lo </a:t>
            </a:r>
            <a:r>
              <a:rPr lang="en-US" sz="1600" dirty="0" err="1">
                <a:sym typeface="Wingdings" panose="05000000000000000000" pitchFamily="2" charset="2"/>
              </a:rPr>
              <a:t>lắng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khác</a:t>
            </a:r>
            <a:r>
              <a:rPr lang="en-US" sz="1600" dirty="0">
                <a:sym typeface="Wingdings" panose="05000000000000000000" pitchFamily="2" charset="2"/>
              </a:rPr>
              <a:t>.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luôn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tương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tác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tích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cực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khác</a:t>
            </a:r>
            <a:endParaRPr lang="en-US" sz="1600" dirty="0">
              <a:sym typeface="Wingdings" panose="05000000000000000000" pitchFamily="2" charset="2"/>
            </a:endParaRP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biết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sinh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vì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khác</a:t>
            </a:r>
            <a:r>
              <a:rPr lang="en-US" sz="1600" dirty="0"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C653B-3B85-5893-AD15-565797D1D804}"/>
              </a:ext>
            </a:extLst>
          </p:cNvPr>
          <p:cNvSpPr txBox="1"/>
          <p:nvPr/>
        </p:nvSpPr>
        <p:spPr>
          <a:xfrm>
            <a:off x="1080020" y="1312999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noProof="0" dirty="0">
                <a:solidFill>
                  <a:srgbClr val="002060"/>
                </a:solidFill>
                <a:latin typeface="Calibri" panose="020F0502020204030204"/>
              </a:rPr>
              <a:t>2. </a:t>
            </a:r>
            <a:r>
              <a:rPr lang="en-US" sz="2400" b="1" noProof="0" dirty="0" err="1">
                <a:solidFill>
                  <a:srgbClr val="002060"/>
                </a:solidFill>
                <a:latin typeface="Calibri" panose="020F0502020204030204"/>
              </a:rPr>
              <a:t>Phẩm</a:t>
            </a:r>
            <a:r>
              <a:rPr lang="en-US" sz="2400" b="1" noProof="0" dirty="0">
                <a:solidFill>
                  <a:srgbClr val="002060"/>
                </a:solidFill>
                <a:latin typeface="Calibri" panose="020F0502020204030204"/>
              </a:rPr>
              <a:t> </a:t>
            </a:r>
            <a:r>
              <a:rPr lang="en-US" sz="2400" b="1" noProof="0" dirty="0" err="1">
                <a:solidFill>
                  <a:srgbClr val="002060"/>
                </a:solidFill>
                <a:latin typeface="Calibri" panose="020F0502020204030204"/>
              </a:rPr>
              <a:t>chất</a:t>
            </a:r>
            <a:r>
              <a:rPr lang="en-US" sz="2400" b="1" noProof="0" dirty="0">
                <a:solidFill>
                  <a:srgbClr val="002060"/>
                </a:solidFill>
                <a:latin typeface="Calibri" panose="020F0502020204030204"/>
              </a:rPr>
              <a:t> </a:t>
            </a:r>
            <a:r>
              <a:rPr lang="en-US" sz="2400" b="1" noProof="0" dirty="0" err="1">
                <a:solidFill>
                  <a:srgbClr val="002060"/>
                </a:solidFill>
                <a:latin typeface="Calibri" panose="020F0502020204030204"/>
              </a:rPr>
              <a:t>kẻ</a:t>
            </a:r>
            <a:r>
              <a:rPr lang="en-US" sz="2400" b="1" noProof="0" dirty="0">
                <a:solidFill>
                  <a:srgbClr val="002060"/>
                </a:solidFill>
                <a:latin typeface="Calibri" panose="020F0502020204030204"/>
              </a:rPr>
              <a:t> </a:t>
            </a:r>
            <a:r>
              <a:rPr lang="en-US" sz="2400" b="1" noProof="0" dirty="0" err="1">
                <a:solidFill>
                  <a:srgbClr val="002060"/>
                </a:solidFill>
                <a:latin typeface="Calibri" panose="020F0502020204030204"/>
              </a:rPr>
              <a:t>làm</a:t>
            </a:r>
            <a:r>
              <a:rPr lang="en-US" sz="2400" b="1" noProof="0" dirty="0">
                <a:solidFill>
                  <a:srgbClr val="002060"/>
                </a:solidFill>
                <a:latin typeface="Calibri" panose="020F0502020204030204"/>
              </a:rPr>
              <a:t> </a:t>
            </a:r>
            <a:r>
              <a:rPr lang="en-US" sz="2400" b="1" noProof="0" dirty="0" err="1">
                <a:solidFill>
                  <a:srgbClr val="002060"/>
                </a:solidFill>
                <a:latin typeface="Calibri" panose="020F0502020204030204"/>
              </a:rPr>
              <a:t>đệ</a:t>
            </a:r>
            <a:r>
              <a:rPr lang="en-US" sz="2400" b="1" noProof="0" dirty="0">
                <a:solidFill>
                  <a:srgbClr val="002060"/>
                </a:solidFill>
                <a:latin typeface="Calibri" panose="020F0502020204030204"/>
              </a:rPr>
              <a:t> </a:t>
            </a:r>
            <a:r>
              <a:rPr lang="en-US" sz="2400" b="1" noProof="0" dirty="0" err="1">
                <a:solidFill>
                  <a:srgbClr val="002060"/>
                </a:solidFill>
                <a:latin typeface="Calibri" panose="020F0502020204030204"/>
              </a:rPr>
              <a:t>tử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pic>
        <p:nvPicPr>
          <p:cNvPr id="4098" name="Picture 2" descr="Tranh treo tường gỗ ảnh Jack Ma LEVU-NT07 &quot;học từ đối thủ chứ đừng cố nhái  lại, nhái là chết đấy&quot; • LEVUSHOP">
            <a:extLst>
              <a:ext uri="{FF2B5EF4-FFF2-40B4-BE49-F238E27FC236}">
                <a16:creationId xmlns:a16="http://schemas.microsoft.com/office/drawing/2014/main" id="{A3B97017-F4CD-37D9-97FF-63E483231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506662"/>
            <a:ext cx="2857500" cy="2857500"/>
          </a:xfrm>
          <a:prstGeom prst="rect">
            <a:avLst/>
          </a:prstGeo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isometricOffAxis1Righ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5910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1B84-4FFE-EC24-CDC6-B6774B31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II. TRANG BỊ CHO NHÓM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3FC23-E826-BCBA-F7B3-73525B402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8797" y="2506662"/>
            <a:ext cx="7699310" cy="4351338"/>
          </a:xfrm>
        </p:spPr>
        <p:txBody>
          <a:bodyPr>
            <a:noAutofit/>
          </a:bodyPr>
          <a:lstStyle/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b="1" dirty="0" err="1">
                <a:sym typeface="Wingdings" panose="05000000000000000000" pitchFamily="2" charset="2"/>
              </a:rPr>
              <a:t>Năng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b="1" dirty="0" err="1">
                <a:sym typeface="Wingdings" panose="05000000000000000000" pitchFamily="2" charset="2"/>
              </a:rPr>
              <a:t>lực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b="1" dirty="0" err="1">
                <a:sym typeface="Wingdings" panose="05000000000000000000" pitchFamily="2" charset="2"/>
              </a:rPr>
              <a:t>chuyên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b="1" dirty="0" err="1">
                <a:sym typeface="Wingdings" panose="05000000000000000000" pitchFamily="2" charset="2"/>
              </a:rPr>
              <a:t>môn</a:t>
            </a:r>
            <a:r>
              <a:rPr lang="en-US" b="1" dirty="0">
                <a:sym typeface="Wingdings" panose="05000000000000000000" pitchFamily="2" charset="2"/>
              </a:rPr>
              <a:t>: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800" dirty="0" err="1">
                <a:sym typeface="Wingdings" panose="05000000000000000000" pitchFamily="2" charset="2"/>
              </a:rPr>
              <a:t>Có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bốn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loại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người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nếu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xét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theo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chuyên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môn</a:t>
            </a:r>
            <a:r>
              <a:rPr lang="en-US" sz="1800" dirty="0">
                <a:sym typeface="Wingdings" panose="05000000000000000000" pitchFamily="2" charset="2"/>
              </a:rPr>
              <a:t>: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khong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tiềm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năng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chuyên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môn</a:t>
            </a:r>
            <a:r>
              <a:rPr lang="en-US" sz="1400" dirty="0">
                <a:sym typeface="Wingdings" panose="05000000000000000000" pitchFamily="2" charset="2"/>
              </a:rPr>
              <a:t> 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khả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năng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thực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hiện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việc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đó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nếu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cố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việc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này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sẽ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chiuk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đổ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lỗi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suy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sụp</a:t>
            </a:r>
            <a:r>
              <a:rPr lang="en-US" sz="1400" dirty="0">
                <a:sym typeface="Wingdings" panose="05000000000000000000" pitchFamily="2" charset="2"/>
              </a:rPr>
              <a:t>.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tiềm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năng</a:t>
            </a:r>
            <a:r>
              <a:rPr lang="en-US" sz="1400" dirty="0">
                <a:sym typeface="Wingdings" panose="05000000000000000000" pitchFamily="2" charset="2"/>
              </a:rPr>
              <a:t>  </a:t>
            </a: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khả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năng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về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năng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lực</a:t>
            </a:r>
            <a:r>
              <a:rPr lang="en-US" sz="1400" dirty="0">
                <a:sym typeface="Wingdings" panose="05000000000000000000" pitchFamily="2" charset="2"/>
              </a:rPr>
              <a:t>  </a:t>
            </a:r>
            <a:r>
              <a:rPr lang="en-US" sz="1400" dirty="0" err="1">
                <a:sym typeface="Wingdings" panose="05000000000000000000" pitchFamily="2" charset="2"/>
              </a:rPr>
              <a:t>thực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hiện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việc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này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nhưng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lại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thiếu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kỷ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luật</a:t>
            </a:r>
            <a:r>
              <a:rPr lang="en-US" sz="1400" dirty="0">
                <a:sym typeface="Wingdings" panose="05000000000000000000" pitchFamily="2" charset="2"/>
              </a:rPr>
              <a:t>.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thể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siêu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sao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nhưng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giải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quyết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việc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khác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lại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tốt</a:t>
            </a:r>
            <a:r>
              <a:rPr lang="en-US" sz="1400" dirty="0">
                <a:sym typeface="Wingdings" panose="05000000000000000000" pitchFamily="2" charset="2"/>
              </a:rPr>
              <a:t>.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nên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tuyển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năng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lực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nhưng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mới</a:t>
            </a:r>
            <a:r>
              <a:rPr lang="en-US" sz="1400" dirty="0">
                <a:sym typeface="Wingdings" panose="05000000000000000000" pitchFamily="2" charset="2"/>
              </a:rPr>
              <a:t> ở </a:t>
            </a:r>
            <a:r>
              <a:rPr lang="en-US" sz="1400" dirty="0" err="1">
                <a:sym typeface="Wingdings" panose="05000000000000000000" pitchFamily="2" charset="2"/>
              </a:rPr>
              <a:t>dạng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thô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cần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sự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đào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tạo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để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phát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huy</a:t>
            </a:r>
            <a:r>
              <a:rPr lang="en-US" sz="1400" dirty="0">
                <a:sym typeface="Wingdings" panose="05000000000000000000" pitchFamily="2" charset="2"/>
              </a:rPr>
              <a:t>.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phải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tuyển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đầy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đủ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khả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năng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nhưng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lại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thiếu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cơ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hội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phát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huy</a:t>
            </a:r>
            <a:r>
              <a:rPr lang="en-US" sz="1400" dirty="0">
                <a:sym typeface="Wingdings" panose="05000000000000000000" pitchFamily="2" charset="2"/>
              </a:rPr>
              <a:t>.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cần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định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hướng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giao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quyền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phát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triển</a:t>
            </a:r>
            <a:r>
              <a:rPr lang="en-US" sz="1400" dirty="0">
                <a:sym typeface="Wingdings" panose="05000000000000000000" pitchFamily="2" charset="2"/>
              </a:rPr>
              <a:t>.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1400" dirty="0">
              <a:sym typeface="Wingdings" panose="05000000000000000000" pitchFamily="2" charset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C653B-3B85-5893-AD15-565797D1D804}"/>
              </a:ext>
            </a:extLst>
          </p:cNvPr>
          <p:cNvSpPr txBox="1"/>
          <p:nvPr/>
        </p:nvSpPr>
        <p:spPr>
          <a:xfrm>
            <a:off x="1080020" y="1312999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noProof="0" dirty="0">
                <a:solidFill>
                  <a:srgbClr val="002060"/>
                </a:solidFill>
                <a:latin typeface="Calibri" panose="020F0502020204030204"/>
              </a:rPr>
              <a:t>2. </a:t>
            </a:r>
            <a:r>
              <a:rPr lang="en-US" sz="2400" b="1" noProof="0" dirty="0" err="1">
                <a:solidFill>
                  <a:srgbClr val="002060"/>
                </a:solidFill>
                <a:latin typeface="Calibri" panose="020F0502020204030204"/>
              </a:rPr>
              <a:t>Phẩm</a:t>
            </a:r>
            <a:r>
              <a:rPr lang="en-US" sz="2400" b="1" noProof="0" dirty="0">
                <a:solidFill>
                  <a:srgbClr val="002060"/>
                </a:solidFill>
                <a:latin typeface="Calibri" panose="020F0502020204030204"/>
              </a:rPr>
              <a:t> </a:t>
            </a:r>
            <a:r>
              <a:rPr lang="en-US" sz="2400" b="1" noProof="0" dirty="0" err="1">
                <a:solidFill>
                  <a:srgbClr val="002060"/>
                </a:solidFill>
                <a:latin typeface="Calibri" panose="020F0502020204030204"/>
              </a:rPr>
              <a:t>chất</a:t>
            </a:r>
            <a:r>
              <a:rPr lang="en-US" sz="2400" b="1" noProof="0" dirty="0">
                <a:solidFill>
                  <a:srgbClr val="002060"/>
                </a:solidFill>
                <a:latin typeface="Calibri" panose="020F0502020204030204"/>
              </a:rPr>
              <a:t> </a:t>
            </a:r>
            <a:r>
              <a:rPr lang="en-US" sz="2400" b="1" noProof="0" dirty="0" err="1">
                <a:solidFill>
                  <a:srgbClr val="002060"/>
                </a:solidFill>
                <a:latin typeface="Calibri" panose="020F0502020204030204"/>
              </a:rPr>
              <a:t>kẻ</a:t>
            </a:r>
            <a:r>
              <a:rPr lang="en-US" sz="2400" b="1" noProof="0" dirty="0">
                <a:solidFill>
                  <a:srgbClr val="002060"/>
                </a:solidFill>
                <a:latin typeface="Calibri" panose="020F0502020204030204"/>
              </a:rPr>
              <a:t> </a:t>
            </a:r>
            <a:r>
              <a:rPr lang="en-US" sz="2400" b="1" noProof="0" dirty="0" err="1">
                <a:solidFill>
                  <a:srgbClr val="002060"/>
                </a:solidFill>
                <a:latin typeface="Calibri" panose="020F0502020204030204"/>
              </a:rPr>
              <a:t>làm</a:t>
            </a:r>
            <a:r>
              <a:rPr lang="en-US" sz="2400" b="1" noProof="0" dirty="0">
                <a:solidFill>
                  <a:srgbClr val="002060"/>
                </a:solidFill>
                <a:latin typeface="Calibri" panose="020F0502020204030204"/>
              </a:rPr>
              <a:t> </a:t>
            </a:r>
            <a:r>
              <a:rPr lang="en-US" sz="2400" b="1" noProof="0" dirty="0" err="1">
                <a:solidFill>
                  <a:srgbClr val="002060"/>
                </a:solidFill>
                <a:latin typeface="Calibri" panose="020F0502020204030204"/>
              </a:rPr>
              <a:t>đệ</a:t>
            </a:r>
            <a:r>
              <a:rPr lang="en-US" sz="2400" b="1" noProof="0" dirty="0">
                <a:solidFill>
                  <a:srgbClr val="002060"/>
                </a:solidFill>
                <a:latin typeface="Calibri" panose="020F0502020204030204"/>
              </a:rPr>
              <a:t> </a:t>
            </a:r>
            <a:r>
              <a:rPr lang="en-US" sz="2400" b="1" noProof="0" dirty="0" err="1">
                <a:solidFill>
                  <a:srgbClr val="002060"/>
                </a:solidFill>
                <a:latin typeface="Calibri" panose="020F0502020204030204"/>
              </a:rPr>
              <a:t>tử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pic>
        <p:nvPicPr>
          <p:cNvPr id="5122" name="Picture 2" descr="Năng lực là gì? 5 cách nâng cao năng lực bản thân bạn cần biết">
            <a:extLst>
              <a:ext uri="{FF2B5EF4-FFF2-40B4-BE49-F238E27FC236}">
                <a16:creationId xmlns:a16="http://schemas.microsoft.com/office/drawing/2014/main" id="{88CE96BD-F8F7-6903-13C6-F1DD656D07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0682" y="2506662"/>
            <a:ext cx="4782012" cy="2674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796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1B84-4FFE-EC24-CDC6-B6774B31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II. TRANG BỊ CHO NHÓM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3FC23-E826-BCBA-F7B3-73525B402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8797" y="2506662"/>
            <a:ext cx="7699310" cy="4351338"/>
          </a:xfrm>
        </p:spPr>
        <p:txBody>
          <a:bodyPr>
            <a:noAutofit/>
          </a:bodyPr>
          <a:lstStyle/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b="1" dirty="0" err="1">
                <a:sym typeface="Wingdings" panose="05000000000000000000" pitchFamily="2" charset="2"/>
              </a:rPr>
              <a:t>Có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b="1" dirty="0" err="1">
                <a:sym typeface="Wingdings" panose="05000000000000000000" pitchFamily="2" charset="2"/>
              </a:rPr>
              <a:t>kinh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b="1" dirty="0" err="1">
                <a:sym typeface="Wingdings" panose="05000000000000000000" pitchFamily="2" charset="2"/>
              </a:rPr>
              <a:t>nghiệm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b="1" dirty="0" err="1">
                <a:sym typeface="Wingdings" panose="05000000000000000000" pitchFamily="2" charset="2"/>
              </a:rPr>
              <a:t>thực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b="1" dirty="0" err="1">
                <a:sym typeface="Wingdings" panose="05000000000000000000" pitchFamily="2" charset="2"/>
              </a:rPr>
              <a:t>tế</a:t>
            </a:r>
            <a:r>
              <a:rPr lang="en-US" b="1" dirty="0">
                <a:sym typeface="Wingdings" panose="05000000000000000000" pitchFamily="2" charset="2"/>
              </a:rPr>
              <a:t>: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800" dirty="0" err="1">
                <a:sym typeface="Wingdings" panose="05000000000000000000" pitchFamily="2" charset="2"/>
              </a:rPr>
              <a:t>Người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không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có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kinh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nghiệm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là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người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chưa</a:t>
            </a:r>
            <a:r>
              <a:rPr lang="en-US" sz="1800" dirty="0">
                <a:sym typeface="Wingdings" panose="05000000000000000000" pitchFamily="2" charset="2"/>
              </a:rPr>
              <a:t> bao </a:t>
            </a:r>
            <a:r>
              <a:rPr lang="en-US" sz="1800" dirty="0" err="1">
                <a:sym typeface="Wingdings" panose="05000000000000000000" pitchFamily="2" charset="2"/>
              </a:rPr>
              <a:t>giời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sai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lâm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hoặc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rất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nhiều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sai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lầm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nhưng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không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rút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ra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được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bài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học</a:t>
            </a:r>
            <a:r>
              <a:rPr lang="en-US" sz="1800" dirty="0"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800" dirty="0" err="1">
                <a:sym typeface="Wingdings" panose="05000000000000000000" pitchFamily="2" charset="2"/>
              </a:rPr>
              <a:t>Lãnh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đạo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có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nhiều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mức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độ</a:t>
            </a:r>
            <a:r>
              <a:rPr lang="en-US" sz="1800" dirty="0">
                <a:sym typeface="Wingdings" panose="05000000000000000000" pitchFamily="2" charset="2"/>
              </a:rPr>
              <a:t>, </a:t>
            </a:r>
            <a:r>
              <a:rPr lang="en-US" sz="1800" dirty="0" err="1">
                <a:sym typeface="Wingdings" panose="05000000000000000000" pitchFamily="2" charset="2"/>
              </a:rPr>
              <a:t>nhiều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tuổi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tác</a:t>
            </a:r>
            <a:r>
              <a:rPr lang="en-US" sz="1800" dirty="0">
                <a:sym typeface="Wingdings" panose="05000000000000000000" pitchFamily="2" charset="2"/>
              </a:rPr>
              <a:t>, </a:t>
            </a:r>
            <a:r>
              <a:rPr lang="en-US" sz="1800" dirty="0" err="1">
                <a:sym typeface="Wingdings" panose="05000000000000000000" pitchFamily="2" charset="2"/>
              </a:rPr>
              <a:t>nhiều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dáng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dấp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mà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một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số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lại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là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những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nhà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lãnh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đạo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tồi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không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có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gì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đặc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biệt</a:t>
            </a:r>
            <a:r>
              <a:rPr lang="en-US" sz="1800" dirty="0">
                <a:sym typeface="Wingdings" panose="05000000000000000000" pitchFamily="2" charset="2"/>
              </a:rPr>
              <a:t>  </a:t>
            </a:r>
            <a:r>
              <a:rPr lang="en-US" sz="1800" dirty="0" err="1">
                <a:sym typeface="Wingdings" panose="05000000000000000000" pitchFamily="2" charset="2"/>
              </a:rPr>
              <a:t>rất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dễ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nhận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ra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họ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thông</a:t>
            </a:r>
            <a:r>
              <a:rPr lang="en-US" sz="1800" dirty="0">
                <a:sym typeface="Wingdings" panose="05000000000000000000" pitchFamily="2" charset="2"/>
              </a:rPr>
              <a:t> qua </a:t>
            </a:r>
            <a:r>
              <a:rPr lang="en-US" sz="1800" dirty="0" err="1">
                <a:sym typeface="Wingdings" panose="05000000000000000000" pitchFamily="2" charset="2"/>
              </a:rPr>
              <a:t>công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việc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không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hiệu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quả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nhưng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lại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không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rút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ra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sai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làm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nào</a:t>
            </a:r>
            <a:r>
              <a:rPr lang="en-US" sz="1800" dirty="0"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800" dirty="0" err="1">
                <a:sym typeface="Wingdings" panose="05000000000000000000" pitchFamily="2" charset="2"/>
              </a:rPr>
              <a:t>Người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có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kinh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nghiệm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là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người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gặp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rất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nhiều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thất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bại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và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luôn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rút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ra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những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bài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học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từ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sự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thất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bại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đó</a:t>
            </a:r>
            <a:r>
              <a:rPr lang="en-US" sz="1800" dirty="0"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800" dirty="0" err="1">
                <a:sym typeface="Wingdings" panose="05000000000000000000" pitchFamily="2" charset="2"/>
              </a:rPr>
              <a:t>Cuộc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đời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này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người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không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sai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lầm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là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người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không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làm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gì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cả</a:t>
            </a:r>
            <a:r>
              <a:rPr lang="en-US" sz="1800" dirty="0">
                <a:sym typeface="Wingdings" panose="05000000000000000000" pitchFamily="2" charset="2"/>
              </a:rPr>
              <a:t>.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1400" dirty="0">
              <a:sym typeface="Wingdings" panose="05000000000000000000" pitchFamily="2" charset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C653B-3B85-5893-AD15-565797D1D804}"/>
              </a:ext>
            </a:extLst>
          </p:cNvPr>
          <p:cNvSpPr txBox="1"/>
          <p:nvPr/>
        </p:nvSpPr>
        <p:spPr>
          <a:xfrm>
            <a:off x="1080020" y="1312999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Phẩm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chất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kẻ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làm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đệ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tử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pic>
        <p:nvPicPr>
          <p:cNvPr id="6146" name="Picture 2" descr="5 NĂNG LỰC QUAN TRỌNG NHẤT CỦA CÁC NHÀ LÃNH ĐẠO ĐÍCH THỰC - Công ty TNHH Tư  vấn Quản lý OD Click">
            <a:extLst>
              <a:ext uri="{FF2B5EF4-FFF2-40B4-BE49-F238E27FC236}">
                <a16:creationId xmlns:a16="http://schemas.microsoft.com/office/drawing/2014/main" id="{420CE6F3-F84F-02D4-4927-408DD3FF4C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35" y="2422686"/>
            <a:ext cx="4452938" cy="320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1380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1B84-4FFE-EC24-CDC6-B6774B31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II. TRANG BỊ CHO NHÓM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3FC23-E826-BCBA-F7B3-73525B402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8797" y="2506662"/>
            <a:ext cx="7699310" cy="4351338"/>
          </a:xfrm>
        </p:spPr>
        <p:txBody>
          <a:bodyPr>
            <a:noAutofit/>
          </a:bodyPr>
          <a:lstStyle/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b="1" dirty="0" err="1">
                <a:sym typeface="Wingdings" panose="05000000000000000000" pitchFamily="2" charset="2"/>
              </a:rPr>
              <a:t>Tự</a:t>
            </a:r>
            <a:r>
              <a:rPr lang="en-US" b="1" dirty="0">
                <a:sym typeface="Wingdings" panose="05000000000000000000" pitchFamily="2" charset="2"/>
              </a:rPr>
              <a:t> tin: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800" dirty="0" err="1">
                <a:sym typeface="Wingdings" panose="05000000000000000000" pitchFamily="2" charset="2"/>
              </a:rPr>
              <a:t>Một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người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nào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đó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sẽ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không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theo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lãnh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đạo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nếu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lãnh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đạo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đó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không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tự</a:t>
            </a:r>
            <a:r>
              <a:rPr lang="en-US" sz="1800" dirty="0">
                <a:sym typeface="Wingdings" panose="05000000000000000000" pitchFamily="2" charset="2"/>
              </a:rPr>
              <a:t> tin.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800" dirty="0" err="1">
                <a:sym typeface="Wingdings" panose="05000000000000000000" pitchFamily="2" charset="2"/>
              </a:rPr>
              <a:t>Tự</a:t>
            </a:r>
            <a:r>
              <a:rPr lang="en-US" sz="1800" dirty="0">
                <a:sym typeface="Wingdings" panose="05000000000000000000" pitchFamily="2" charset="2"/>
              </a:rPr>
              <a:t> tin </a:t>
            </a:r>
            <a:r>
              <a:rPr lang="en-US" sz="1800" dirty="0" err="1">
                <a:sym typeface="Wingdings" panose="05000000000000000000" pitchFamily="2" charset="2"/>
              </a:rPr>
              <a:t>chính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là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thái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độ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sống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tích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cực</a:t>
            </a:r>
            <a:r>
              <a:rPr lang="en-US" sz="1800" dirty="0">
                <a:sym typeface="Wingdings" panose="05000000000000000000" pitchFamily="2" charset="2"/>
              </a:rPr>
              <a:t>  </a:t>
            </a:r>
            <a:r>
              <a:rPr lang="en-US" sz="1800" dirty="0" err="1">
                <a:sym typeface="Wingdings" panose="05000000000000000000" pitchFamily="2" charset="2"/>
              </a:rPr>
              <a:t>sức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mạnh</a:t>
            </a:r>
            <a:r>
              <a:rPr lang="en-US" sz="1800" dirty="0"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800" dirty="0" err="1">
                <a:sym typeface="Wingdings" panose="05000000000000000000" pitchFamily="2" charset="2"/>
              </a:rPr>
              <a:t>Tự</a:t>
            </a:r>
            <a:r>
              <a:rPr lang="en-US" sz="1800" dirty="0">
                <a:sym typeface="Wingdings" panose="05000000000000000000" pitchFamily="2" charset="2"/>
              </a:rPr>
              <a:t> tin </a:t>
            </a:r>
            <a:r>
              <a:rPr lang="en-US" sz="1800" dirty="0" err="1">
                <a:sym typeface="Wingdings" panose="05000000000000000000" pitchFamily="2" charset="2"/>
              </a:rPr>
              <a:t>làm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người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khách</a:t>
            </a:r>
            <a:r>
              <a:rPr lang="en-US" sz="1800" dirty="0">
                <a:sym typeface="Wingdings" panose="05000000000000000000" pitchFamily="2" charset="2"/>
              </a:rPr>
              <a:t> tin </a:t>
            </a:r>
            <a:r>
              <a:rPr lang="en-US" sz="1800" dirty="0" err="1">
                <a:sym typeface="Wingdings" panose="05000000000000000000" pitchFamily="2" charset="2"/>
              </a:rPr>
              <a:t>và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theo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mình</a:t>
            </a:r>
            <a:r>
              <a:rPr lang="en-US" sz="1800" dirty="0"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800" dirty="0" err="1">
                <a:sym typeface="Wingdings" panose="05000000000000000000" pitchFamily="2" charset="2"/>
              </a:rPr>
              <a:t>Tự</a:t>
            </a:r>
            <a:r>
              <a:rPr lang="en-US" sz="1800" dirty="0">
                <a:sym typeface="Wingdings" panose="05000000000000000000" pitchFamily="2" charset="2"/>
              </a:rPr>
              <a:t> tin </a:t>
            </a:r>
            <a:r>
              <a:rPr lang="en-US" sz="1800" dirty="0" err="1">
                <a:sym typeface="Wingdings" panose="05000000000000000000" pitchFamily="2" charset="2"/>
              </a:rPr>
              <a:t>mới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giúp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lãnh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đạo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quản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trị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được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người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khách</a:t>
            </a:r>
            <a:r>
              <a:rPr lang="en-US" sz="1800" dirty="0"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sym typeface="Wingdings" panose="05000000000000000000" pitchFamily="2" charset="2"/>
              </a:rPr>
              <a:t>Tin </a:t>
            </a:r>
            <a:r>
              <a:rPr lang="en-US" sz="1800" dirty="0" err="1">
                <a:sym typeface="Wingdings" panose="05000000000000000000" pitchFamily="2" charset="2"/>
              </a:rPr>
              <a:t>chưa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chắc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bạn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thắng</a:t>
            </a:r>
            <a:r>
              <a:rPr lang="en-US" sz="1800" dirty="0">
                <a:sym typeface="Wingdings" panose="05000000000000000000" pitchFamily="2" charset="2"/>
              </a:rPr>
              <a:t>, </a:t>
            </a:r>
            <a:r>
              <a:rPr lang="en-US" sz="1800" dirty="0" err="1">
                <a:sym typeface="Wingdings" panose="05000000000000000000" pitchFamily="2" charset="2"/>
              </a:rPr>
              <a:t>nhưng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không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tự</a:t>
            </a:r>
            <a:r>
              <a:rPr lang="en-US" sz="1800" dirty="0">
                <a:sym typeface="Wingdings" panose="05000000000000000000" pitchFamily="2" charset="2"/>
              </a:rPr>
              <a:t> tin </a:t>
            </a:r>
            <a:r>
              <a:rPr lang="en-US" sz="1800" dirty="0" err="1">
                <a:sym typeface="Wingdings" panose="05000000000000000000" pitchFamily="2" charset="2"/>
              </a:rPr>
              <a:t>chắc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chăn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bạn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thua</a:t>
            </a:r>
            <a:r>
              <a:rPr lang="en-US" sz="1800" dirty="0">
                <a:sym typeface="Wingdings" panose="05000000000000000000" pitchFamily="2" charset="2"/>
              </a:rPr>
              <a:t>.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1400" dirty="0">
              <a:sym typeface="Wingdings" panose="05000000000000000000" pitchFamily="2" charset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C653B-3B85-5893-AD15-565797D1D804}"/>
              </a:ext>
            </a:extLst>
          </p:cNvPr>
          <p:cNvSpPr txBox="1"/>
          <p:nvPr/>
        </p:nvSpPr>
        <p:spPr>
          <a:xfrm>
            <a:off x="1080020" y="1312999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Phẩm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chất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kẻ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làm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đệ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tử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pic>
        <p:nvPicPr>
          <p:cNvPr id="8194" name="Picture 2" descr="NHỮNG KỸ NĂNG LÃNH ĐẠO CẤP TRUNG CẦN THIẾT">
            <a:extLst>
              <a:ext uri="{FF2B5EF4-FFF2-40B4-BE49-F238E27FC236}">
                <a16:creationId xmlns:a16="http://schemas.microsoft.com/office/drawing/2014/main" id="{BC0A48DA-B137-CB6E-264A-AC4C8BE0E9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671"/>
          <a:stretch/>
        </p:blipFill>
        <p:spPr bwMode="auto">
          <a:xfrm>
            <a:off x="285762" y="2638562"/>
            <a:ext cx="3504687" cy="2138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5266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1B84-4FFE-EC24-CDC6-B6774B31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II. TRANG BỊ CHO NHÓM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3FC23-E826-BCBA-F7B3-73525B402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8115" y="1852238"/>
            <a:ext cx="7699310" cy="4351338"/>
          </a:xfrm>
        </p:spPr>
        <p:txBody>
          <a:bodyPr>
            <a:noAutofit/>
          </a:bodyPr>
          <a:lstStyle/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800" b="1" dirty="0" err="1">
                <a:sym typeface="Wingdings" panose="05000000000000000000" pitchFamily="2" charset="2"/>
              </a:rPr>
              <a:t>Kỷ</a:t>
            </a:r>
            <a:r>
              <a:rPr lang="en-US" sz="1800" b="1" dirty="0">
                <a:sym typeface="Wingdings" panose="05000000000000000000" pitchFamily="2" charset="2"/>
              </a:rPr>
              <a:t> </a:t>
            </a:r>
            <a:r>
              <a:rPr lang="en-US" sz="1800" b="1" dirty="0" err="1">
                <a:sym typeface="Wingdings" panose="05000000000000000000" pitchFamily="2" charset="2"/>
              </a:rPr>
              <a:t>luật</a:t>
            </a:r>
            <a:r>
              <a:rPr lang="en-US" sz="1800" b="1" dirty="0">
                <a:sym typeface="Wingdings" panose="05000000000000000000" pitchFamily="2" charset="2"/>
              </a:rPr>
              <a:t>: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ym typeface="Wingdings" panose="05000000000000000000" pitchFamily="2" charset="2"/>
              </a:rPr>
              <a:t>Với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vĩ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đại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luôn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chứa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đựng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kỷ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luật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rất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tốt</a:t>
            </a:r>
            <a:r>
              <a:rPr lang="en-US" sz="1400" dirty="0">
                <a:sym typeface="Wingdings" panose="05000000000000000000" pitchFamily="2" charset="2"/>
              </a:rPr>
              <a:t> (</a:t>
            </a:r>
            <a:r>
              <a:rPr lang="en-US" sz="1400" dirty="0" err="1">
                <a:sym typeface="Wingdings" panose="05000000000000000000" pitchFamily="2" charset="2"/>
              </a:rPr>
              <a:t>không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ngoại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lệ</a:t>
            </a:r>
            <a:r>
              <a:rPr lang="en-US" sz="1400" dirty="0">
                <a:sym typeface="Wingdings" panose="05000000000000000000" pitchFamily="2" charset="2"/>
              </a:rPr>
              <a:t>).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ym typeface="Wingdings" panose="05000000000000000000" pitchFamily="2" charset="2"/>
              </a:rPr>
              <a:t>Trong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xã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hội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lại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quá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nhiều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muốn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thoả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mãn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tức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thời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muốn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thành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nhưng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lại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vô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kỷ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luật</a:t>
            </a:r>
            <a:r>
              <a:rPr lang="en-US" sz="1400" dirty="0"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ym typeface="Wingdings" panose="05000000000000000000" pitchFamily="2" charset="2"/>
              </a:rPr>
              <a:t>Để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tính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kỷ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luật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ta </a:t>
            </a:r>
            <a:r>
              <a:rPr lang="en-US" sz="1400" dirty="0" err="1">
                <a:sym typeface="Wingdings" panose="05000000000000000000" pitchFamily="2" charset="2"/>
              </a:rPr>
              <a:t>phải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chọn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một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tron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hai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thứ</a:t>
            </a:r>
            <a:r>
              <a:rPr lang="en-US" sz="1400" dirty="0">
                <a:sym typeface="Wingdings" panose="05000000000000000000" pitchFamily="2" charset="2"/>
              </a:rPr>
              <a:t>: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200" dirty="0" err="1">
                <a:sym typeface="Wingdings" panose="05000000000000000000" pitchFamily="2" charset="2"/>
              </a:rPr>
              <a:t>Sự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đau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đớn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đên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từ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sự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kỷ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luật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nhưng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lại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thành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công</a:t>
            </a:r>
            <a:r>
              <a:rPr lang="en-US" sz="1200" dirty="0">
                <a:sym typeface="Wingdings" panose="05000000000000000000" pitchFamily="2" charset="2"/>
              </a:rPr>
              <a:t>.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200" dirty="0" err="1">
                <a:sym typeface="Wingdings" panose="05000000000000000000" pitchFamily="2" charset="2"/>
              </a:rPr>
              <a:t>Sự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đau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đơn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và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hối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hận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khi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chọn</a:t>
            </a:r>
            <a:r>
              <a:rPr lang="en-US" sz="1200" dirty="0">
                <a:sym typeface="Wingdings" panose="05000000000000000000" pitchFamily="2" charset="2"/>
              </a:rPr>
              <a:t> con </a:t>
            </a:r>
            <a:r>
              <a:rPr lang="en-US" sz="1200" dirty="0" err="1">
                <a:sym typeface="Wingdings" panose="05000000000000000000" pitchFamily="2" charset="2"/>
              </a:rPr>
              <a:t>đường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dễ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dàng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nhưng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thất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bại</a:t>
            </a:r>
            <a:r>
              <a:rPr lang="en-US" sz="1200" dirty="0"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ym typeface="Wingdings" panose="05000000000000000000" pitchFamily="2" charset="2"/>
              </a:rPr>
              <a:t>Kỷ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luật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được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hiểu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theo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hai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nội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hàm</a:t>
            </a:r>
            <a:r>
              <a:rPr lang="en-US" sz="1400" dirty="0">
                <a:sym typeface="Wingdings" panose="05000000000000000000" pitchFamily="2" charset="2"/>
              </a:rPr>
              <a:t>: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200" dirty="0" err="1">
                <a:sym typeface="Wingdings" panose="05000000000000000000" pitchFamily="2" charset="2"/>
              </a:rPr>
              <a:t>Kỷ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luật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trong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nhân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jthuwcs</a:t>
            </a:r>
            <a:r>
              <a:rPr lang="en-US" sz="1200" dirty="0">
                <a:sym typeface="Wingdings" panose="05000000000000000000" pitchFamily="2" charset="2"/>
              </a:rPr>
              <a:t>  </a:t>
            </a:r>
            <a:r>
              <a:rPr lang="en-US" sz="1200" dirty="0" err="1">
                <a:sym typeface="Wingdings" panose="05000000000000000000" pitchFamily="2" charset="2"/>
              </a:rPr>
              <a:t>phải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có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trách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nhiệm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với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bản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thân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và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công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việc</a:t>
            </a:r>
            <a:r>
              <a:rPr lang="en-US" sz="1200" dirty="0">
                <a:sym typeface="Wingdings" panose="05000000000000000000" pitchFamily="2" charset="2"/>
              </a:rPr>
              <a:t>  </a:t>
            </a:r>
            <a:r>
              <a:rPr lang="en-US" sz="1200" dirty="0" err="1">
                <a:sym typeface="Wingdings" panose="05000000000000000000" pitchFamily="2" charset="2"/>
              </a:rPr>
              <a:t>sống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và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làm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việc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có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nguyên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tắc</a:t>
            </a:r>
            <a:r>
              <a:rPr lang="en-US" sz="1200" dirty="0">
                <a:sym typeface="Wingdings" panose="05000000000000000000" pitchFamily="2" charset="2"/>
              </a:rPr>
              <a:t>.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200" dirty="0" err="1">
                <a:sym typeface="Wingdings" panose="05000000000000000000" pitchFamily="2" charset="2"/>
              </a:rPr>
              <a:t>Kỷ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luật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theo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thời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gian</a:t>
            </a:r>
            <a:r>
              <a:rPr lang="en-US" sz="1200" dirty="0">
                <a:sym typeface="Wingdings" panose="05000000000000000000" pitchFamily="2" charset="2"/>
              </a:rPr>
              <a:t>  </a:t>
            </a:r>
            <a:r>
              <a:rPr lang="en-US" sz="1200" dirty="0" err="1">
                <a:sym typeface="Wingdings" panose="05000000000000000000" pitchFamily="2" charset="2"/>
              </a:rPr>
              <a:t>tối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đa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hoá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trong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sử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dụng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thời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gian</a:t>
            </a:r>
            <a:r>
              <a:rPr lang="en-US" sz="1200" dirty="0"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ym typeface="Wingdings" panose="05000000000000000000" pitchFamily="2" charset="2"/>
              </a:rPr>
              <a:t>Nếu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kỷ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luật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thể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hiện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mục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tiêu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rất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rõ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ràng</a:t>
            </a:r>
            <a:r>
              <a:rPr lang="en-US" sz="1400" dirty="0">
                <a:sym typeface="Wingdings" panose="05000000000000000000" pitchFamily="2" charset="2"/>
              </a:rPr>
              <a:t>: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200" dirty="0" err="1">
                <a:sym typeface="Wingdings" panose="05000000000000000000" pitchFamily="2" charset="2"/>
              </a:rPr>
              <a:t>Rõ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ràng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mục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tiêu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ngấn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hạn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và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dài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hạn</a:t>
            </a:r>
            <a:r>
              <a:rPr lang="en-US" sz="1200" dirty="0">
                <a:sym typeface="Wingdings" panose="05000000000000000000" pitchFamily="2" charset="2"/>
              </a:rPr>
              <a:t>.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200" dirty="0" err="1">
                <a:sym typeface="Wingdings" panose="05000000000000000000" pitchFamily="2" charset="2"/>
              </a:rPr>
              <a:t>Có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kế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hoạch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rõ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ràng</a:t>
            </a:r>
            <a:r>
              <a:rPr lang="en-US" sz="1200" dirty="0">
                <a:sym typeface="Wingdings" panose="05000000000000000000" pitchFamily="2" charset="2"/>
              </a:rPr>
              <a:t>.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200" dirty="0" err="1">
                <a:sym typeface="Wingdings" panose="05000000000000000000" pitchFamily="2" charset="2"/>
              </a:rPr>
              <a:t>Có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khát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vọng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tới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mục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tiêu</a:t>
            </a:r>
            <a:r>
              <a:rPr lang="en-US" sz="1200" dirty="0">
                <a:sym typeface="Wingdings" panose="05000000000000000000" pitchFamily="2" charset="2"/>
              </a:rPr>
              <a:t>.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200" dirty="0" err="1">
                <a:sym typeface="Wingdings" panose="05000000000000000000" pitchFamily="2" charset="2"/>
              </a:rPr>
              <a:t>Sự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kiên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trì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tới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cùng</a:t>
            </a:r>
            <a:endParaRPr lang="en-US" sz="1200" dirty="0">
              <a:sym typeface="Wingdings" panose="05000000000000000000" pitchFamily="2" charset="2"/>
            </a:endParaRP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1100" dirty="0">
              <a:sym typeface="Wingdings" panose="05000000000000000000" pitchFamily="2" charset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C653B-3B85-5893-AD15-565797D1D804}"/>
              </a:ext>
            </a:extLst>
          </p:cNvPr>
          <p:cNvSpPr txBox="1"/>
          <p:nvPr/>
        </p:nvSpPr>
        <p:spPr>
          <a:xfrm>
            <a:off x="1080020" y="1312999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Phẩm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chất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kẻ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làm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đệ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tử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pic>
        <p:nvPicPr>
          <p:cNvPr id="9218" name="Picture 2" descr="Kỷ luật hay là chết: Thói quen tuy khó nhưng lại là dễ nhất để đi đến thành  công - Happy.Live">
            <a:extLst>
              <a:ext uri="{FF2B5EF4-FFF2-40B4-BE49-F238E27FC236}">
                <a16:creationId xmlns:a16="http://schemas.microsoft.com/office/drawing/2014/main" id="{44D83D13-38D0-6F00-110E-99219C0D2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19" y="2437002"/>
            <a:ext cx="4572000" cy="3048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glow rad="228600">
              <a:schemeClr val="accent2">
                <a:satMod val="175000"/>
                <a:alpha val="40000"/>
              </a:schemeClr>
            </a:glow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3827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6" dur="2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1B84-4FFE-EC24-CDC6-B6774B31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II. TRANG BỊ CHO NHÓM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3FC23-E826-BCBA-F7B3-73525B402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8797" y="2221354"/>
            <a:ext cx="7699310" cy="4351338"/>
          </a:xfrm>
        </p:spPr>
        <p:txBody>
          <a:bodyPr>
            <a:noAutofit/>
          </a:bodyPr>
          <a:lstStyle/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sym typeface="Wingdings" panose="05000000000000000000" pitchFamily="2" charset="2"/>
              </a:rPr>
              <a:t>Giao </a:t>
            </a:r>
            <a:r>
              <a:rPr lang="en-US" sz="2000" b="1" dirty="0" err="1">
                <a:sym typeface="Wingdings" panose="05000000000000000000" pitchFamily="2" charset="2"/>
              </a:rPr>
              <a:t>tiếp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hiệu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quả</a:t>
            </a:r>
            <a:r>
              <a:rPr lang="en-US" sz="2000" b="1" dirty="0">
                <a:sym typeface="Wingdings" panose="05000000000000000000" pitchFamily="2" charset="2"/>
              </a:rPr>
              <a:t>:</a:t>
            </a:r>
            <a:endParaRPr lang="en-US" sz="1200" dirty="0">
              <a:sym typeface="Wingdings" panose="05000000000000000000" pitchFamily="2" charset="2"/>
            </a:endParaRP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sym typeface="Wingdings" panose="05000000000000000000" pitchFamily="2" charset="2"/>
              </a:rPr>
              <a:t>70% </a:t>
            </a:r>
            <a:r>
              <a:rPr lang="en-US" sz="1600" dirty="0" err="1">
                <a:sym typeface="Wingdings" panose="05000000000000000000" pitchFamily="2" charset="2"/>
              </a:rPr>
              <a:t>giao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tiếp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của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lãnh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đạo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ngôn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ngữ</a:t>
            </a:r>
            <a:r>
              <a:rPr lang="en-US" sz="1600" dirty="0">
                <a:sym typeface="Wingdings" panose="05000000000000000000" pitchFamily="2" charset="2"/>
              </a:rPr>
              <a:t>, do </a:t>
            </a:r>
            <a:r>
              <a:rPr lang="en-US" sz="1600" dirty="0" err="1">
                <a:sym typeface="Wingdings" panose="05000000000000000000" pitchFamily="2" charset="2"/>
              </a:rPr>
              <a:t>vậy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tiêu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chuẩn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giao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tiếp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hiệu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quả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được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chọn</a:t>
            </a:r>
            <a:r>
              <a:rPr lang="en-US" sz="1600" dirty="0">
                <a:sym typeface="Wingdings" panose="05000000000000000000" pitchFamily="2" charset="2"/>
              </a:rPr>
              <a:t> </a:t>
            </a:r>
            <a:r>
              <a:rPr lang="en-US" sz="1600" dirty="0" err="1">
                <a:sym typeface="Wingdings" panose="05000000000000000000" pitchFamily="2" charset="2"/>
              </a:rPr>
              <a:t>biết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thể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hiện</a:t>
            </a:r>
            <a:r>
              <a:rPr lang="en-US" sz="1600" dirty="0">
                <a:sym typeface="Wingdings" panose="05000000000000000000" pitchFamily="2" charset="2"/>
              </a:rPr>
              <a:t> ý </a:t>
            </a:r>
            <a:r>
              <a:rPr lang="en-US" sz="1600" dirty="0" err="1">
                <a:sym typeface="Wingdings" panose="05000000000000000000" pitchFamily="2" charset="2"/>
              </a:rPr>
              <a:t>nghĩa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của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mình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ra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nói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rõ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ràng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mạch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lạc</a:t>
            </a:r>
            <a:r>
              <a:rPr lang="en-US" sz="1600" dirty="0"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dirty="0" err="1">
                <a:sym typeface="Wingdings" panose="05000000000000000000" pitchFamily="2" charset="2"/>
              </a:rPr>
              <a:t>Vì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nói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giúp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ta </a:t>
            </a:r>
            <a:r>
              <a:rPr lang="en-US" sz="1600" dirty="0" err="1">
                <a:sym typeface="Wingdings" panose="05000000000000000000" pitchFamily="2" charset="2"/>
              </a:rPr>
              <a:t>truyền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tải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được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tầm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nhìn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kêu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gọi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hành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động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truyền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đạt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sự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tự</a:t>
            </a:r>
            <a:r>
              <a:rPr lang="en-US" sz="1600" dirty="0">
                <a:sym typeface="Wingdings" panose="05000000000000000000" pitchFamily="2" charset="2"/>
              </a:rPr>
              <a:t> tin, </a:t>
            </a:r>
            <a:r>
              <a:rPr lang="en-US" sz="1600" dirty="0" err="1">
                <a:sym typeface="Wingdings" panose="05000000000000000000" pitchFamily="2" charset="2"/>
              </a:rPr>
              <a:t>thuyết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phục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được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khác</a:t>
            </a:r>
            <a:r>
              <a:rPr lang="en-US" sz="1600" dirty="0"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khả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năng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nói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biểu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hiện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như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sau</a:t>
            </a:r>
            <a:r>
              <a:rPr lang="en-US" sz="1600" dirty="0">
                <a:sym typeface="Wingdings" panose="05000000000000000000" pitchFamily="2" charset="2"/>
              </a:rPr>
              <a:t>: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ym typeface="Wingdings" panose="05000000000000000000" pitchFamily="2" charset="2"/>
              </a:rPr>
              <a:t>Khi </a:t>
            </a:r>
            <a:r>
              <a:rPr lang="en-US" sz="1400" dirty="0" err="1">
                <a:sym typeface="Wingdings" panose="05000000000000000000" pitchFamily="2" charset="2"/>
              </a:rPr>
              <a:t>nói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biểu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hiện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quan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tâm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đến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mình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đang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nói</a:t>
            </a:r>
            <a:r>
              <a:rPr lang="en-US" sz="1400" dirty="0">
                <a:sym typeface="Wingdings" panose="05000000000000000000" pitchFamily="2" charset="2"/>
              </a:rPr>
              <a:t>.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ym typeface="Wingdings" panose="05000000000000000000" pitchFamily="2" charset="2"/>
              </a:rPr>
              <a:t>Học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biểu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hiện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tập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trung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với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trả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lừi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chứ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tập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trung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vào</a:t>
            </a:r>
            <a:r>
              <a:rPr lang="en-US" sz="1400" dirty="0">
                <a:sym typeface="Wingdings" panose="05000000000000000000" pitchFamily="2" charset="2"/>
              </a:rPr>
              <a:t> ý </a:t>
            </a:r>
            <a:r>
              <a:rPr lang="en-US" sz="1400" dirty="0" err="1">
                <a:sym typeface="Wingdings" panose="05000000000000000000" pitchFamily="2" charset="2"/>
              </a:rPr>
              <a:t>kiến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của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.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rất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linh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hoạt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thể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giao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tiếp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với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mọi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loại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.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sử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dụng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kết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hợp</a:t>
            </a:r>
            <a:r>
              <a:rPr lang="en-US" sz="1400" dirty="0">
                <a:sym typeface="Wingdings" panose="05000000000000000000" pitchFamily="2" charset="2"/>
              </a:rPr>
              <a:t> phi </a:t>
            </a:r>
            <a:r>
              <a:rPr lang="en-US" sz="1400" dirty="0" err="1">
                <a:sym typeface="Wingdings" panose="05000000000000000000" pitchFamily="2" charset="2"/>
              </a:rPr>
              <a:t>ngôn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ngữ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rất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tốt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trong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cách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diễn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đạt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của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mình</a:t>
            </a:r>
            <a:r>
              <a:rPr lang="en-US" sz="1400" dirty="0"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C653B-3B85-5893-AD15-565797D1D804}"/>
              </a:ext>
            </a:extLst>
          </p:cNvPr>
          <p:cNvSpPr txBox="1"/>
          <p:nvPr/>
        </p:nvSpPr>
        <p:spPr>
          <a:xfrm>
            <a:off x="1080020" y="1312999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Phẩm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chất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kẻ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làm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đệ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tử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pic>
        <p:nvPicPr>
          <p:cNvPr id="1026" name="Picture 2" descr="Kỹ năng giao tiếp là gì? Các kỹ năng giao tiếp cần chú trọng nhất | Cake">
            <a:extLst>
              <a:ext uri="{FF2B5EF4-FFF2-40B4-BE49-F238E27FC236}">
                <a16:creationId xmlns:a16="http://schemas.microsoft.com/office/drawing/2014/main" id="{B655E97D-807F-4562-8C03-34511B1837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11"/>
          <a:stretch/>
        </p:blipFill>
        <p:spPr bwMode="auto">
          <a:xfrm>
            <a:off x="453705" y="3212983"/>
            <a:ext cx="4135073" cy="2471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2456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1B84-4FFE-EC24-CDC6-B6774B31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II. TRANG BỊ CHO NHÓM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3FC23-E826-BCBA-F7B3-73525B402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8797" y="2221354"/>
            <a:ext cx="7699310" cy="4351338"/>
          </a:xfrm>
        </p:spPr>
        <p:txBody>
          <a:bodyPr>
            <a:noAutofit/>
          </a:bodyPr>
          <a:lstStyle/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000" b="1" dirty="0" err="1">
                <a:sym typeface="Wingdings" panose="05000000000000000000" pitchFamily="2" charset="2"/>
              </a:rPr>
              <a:t>Không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bằng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lòng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với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tình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trạng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hiện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tại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đang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có</a:t>
            </a:r>
            <a:r>
              <a:rPr lang="en-US" sz="2000" b="1" dirty="0">
                <a:sym typeface="Wingdings" panose="05000000000000000000" pitchFamily="2" charset="2"/>
              </a:rPr>
              <a:t>:</a:t>
            </a:r>
            <a:endParaRPr lang="en-US" sz="1200" dirty="0">
              <a:sym typeface="Wingdings" panose="05000000000000000000" pitchFamily="2" charset="2"/>
            </a:endParaRP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lãnh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đạo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đúng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nghĩa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nhìn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thấu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hiện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tại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nhưng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quan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trọng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tầm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nhìn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về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tương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lai</a:t>
            </a:r>
            <a:r>
              <a:rPr lang="en-US" sz="1600" dirty="0"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dirty="0" err="1">
                <a:sym typeface="Wingdings" panose="05000000000000000000" pitchFamily="2" charset="2"/>
              </a:rPr>
              <a:t>Sự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bằng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lòng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hiện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tại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tuyệt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đối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được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hiểu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lầm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sự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bất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mãn</a:t>
            </a:r>
            <a:r>
              <a:rPr lang="en-US" sz="1600" dirty="0">
                <a:sym typeface="Wingdings" panose="05000000000000000000" pitchFamily="2" charset="2"/>
              </a:rPr>
              <a:t>  </a:t>
            </a:r>
            <a:r>
              <a:rPr lang="en-US" sz="1600" dirty="0" err="1">
                <a:sym typeface="Wingdings" panose="05000000000000000000" pitchFamily="2" charset="2"/>
              </a:rPr>
              <a:t>tăng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dần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sự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mạo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hiểm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vì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mạo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hiểm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nguồn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gốc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của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sự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phát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triển</a:t>
            </a:r>
            <a:r>
              <a:rPr lang="en-US" sz="1600" dirty="0"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dirty="0" err="1">
                <a:sym typeface="Wingdings" panose="05000000000000000000" pitchFamily="2" charset="2"/>
              </a:rPr>
              <a:t>Luôn</a:t>
            </a:r>
            <a:r>
              <a:rPr lang="en-US" sz="1600" dirty="0">
                <a:sym typeface="Wingdings" panose="05000000000000000000" pitchFamily="2" charset="2"/>
              </a:rPr>
              <a:t> chia </a:t>
            </a:r>
            <a:r>
              <a:rPr lang="en-US" sz="1600" dirty="0" err="1">
                <a:sym typeface="Wingdings" panose="05000000000000000000" pitchFamily="2" charset="2"/>
              </a:rPr>
              <a:t>sẻ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đội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nhóm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tầm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nhìn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sứ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mạng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của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tổ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chức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giúp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hệ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thống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hướng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điều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đó</a:t>
            </a:r>
            <a:r>
              <a:rPr lang="en-US" sz="1600" dirty="0">
                <a:sym typeface="Wingdings" panose="05000000000000000000" pitchFamily="2" charset="2"/>
              </a:rPr>
              <a:t>.</a:t>
            </a:r>
            <a:endParaRPr lang="en-US" sz="1400" dirty="0">
              <a:sym typeface="Wingdings" panose="05000000000000000000" pitchFamily="2" charset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C653B-3B85-5893-AD15-565797D1D804}"/>
              </a:ext>
            </a:extLst>
          </p:cNvPr>
          <p:cNvSpPr txBox="1"/>
          <p:nvPr/>
        </p:nvSpPr>
        <p:spPr>
          <a:xfrm>
            <a:off x="1080020" y="1312999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Phẩm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chất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kẻ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làm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đệ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tử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C5D7985-8E88-D671-E8D7-6133AEFD8A9E}"/>
              </a:ext>
            </a:extLst>
          </p:cNvPr>
          <p:cNvGrpSpPr/>
          <p:nvPr/>
        </p:nvGrpSpPr>
        <p:grpSpPr>
          <a:xfrm>
            <a:off x="443061" y="2742429"/>
            <a:ext cx="4290304" cy="2209286"/>
            <a:chOff x="720967" y="2963349"/>
            <a:chExt cx="3240845" cy="1680968"/>
          </a:xfrm>
        </p:grpSpPr>
        <p:sp>
          <p:nvSpPr>
            <p:cNvPr id="7" name="Frame 6">
              <a:extLst>
                <a:ext uri="{FF2B5EF4-FFF2-40B4-BE49-F238E27FC236}">
                  <a16:creationId xmlns:a16="http://schemas.microsoft.com/office/drawing/2014/main" id="{A55308EF-E145-D020-C7AA-606E3969C859}"/>
                </a:ext>
              </a:extLst>
            </p:cNvPr>
            <p:cNvSpPr/>
            <p:nvPr/>
          </p:nvSpPr>
          <p:spPr>
            <a:xfrm>
              <a:off x="802073" y="3143212"/>
              <a:ext cx="2109446" cy="1501105"/>
            </a:xfrm>
            <a:prstGeom prst="frame">
              <a:avLst>
                <a:gd name="adj1" fmla="val 5450"/>
              </a:avLst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" name="Rectangle 7" descr="LÃNH ĐẠO CÓ TẦM NHÌN XA TRÔNG RỘNG: PHẨM CHẤT, LỢI ÍCH VÀ BÍ QUYẾT | BCC -  Đào tạo &amp; Tư vấn Doanh Nghiệp">
              <a:extLst>
                <a:ext uri="{FF2B5EF4-FFF2-40B4-BE49-F238E27FC236}">
                  <a16:creationId xmlns:a16="http://schemas.microsoft.com/office/drawing/2014/main" id="{5867F40F-3ED8-44D8-A978-C6BEDE5B6067}"/>
                </a:ext>
              </a:extLst>
            </p:cNvPr>
            <p:cNvSpPr/>
            <p:nvPr/>
          </p:nvSpPr>
          <p:spPr>
            <a:xfrm>
              <a:off x="720967" y="2963349"/>
              <a:ext cx="2028340" cy="1419915"/>
            </a:xfrm>
            <a:prstGeom prst="rect">
              <a:avLst/>
            </a:prstGeom>
            <a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1000" r="-1000"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D9B4FBB-B3E4-D4E6-8767-255BD0D81F48}"/>
                </a:ext>
              </a:extLst>
            </p:cNvPr>
            <p:cNvSpPr/>
            <p:nvPr/>
          </p:nvSpPr>
          <p:spPr>
            <a:xfrm>
              <a:off x="884542" y="4383768"/>
              <a:ext cx="1945870" cy="178182"/>
            </a:xfrm>
            <a:custGeom>
              <a:avLst/>
              <a:gdLst>
                <a:gd name="connsiteX0" fmla="*/ 0 w 1945870"/>
                <a:gd name="connsiteY0" fmla="*/ 0 h 178182"/>
                <a:gd name="connsiteX1" fmla="*/ 1945870 w 1945870"/>
                <a:gd name="connsiteY1" fmla="*/ 0 h 178182"/>
                <a:gd name="connsiteX2" fmla="*/ 1945870 w 1945870"/>
                <a:gd name="connsiteY2" fmla="*/ 178182 h 178182"/>
                <a:gd name="connsiteX3" fmla="*/ 0 w 1945870"/>
                <a:gd name="connsiteY3" fmla="*/ 178182 h 178182"/>
                <a:gd name="connsiteX4" fmla="*/ 0 w 1945870"/>
                <a:gd name="connsiteY4" fmla="*/ 0 h 178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5870" h="178182">
                  <a:moveTo>
                    <a:pt x="0" y="0"/>
                  </a:moveTo>
                  <a:lnTo>
                    <a:pt x="1945870" y="0"/>
                  </a:lnTo>
                  <a:lnTo>
                    <a:pt x="1945870" y="178182"/>
                  </a:lnTo>
                  <a:lnTo>
                    <a:pt x="0" y="17818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1280" tIns="30480" rIns="81280" bIns="30480" numCol="1" spcCol="1270" anchor="ctr" anchorCtr="0">
              <a:noAutofit/>
            </a:bodyPr>
            <a:lstStyle/>
            <a:p>
              <a:pPr marL="0" lvl="0" indent="0" algn="l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800" kern="12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D7A4034-D2E2-D433-DCA6-BB1C8DF79EEF}"/>
                </a:ext>
              </a:extLst>
            </p:cNvPr>
            <p:cNvSpPr/>
            <p:nvPr/>
          </p:nvSpPr>
          <p:spPr>
            <a:xfrm>
              <a:off x="2997397" y="3143212"/>
              <a:ext cx="964415" cy="1501105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</p:grpSp>
    </p:spTree>
    <p:extLst>
      <p:ext uri="{BB962C8B-B14F-4D97-AF65-F5344CB8AC3E}">
        <p14:creationId xmlns:p14="http://schemas.microsoft.com/office/powerpoint/2010/main" val="3558476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1B84-4FFE-EC24-CDC6-B6774B31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II. TRANG BỊ CHO NHÓM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3FC23-E826-BCBA-F7B3-73525B402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174" y="1774664"/>
            <a:ext cx="7699310" cy="4351338"/>
          </a:xfrm>
        </p:spPr>
        <p:txBody>
          <a:bodyPr>
            <a:noAutofit/>
          </a:bodyPr>
          <a:lstStyle/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sym typeface="Wingdings" panose="05000000000000000000" pitchFamily="2" charset="2"/>
              </a:rPr>
              <a:t>Trang </a:t>
            </a:r>
            <a:r>
              <a:rPr lang="en-US" sz="1800" dirty="0" err="1">
                <a:sym typeface="Wingdings" panose="05000000000000000000" pitchFamily="2" charset="2"/>
              </a:rPr>
              <a:t>bị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là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một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khái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niệm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mô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tả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quá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trình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mà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người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lãnh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đạo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tiềm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năng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phải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trải</a:t>
            </a:r>
            <a:r>
              <a:rPr lang="en-US" sz="1800" dirty="0">
                <a:sym typeface="Wingdings" panose="05000000000000000000" pitchFamily="2" charset="2"/>
              </a:rPr>
              <a:t> qua, </a:t>
            </a:r>
            <a:r>
              <a:rPr lang="en-US" sz="1800" dirty="0" err="1">
                <a:sym typeface="Wingdings" panose="05000000000000000000" pitchFamily="2" charset="2"/>
              </a:rPr>
              <a:t>rất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nhiều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mặt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và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liên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tục</a:t>
            </a:r>
            <a:r>
              <a:rPr lang="en-US" sz="1800" dirty="0">
                <a:sym typeface="Wingdings" panose="05000000000000000000" pitchFamily="2" charset="2"/>
              </a:rPr>
              <a:t>.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800" dirty="0" err="1">
                <a:sym typeface="Wingdings" panose="05000000000000000000" pitchFamily="2" charset="2"/>
              </a:rPr>
              <a:t>Còn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nhiều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khái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niệm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huấn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luyện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phải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thường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tập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trung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vào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một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nhiệm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vụ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cụ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thể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và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mặc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định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là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thành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phần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trong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quá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trình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trang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bị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để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giúp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họ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dần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lên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vị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trí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lãnh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đạo</a:t>
            </a:r>
            <a:r>
              <a:rPr lang="en-US" sz="1800" dirty="0">
                <a:sym typeface="Wingdings" panose="05000000000000000000" pitchFamily="2" charset="2"/>
              </a:rPr>
              <a:t>.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800" dirty="0" err="1">
                <a:sym typeface="Wingdings" panose="05000000000000000000" pitchFamily="2" charset="2"/>
              </a:rPr>
              <a:t>Người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trang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bị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là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người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đạt</a:t>
            </a:r>
            <a:r>
              <a:rPr lang="en-US" sz="1800" dirty="0">
                <a:sym typeface="Wingdings" panose="05000000000000000000" pitchFamily="2" charset="2"/>
              </a:rPr>
              <a:t> 3 </a:t>
            </a:r>
            <a:r>
              <a:rPr lang="en-US" sz="1800" dirty="0" err="1">
                <a:sym typeface="Wingdings" panose="05000000000000000000" pitchFamily="2" charset="2"/>
              </a:rPr>
              <a:t>vai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trò</a:t>
            </a:r>
            <a:r>
              <a:rPr lang="en-US" sz="1800" dirty="0">
                <a:sym typeface="Wingdings" panose="05000000000000000000" pitchFamily="2" charset="2"/>
              </a:rPr>
              <a:t>: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một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hình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mẫu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khác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nói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theo.</a:t>
            </a:r>
            <a:endParaRPr lang="en-US" sz="1400" dirty="0">
              <a:sym typeface="Wingdings" panose="05000000000000000000" pitchFamily="2" charset="2"/>
            </a:endParaRP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ym typeface="Wingdings" panose="05000000000000000000" pitchFamily="2" charset="2"/>
              </a:rPr>
              <a:t>Phải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một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thầy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phân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tích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tổng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hợp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cố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vấn</a:t>
            </a:r>
            <a:r>
              <a:rPr lang="en-US" sz="1400" dirty="0">
                <a:sym typeface="Wingdings" panose="05000000000000000000" pitchFamily="2" charset="2"/>
              </a:rPr>
              <a:t>.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800" dirty="0" err="1">
                <a:sym typeface="Wingdings" panose="05000000000000000000" pitchFamily="2" charset="2"/>
              </a:rPr>
              <a:t>Thực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hiện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đúng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quy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trình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huấn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luyện</a:t>
            </a:r>
            <a:r>
              <a:rPr lang="en-US" sz="1800" dirty="0">
                <a:sym typeface="Wingdings" panose="05000000000000000000" pitchFamily="2" charset="2"/>
              </a:rPr>
              <a:t>: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ym typeface="Wingdings" panose="05000000000000000000" pitchFamily="2" charset="2"/>
              </a:rPr>
              <a:t>10%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nhớ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những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gì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bạn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nói</a:t>
            </a:r>
            <a:endParaRPr lang="en-US" sz="1400" dirty="0">
              <a:sym typeface="Wingdings" panose="05000000000000000000" pitchFamily="2" charset="2"/>
            </a:endParaRP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ym typeface="Wingdings" panose="05000000000000000000" pitchFamily="2" charset="2"/>
              </a:rPr>
              <a:t>50%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nhớ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những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gì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nhìn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thấy</a:t>
            </a:r>
            <a:endParaRPr lang="en-US" sz="1400" dirty="0">
              <a:sym typeface="Wingdings" panose="05000000000000000000" pitchFamily="2" charset="2"/>
            </a:endParaRP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ym typeface="Wingdings" panose="05000000000000000000" pitchFamily="2" charset="2"/>
              </a:rPr>
              <a:t>70%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nhớ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những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gì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nói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ra</a:t>
            </a:r>
            <a:endParaRPr lang="en-US" sz="1400" dirty="0">
              <a:sym typeface="Wingdings" panose="05000000000000000000" pitchFamily="2" charset="2"/>
            </a:endParaRP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ym typeface="Wingdings" panose="05000000000000000000" pitchFamily="2" charset="2"/>
              </a:rPr>
              <a:t>90%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sẽ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nhớ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nếu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kết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hợp</a:t>
            </a:r>
            <a:r>
              <a:rPr lang="en-US" sz="1400" dirty="0">
                <a:sym typeface="Wingdings" panose="05000000000000000000" pitchFamily="2" charset="2"/>
              </a:rPr>
              <a:t> 5 </a:t>
            </a:r>
            <a:r>
              <a:rPr lang="en-US" sz="1400" dirty="0" err="1">
                <a:sym typeface="Wingdings" panose="05000000000000000000" pitchFamily="2" charset="2"/>
              </a:rPr>
              <a:t>giác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quan</a:t>
            </a:r>
            <a:r>
              <a:rPr lang="en-US" sz="1400" dirty="0"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1400" dirty="0">
              <a:sym typeface="Wingdings" panose="05000000000000000000" pitchFamily="2" charset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C653B-3B85-5893-AD15-565797D1D804}"/>
              </a:ext>
            </a:extLst>
          </p:cNvPr>
          <p:cNvSpPr txBox="1"/>
          <p:nvPr/>
        </p:nvSpPr>
        <p:spPr>
          <a:xfrm>
            <a:off x="1080020" y="1312999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Quá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trình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trang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bị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pic>
        <p:nvPicPr>
          <p:cNvPr id="3074" name="Picture 2" descr="20 câu nói truyền cảm hứng thành công cho nhà lãnh đạo">
            <a:extLst>
              <a:ext uri="{FF2B5EF4-FFF2-40B4-BE49-F238E27FC236}">
                <a16:creationId xmlns:a16="http://schemas.microsoft.com/office/drawing/2014/main" id="{2136669D-224F-E332-6B3F-53118A9844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65" b="18728"/>
          <a:stretch/>
        </p:blipFill>
        <p:spPr bwMode="auto">
          <a:xfrm>
            <a:off x="7369549" y="4273338"/>
            <a:ext cx="3984251" cy="2219537"/>
          </a:xfrm>
          <a:prstGeom prst="rect">
            <a:avLst/>
          </a:prstGeom>
          <a:noFill/>
          <a:effectLst>
            <a:glow rad="228600">
              <a:schemeClr val="accent2">
                <a:satMod val="175000"/>
                <a:alpha val="40000"/>
              </a:schemeClr>
            </a:glow>
          </a:effectLst>
          <a:scene3d>
            <a:camera prst="isometricOffAxis2Lef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4909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1B84-4FFE-EC24-CDC6-B6774B31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II. TRANG BỊ CHO NHÓM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3FC23-E826-BCBA-F7B3-73525B402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763" y="1774664"/>
            <a:ext cx="10788473" cy="4351338"/>
          </a:xfrm>
        </p:spPr>
        <p:txBody>
          <a:bodyPr>
            <a:noAutofit/>
          </a:bodyPr>
          <a:lstStyle/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sym typeface="Wingdings" panose="05000000000000000000" pitchFamily="2" charset="2"/>
              </a:rPr>
              <a:t>Nội</a:t>
            </a:r>
            <a:r>
              <a:rPr lang="en-US" sz="2000" dirty="0">
                <a:sym typeface="Wingdings" panose="05000000000000000000" pitchFamily="2" charset="2"/>
              </a:rPr>
              <a:t> dung </a:t>
            </a:r>
            <a:r>
              <a:rPr lang="en-US" sz="2000" dirty="0" err="1">
                <a:sym typeface="Wingdings" panose="05000000000000000000" pitchFamily="2" charset="2"/>
              </a:rPr>
              <a:t>trang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bị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gồm</a:t>
            </a:r>
            <a:r>
              <a:rPr lang="en-US" sz="2000" dirty="0">
                <a:sym typeface="Wingdings" panose="05000000000000000000" pitchFamily="2" charset="2"/>
              </a:rPr>
              <a:t>:</a:t>
            </a:r>
            <a:endParaRPr lang="en-US" sz="1200" dirty="0">
              <a:sym typeface="Wingdings" panose="05000000000000000000" pitchFamily="2" charset="2"/>
            </a:endParaRP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dirty="0" err="1">
                <a:sym typeface="Wingdings" panose="05000000000000000000" pitchFamily="2" charset="2"/>
              </a:rPr>
              <a:t>Phát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triển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mối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quan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hệ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cá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nhân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tiếp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cận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lãnh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đạo</a:t>
            </a:r>
            <a:r>
              <a:rPr lang="en-US" sz="1600" dirty="0">
                <a:sym typeface="Wingdings" panose="05000000000000000000" pitchFamily="2" charset="2"/>
              </a:rPr>
              <a:t>. </a:t>
            </a:r>
            <a:r>
              <a:rPr lang="en-US" sz="1600" dirty="0" err="1">
                <a:sym typeface="Wingdings" panose="05000000000000000000" pitchFamily="2" charset="2"/>
              </a:rPr>
              <a:t>Vì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mọi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chuyện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bắt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đầu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từ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mối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quan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hệ</a:t>
            </a:r>
            <a:r>
              <a:rPr lang="en-US" sz="1600" dirty="0">
                <a:sym typeface="Wingdings" panose="05000000000000000000" pitchFamily="2" charset="2"/>
              </a:rPr>
              <a:t> (</a:t>
            </a:r>
            <a:r>
              <a:rPr lang="en-US" sz="1600" dirty="0" err="1">
                <a:sym typeface="Wingdings" panose="05000000000000000000" pitchFamily="2" charset="2"/>
              </a:rPr>
              <a:t>cuộc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sống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công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việc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hành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trình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phát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triển</a:t>
            </a:r>
            <a:r>
              <a:rPr lang="en-US" sz="1600" dirty="0">
                <a:sym typeface="Wingdings" panose="05000000000000000000" pitchFamily="2" charset="2"/>
              </a:rPr>
              <a:t>). </a:t>
            </a:r>
            <a:r>
              <a:rPr lang="en-US" sz="1600" dirty="0" err="1">
                <a:sym typeface="Wingdings" panose="05000000000000000000" pitchFamily="2" charset="2"/>
              </a:rPr>
              <a:t>Sự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quan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tâm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thật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lòng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mục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tiêu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của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điều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gì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đang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quan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tâm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cái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gì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đang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thúc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đẩy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ưu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nhược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điểm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của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ở </a:t>
            </a:r>
            <a:r>
              <a:rPr lang="en-US" sz="1600" dirty="0" err="1">
                <a:sym typeface="Wingdings" panose="05000000000000000000" pitchFamily="2" charset="2"/>
              </a:rPr>
              <a:t>đâu</a:t>
            </a:r>
            <a:r>
              <a:rPr lang="en-US" sz="1600" dirty="0"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dirty="0" err="1">
                <a:sym typeface="Wingdings" panose="05000000000000000000" pitchFamily="2" charset="2"/>
              </a:rPr>
              <a:t>Luôn</a:t>
            </a:r>
            <a:r>
              <a:rPr lang="en-US" sz="1600" dirty="0">
                <a:sym typeface="Wingdings" panose="05000000000000000000" pitchFamily="2" charset="2"/>
              </a:rPr>
              <a:t> chia </a:t>
            </a:r>
            <a:r>
              <a:rPr lang="en-US" sz="1600" dirty="0" err="1">
                <a:sym typeface="Wingdings" panose="05000000000000000000" pitchFamily="2" charset="2"/>
              </a:rPr>
              <a:t>sẻ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giấc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mơ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của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mình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chúng</a:t>
            </a:r>
            <a:r>
              <a:rPr lang="en-US" sz="1600" dirty="0">
                <a:sym typeface="Wingdings" panose="05000000000000000000" pitchFamily="2" charset="2"/>
              </a:rPr>
              <a:t> ta </a:t>
            </a:r>
            <a:r>
              <a:rPr lang="en-US" sz="1600" dirty="0" err="1">
                <a:sym typeface="Wingdings" panose="05000000000000000000" pitchFamily="2" charset="2"/>
              </a:rPr>
              <a:t>muốn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đồng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hành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dẫn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dắt</a:t>
            </a:r>
            <a:r>
              <a:rPr lang="en-US" sz="1600" dirty="0"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dirty="0" err="1">
                <a:sym typeface="Wingdings" panose="05000000000000000000" pitchFamily="2" charset="2"/>
              </a:rPr>
              <a:t>Có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cách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đòi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hỏi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sự</a:t>
            </a:r>
            <a:r>
              <a:rPr lang="en-US" sz="1600" dirty="0">
                <a:sym typeface="Wingdings" panose="05000000000000000000" pitchFamily="2" charset="2"/>
              </a:rPr>
              <a:t> cam </a:t>
            </a:r>
            <a:r>
              <a:rPr lang="en-US" sz="1600" dirty="0" err="1">
                <a:sym typeface="Wingdings" panose="05000000000000000000" pitchFamily="2" charset="2"/>
              </a:rPr>
              <a:t>kết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của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nhân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viên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đừng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giáo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dục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hãy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quan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tâm</a:t>
            </a:r>
            <a:r>
              <a:rPr lang="en-US" sz="1600" dirty="0">
                <a:sym typeface="Wingdings" panose="05000000000000000000" pitchFamily="2" charset="2"/>
              </a:rPr>
              <a:t> chia </a:t>
            </a:r>
            <a:r>
              <a:rPr lang="en-US" sz="1600" dirty="0" err="1">
                <a:sym typeface="Wingdings" panose="05000000000000000000" pitchFamily="2" charset="2"/>
              </a:rPr>
              <a:t>sẻ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đòi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hỏi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tính</a:t>
            </a:r>
            <a:r>
              <a:rPr lang="en-US" sz="1600" dirty="0">
                <a:sym typeface="Wingdings" panose="05000000000000000000" pitchFamily="2" charset="2"/>
              </a:rPr>
              <a:t> cam </a:t>
            </a:r>
            <a:r>
              <a:rPr lang="en-US" sz="1600" dirty="0" err="1">
                <a:sym typeface="Wingdings" panose="05000000000000000000" pitchFamily="2" charset="2"/>
              </a:rPr>
              <a:t>kết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từ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 </a:t>
            </a:r>
            <a:r>
              <a:rPr lang="en-US" sz="1600" dirty="0" err="1">
                <a:sym typeface="Wingdings" panose="05000000000000000000" pitchFamily="2" charset="2"/>
              </a:rPr>
              <a:t>tất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cả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vì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mục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tiê</a:t>
            </a:r>
            <a:r>
              <a:rPr lang="en-US" sz="1600" dirty="0"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sym typeface="Wingdings" panose="05000000000000000000" pitchFamily="2" charset="2"/>
              </a:rPr>
              <a:t>Cho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một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tâm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thế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sẵn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lòng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phải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trả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giá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sự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thành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công</a:t>
            </a:r>
            <a:r>
              <a:rPr lang="en-US" sz="1600" dirty="0">
                <a:sym typeface="Wingdings" panose="05000000000000000000" pitchFamily="2" charset="2"/>
              </a:rPr>
              <a:t> ( </a:t>
            </a:r>
            <a:r>
              <a:rPr lang="en-US" sz="1600" dirty="0" err="1">
                <a:sym typeface="Wingdings" panose="05000000000000000000" pitchFamily="2" charset="2"/>
              </a:rPr>
              <a:t>thời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gian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sức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khoẻ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mối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quan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hệ</a:t>
            </a:r>
            <a:r>
              <a:rPr lang="en-US" sz="1600" dirty="0">
                <a:sym typeface="Wingdings" panose="05000000000000000000" pitchFamily="2" charset="2"/>
              </a:rPr>
              <a:t>…)  </a:t>
            </a:r>
            <a:r>
              <a:rPr lang="en-US" sz="1600" dirty="0" err="1">
                <a:sym typeface="Wingdings" panose="05000000000000000000" pitchFamily="2" charset="2"/>
              </a:rPr>
              <a:t>Nếu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không</a:t>
            </a:r>
            <a:r>
              <a:rPr lang="en-US" sz="1600" dirty="0">
                <a:sym typeface="Wingdings" panose="05000000000000000000" pitchFamily="2" charset="2"/>
              </a:rPr>
              <a:t> cam </a:t>
            </a:r>
            <a:r>
              <a:rPr lang="en-US" sz="1600" dirty="0" err="1">
                <a:sym typeface="Wingdings" panose="05000000000000000000" pitchFamily="2" charset="2"/>
              </a:rPr>
              <a:t>kết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được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thì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tuyệt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đối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trang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bị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nữa</a:t>
            </a:r>
            <a:r>
              <a:rPr lang="en-US" sz="1600" dirty="0"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dirty="0" err="1">
                <a:sym typeface="Wingdings" panose="05000000000000000000" pitchFamily="2" charset="2"/>
              </a:rPr>
              <a:t>Giúp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nhận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ra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tiềm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năng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đặt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ra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mục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tiêu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phát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triển</a:t>
            </a:r>
            <a:r>
              <a:rPr lang="en-US" sz="1600" dirty="0">
                <a:sym typeface="Wingdings" panose="05000000000000000000" pitchFamily="2" charset="2"/>
              </a:rPr>
              <a:t>.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ym typeface="Wingdings" panose="05000000000000000000" pitchFamily="2" charset="2"/>
              </a:rPr>
              <a:t>Giúp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đặt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mục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tiêu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hợp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lý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khả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thi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cụ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thể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rỏ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ràng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có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thách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thức</a:t>
            </a:r>
            <a:r>
              <a:rPr lang="en-US" sz="1400" dirty="0"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C653B-3B85-5893-AD15-565797D1D804}"/>
              </a:ext>
            </a:extLst>
          </p:cNvPr>
          <p:cNvSpPr txBox="1"/>
          <p:nvPr/>
        </p:nvSpPr>
        <p:spPr>
          <a:xfrm>
            <a:off x="1080020" y="1312999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Quá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trình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trang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bị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pic>
        <p:nvPicPr>
          <p:cNvPr id="5122" name="Picture 2" descr="20 câu nói truyền cảm hứng thành công cho nhà lãnh đạo">
            <a:extLst>
              <a:ext uri="{FF2B5EF4-FFF2-40B4-BE49-F238E27FC236}">
                <a16:creationId xmlns:a16="http://schemas.microsoft.com/office/drawing/2014/main" id="{4D4C6DD2-81C8-CE55-9335-0C28536F80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364"/>
          <a:stretch/>
        </p:blipFill>
        <p:spPr bwMode="auto">
          <a:xfrm>
            <a:off x="7885019" y="4843369"/>
            <a:ext cx="3541800" cy="164950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8690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1B84-4FFE-EC24-CDC6-B6774B31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II. TRANG BỊ CHO NHÓM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3FC23-E826-BCBA-F7B3-73525B402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421" y="1935349"/>
            <a:ext cx="7699310" cy="4351338"/>
          </a:xfrm>
        </p:spPr>
        <p:txBody>
          <a:bodyPr>
            <a:noAutofit/>
          </a:bodyPr>
          <a:lstStyle/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sym typeface="Wingdings" panose="05000000000000000000" pitchFamily="2" charset="2"/>
              </a:rPr>
              <a:t>Nội</a:t>
            </a:r>
            <a:r>
              <a:rPr lang="en-US" sz="2000" dirty="0">
                <a:sym typeface="Wingdings" panose="05000000000000000000" pitchFamily="2" charset="2"/>
              </a:rPr>
              <a:t> dung </a:t>
            </a:r>
            <a:r>
              <a:rPr lang="en-US" sz="2000" dirty="0" err="1">
                <a:sym typeface="Wingdings" panose="05000000000000000000" pitchFamily="2" charset="2"/>
              </a:rPr>
              <a:t>trang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bị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gồm</a:t>
            </a:r>
            <a:r>
              <a:rPr lang="en-US" sz="2000" dirty="0">
                <a:sym typeface="Wingdings" panose="05000000000000000000" pitchFamily="2" charset="2"/>
              </a:rPr>
              <a:t>:</a:t>
            </a:r>
            <a:endParaRPr lang="en-US" sz="1600" dirty="0">
              <a:sym typeface="Wingdings" panose="05000000000000000000" pitchFamily="2" charset="2"/>
            </a:endParaRP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dirty="0" err="1">
                <a:sym typeface="Wingdings" panose="05000000000000000000" pitchFamily="2" charset="2"/>
              </a:rPr>
              <a:t>Giúp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nhận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ra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tiềm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năng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đặt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ra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mục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tiêu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phát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triển</a:t>
            </a:r>
            <a:r>
              <a:rPr lang="en-US" sz="1600" dirty="0">
                <a:sym typeface="Wingdings" panose="05000000000000000000" pitchFamily="2" charset="2"/>
              </a:rPr>
              <a:t>: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ym typeface="Wingdings" panose="05000000000000000000" pitchFamily="2" charset="2"/>
              </a:rPr>
              <a:t>Giúp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đặt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mục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tiêu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hợp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lý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khả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thi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cụ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thể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rỏ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ràng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có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thách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thức</a:t>
            </a:r>
            <a:r>
              <a:rPr lang="en-US" sz="1400" dirty="0">
                <a:sym typeface="Wingdings" panose="05000000000000000000" pitchFamily="2" charset="2"/>
              </a:rPr>
              <a:t>.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ym typeface="Wingdings" panose="05000000000000000000" pitchFamily="2" charset="2"/>
              </a:rPr>
              <a:t>Mục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tiêu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sẽ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định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hình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được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kế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hoạch</a:t>
            </a:r>
            <a:r>
              <a:rPr lang="en-US" sz="1400" dirty="0">
                <a:sym typeface="Wingdings" panose="05000000000000000000" pitchFamily="2" charset="2"/>
              </a:rPr>
              <a:t>.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ym typeface="Wingdings" panose="05000000000000000000" pitchFamily="2" charset="2"/>
              </a:rPr>
              <a:t>Kế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hoạch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sẽ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quyết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định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hành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động</a:t>
            </a:r>
            <a:r>
              <a:rPr lang="en-US" sz="1400" dirty="0">
                <a:sym typeface="Wingdings" panose="05000000000000000000" pitchFamily="2" charset="2"/>
              </a:rPr>
              <a:t>.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ym typeface="Wingdings" panose="05000000000000000000" pitchFamily="2" charset="2"/>
              </a:rPr>
              <a:t>Hành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động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quyết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định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kết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quả</a:t>
            </a:r>
            <a:r>
              <a:rPr lang="en-US" sz="1400" dirty="0">
                <a:sym typeface="Wingdings" panose="05000000000000000000" pitchFamily="2" charset="2"/>
              </a:rPr>
              <a:t>.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ym typeface="Wingdings" panose="05000000000000000000" pitchFamily="2" charset="2"/>
              </a:rPr>
              <a:t>Kết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quả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quyết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định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thành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công</a:t>
            </a:r>
            <a:r>
              <a:rPr lang="en-US" sz="1400" dirty="0"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dirty="0" err="1">
                <a:sym typeface="Wingdings" panose="05000000000000000000" pitchFamily="2" charset="2"/>
              </a:rPr>
              <a:t>Truyền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đạt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những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kỹ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năng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thiết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yếu</a:t>
            </a:r>
            <a:r>
              <a:rPr lang="en-US" sz="1600" dirty="0">
                <a:sym typeface="Wingdings" panose="05000000000000000000" pitchFamily="2" charset="2"/>
              </a:rPr>
              <a:t>:</a:t>
            </a: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ym typeface="Wingdings" panose="05000000000000000000" pitchFamily="2" charset="2"/>
              </a:rPr>
              <a:t>Giao </a:t>
            </a:r>
            <a:r>
              <a:rPr lang="en-US" sz="1400" dirty="0" err="1">
                <a:sym typeface="Wingdings" panose="05000000000000000000" pitchFamily="2" charset="2"/>
              </a:rPr>
              <a:t>việc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ym typeface="Wingdings" panose="05000000000000000000" pitchFamily="2" charset="2"/>
              </a:rPr>
              <a:t>Uỷ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quyền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ym typeface="Wingdings" panose="05000000000000000000" pitchFamily="2" charset="2"/>
              </a:rPr>
              <a:t>Giải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quyết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mâu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thuẩn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ym typeface="Wingdings" panose="05000000000000000000" pitchFamily="2" charset="2"/>
              </a:rPr>
              <a:t>Lập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kế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hoạch</a:t>
            </a:r>
            <a:endParaRPr lang="en-US" sz="1400" dirty="0">
              <a:sym typeface="Wingdings" panose="05000000000000000000" pitchFamily="2" charset="2"/>
            </a:endParaRPr>
          </a:p>
          <a:p>
            <a:pPr lvl="3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ym typeface="Wingdings" panose="05000000000000000000" pitchFamily="2" charset="2"/>
              </a:rPr>
              <a:t>…..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C653B-3B85-5893-AD15-565797D1D804}"/>
              </a:ext>
            </a:extLst>
          </p:cNvPr>
          <p:cNvSpPr txBox="1"/>
          <p:nvPr/>
        </p:nvSpPr>
        <p:spPr>
          <a:xfrm>
            <a:off x="1080020" y="1312999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Quá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trình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trang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bị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pic>
        <p:nvPicPr>
          <p:cNvPr id="4098" name="Picture 2" descr="110 câu danh ngôn, câu nói hay về sự lựa chọn">
            <a:extLst>
              <a:ext uri="{FF2B5EF4-FFF2-40B4-BE49-F238E27FC236}">
                <a16:creationId xmlns:a16="http://schemas.microsoft.com/office/drawing/2014/main" id="{BF344A57-FC05-8A92-5928-126302F77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4237" y="3550024"/>
            <a:ext cx="3865039" cy="289734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6018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1B84-4FFE-EC24-CDC6-B6774B31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II. TRANG BỊ CHO NHÓM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3FC23-E826-BCBA-F7B3-73525B402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421" y="1935349"/>
            <a:ext cx="7699310" cy="4351338"/>
          </a:xfrm>
        </p:spPr>
        <p:txBody>
          <a:bodyPr>
            <a:noAutofit/>
          </a:bodyPr>
          <a:lstStyle/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000" b="1" u="sng" dirty="0" err="1">
                <a:sym typeface="Wingdings" panose="05000000000000000000" pitchFamily="2" charset="2"/>
              </a:rPr>
              <a:t>Bước</a:t>
            </a:r>
            <a:r>
              <a:rPr lang="en-US" sz="2000" b="1" u="sng" dirty="0">
                <a:sym typeface="Wingdings" panose="05000000000000000000" pitchFamily="2" charset="2"/>
              </a:rPr>
              <a:t> 1</a:t>
            </a:r>
            <a:r>
              <a:rPr lang="en-US" sz="2000" dirty="0">
                <a:sym typeface="Wingdings" panose="05000000000000000000" pitchFamily="2" charset="2"/>
              </a:rPr>
              <a:t>: </a:t>
            </a:r>
            <a:r>
              <a:rPr lang="en-US" sz="2000" dirty="0" err="1">
                <a:sym typeface="Wingdings" panose="05000000000000000000" pitchFamily="2" charset="2"/>
              </a:rPr>
              <a:t>Tôi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là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hình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mẫu</a:t>
            </a:r>
            <a:r>
              <a:rPr lang="en-US" sz="2000" dirty="0">
                <a:sym typeface="Wingdings" panose="05000000000000000000" pitchFamily="2" charset="2"/>
              </a:rPr>
              <a:t>  </a:t>
            </a:r>
            <a:r>
              <a:rPr lang="en-US" sz="2000" dirty="0" err="1">
                <a:sym typeface="Wingdings" panose="05000000000000000000" pitchFamily="2" charset="2"/>
              </a:rPr>
              <a:t>Quá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trình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này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bắt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đầu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bằng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việc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người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lãnh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đạo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thao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tác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các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nghiệp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vụ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gồm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cả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quy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tình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và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động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tác</a:t>
            </a:r>
            <a:r>
              <a:rPr lang="en-US" sz="2000" dirty="0">
                <a:sym typeface="Wingdings" panose="05000000000000000000" pitchFamily="2" charset="2"/>
              </a:rPr>
              <a:t>.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000" b="1" dirty="0" err="1">
                <a:sym typeface="Wingdings" panose="05000000000000000000" pitchFamily="2" charset="2"/>
              </a:rPr>
              <a:t>Bước</a:t>
            </a:r>
            <a:r>
              <a:rPr lang="en-US" sz="2000" b="1" dirty="0">
                <a:sym typeface="Wingdings" panose="05000000000000000000" pitchFamily="2" charset="2"/>
              </a:rPr>
              <a:t> 2: </a:t>
            </a:r>
            <a:r>
              <a:rPr lang="en-US" sz="2000" dirty="0" err="1">
                <a:sym typeface="Wingdings" panose="05000000000000000000" pitchFamily="2" charset="2"/>
              </a:rPr>
              <a:t>Tôi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hướng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dẫn</a:t>
            </a:r>
            <a:endParaRPr lang="en-US" sz="2000" dirty="0">
              <a:sym typeface="Wingdings" panose="05000000000000000000" pitchFamily="2" charset="2"/>
            </a:endParaRP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dirty="0" err="1">
                <a:sym typeface="Wingdings" panose="05000000000000000000" pitchFamily="2" charset="2"/>
              </a:rPr>
              <a:t>Tiếp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tục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thực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hiện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việc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nhưng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được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huấn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luyện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sẽ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cùng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làm</a:t>
            </a:r>
            <a:r>
              <a:rPr lang="en-US" sz="1600" dirty="0"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lãnh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đạo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đồng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cùng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giải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thích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những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từng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động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tác</a:t>
            </a:r>
            <a:r>
              <a:rPr lang="en-US" sz="1600" dirty="0">
                <a:sym typeface="Wingdings" panose="05000000000000000000" pitchFamily="2" charset="2"/>
              </a:rPr>
              <a:t>.</a:t>
            </a:r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000" b="1" u="sng" dirty="0" err="1">
                <a:sym typeface="Wingdings" panose="05000000000000000000" pitchFamily="2" charset="2"/>
              </a:rPr>
              <a:t>Bước</a:t>
            </a:r>
            <a:r>
              <a:rPr lang="en-US" sz="2000" b="1" u="sng" dirty="0">
                <a:sym typeface="Wingdings" panose="05000000000000000000" pitchFamily="2" charset="2"/>
              </a:rPr>
              <a:t> 3</a:t>
            </a:r>
            <a:r>
              <a:rPr lang="en-US" sz="2000" dirty="0">
                <a:sym typeface="Wingdings" panose="05000000000000000000" pitchFamily="2" charset="2"/>
              </a:rPr>
              <a:t>: </a:t>
            </a:r>
            <a:r>
              <a:rPr lang="en-US" sz="2000" dirty="0" err="1">
                <a:sym typeface="Wingdings" panose="05000000000000000000" pitchFamily="2" charset="2"/>
              </a:rPr>
              <a:t>Tôi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theo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dõi</a:t>
            </a:r>
            <a:r>
              <a:rPr lang="en-US" sz="2000" dirty="0">
                <a:sym typeface="Wingdings" panose="05000000000000000000" pitchFamily="2" charset="2"/>
              </a:rPr>
              <a:t>: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huấn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luyện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được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huấn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luyện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đổi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vai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nhau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được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huấn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luyện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sẽ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tự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làm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lãnh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đạo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sẽ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quan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sát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hỗ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trợ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hoặc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sửa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lỗi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liên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tục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khuyến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khích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thành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thạo</a:t>
            </a:r>
            <a:r>
              <a:rPr lang="en-US" sz="1600" dirty="0"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dirty="0" err="1">
                <a:sym typeface="Wingdings" panose="05000000000000000000" pitchFamily="2" charset="2"/>
              </a:rPr>
              <a:t>Yêu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cầu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dạy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lại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khác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lãnh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đạo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tiếp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tục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theo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dõi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hỗ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trợ</a:t>
            </a:r>
            <a:r>
              <a:rPr lang="en-US" sz="1600" dirty="0"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dirty="0" err="1">
                <a:sym typeface="Wingdings" panose="05000000000000000000" pitchFamily="2" charset="2"/>
              </a:rPr>
              <a:t>Luôn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khuyến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khích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động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viên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đạt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thành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quả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dù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nhỏ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nhất</a:t>
            </a:r>
            <a:r>
              <a:rPr lang="en-US" sz="1600" b="1" u="sng" dirty="0">
                <a:sym typeface="Wingdings" panose="05000000000000000000" pitchFamily="2" charset="2"/>
              </a:rPr>
              <a:t> </a:t>
            </a:r>
            <a:endParaRPr lang="en-US" sz="1600" dirty="0">
              <a:sym typeface="Wingdings" panose="05000000000000000000" pitchFamily="2" charset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C653B-3B85-5893-AD15-565797D1D804}"/>
              </a:ext>
            </a:extLst>
          </p:cNvPr>
          <p:cNvSpPr txBox="1"/>
          <p:nvPr/>
        </p:nvSpPr>
        <p:spPr>
          <a:xfrm>
            <a:off x="1080020" y="1312999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rgbClr val="002060"/>
                </a:solidFill>
                <a:latin typeface="Calibri" panose="020F0502020204030204"/>
              </a:rPr>
              <a:t>4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Phương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pháp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trang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bị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pic>
        <p:nvPicPr>
          <p:cNvPr id="7170" name="Picture 2" descr="20 câu nói truyền cảm hứng thành công cho nhà lãnh đạo">
            <a:extLst>
              <a:ext uri="{FF2B5EF4-FFF2-40B4-BE49-F238E27FC236}">
                <a16:creationId xmlns:a16="http://schemas.microsoft.com/office/drawing/2014/main" id="{5235DFF1-EEC5-A16A-39AE-D5AD9DB8FA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163"/>
          <a:stretch/>
        </p:blipFill>
        <p:spPr bwMode="auto">
          <a:xfrm>
            <a:off x="7983631" y="2755103"/>
            <a:ext cx="4063509" cy="1897579"/>
          </a:xfrm>
          <a:prstGeom prst="rect">
            <a:avLst/>
          </a:prstGeom>
          <a:noFill/>
          <a:effectLst>
            <a:glow rad="228600">
              <a:schemeClr val="accent4">
                <a:satMod val="175000"/>
                <a:alpha val="40000"/>
              </a:schemeClr>
            </a:glow>
          </a:effectLst>
          <a:scene3d>
            <a:camera prst="isometricOffAxis2Lef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1363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1B84-4FFE-EC24-CDC6-B6774B31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II. TRANG BỊ CHO NHÓM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3FC23-E826-BCBA-F7B3-73525B402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421" y="1796521"/>
            <a:ext cx="7699310" cy="4351338"/>
          </a:xfrm>
        </p:spPr>
        <p:txBody>
          <a:bodyPr>
            <a:noAutofit/>
          </a:bodyPr>
          <a:lstStyle/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000" b="1" u="sng" dirty="0" err="1">
                <a:solidFill>
                  <a:srgbClr val="002060"/>
                </a:solidFill>
                <a:sym typeface="Wingdings" panose="05000000000000000000" pitchFamily="2" charset="2"/>
              </a:rPr>
              <a:t>Bước</a:t>
            </a:r>
            <a:r>
              <a:rPr lang="en-US" sz="2000" b="1" u="sng" dirty="0">
                <a:solidFill>
                  <a:srgbClr val="002060"/>
                </a:solidFill>
                <a:sym typeface="Wingdings" panose="05000000000000000000" pitchFamily="2" charset="2"/>
              </a:rPr>
              <a:t> 4: </a:t>
            </a:r>
            <a:r>
              <a:rPr lang="en-US" sz="2000" dirty="0" err="1">
                <a:sym typeface="Wingdings" panose="05000000000000000000" pitchFamily="2" charset="2"/>
              </a:rPr>
              <a:t>Nhân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rộng</a:t>
            </a:r>
            <a:r>
              <a:rPr lang="en-US" sz="2000" dirty="0">
                <a:sym typeface="Wingdings" panose="05000000000000000000" pitchFamily="2" charset="2"/>
              </a:rPr>
              <a:t>  </a:t>
            </a:r>
            <a:r>
              <a:rPr lang="en-US" sz="2000" dirty="0" err="1">
                <a:sym typeface="Wingdings" panose="05000000000000000000" pitchFamily="2" charset="2"/>
              </a:rPr>
              <a:t>sau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khi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nhân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viên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đã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học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được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người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lãnh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đạo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yêu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cầu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họ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dạy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cho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người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khác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vì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đây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là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cách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tốt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nhất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để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họ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học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hỏi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tới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mức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thành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thạo</a:t>
            </a:r>
            <a:r>
              <a:rPr lang="en-US" sz="2000" dirty="0"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sym typeface="Wingdings" panose="05000000000000000000" pitchFamily="2" charset="2"/>
              </a:rPr>
              <a:t>Cho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tự</a:t>
            </a:r>
            <a:r>
              <a:rPr lang="en-US" sz="1600" dirty="0">
                <a:sym typeface="Wingdings" panose="05000000000000000000" pitchFamily="2" charset="2"/>
              </a:rPr>
              <a:t> do </a:t>
            </a:r>
            <a:r>
              <a:rPr lang="en-US" sz="1600" dirty="0" err="1">
                <a:sym typeface="Wingdings" panose="05000000000000000000" pitchFamily="2" charset="2"/>
              </a:rPr>
              <a:t>thực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hiện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việc</a:t>
            </a:r>
            <a:r>
              <a:rPr lang="en-US" sz="1600" dirty="0">
                <a:sym typeface="Wingdings" panose="05000000000000000000" pitchFamily="2" charset="2"/>
              </a:rPr>
              <a:t>  </a:t>
            </a:r>
            <a:r>
              <a:rPr lang="en-US" sz="1600" dirty="0" err="1">
                <a:sym typeface="Wingdings" panose="05000000000000000000" pitchFamily="2" charset="2"/>
              </a:rPr>
              <a:t>tự</a:t>
            </a:r>
            <a:r>
              <a:rPr lang="en-US" sz="1600" dirty="0">
                <a:sym typeface="Wingdings" panose="05000000000000000000" pitchFamily="2" charset="2"/>
              </a:rPr>
              <a:t> do </a:t>
            </a:r>
            <a:r>
              <a:rPr lang="en-US" sz="1600" dirty="0" err="1">
                <a:sym typeface="Wingdings" panose="05000000000000000000" pitchFamily="2" charset="2"/>
              </a:rPr>
              <a:t>trong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khuôn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khổ</a:t>
            </a:r>
            <a:r>
              <a:rPr lang="en-US" sz="1600" dirty="0">
                <a:sym typeface="Wingdings" panose="05000000000000000000" pitchFamily="2" charset="2"/>
              </a:rPr>
              <a:t> (</a:t>
            </a:r>
            <a:r>
              <a:rPr lang="en-US" sz="1600" dirty="0" err="1">
                <a:sym typeface="Wingdings" panose="05000000000000000000" pitchFamily="2" charset="2"/>
              </a:rPr>
              <a:t>nghĩa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vụ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quyền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lực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trách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nhiệm</a:t>
            </a:r>
            <a:r>
              <a:rPr lang="en-US" sz="1600" dirty="0">
                <a:sym typeface="Wingdings" panose="05000000000000000000" pitchFamily="2" charset="2"/>
              </a:rPr>
              <a:t>).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dirty="0" err="1">
                <a:sym typeface="Wingdings" panose="05000000000000000000" pitchFamily="2" charset="2"/>
              </a:rPr>
              <a:t>Trao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quyền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hành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nhất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định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trong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khuôn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khổ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vì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một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số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lãnh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đạo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muốn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kiểm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soát</a:t>
            </a:r>
            <a:r>
              <a:rPr lang="en-US" sz="1600" dirty="0">
                <a:sym typeface="Wingdings" panose="05000000000000000000" pitchFamily="2" charset="2"/>
              </a:rPr>
              <a:t> chi </a:t>
            </a:r>
            <a:r>
              <a:rPr lang="en-US" sz="1600" dirty="0" err="1">
                <a:sym typeface="Wingdings" panose="05000000000000000000" pitchFamily="2" charset="2"/>
              </a:rPr>
              <a:t>tiết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việc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điều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này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nhân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viên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rất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chịu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sự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tự</a:t>
            </a:r>
            <a:r>
              <a:rPr lang="en-US" sz="1600" dirty="0">
                <a:sym typeface="Wingdings" panose="05000000000000000000" pitchFamily="2" charset="2"/>
              </a:rPr>
              <a:t> do </a:t>
            </a:r>
            <a:r>
              <a:rPr lang="en-US" sz="1600" dirty="0" err="1">
                <a:sym typeface="Wingdings" panose="05000000000000000000" pitchFamily="2" charset="2"/>
              </a:rPr>
              <a:t>phát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triển</a:t>
            </a:r>
            <a:r>
              <a:rPr lang="en-US" sz="1600" dirty="0">
                <a:sym typeface="Wingdings" panose="05000000000000000000" pitchFamily="2" charset="2"/>
              </a:rPr>
              <a:t> 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sẽ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đối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thoái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thác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trách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nhiệm</a:t>
            </a:r>
            <a:r>
              <a:rPr lang="en-US" sz="1600" dirty="0"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dirty="0" err="1">
                <a:sym typeface="Wingdings" panose="05000000000000000000" pitchFamily="2" charset="2"/>
              </a:rPr>
              <a:t>Sự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tự</a:t>
            </a:r>
            <a:r>
              <a:rPr lang="en-US" sz="1600" dirty="0">
                <a:sym typeface="Wingdings" panose="05000000000000000000" pitchFamily="2" charset="2"/>
              </a:rPr>
              <a:t> do </a:t>
            </a:r>
            <a:r>
              <a:rPr lang="en-US" sz="1600" dirty="0" err="1">
                <a:sym typeface="Wingdings" panose="05000000000000000000" pitchFamily="2" charset="2"/>
              </a:rPr>
              <a:t>và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việc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sẽ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giúp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thúc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đẩy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năng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lực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thực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hiện</a:t>
            </a:r>
            <a:r>
              <a:rPr lang="en-US" sz="1600" dirty="0"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sym typeface="Wingdings" panose="05000000000000000000" pitchFamily="2" charset="2"/>
              </a:rPr>
              <a:t>Khi </a:t>
            </a:r>
            <a:r>
              <a:rPr lang="en-US" sz="1600" dirty="0" err="1">
                <a:sym typeface="Wingdings" panose="05000000000000000000" pitchFamily="2" charset="2"/>
              </a:rPr>
              <a:t>mới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giao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quyền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thực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ra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chỉ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phép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quyền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chứ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chưa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quyền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lực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thực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tế</a:t>
            </a:r>
            <a:r>
              <a:rPr lang="en-US" sz="1600" dirty="0">
                <a:sym typeface="Wingdings" panose="05000000000000000000" pitchFamily="2" charset="2"/>
              </a:rPr>
              <a:t>  </a:t>
            </a:r>
            <a:r>
              <a:rPr lang="en-US" sz="1600" dirty="0" err="1">
                <a:sym typeface="Wingdings" panose="05000000000000000000" pitchFamily="2" charset="2"/>
              </a:rPr>
              <a:t>nó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chỉ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đạt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đủ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tự</a:t>
            </a:r>
            <a:r>
              <a:rPr lang="en-US" sz="1600" dirty="0">
                <a:sym typeface="Wingdings" panose="05000000000000000000" pitchFamily="2" charset="2"/>
              </a:rPr>
              <a:t> tin.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sym typeface="Wingdings" panose="05000000000000000000" pitchFamily="2" charset="2"/>
              </a:rPr>
              <a:t>Khi </a:t>
            </a:r>
            <a:r>
              <a:rPr lang="en-US" sz="1600" dirty="0" err="1">
                <a:sym typeface="Wingdings" panose="05000000000000000000" pitchFamily="2" charset="2"/>
              </a:rPr>
              <a:t>giao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quyền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chúng</a:t>
            </a:r>
            <a:r>
              <a:rPr lang="en-US" sz="1600" dirty="0">
                <a:sym typeface="Wingdings" panose="05000000000000000000" pitchFamily="2" charset="2"/>
              </a:rPr>
              <a:t> ta </a:t>
            </a:r>
            <a:r>
              <a:rPr lang="en-US" sz="1600" dirty="0" err="1">
                <a:sym typeface="Wingdings" panose="05000000000000000000" pitchFamily="2" charset="2"/>
              </a:rPr>
              <a:t>phải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đánh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giá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trên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nền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tảng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năng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lực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trên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tiềm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năng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họ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đạt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được</a:t>
            </a:r>
            <a:r>
              <a:rPr lang="en-US" sz="1600" dirty="0">
                <a:sym typeface="Wingdings" panose="05000000000000000000" pitchFamily="2" charset="2"/>
              </a:rPr>
              <a:t>.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600" dirty="0" err="1">
                <a:sym typeface="Wingdings" panose="05000000000000000000" pitchFamily="2" charset="2"/>
              </a:rPr>
              <a:t>Trao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quyền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nhưng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phải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cùng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kiểm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giám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sát</a:t>
            </a:r>
            <a:r>
              <a:rPr lang="en-US" sz="1600" dirty="0"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C653B-3B85-5893-AD15-565797D1D804}"/>
              </a:ext>
            </a:extLst>
          </p:cNvPr>
          <p:cNvSpPr txBox="1"/>
          <p:nvPr/>
        </p:nvSpPr>
        <p:spPr>
          <a:xfrm>
            <a:off x="1080020" y="1312999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Phương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pháp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trang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bị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pic>
        <p:nvPicPr>
          <p:cNvPr id="6146" name="Picture 2" descr="20 câu nói truyền cảm hứng thành công cho nhà lãnh đạo">
            <a:extLst>
              <a:ext uri="{FF2B5EF4-FFF2-40B4-BE49-F238E27FC236}">
                <a16:creationId xmlns:a16="http://schemas.microsoft.com/office/drawing/2014/main" id="{57602B74-2997-49EB-D1B8-AD204B02AE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17"/>
          <a:stretch/>
        </p:blipFill>
        <p:spPr bwMode="auto">
          <a:xfrm>
            <a:off x="8367731" y="2680733"/>
            <a:ext cx="3673744" cy="1909195"/>
          </a:xfrm>
          <a:prstGeom prst="rect">
            <a:avLst/>
          </a:prstGeom>
          <a:noFill/>
          <a:effectLst>
            <a:glow rad="228600">
              <a:schemeClr val="accent6">
                <a:satMod val="175000"/>
                <a:alpha val="40000"/>
              </a:schemeClr>
            </a:glow>
          </a:effectLst>
          <a:scene3d>
            <a:camera prst="isometricOffAxis1Righ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3700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F5136-4124-3FD8-984E-9483FB58C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THANKS!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3A71C-1CB7-8A22-B6D3-6DF614198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194" name="Picture 2" descr="Can đảm để trở thành người lãnh đạo thành công - Hạt giống tâm hồn">
            <a:extLst>
              <a:ext uri="{FF2B5EF4-FFF2-40B4-BE49-F238E27FC236}">
                <a16:creationId xmlns:a16="http://schemas.microsoft.com/office/drawing/2014/main" id="{277313BE-727C-E3CF-BF76-EF39930C6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373" y="1825625"/>
            <a:ext cx="7111253" cy="3996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4219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4580</Words>
  <Application>Microsoft Office PowerPoint</Application>
  <PresentationFormat>Widescreen</PresentationFormat>
  <Paragraphs>279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Wingdings</vt:lpstr>
      <vt:lpstr>Office Theme</vt:lpstr>
      <vt:lpstr>CỐ VẤN CHO NGƯỜI KHÁC</vt:lpstr>
      <vt:lpstr>I. TỔNG QUAN</vt:lpstr>
      <vt:lpstr>I. TỔNG QUAN</vt:lpstr>
      <vt:lpstr>I. TỔNG QUAN</vt:lpstr>
      <vt:lpstr>I. TỔNG QUAN</vt:lpstr>
      <vt:lpstr>I. TỔNG QUAN</vt:lpstr>
      <vt:lpstr>I. TỔNG QUAN</vt:lpstr>
      <vt:lpstr>I. TỔNG QUAN</vt:lpstr>
      <vt:lpstr>I. TỔNG QUAN</vt:lpstr>
      <vt:lpstr>I. TỔNG QUAN</vt:lpstr>
      <vt:lpstr>I. TỔNG QUAN</vt:lpstr>
      <vt:lpstr>I. TỔNG QUAN</vt:lpstr>
      <vt:lpstr>II. TRANG BỊ CHO NHÓM</vt:lpstr>
      <vt:lpstr>II. TRANG BỊ CHO NHÓM</vt:lpstr>
      <vt:lpstr>II. TRANG BỊ CHO NHÓM</vt:lpstr>
      <vt:lpstr>II. TRANG BỊ CHO NHÓM</vt:lpstr>
      <vt:lpstr>II. TRANG BỊ CHO NHÓM</vt:lpstr>
      <vt:lpstr>II. TRANG BỊ CHO NHÓM</vt:lpstr>
      <vt:lpstr>II. TRANG BỊ CHO NHÓM</vt:lpstr>
      <vt:lpstr>II. TRANG BỊ CHO NHÓM</vt:lpstr>
      <vt:lpstr>II. TRANG BỊ CHO NHÓM</vt:lpstr>
      <vt:lpstr>II. TRANG BỊ CHO NHÓM</vt:lpstr>
      <vt:lpstr>II. TRANG BỊ CHO NHÓM</vt:lpstr>
      <vt:lpstr>II. TRANG BỊ CHO NHÓM</vt:lpstr>
      <vt:lpstr>II. TRANG BỊ CHO NHÓM</vt:lpstr>
      <vt:lpstr>II. TRANG BỊ CHO NHÓM</vt:lpstr>
      <vt:lpstr>II. TRANG BỊ CHO NHÓM</vt:lpstr>
      <vt:lpstr>II. TRANG BỊ CHO NHÓM</vt:lpstr>
      <vt:lpstr>II. TRANG BỊ CHO NHÓM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CỐ VẤN CHO NGƯỜI KHÁC</dc:title>
  <dc:creator>Administrator</dc:creator>
  <cp:lastModifiedBy>Administrator</cp:lastModifiedBy>
  <cp:revision>11</cp:revision>
  <dcterms:created xsi:type="dcterms:W3CDTF">2024-12-24T08:15:54Z</dcterms:created>
  <dcterms:modified xsi:type="dcterms:W3CDTF">2024-12-25T16:45:44Z</dcterms:modified>
</cp:coreProperties>
</file>