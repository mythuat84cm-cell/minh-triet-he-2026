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87980-CD91-8CD8-B8F7-2178CCD2FD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20076A-F914-5879-6042-FB87C3B6EA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7286E2-EACF-D761-CF8F-E26401F298F1}"/>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5" name="Footer Placeholder 4">
            <a:extLst>
              <a:ext uri="{FF2B5EF4-FFF2-40B4-BE49-F238E27FC236}">
                <a16:creationId xmlns:a16="http://schemas.microsoft.com/office/drawing/2014/main" id="{8473776F-5887-2D39-F406-DEEAEC34A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C7EB74-BC79-2361-C454-0941A8FCF1C7}"/>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1308591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A4105-C254-C2C3-6180-268CE92BF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49B8B8-ACF2-CEF0-A856-9EA0F02468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B83CA1-9B2C-F7FA-5ABB-DD4C024E4FCB}"/>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5" name="Footer Placeholder 4">
            <a:extLst>
              <a:ext uri="{FF2B5EF4-FFF2-40B4-BE49-F238E27FC236}">
                <a16:creationId xmlns:a16="http://schemas.microsoft.com/office/drawing/2014/main" id="{192BD646-70DA-4072-D671-8F3D19431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8EE72-7CF9-3F47-1512-EED4A9D32F3E}"/>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5081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8A03-5F2A-C4A3-C8FB-532ACA270F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C64355-7690-E82E-8FF7-8915D72A70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5FA22C-974C-398A-E10C-99CB8A64ADF2}"/>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5" name="Footer Placeholder 4">
            <a:extLst>
              <a:ext uri="{FF2B5EF4-FFF2-40B4-BE49-F238E27FC236}">
                <a16:creationId xmlns:a16="http://schemas.microsoft.com/office/drawing/2014/main" id="{685C7FD4-4558-0088-69A0-15AC703327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0D035B-2EB5-8579-D0A3-D2C93AC06C42}"/>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765092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1805-6888-A051-57C2-8F974B3F4C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70B93B-F018-FB38-86AE-0CAB20C29E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5F4C41-3350-61D7-EDFE-EFF0385898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7E26C8-27B1-09B0-F509-7F754C733E18}"/>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6" name="Footer Placeholder 5">
            <a:extLst>
              <a:ext uri="{FF2B5EF4-FFF2-40B4-BE49-F238E27FC236}">
                <a16:creationId xmlns:a16="http://schemas.microsoft.com/office/drawing/2014/main" id="{B1A5D323-FA51-513F-D03A-264EDE801A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B9BF17-AE78-B43E-DDF3-400840CF389B}"/>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174407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FEE5-A895-6D05-5F72-916B121F2E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BBDC80-CFD8-C257-3272-29D9A7418A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1905C6-17A4-791F-8ADC-69E1EA4EB0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A617B9-27ED-8668-FBE0-08D0897152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A860AB-F929-36E9-9013-73101A9517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5252DB-7CC1-F9C5-ACDB-DC26FF86F721}"/>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8" name="Footer Placeholder 7">
            <a:extLst>
              <a:ext uri="{FF2B5EF4-FFF2-40B4-BE49-F238E27FC236}">
                <a16:creationId xmlns:a16="http://schemas.microsoft.com/office/drawing/2014/main" id="{27F6DED5-ADBF-4F89-0595-DBED8CB469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1F67CD-FE83-7032-9354-B9AFBE686B85}"/>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542204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8175A-657A-79FF-26A3-523F59F8CF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C4D8EA-B958-2944-AFDC-10571CB16DA5}"/>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4" name="Footer Placeholder 3">
            <a:extLst>
              <a:ext uri="{FF2B5EF4-FFF2-40B4-BE49-F238E27FC236}">
                <a16:creationId xmlns:a16="http://schemas.microsoft.com/office/drawing/2014/main" id="{AC09471B-858D-06AF-7448-3DCE35C810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5E3B87-AE1D-8EE9-7CA9-7F04CDBA23AC}"/>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77439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ABBEC6-962E-23B6-2750-94E3D6F37F8D}"/>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3" name="Footer Placeholder 2">
            <a:extLst>
              <a:ext uri="{FF2B5EF4-FFF2-40B4-BE49-F238E27FC236}">
                <a16:creationId xmlns:a16="http://schemas.microsoft.com/office/drawing/2014/main" id="{770373CA-6EA6-2DA2-A168-134106777B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61E409-FDED-97F1-FB6B-3AEE383B24C5}"/>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559403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EFD2-3AE0-185B-91C1-2C47F96CA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DC6E24-BDEB-E664-8DDF-BF2279BD0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D69480-C63B-261D-025F-692CA7134F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5122F-13B1-7193-19DB-7E5315D33B5E}"/>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6" name="Footer Placeholder 5">
            <a:extLst>
              <a:ext uri="{FF2B5EF4-FFF2-40B4-BE49-F238E27FC236}">
                <a16:creationId xmlns:a16="http://schemas.microsoft.com/office/drawing/2014/main" id="{1F84A143-3DC7-1CB3-8698-42669C3499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9F26AC-9649-F100-FFBF-023542771248}"/>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2928581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97E58-8B95-38A6-24E6-DC451FFBCC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062E4C-2D87-9B1A-0313-0C8C62AF55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34B92C-E0D6-D42E-1413-1024B0F35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7461D-B645-9164-85D1-E9BDB2C00927}"/>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6" name="Footer Placeholder 5">
            <a:extLst>
              <a:ext uri="{FF2B5EF4-FFF2-40B4-BE49-F238E27FC236}">
                <a16:creationId xmlns:a16="http://schemas.microsoft.com/office/drawing/2014/main" id="{AB4348A0-A9A5-C903-8E09-144F284F25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7CF309-7F95-F125-2F39-75ECF4A35B61}"/>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636964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C2780-059E-CA84-0EE6-24CA01F370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607BB5-2141-D42A-02AF-134CBF9A48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76D809-FE57-7488-7CE8-FDA5A4D0DB57}"/>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5" name="Footer Placeholder 4">
            <a:extLst>
              <a:ext uri="{FF2B5EF4-FFF2-40B4-BE49-F238E27FC236}">
                <a16:creationId xmlns:a16="http://schemas.microsoft.com/office/drawing/2014/main" id="{7EE6C741-EBEE-483A-783F-A723EDC50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7B60C5-170C-5EA2-2C80-8837AE834CB8}"/>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217809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C072D5-5973-5AC2-3744-97E2623BBE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0C226A-D672-D37D-EAF0-88FE065586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41C2E-2F19-80FE-21D5-CC5D8F284DDD}"/>
              </a:ext>
            </a:extLst>
          </p:cNvPr>
          <p:cNvSpPr>
            <a:spLocks noGrp="1"/>
          </p:cNvSpPr>
          <p:nvPr>
            <p:ph type="dt" sz="half" idx="10"/>
          </p:nvPr>
        </p:nvSpPr>
        <p:spPr/>
        <p:txBody>
          <a:bodyPr/>
          <a:lstStyle/>
          <a:p>
            <a:fld id="{1C536D1E-59CE-44A7-8000-F5FD93412464}" type="datetimeFigureOut">
              <a:rPr lang="en-US" smtClean="0"/>
              <a:t>1/2/2025</a:t>
            </a:fld>
            <a:endParaRPr lang="en-US"/>
          </a:p>
        </p:txBody>
      </p:sp>
      <p:sp>
        <p:nvSpPr>
          <p:cNvPr id="5" name="Footer Placeholder 4">
            <a:extLst>
              <a:ext uri="{FF2B5EF4-FFF2-40B4-BE49-F238E27FC236}">
                <a16:creationId xmlns:a16="http://schemas.microsoft.com/office/drawing/2014/main" id="{3313D21E-A990-CDB8-D6E1-AC858F9781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B0514-4025-495D-0519-8C5970B1BB9C}"/>
              </a:ext>
            </a:extLst>
          </p:cNvPr>
          <p:cNvSpPr>
            <a:spLocks noGrp="1"/>
          </p:cNvSpPr>
          <p:nvPr>
            <p:ph type="sldNum" sz="quarter" idx="12"/>
          </p:nvPr>
        </p:nvSpPr>
        <p:spPr/>
        <p:txBody>
          <a:bodyPr/>
          <a:lstStyle/>
          <a:p>
            <a:fld id="{1377F390-9405-4657-AD2D-32071C6C9E10}" type="slidenum">
              <a:rPr lang="en-US" smtClean="0"/>
              <a:t>‹#›</a:t>
            </a:fld>
            <a:endParaRPr lang="en-US"/>
          </a:p>
        </p:txBody>
      </p:sp>
    </p:spTree>
    <p:extLst>
      <p:ext uri="{BB962C8B-B14F-4D97-AF65-F5344CB8AC3E}">
        <p14:creationId xmlns:p14="http://schemas.microsoft.com/office/powerpoint/2010/main" val="1702809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40DB0C-750D-C7A0-E5CB-91878B5A25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BE3419-39FD-9FC2-21A7-A949AE6250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5B2FC-1B53-195E-B725-FA5926B68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36D1E-59CE-44A7-8000-F5FD93412464}" type="datetimeFigureOut">
              <a:rPr lang="en-US" smtClean="0"/>
              <a:t>1/2/2025</a:t>
            </a:fld>
            <a:endParaRPr lang="en-US"/>
          </a:p>
        </p:txBody>
      </p:sp>
      <p:sp>
        <p:nvSpPr>
          <p:cNvPr id="5" name="Footer Placeholder 4">
            <a:extLst>
              <a:ext uri="{FF2B5EF4-FFF2-40B4-BE49-F238E27FC236}">
                <a16:creationId xmlns:a16="http://schemas.microsoft.com/office/drawing/2014/main" id="{B6628C78-0790-C4C5-CD6E-633908581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05169D-9576-DD14-B75F-32E66AE873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77F390-9405-4657-AD2D-32071C6C9E10}" type="slidenum">
              <a:rPr lang="en-US" smtClean="0"/>
              <a:t>‹#›</a:t>
            </a:fld>
            <a:endParaRPr lang="en-US"/>
          </a:p>
        </p:txBody>
      </p:sp>
    </p:spTree>
    <p:extLst>
      <p:ext uri="{BB962C8B-B14F-4D97-AF65-F5344CB8AC3E}">
        <p14:creationId xmlns:p14="http://schemas.microsoft.com/office/powerpoint/2010/main" val="4231664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5C44-84D9-7E60-9389-8E806E131689}"/>
              </a:ext>
            </a:extLst>
          </p:cNvPr>
          <p:cNvSpPr>
            <a:spLocks noGrp="1"/>
          </p:cNvSpPr>
          <p:nvPr>
            <p:ph type="ctrTitle"/>
          </p:nvPr>
        </p:nvSpPr>
        <p:spPr>
          <a:xfrm>
            <a:off x="2186475" y="3716274"/>
            <a:ext cx="8011885" cy="2387600"/>
          </a:xfrm>
        </p:spPr>
        <p:txBody>
          <a:bodyPr>
            <a:normAutofit/>
          </a:bodyPr>
          <a:lstStyle/>
          <a:p>
            <a:pPr>
              <a:lnSpc>
                <a:spcPct val="100000"/>
              </a:lnSpc>
            </a:pPr>
            <a:r>
              <a:rPr lang="en-US" sz="4800" b="1" i="1" dirty="0">
                <a:solidFill>
                  <a:srgbClr val="00B050"/>
                </a:solidFill>
                <a:latin typeface="Bahnschrift Condensed" panose="020B0502040204020203" pitchFamily="34" charset="0"/>
              </a:rPr>
              <a:t>YẾU TỐ TÂM LÝ QUYẾT ĐỊNH </a:t>
            </a:r>
            <a:br>
              <a:rPr lang="en-US" sz="4800" b="1" i="1" dirty="0">
                <a:solidFill>
                  <a:srgbClr val="00B050"/>
                </a:solidFill>
                <a:latin typeface="Bahnschrift Condensed" panose="020B0502040204020203" pitchFamily="34" charset="0"/>
              </a:rPr>
            </a:br>
            <a:r>
              <a:rPr lang="en-US" sz="4800" b="1" i="1" dirty="0">
                <a:solidFill>
                  <a:srgbClr val="00B050"/>
                </a:solidFill>
                <a:latin typeface="Bahnschrift Condensed" panose="020B0502040204020203" pitchFamily="34" charset="0"/>
              </a:rPr>
              <a:t>THAM GIA BẢO HIỂM NHÂN THỌ</a:t>
            </a:r>
          </a:p>
        </p:txBody>
      </p:sp>
      <p:pic>
        <p:nvPicPr>
          <p:cNvPr id="1026" name="Picture 2" descr="Những câu nói tư vấn khách hàng có giá trị dành cho doanh nghiệp">
            <a:extLst>
              <a:ext uri="{FF2B5EF4-FFF2-40B4-BE49-F238E27FC236}">
                <a16:creationId xmlns:a16="http://schemas.microsoft.com/office/drawing/2014/main" id="{1C89D85A-EFF9-8FDC-F7F8-0ACB7D87A3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366"/>
          <a:stretch/>
        </p:blipFill>
        <p:spPr bwMode="auto">
          <a:xfrm>
            <a:off x="3106241" y="215172"/>
            <a:ext cx="6625587" cy="4100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385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D1AB-21DF-1A1F-1D83-65CA208AE0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0B2680-C6E6-FBE4-9A1A-D15FCA214C2D}"/>
              </a:ext>
            </a:extLst>
          </p:cNvPr>
          <p:cNvSpPr>
            <a:spLocks noGrp="1"/>
          </p:cNvSpPr>
          <p:nvPr>
            <p:ph idx="1"/>
          </p:nvPr>
        </p:nvSpPr>
        <p:spPr>
          <a:xfrm>
            <a:off x="838200" y="1825625"/>
            <a:ext cx="6225330" cy="3400716"/>
          </a:xfrm>
        </p:spPr>
        <p:txBody>
          <a:bodyPr>
            <a:normAutofit fontScale="85000" lnSpcReduction="20000"/>
          </a:bodyPr>
          <a:lstStyle/>
          <a:p>
            <a:pPr algn="just">
              <a:lnSpc>
                <a:spcPct val="120000"/>
              </a:lnSpc>
            </a:pPr>
            <a:r>
              <a:rPr lang="en-US" dirty="0">
                <a:latin typeface="Bahnschrift Condensed" panose="020B0502040204020203" pitchFamily="34" charset="0"/>
              </a:rPr>
              <a:t>T</a:t>
            </a:r>
            <a:r>
              <a:rPr lang="vi-VN" dirty="0">
                <a:latin typeface="Bahnschrift Condensed" panose="020B0502040204020203" pitchFamily="34" charset="0"/>
              </a:rPr>
              <a:t>rong tư vấn bảo hiểm nhân thọ, yếu tố tâm lý đóng vai trò quan trọng</a:t>
            </a:r>
            <a:r>
              <a:rPr lang="en-US" dirty="0">
                <a:latin typeface="Bahnschrift Condensed" panose="020B0502040204020203" pitchFamily="34" charset="0"/>
              </a:rPr>
              <a:t>, </a:t>
            </a:r>
            <a:r>
              <a:rPr lang="en-US" dirty="0" err="1">
                <a:latin typeface="Bahnschrift Condensed" panose="020B0502040204020203" pitchFamily="34" charset="0"/>
              </a:rPr>
              <a:t>điều</a:t>
            </a:r>
            <a:r>
              <a:rPr lang="en-US" dirty="0">
                <a:latin typeface="Bahnschrift Condensed" panose="020B0502040204020203" pitchFamily="34" charset="0"/>
              </a:rPr>
              <a:t> </a:t>
            </a:r>
            <a:r>
              <a:rPr lang="en-US" dirty="0" err="1">
                <a:latin typeface="Bahnschrift Condensed" panose="020B0502040204020203" pitchFamily="34" charset="0"/>
              </a:rPr>
              <a:t>này</a:t>
            </a:r>
            <a:r>
              <a:rPr lang="en-US" dirty="0">
                <a:latin typeface="Bahnschrift Condensed" panose="020B0502040204020203" pitchFamily="34" charset="0"/>
              </a:rPr>
              <a:t> </a:t>
            </a:r>
            <a:r>
              <a:rPr lang="en-US" dirty="0" err="1">
                <a:latin typeface="Bahnschrift Condensed" panose="020B0502040204020203" pitchFamily="34" charset="0"/>
              </a:rPr>
              <a:t>yêu</a:t>
            </a:r>
            <a:r>
              <a:rPr lang="en-US" dirty="0">
                <a:latin typeface="Bahnschrift Condensed" panose="020B0502040204020203" pitchFamily="34" charset="0"/>
              </a:rPr>
              <a:t> </a:t>
            </a:r>
            <a:r>
              <a:rPr lang="en-US" dirty="0" err="1">
                <a:latin typeface="Bahnschrift Condensed" panose="020B0502040204020203" pitchFamily="34" charset="0"/>
              </a:rPr>
              <a:t>cầu</a:t>
            </a:r>
            <a:r>
              <a:rPr lang="en-US" dirty="0">
                <a:latin typeface="Bahnschrift Condensed" panose="020B0502040204020203" pitchFamily="34" charset="0"/>
              </a:rPr>
              <a:t> </a:t>
            </a:r>
            <a:r>
              <a:rPr lang="en-US" dirty="0" err="1">
                <a:latin typeface="Bahnschrift Condensed" panose="020B0502040204020203" pitchFamily="34" charset="0"/>
              </a:rPr>
              <a:t>người</a:t>
            </a:r>
            <a:r>
              <a:rPr lang="en-US" dirty="0">
                <a:latin typeface="Bahnschrift Condensed" panose="020B0502040204020203" pitchFamily="34" charset="0"/>
              </a:rPr>
              <a:t> </a:t>
            </a:r>
            <a:r>
              <a:rPr lang="en-US" dirty="0" err="1">
                <a:latin typeface="Bahnschrift Condensed" panose="020B0502040204020203" pitchFamily="34" charset="0"/>
              </a:rPr>
              <a:t>tư</a:t>
            </a:r>
            <a:r>
              <a:rPr lang="en-US" dirty="0">
                <a:latin typeface="Bahnschrift Condensed" panose="020B0502040204020203" pitchFamily="34" charset="0"/>
              </a:rPr>
              <a:t> </a:t>
            </a:r>
            <a:r>
              <a:rPr lang="en-US" dirty="0" err="1">
                <a:latin typeface="Bahnschrift Condensed" panose="020B0502040204020203" pitchFamily="34" charset="0"/>
              </a:rPr>
              <a:t>vấn</a:t>
            </a:r>
            <a:r>
              <a:rPr lang="en-US" dirty="0">
                <a:latin typeface="Bahnschrift Condensed" panose="020B0502040204020203" pitchFamily="34" charset="0"/>
              </a:rPr>
              <a:t> </a:t>
            </a:r>
            <a:r>
              <a:rPr lang="en-US" dirty="0" err="1">
                <a:latin typeface="Bahnschrift Condensed" panose="020B0502040204020203" pitchFamily="34" charset="0"/>
              </a:rPr>
              <a:t>phải</a:t>
            </a:r>
            <a:r>
              <a:rPr lang="en-US" dirty="0">
                <a:latin typeface="Bahnschrift Condensed" panose="020B0502040204020203" pitchFamily="34" charset="0"/>
              </a:rPr>
              <a:t> </a:t>
            </a:r>
            <a:r>
              <a:rPr lang="en-US" dirty="0" err="1">
                <a:latin typeface="Bahnschrift Condensed" panose="020B0502040204020203" pitchFamily="34" charset="0"/>
              </a:rPr>
              <a:t>mang</a:t>
            </a:r>
            <a:r>
              <a:rPr lang="en-US" dirty="0">
                <a:latin typeface="Bahnschrift Condensed" panose="020B0502040204020203" pitchFamily="34" charset="0"/>
              </a:rPr>
              <a:t> </a:t>
            </a:r>
            <a:r>
              <a:rPr lang="en-US" dirty="0" err="1">
                <a:latin typeface="Bahnschrift Condensed" panose="020B0502040204020203" pitchFamily="34" charset="0"/>
              </a:rPr>
              <a:t>lại</a:t>
            </a:r>
            <a:r>
              <a:rPr lang="en-US" dirty="0">
                <a:latin typeface="Bahnschrift Condensed" panose="020B0502040204020203" pitchFamily="34" charset="0"/>
              </a:rPr>
              <a:t> </a:t>
            </a:r>
            <a:r>
              <a:rPr lang="en-US" dirty="0" err="1">
                <a:latin typeface="Bahnschrift Condensed" panose="020B0502040204020203" pitchFamily="34" charset="0"/>
              </a:rPr>
              <a:t>một</a:t>
            </a:r>
            <a:r>
              <a:rPr lang="en-US" dirty="0">
                <a:latin typeface="Bahnschrift Condensed" panose="020B0502040204020203" pitchFamily="34" charset="0"/>
              </a:rPr>
              <a:t> </a:t>
            </a:r>
            <a:r>
              <a:rPr lang="en-US" dirty="0" err="1">
                <a:latin typeface="Bahnschrift Condensed" panose="020B0502040204020203" pitchFamily="34" charset="0"/>
              </a:rPr>
              <a:t>cảm</a:t>
            </a:r>
            <a:r>
              <a:rPr lang="en-US" dirty="0">
                <a:latin typeface="Bahnschrift Condensed" panose="020B0502040204020203" pitchFamily="34" charset="0"/>
              </a:rPr>
              <a:t> </a:t>
            </a:r>
            <a:r>
              <a:rPr lang="en-US" dirty="0" err="1">
                <a:latin typeface="Bahnschrift Condensed" panose="020B0502040204020203" pitchFamily="34" charset="0"/>
              </a:rPr>
              <a:t>xúc</a:t>
            </a:r>
            <a:r>
              <a:rPr lang="en-US" dirty="0">
                <a:latin typeface="Bahnschrift Condensed" panose="020B0502040204020203" pitchFamily="34" charset="0"/>
              </a:rPr>
              <a:t> </a:t>
            </a:r>
            <a:r>
              <a:rPr lang="en-US" dirty="0" err="1">
                <a:latin typeface="Bahnschrift Condensed" panose="020B0502040204020203" pitchFamily="34" charset="0"/>
              </a:rPr>
              <a:t>tốt</a:t>
            </a:r>
            <a:r>
              <a:rPr lang="en-US" dirty="0">
                <a:latin typeface="Bahnschrift Condensed" panose="020B0502040204020203" pitchFamily="34" charset="0"/>
              </a:rPr>
              <a:t> </a:t>
            </a:r>
            <a:r>
              <a:rPr lang="en-US" dirty="0" err="1">
                <a:latin typeface="Bahnschrift Condensed" panose="020B0502040204020203" pitchFamily="34" charset="0"/>
              </a:rPr>
              <a:t>cho</a:t>
            </a:r>
            <a:r>
              <a:rPr lang="en-US" dirty="0">
                <a:latin typeface="Bahnschrift Condensed" panose="020B0502040204020203" pitchFamily="34" charset="0"/>
              </a:rPr>
              <a:t> </a:t>
            </a:r>
            <a:r>
              <a:rPr lang="en-US" dirty="0" err="1">
                <a:latin typeface="Bahnschrift Condensed" panose="020B0502040204020203" pitchFamily="34" charset="0"/>
              </a:rPr>
              <a:t>khách</a:t>
            </a:r>
            <a:r>
              <a:rPr lang="en-US" dirty="0">
                <a:latin typeface="Bahnschrift Condensed" panose="020B0502040204020203" pitchFamily="34" charset="0"/>
              </a:rPr>
              <a:t> </a:t>
            </a:r>
            <a:r>
              <a:rPr lang="en-US" dirty="0" err="1">
                <a:latin typeface="Bahnschrift Condensed" panose="020B0502040204020203" pitchFamily="34" charset="0"/>
              </a:rPr>
              <a:t>hàng</a:t>
            </a:r>
            <a:r>
              <a:rPr lang="en-US" dirty="0">
                <a:latin typeface="Bahnschrift Condensed" panose="020B0502040204020203" pitchFamily="34" charset="0"/>
              </a:rPr>
              <a:t> </a:t>
            </a:r>
            <a:r>
              <a:rPr lang="en-US" dirty="0" err="1">
                <a:latin typeface="Bahnschrift Condensed" panose="020B0502040204020203" pitchFamily="34" charset="0"/>
              </a:rPr>
              <a:t>và</a:t>
            </a:r>
            <a:r>
              <a:rPr lang="en-US" dirty="0">
                <a:latin typeface="Bahnschrift Condensed" panose="020B0502040204020203" pitchFamily="34" charset="0"/>
              </a:rPr>
              <a:t> </a:t>
            </a:r>
            <a:r>
              <a:rPr lang="en-US" dirty="0" err="1">
                <a:latin typeface="Bahnschrift Condensed" panose="020B0502040204020203" pitchFamily="34" charset="0"/>
              </a:rPr>
              <a:t>khơi</a:t>
            </a:r>
            <a:r>
              <a:rPr lang="en-US" dirty="0">
                <a:latin typeface="Bahnschrift Condensed" panose="020B0502040204020203" pitchFamily="34" charset="0"/>
              </a:rPr>
              <a:t> </a:t>
            </a:r>
            <a:r>
              <a:rPr lang="en-US" dirty="0" err="1">
                <a:latin typeface="Bahnschrift Condensed" panose="020B0502040204020203" pitchFamily="34" charset="0"/>
              </a:rPr>
              <a:t>gợi</a:t>
            </a:r>
            <a:r>
              <a:rPr lang="en-US" dirty="0">
                <a:latin typeface="Bahnschrift Condensed" panose="020B0502040204020203" pitchFamily="34" charset="0"/>
              </a:rPr>
              <a:t> </a:t>
            </a:r>
            <a:r>
              <a:rPr lang="en-US" dirty="0" err="1">
                <a:latin typeface="Bahnschrift Condensed" panose="020B0502040204020203" pitchFamily="34" charset="0"/>
              </a:rPr>
              <a:t>quyết</a:t>
            </a:r>
            <a:r>
              <a:rPr lang="en-US" dirty="0">
                <a:latin typeface="Bahnschrift Condensed" panose="020B0502040204020203" pitchFamily="34" charset="0"/>
              </a:rPr>
              <a:t> </a:t>
            </a:r>
            <a:r>
              <a:rPr lang="en-US" dirty="0" err="1">
                <a:latin typeface="Bahnschrift Condensed" panose="020B0502040204020203" pitchFamily="34" charset="0"/>
              </a:rPr>
              <a:t>định</a:t>
            </a:r>
            <a:r>
              <a:rPr lang="en-US" dirty="0">
                <a:latin typeface="Bahnschrift Condensed" panose="020B0502040204020203" pitchFamily="34" charset="0"/>
              </a:rPr>
              <a:t> </a:t>
            </a:r>
            <a:r>
              <a:rPr lang="en-US" dirty="0" err="1">
                <a:latin typeface="Bahnschrift Condensed" panose="020B0502040204020203" pitchFamily="34" charset="0"/>
              </a:rPr>
              <a:t>tham</a:t>
            </a:r>
            <a:r>
              <a:rPr lang="en-US" dirty="0">
                <a:latin typeface="Bahnschrift Condensed" panose="020B0502040204020203" pitchFamily="34" charset="0"/>
              </a:rPr>
              <a:t> </a:t>
            </a:r>
            <a:r>
              <a:rPr lang="en-US" dirty="0" err="1">
                <a:latin typeface="Bahnschrift Condensed" panose="020B0502040204020203" pitchFamily="34" charset="0"/>
              </a:rPr>
              <a:t>gia</a:t>
            </a:r>
            <a:r>
              <a:rPr lang="en-US" dirty="0">
                <a:latin typeface="Bahnschrift Condensed" panose="020B0502040204020203" pitchFamily="34" charset="0"/>
              </a:rPr>
              <a:t> </a:t>
            </a:r>
            <a:r>
              <a:rPr lang="en-US" dirty="0" err="1">
                <a:latin typeface="Bahnschrift Condensed" panose="020B0502040204020203" pitchFamily="34" charset="0"/>
              </a:rPr>
              <a:t>trên</a:t>
            </a:r>
            <a:r>
              <a:rPr lang="en-US" dirty="0">
                <a:latin typeface="Bahnschrift Condensed" panose="020B0502040204020203" pitchFamily="34" charset="0"/>
              </a:rPr>
              <a:t> </a:t>
            </a:r>
            <a:r>
              <a:rPr lang="en-US" dirty="0" err="1">
                <a:latin typeface="Bahnschrift Condensed" panose="020B0502040204020203" pitchFamily="34" charset="0"/>
              </a:rPr>
              <a:t>cảm</a:t>
            </a:r>
            <a:r>
              <a:rPr lang="en-US" dirty="0">
                <a:latin typeface="Bahnschrift Condensed" panose="020B0502040204020203" pitchFamily="34" charset="0"/>
              </a:rPr>
              <a:t> </a:t>
            </a:r>
            <a:r>
              <a:rPr lang="en-US" dirty="0" err="1">
                <a:latin typeface="Bahnschrift Condensed" panose="020B0502040204020203" pitchFamily="34" charset="0"/>
              </a:rPr>
              <a:t>xúc</a:t>
            </a:r>
            <a:r>
              <a:rPr lang="en-US" dirty="0">
                <a:latin typeface="Bahnschrift Condensed" panose="020B0502040204020203" pitchFamily="34" charset="0"/>
              </a:rPr>
              <a:t> </a:t>
            </a:r>
            <a:r>
              <a:rPr lang="en-US" dirty="0" err="1">
                <a:latin typeface="Bahnschrift Condensed" panose="020B0502040204020203" pitchFamily="34" charset="0"/>
              </a:rPr>
              <a:t>của</a:t>
            </a:r>
            <a:r>
              <a:rPr lang="en-US" dirty="0">
                <a:latin typeface="Bahnschrift Condensed" panose="020B0502040204020203" pitchFamily="34" charset="0"/>
              </a:rPr>
              <a:t> </a:t>
            </a:r>
            <a:r>
              <a:rPr lang="en-US" dirty="0" err="1">
                <a:latin typeface="Bahnschrift Condensed" panose="020B0502040204020203" pitchFamily="34" charset="0"/>
              </a:rPr>
              <a:t>khách</a:t>
            </a:r>
            <a:r>
              <a:rPr lang="en-US" dirty="0">
                <a:latin typeface="Bahnschrift Condensed" panose="020B0502040204020203" pitchFamily="34" charset="0"/>
              </a:rPr>
              <a:t>.</a:t>
            </a:r>
          </a:p>
          <a:p>
            <a:pPr algn="just">
              <a:lnSpc>
                <a:spcPct val="120000"/>
              </a:lnSpc>
            </a:pPr>
            <a:r>
              <a:rPr lang="en-US" dirty="0">
                <a:latin typeface="Bahnschrift Condensed" panose="020B0502040204020203" pitchFamily="34" charset="0"/>
              </a:rPr>
              <a:t> </a:t>
            </a:r>
            <a:r>
              <a:rPr lang="en-US" dirty="0" err="1">
                <a:latin typeface="Bahnschrift Condensed" panose="020B0502040204020203" pitchFamily="34" charset="0"/>
              </a:rPr>
              <a:t>Khách</a:t>
            </a:r>
            <a:r>
              <a:rPr lang="en-US" dirty="0">
                <a:latin typeface="Bahnschrift Condensed" panose="020B0502040204020203" pitchFamily="34" charset="0"/>
              </a:rPr>
              <a:t> </a:t>
            </a:r>
            <a:r>
              <a:rPr lang="en-US" dirty="0" err="1">
                <a:latin typeface="Bahnschrift Condensed" panose="020B0502040204020203" pitchFamily="34" charset="0"/>
              </a:rPr>
              <a:t>hàng</a:t>
            </a:r>
            <a:r>
              <a:rPr lang="en-US" dirty="0">
                <a:latin typeface="Bahnschrift Condensed" panose="020B0502040204020203" pitchFamily="34" charset="0"/>
              </a:rPr>
              <a:t> </a:t>
            </a:r>
            <a:r>
              <a:rPr lang="en-US" dirty="0" err="1">
                <a:latin typeface="Bahnschrift Condensed" panose="020B0502040204020203" pitchFamily="34" charset="0"/>
              </a:rPr>
              <a:t>tham</a:t>
            </a:r>
            <a:r>
              <a:rPr lang="en-US" dirty="0">
                <a:latin typeface="Bahnschrift Condensed" panose="020B0502040204020203" pitchFamily="34" charset="0"/>
              </a:rPr>
              <a:t> </a:t>
            </a:r>
            <a:r>
              <a:rPr lang="en-US" dirty="0" err="1">
                <a:latin typeface="Bahnschrift Condensed" panose="020B0502040204020203" pitchFamily="34" charset="0"/>
              </a:rPr>
              <a:t>gia</a:t>
            </a:r>
            <a:r>
              <a:rPr lang="en-US" dirty="0">
                <a:latin typeface="Bahnschrift Condensed" panose="020B0502040204020203" pitchFamily="34" charset="0"/>
              </a:rPr>
              <a:t> </a:t>
            </a:r>
            <a:r>
              <a:rPr lang="en-US" dirty="0" err="1">
                <a:latin typeface="Bahnschrift Condensed" panose="020B0502040204020203" pitchFamily="34" charset="0"/>
              </a:rPr>
              <a:t>bảo</a:t>
            </a:r>
            <a:r>
              <a:rPr lang="en-US" dirty="0">
                <a:latin typeface="Bahnschrift Condensed" panose="020B0502040204020203" pitchFamily="34" charset="0"/>
              </a:rPr>
              <a:t> </a:t>
            </a:r>
            <a:r>
              <a:rPr lang="en-US" dirty="0" err="1">
                <a:latin typeface="Bahnschrift Condensed" panose="020B0502040204020203" pitchFamily="34" charset="0"/>
              </a:rPr>
              <a:t>hiểm</a:t>
            </a:r>
            <a:r>
              <a:rPr lang="en-US" dirty="0">
                <a:latin typeface="Bahnschrift Condensed" panose="020B0502040204020203" pitchFamily="34" charset="0"/>
              </a:rPr>
              <a:t> </a:t>
            </a:r>
            <a:r>
              <a:rPr lang="en-US" dirty="0" err="1">
                <a:latin typeface="Bahnschrift Condensed" panose="020B0502040204020203" pitchFamily="34" charset="0"/>
              </a:rPr>
              <a:t>không</a:t>
            </a:r>
            <a:r>
              <a:rPr lang="en-US" dirty="0">
                <a:latin typeface="Bahnschrift Condensed" panose="020B0502040204020203" pitchFamily="34" charset="0"/>
              </a:rPr>
              <a:t> </a:t>
            </a:r>
            <a:r>
              <a:rPr lang="en-US" dirty="0" err="1">
                <a:latin typeface="Bahnschrift Condensed" panose="020B0502040204020203" pitchFamily="34" charset="0"/>
              </a:rPr>
              <a:t>hẳn</a:t>
            </a:r>
            <a:r>
              <a:rPr lang="en-US" dirty="0">
                <a:latin typeface="Bahnschrift Condensed" panose="020B0502040204020203" pitchFamily="34" charset="0"/>
              </a:rPr>
              <a:t> </a:t>
            </a:r>
            <a:r>
              <a:rPr lang="en-US" dirty="0" err="1">
                <a:latin typeface="Bahnschrift Condensed" panose="020B0502040204020203" pitchFamily="34" charset="0"/>
              </a:rPr>
              <a:t>là</a:t>
            </a:r>
            <a:r>
              <a:rPr lang="en-US" dirty="0">
                <a:latin typeface="Bahnschrift Condensed" panose="020B0502040204020203" pitchFamily="34" charset="0"/>
              </a:rPr>
              <a:t> do </a:t>
            </a:r>
            <a:r>
              <a:rPr lang="en-US" dirty="0" err="1">
                <a:latin typeface="Bahnschrift Condensed" panose="020B0502040204020203" pitchFamily="34" charset="0"/>
              </a:rPr>
              <a:t>hiểu</a:t>
            </a:r>
            <a:r>
              <a:rPr lang="en-US" dirty="0">
                <a:latin typeface="Bahnschrift Condensed" panose="020B0502040204020203" pitchFamily="34" charset="0"/>
              </a:rPr>
              <a:t> </a:t>
            </a:r>
            <a:r>
              <a:rPr lang="en-US" dirty="0" err="1">
                <a:latin typeface="Bahnschrift Condensed" panose="020B0502040204020203" pitchFamily="34" charset="0"/>
              </a:rPr>
              <a:t>được</a:t>
            </a:r>
            <a:r>
              <a:rPr lang="en-US" dirty="0">
                <a:latin typeface="Bahnschrift Condensed" panose="020B0502040204020203" pitchFamily="34" charset="0"/>
              </a:rPr>
              <a:t> </a:t>
            </a:r>
            <a:r>
              <a:rPr lang="en-US" dirty="0" err="1">
                <a:latin typeface="Bahnschrift Condensed" panose="020B0502040204020203" pitchFamily="34" charset="0"/>
              </a:rPr>
              <a:t>sản</a:t>
            </a:r>
            <a:r>
              <a:rPr lang="en-US" dirty="0">
                <a:latin typeface="Bahnschrift Condensed" panose="020B0502040204020203" pitchFamily="34" charset="0"/>
              </a:rPr>
              <a:t> </a:t>
            </a:r>
            <a:r>
              <a:rPr lang="en-US" dirty="0" err="1">
                <a:latin typeface="Bahnschrift Condensed" panose="020B0502040204020203" pitchFamily="34" charset="0"/>
              </a:rPr>
              <a:t>phẩm</a:t>
            </a:r>
            <a:r>
              <a:rPr lang="en-US" dirty="0">
                <a:latin typeface="Bahnschrift Condensed" panose="020B0502040204020203" pitchFamily="34" charset="0"/>
              </a:rPr>
              <a:t> </a:t>
            </a:r>
            <a:r>
              <a:rPr lang="en-US" dirty="0" err="1">
                <a:latin typeface="Bahnschrift Condensed" panose="020B0502040204020203" pitchFamily="34" charset="0"/>
              </a:rPr>
              <a:t>mà</a:t>
            </a:r>
            <a:r>
              <a:rPr lang="en-US" dirty="0">
                <a:latin typeface="Bahnschrift Condensed" panose="020B0502040204020203" pitchFamily="34" charset="0"/>
              </a:rPr>
              <a:t> </a:t>
            </a:r>
            <a:r>
              <a:rPr lang="en-US" dirty="0" err="1">
                <a:latin typeface="Bahnschrift Condensed" panose="020B0502040204020203" pitchFamily="34" charset="0"/>
              </a:rPr>
              <a:t>phần</a:t>
            </a:r>
            <a:r>
              <a:rPr lang="en-US" dirty="0">
                <a:latin typeface="Bahnschrift Condensed" panose="020B0502040204020203" pitchFamily="34" charset="0"/>
              </a:rPr>
              <a:t> </a:t>
            </a:r>
            <a:r>
              <a:rPr lang="en-US" dirty="0" err="1">
                <a:latin typeface="Bahnschrift Condensed" panose="020B0502040204020203" pitchFamily="34" charset="0"/>
              </a:rPr>
              <a:t>lớn</a:t>
            </a:r>
            <a:r>
              <a:rPr lang="en-US" dirty="0">
                <a:latin typeface="Bahnschrift Condensed" panose="020B0502040204020203" pitchFamily="34" charset="0"/>
              </a:rPr>
              <a:t> </a:t>
            </a:r>
            <a:r>
              <a:rPr lang="en-US" dirty="0" err="1">
                <a:latin typeface="Bahnschrift Condensed" panose="020B0502040204020203" pitchFamily="34" charset="0"/>
              </a:rPr>
              <a:t>là</a:t>
            </a:r>
            <a:r>
              <a:rPr lang="en-US" dirty="0">
                <a:latin typeface="Bahnschrift Condensed" panose="020B0502040204020203" pitchFamily="34" charset="0"/>
              </a:rPr>
              <a:t> tin </a:t>
            </a:r>
            <a:r>
              <a:rPr lang="en-US" dirty="0" err="1">
                <a:latin typeface="Bahnschrift Condensed" panose="020B0502040204020203" pitchFamily="34" charset="0"/>
              </a:rPr>
              <a:t>tưởng</a:t>
            </a:r>
            <a:r>
              <a:rPr lang="en-US" dirty="0">
                <a:latin typeface="Bahnschrift Condensed" panose="020B0502040204020203" pitchFamily="34" charset="0"/>
              </a:rPr>
              <a:t> </a:t>
            </a:r>
            <a:r>
              <a:rPr lang="en-US" dirty="0" err="1">
                <a:latin typeface="Bahnschrift Condensed" panose="020B0502040204020203" pitchFamily="34" charset="0"/>
              </a:rPr>
              <a:t>người</a:t>
            </a:r>
            <a:r>
              <a:rPr lang="en-US" dirty="0">
                <a:latin typeface="Bahnschrift Condensed" panose="020B0502040204020203" pitchFamily="34" charset="0"/>
              </a:rPr>
              <a:t> </a:t>
            </a:r>
            <a:r>
              <a:rPr lang="en-US" dirty="0" err="1">
                <a:latin typeface="Bahnschrift Condensed" panose="020B0502040204020203" pitchFamily="34" charset="0"/>
              </a:rPr>
              <a:t>tư</a:t>
            </a:r>
            <a:r>
              <a:rPr lang="en-US" dirty="0">
                <a:latin typeface="Bahnschrift Condensed" panose="020B0502040204020203" pitchFamily="34" charset="0"/>
              </a:rPr>
              <a:t> </a:t>
            </a:r>
            <a:r>
              <a:rPr lang="en-US" dirty="0" err="1">
                <a:latin typeface="Bahnschrift Condensed" panose="020B0502040204020203" pitchFamily="34" charset="0"/>
              </a:rPr>
              <a:t>vấn</a:t>
            </a:r>
            <a:r>
              <a:rPr lang="en-US" dirty="0">
                <a:latin typeface="Bahnschrift Condensed" panose="020B0502040204020203" pitchFamily="34" charset="0"/>
              </a:rPr>
              <a:t>.</a:t>
            </a:r>
          </a:p>
          <a:p>
            <a:pPr algn="just">
              <a:lnSpc>
                <a:spcPct val="120000"/>
              </a:lnSpc>
            </a:pPr>
            <a:r>
              <a:rPr lang="en-US" dirty="0" err="1">
                <a:latin typeface="Bahnschrift Condensed" panose="020B0502040204020203" pitchFamily="34" charset="0"/>
              </a:rPr>
              <a:t>Điều</a:t>
            </a:r>
            <a:r>
              <a:rPr lang="en-US" dirty="0">
                <a:latin typeface="Bahnschrift Condensed" panose="020B0502040204020203" pitchFamily="34" charset="0"/>
              </a:rPr>
              <a:t> </a:t>
            </a:r>
            <a:r>
              <a:rPr lang="en-US" dirty="0" err="1">
                <a:latin typeface="Bahnschrift Condensed" panose="020B0502040204020203" pitchFamily="34" charset="0"/>
              </a:rPr>
              <a:t>này</a:t>
            </a:r>
            <a:r>
              <a:rPr lang="en-US" dirty="0">
                <a:latin typeface="Bahnschrift Condensed" panose="020B0502040204020203" pitchFamily="34" charset="0"/>
              </a:rPr>
              <a:t> </a:t>
            </a:r>
            <a:r>
              <a:rPr lang="en-US" dirty="0" err="1">
                <a:latin typeface="Bahnschrift Condensed" panose="020B0502040204020203" pitchFamily="34" charset="0"/>
              </a:rPr>
              <a:t>yêu</a:t>
            </a:r>
            <a:r>
              <a:rPr lang="en-US" dirty="0">
                <a:latin typeface="Bahnschrift Condensed" panose="020B0502040204020203" pitchFamily="34" charset="0"/>
              </a:rPr>
              <a:t> </a:t>
            </a:r>
            <a:r>
              <a:rPr lang="en-US" dirty="0" err="1">
                <a:latin typeface="Bahnschrift Condensed" panose="020B0502040204020203" pitchFamily="34" charset="0"/>
              </a:rPr>
              <a:t>cầu</a:t>
            </a:r>
            <a:r>
              <a:rPr lang="en-US" dirty="0">
                <a:latin typeface="Bahnschrift Condensed" panose="020B0502040204020203" pitchFamily="34" charset="0"/>
              </a:rPr>
              <a:t> </a:t>
            </a:r>
            <a:r>
              <a:rPr lang="en-US" dirty="0" err="1">
                <a:latin typeface="Bahnschrift Condensed" panose="020B0502040204020203" pitchFamily="34" charset="0"/>
              </a:rPr>
              <a:t>người</a:t>
            </a:r>
            <a:r>
              <a:rPr lang="en-US" dirty="0">
                <a:latin typeface="Bahnschrift Condensed" panose="020B0502040204020203" pitchFamily="34" charset="0"/>
              </a:rPr>
              <a:t> </a:t>
            </a:r>
            <a:r>
              <a:rPr lang="en-US" dirty="0" err="1">
                <a:latin typeface="Bahnschrift Condensed" panose="020B0502040204020203" pitchFamily="34" charset="0"/>
              </a:rPr>
              <a:t>tư</a:t>
            </a:r>
            <a:r>
              <a:rPr lang="en-US" dirty="0">
                <a:latin typeface="Bahnschrift Condensed" panose="020B0502040204020203" pitchFamily="34" charset="0"/>
              </a:rPr>
              <a:t> </a:t>
            </a:r>
            <a:r>
              <a:rPr lang="en-US" dirty="0" err="1">
                <a:latin typeface="Bahnschrift Condensed" panose="020B0502040204020203" pitchFamily="34" charset="0"/>
              </a:rPr>
              <a:t>vấn</a:t>
            </a:r>
            <a:r>
              <a:rPr lang="en-US" dirty="0">
                <a:latin typeface="Bahnschrift Condensed" panose="020B0502040204020203" pitchFamily="34" charset="0"/>
              </a:rPr>
              <a:t> </a:t>
            </a:r>
            <a:r>
              <a:rPr lang="en-US" dirty="0" err="1">
                <a:latin typeface="Bahnschrift Condensed" panose="020B0502040204020203" pitchFamily="34" charset="0"/>
              </a:rPr>
              <a:t>cần</a:t>
            </a:r>
            <a:r>
              <a:rPr lang="en-US" dirty="0">
                <a:latin typeface="Bahnschrift Condensed" panose="020B0502040204020203" pitchFamily="34" charset="0"/>
              </a:rPr>
              <a:t> </a:t>
            </a:r>
            <a:r>
              <a:rPr lang="en-US" dirty="0" err="1">
                <a:latin typeface="Bahnschrift Condensed" panose="020B0502040204020203" pitchFamily="34" charset="0"/>
              </a:rPr>
              <a:t>xây</a:t>
            </a:r>
            <a:r>
              <a:rPr lang="en-US" dirty="0">
                <a:latin typeface="Bahnschrift Condensed" panose="020B0502040204020203" pitchFamily="34" charset="0"/>
              </a:rPr>
              <a:t> </a:t>
            </a:r>
            <a:r>
              <a:rPr lang="en-US" dirty="0" err="1">
                <a:latin typeface="Bahnschrift Condensed" panose="020B0502040204020203" pitchFamily="34" charset="0"/>
              </a:rPr>
              <a:t>dựng</a:t>
            </a:r>
            <a:r>
              <a:rPr lang="en-US" dirty="0">
                <a:latin typeface="Bahnschrift Condensed" panose="020B0502040204020203" pitchFamily="34" charset="0"/>
              </a:rPr>
              <a:t> </a:t>
            </a:r>
            <a:r>
              <a:rPr lang="en-US" dirty="0" err="1">
                <a:latin typeface="Bahnschrift Condensed" panose="020B0502040204020203" pitchFamily="34" charset="0"/>
              </a:rPr>
              <a:t>mối</a:t>
            </a:r>
            <a:r>
              <a:rPr lang="en-US" dirty="0">
                <a:latin typeface="Bahnschrift Condensed" panose="020B0502040204020203" pitchFamily="34" charset="0"/>
              </a:rPr>
              <a:t> </a:t>
            </a:r>
            <a:r>
              <a:rPr lang="en-US" dirty="0" err="1">
                <a:latin typeface="Bahnschrift Condensed" panose="020B0502040204020203" pitchFamily="34" charset="0"/>
              </a:rPr>
              <a:t>quan</a:t>
            </a:r>
            <a:r>
              <a:rPr lang="en-US" dirty="0">
                <a:latin typeface="Bahnschrift Condensed" panose="020B0502040204020203" pitchFamily="34" charset="0"/>
              </a:rPr>
              <a:t> </a:t>
            </a:r>
            <a:r>
              <a:rPr lang="en-US" dirty="0" err="1">
                <a:latin typeface="Bahnschrift Condensed" panose="020B0502040204020203" pitchFamily="34" charset="0"/>
              </a:rPr>
              <a:t>hệ</a:t>
            </a:r>
            <a:r>
              <a:rPr lang="en-US" dirty="0">
                <a:latin typeface="Bahnschrift Condensed" panose="020B0502040204020203" pitchFamily="34" charset="0"/>
              </a:rPr>
              <a:t> </a:t>
            </a:r>
            <a:r>
              <a:rPr lang="en-US" dirty="0" err="1">
                <a:latin typeface="Bahnschrift Condensed" panose="020B0502040204020203" pitchFamily="34" charset="0"/>
              </a:rPr>
              <a:t>tốt</a:t>
            </a:r>
            <a:r>
              <a:rPr lang="en-US" dirty="0">
                <a:latin typeface="Bahnschrift Condensed" panose="020B0502040204020203" pitchFamily="34" charset="0"/>
              </a:rPr>
              <a:t> </a:t>
            </a:r>
            <a:r>
              <a:rPr lang="en-US" dirty="0" err="1">
                <a:latin typeface="Bahnschrift Condensed" panose="020B0502040204020203" pitchFamily="34" charset="0"/>
              </a:rPr>
              <a:t>và</a:t>
            </a:r>
            <a:r>
              <a:rPr lang="en-US" dirty="0">
                <a:latin typeface="Bahnschrift Condensed" panose="020B0502040204020203" pitchFamily="34" charset="0"/>
              </a:rPr>
              <a:t> </a:t>
            </a:r>
            <a:r>
              <a:rPr lang="en-US" dirty="0" err="1">
                <a:latin typeface="Bahnschrift Condensed" panose="020B0502040204020203" pitchFamily="34" charset="0"/>
              </a:rPr>
              <a:t>có</a:t>
            </a:r>
            <a:r>
              <a:rPr lang="en-US" dirty="0">
                <a:latin typeface="Bahnschrift Condensed" panose="020B0502040204020203" pitchFamily="34" charset="0"/>
              </a:rPr>
              <a:t> </a:t>
            </a:r>
            <a:r>
              <a:rPr lang="en-US" dirty="0" err="1">
                <a:latin typeface="Bahnschrift Condensed" panose="020B0502040204020203" pitchFamily="34" charset="0"/>
              </a:rPr>
              <a:t>được</a:t>
            </a:r>
            <a:r>
              <a:rPr lang="en-US" dirty="0">
                <a:latin typeface="Bahnschrift Condensed" panose="020B0502040204020203" pitchFamily="34" charset="0"/>
              </a:rPr>
              <a:t> </a:t>
            </a:r>
            <a:r>
              <a:rPr lang="en-US" dirty="0" err="1">
                <a:latin typeface="Bahnschrift Condensed" panose="020B0502040204020203" pitchFamily="34" charset="0"/>
              </a:rPr>
              <a:t>sự</a:t>
            </a:r>
            <a:r>
              <a:rPr lang="en-US" dirty="0">
                <a:latin typeface="Bahnschrift Condensed" panose="020B0502040204020203" pitchFamily="34" charset="0"/>
              </a:rPr>
              <a:t> tin </a:t>
            </a:r>
            <a:r>
              <a:rPr lang="en-US" dirty="0" err="1">
                <a:latin typeface="Bahnschrift Condensed" panose="020B0502040204020203" pitchFamily="34" charset="0"/>
              </a:rPr>
              <a:t>tưởng</a:t>
            </a:r>
            <a:r>
              <a:rPr lang="en-US" dirty="0">
                <a:latin typeface="Bahnschrift Condensed" panose="020B0502040204020203" pitchFamily="34" charset="0"/>
              </a:rPr>
              <a:t> </a:t>
            </a:r>
            <a:r>
              <a:rPr lang="en-US" dirty="0" err="1">
                <a:latin typeface="Bahnschrift Condensed" panose="020B0502040204020203" pitchFamily="34" charset="0"/>
              </a:rPr>
              <a:t>từ</a:t>
            </a:r>
            <a:r>
              <a:rPr lang="en-US" dirty="0">
                <a:latin typeface="Bahnschrift Condensed" panose="020B0502040204020203" pitchFamily="34" charset="0"/>
              </a:rPr>
              <a:t> </a:t>
            </a:r>
            <a:r>
              <a:rPr lang="en-US" dirty="0" err="1">
                <a:latin typeface="Bahnschrift Condensed" panose="020B0502040204020203" pitchFamily="34" charset="0"/>
              </a:rPr>
              <a:t>khách</a:t>
            </a:r>
            <a:r>
              <a:rPr lang="en-US" dirty="0">
                <a:latin typeface="Bahnschrift Condensed" panose="020B0502040204020203" pitchFamily="34" charset="0"/>
              </a:rPr>
              <a:t> </a:t>
            </a:r>
            <a:r>
              <a:rPr lang="en-US" dirty="0" err="1">
                <a:latin typeface="Bahnschrift Condensed" panose="020B0502040204020203" pitchFamily="34" charset="0"/>
              </a:rPr>
              <a:t>hàng</a:t>
            </a:r>
            <a:r>
              <a:rPr lang="en-US" dirty="0">
                <a:latin typeface="Bahnschrift Condensed" panose="020B0502040204020203" pitchFamily="34" charset="0"/>
              </a:rPr>
              <a:t>.</a:t>
            </a:r>
          </a:p>
        </p:txBody>
      </p:sp>
      <p:pic>
        <p:nvPicPr>
          <p:cNvPr id="2050" name="Picture 2" descr="Danh ngôn Quan hệ">
            <a:extLst>
              <a:ext uri="{FF2B5EF4-FFF2-40B4-BE49-F238E27FC236}">
                <a16:creationId xmlns:a16="http://schemas.microsoft.com/office/drawing/2014/main" id="{248B0780-4401-3A1D-A9BF-6BC63F4263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858"/>
          <a:stretch/>
        </p:blipFill>
        <p:spPr bwMode="auto">
          <a:xfrm>
            <a:off x="7753087" y="2845049"/>
            <a:ext cx="4286250" cy="2465183"/>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73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1E892-670A-E10C-481C-720AD10F221E}"/>
              </a:ext>
            </a:extLst>
          </p:cNvPr>
          <p:cNvSpPr>
            <a:spLocks noGrp="1"/>
          </p:cNvSpPr>
          <p:nvPr>
            <p:ph type="title"/>
          </p:nvPr>
        </p:nvSpPr>
        <p:spPr/>
        <p:txBody>
          <a:bodyPr/>
          <a:lstStyle/>
          <a:p>
            <a:r>
              <a:rPr lang="en-US" b="1" dirty="0">
                <a:solidFill>
                  <a:schemeClr val="accent4">
                    <a:lumMod val="50000"/>
                  </a:schemeClr>
                </a:solidFill>
                <a:latin typeface="Bahnschrift Condensed" panose="020B0502040204020203" pitchFamily="34" charset="0"/>
              </a:rPr>
              <a:t>1. TẠO DỰNG MỐI QUAN HỆ BỀN CHẶT</a:t>
            </a:r>
          </a:p>
        </p:txBody>
      </p:sp>
      <p:sp>
        <p:nvSpPr>
          <p:cNvPr id="4" name="Rectangle 1">
            <a:extLst>
              <a:ext uri="{FF2B5EF4-FFF2-40B4-BE49-F238E27FC236}">
                <a16:creationId xmlns:a16="http://schemas.microsoft.com/office/drawing/2014/main" id="{2833A480-61F9-2601-CF33-10BA78C62055}"/>
              </a:ext>
            </a:extLst>
          </p:cNvPr>
          <p:cNvSpPr>
            <a:spLocks noGrp="1" noChangeArrowheads="1"/>
          </p:cNvSpPr>
          <p:nvPr>
            <p:ph idx="1"/>
          </p:nvPr>
        </p:nvSpPr>
        <p:spPr bwMode="auto">
          <a:xfrm>
            <a:off x="5183696" y="1690687"/>
            <a:ext cx="6695114"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Lắng</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nghe</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và</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thấu</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hiểu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Hãy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lắng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nghe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khách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hàng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một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cách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chân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thành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và</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tìm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hiểu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cầu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mong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muốn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cũng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như</a:t>
            </a:r>
            <a:r>
              <a:rPr kumimoji="0" lang="en-US" altLang="en-US" sz="1600" b="0" i="0" u="none" strike="noStrike" cap="none" normalizeH="0" baseline="0" dirty="0">
                <a:ln>
                  <a:noFill/>
                </a:ln>
                <a:solidFill>
                  <a:schemeClr val="tx1"/>
                </a:solidFill>
                <a:effectLst/>
                <a:latin typeface="Arial" panose="020B0604020202020204" pitchFamily="34" charset="0"/>
              </a:rPr>
              <a:t> lo </a:t>
            </a:r>
            <a:r>
              <a:rPr kumimoji="0" lang="en-US" altLang="en-US" sz="1600" b="0" i="0" u="none" strike="noStrike" cap="none" normalizeH="0" baseline="0" dirty="0" err="1">
                <a:ln>
                  <a:noFill/>
                </a:ln>
                <a:solidFill>
                  <a:schemeClr val="tx1"/>
                </a:solidFill>
                <a:effectLst/>
                <a:latin typeface="Arial" panose="020B0604020202020204" pitchFamily="34" charset="0"/>
              </a:rPr>
              <a:t>lắng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của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họ</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Chăm</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sóc</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khách</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hàng</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thường</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xuyên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Gửi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lời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chúc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mừng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vào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các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dịp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đặc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biệt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như</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sinh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nhật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lễ</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tết</a:t>
            </a:r>
            <a:r>
              <a:rPr kumimoji="0" lang="en-US" altLang="en-US" sz="1600" b="0" i="0" u="none" strike="noStrike" cap="none" normalizeH="0" baseline="0" dirty="0">
                <a:ln>
                  <a:noFill/>
                </a:ln>
                <a:solidFill>
                  <a:schemeClr val="tx1"/>
                </a:solidFill>
                <a:effectLst/>
                <a:latin typeface="Arial" panose="020B0604020202020204" pitchFamily="34" charset="0"/>
              </a:rPr>
              <a:t> hay </a:t>
            </a:r>
            <a:r>
              <a:rPr kumimoji="0" lang="en-US" altLang="en-US" sz="1600" b="0" i="0" u="none" strike="noStrike" cap="none" normalizeH="0" baseline="0" dirty="0" err="1">
                <a:ln>
                  <a:noFill/>
                </a:ln>
                <a:solidFill>
                  <a:schemeClr val="tx1"/>
                </a:solidFill>
                <a:effectLst/>
                <a:latin typeface="Arial" panose="020B0604020202020204" pitchFamily="34" charset="0"/>
              </a:rPr>
              <a:t>kỷ</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niệm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hợp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đồng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Điều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này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giúp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khách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hàng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cảm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nhận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được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sự</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quan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tâm</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Cung</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cấp</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giá</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trị</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thực</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sự</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Tư</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vấn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những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sản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phẩm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bảo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hiểm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phù</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hợp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nhất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với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cầu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của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khách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hàng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không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ép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buộc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mua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sản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phẩm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không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cần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thiết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Giữ</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liên</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lạc</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thường</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xuyên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Liên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hệ</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định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kỳ</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để</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cập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nhật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thông</a:t>
            </a:r>
            <a:r>
              <a:rPr kumimoji="0" lang="en-US" altLang="en-US" sz="1600" b="0" i="0" u="none" strike="noStrike" cap="none" normalizeH="0" baseline="0" dirty="0">
                <a:ln>
                  <a:noFill/>
                </a:ln>
                <a:solidFill>
                  <a:schemeClr val="tx1"/>
                </a:solidFill>
                <a:effectLst/>
                <a:latin typeface="Arial" panose="020B0604020202020204" pitchFamily="34" charset="0"/>
              </a:rPr>
              <a:t> tin </a:t>
            </a:r>
            <a:r>
              <a:rPr kumimoji="0" lang="en-US" altLang="en-US" sz="1600" b="0" i="0" u="none" strike="noStrike" cap="none" normalizeH="0" baseline="0" dirty="0" err="1">
                <a:ln>
                  <a:noFill/>
                </a:ln>
                <a:solidFill>
                  <a:schemeClr val="tx1"/>
                </a:solidFill>
                <a:effectLst/>
                <a:latin typeface="Arial" panose="020B0604020202020204" pitchFamily="34" charset="0"/>
              </a:rPr>
              <a:t>mới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và</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giải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đáp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thắc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mắc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điều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này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giúp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duy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trì</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mối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quan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hệ</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lâu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dài</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Tạo</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niềm</a:t>
            </a:r>
            <a:r>
              <a:rPr kumimoji="0" lang="en-US" altLang="en-US" sz="1600" b="1" i="0" u="none" strike="noStrike" cap="none" normalizeH="0" baseline="0" dirty="0">
                <a:ln>
                  <a:noFill/>
                </a:ln>
                <a:solidFill>
                  <a:schemeClr val="tx1"/>
                </a:solidFill>
                <a:effectLst/>
                <a:latin typeface="Arial" panose="020B0604020202020204" pitchFamily="34" charset="0"/>
              </a:rPr>
              <a:t> tin </a:t>
            </a:r>
            <a:r>
              <a:rPr kumimoji="0" lang="en-US" altLang="en-US" sz="1600" b="1" i="0" u="none" strike="noStrike" cap="none" normalizeH="0" baseline="0" dirty="0" err="1">
                <a:ln>
                  <a:noFill/>
                </a:ln>
                <a:solidFill>
                  <a:schemeClr val="tx1"/>
                </a:solidFill>
                <a:effectLst/>
                <a:latin typeface="Arial" panose="020B0604020202020204" pitchFamily="34" charset="0"/>
              </a:rPr>
              <a:t>và</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sự</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tín</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nhiệm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Hãy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minh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bạch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và</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trung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thực</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trong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mọi</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giao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dịch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điều</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này</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giúp</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khách</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hàng</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cảm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thấy</a:t>
            </a:r>
            <a:r>
              <a:rPr kumimoji="0" lang="en-US" altLang="en-US" sz="1600" b="0" i="0" u="none" strike="noStrike" cap="none" normalizeH="0" baseline="0" dirty="0">
                <a:ln>
                  <a:noFill/>
                </a:ln>
                <a:solidFill>
                  <a:schemeClr val="tx1"/>
                </a:solidFill>
                <a:effectLst/>
                <a:latin typeface="Arial" panose="020B0604020202020204" pitchFamily="34" charset="0"/>
              </a:rPr>
              <a:t> an </a:t>
            </a:r>
            <a:r>
              <a:rPr kumimoji="0" lang="en-US" altLang="en-US" sz="1600" b="0" i="0" u="none" strike="noStrike" cap="none" normalizeH="0" baseline="0" dirty="0" err="1">
                <a:ln>
                  <a:noFill/>
                </a:ln>
                <a:solidFill>
                  <a:schemeClr val="tx1"/>
                </a:solidFill>
                <a:effectLst/>
                <a:latin typeface="Arial" panose="020B0604020202020204" pitchFamily="34" charset="0"/>
              </a:rPr>
              <a:t>tâm</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và</a:t>
            </a:r>
            <a:r>
              <a:rPr kumimoji="0" lang="en-US" altLang="en-US" sz="1600" b="0" i="0" u="none" strike="noStrike" cap="none" normalizeH="0" baseline="0" dirty="0">
                <a:ln>
                  <a:noFill/>
                </a:ln>
                <a:solidFill>
                  <a:schemeClr val="tx1"/>
                </a:solidFill>
                <a:effectLst/>
                <a:latin typeface="Arial" panose="020B0604020202020204" pitchFamily="34" charset="0"/>
              </a:rPr>
              <a:t> tin </a:t>
            </a:r>
            <a:r>
              <a:rPr kumimoji="0" lang="en-US" altLang="en-US" sz="1600" b="0" i="0" u="none" strike="noStrike" cap="none" normalizeH="0" baseline="0" dirty="0" err="1">
                <a:ln>
                  <a:noFill/>
                </a:ln>
                <a:solidFill>
                  <a:schemeClr val="tx1"/>
                </a:solidFill>
                <a:effectLst/>
                <a:latin typeface="Arial" panose="020B0604020202020204" pitchFamily="34" charset="0"/>
              </a:rPr>
              <a:t>tưởng</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pic>
        <p:nvPicPr>
          <p:cNvPr id="3075" name="Picture 3" descr="TOP 10 CHIẾN LƯỢC XÂY DỰNG NIỀM TIN CHO KHÁCH HÀNG">
            <a:extLst>
              <a:ext uri="{FF2B5EF4-FFF2-40B4-BE49-F238E27FC236}">
                <a16:creationId xmlns:a16="http://schemas.microsoft.com/office/drawing/2014/main" id="{AAE42C87-3D73-5901-ACDE-DE9AF4275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90" y="2602546"/>
            <a:ext cx="4146365" cy="27642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27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C65D-DCDE-1D0B-1C60-959B862CEA36}"/>
              </a:ext>
            </a:extLst>
          </p:cNvPr>
          <p:cNvSpPr>
            <a:spLocks noGrp="1"/>
          </p:cNvSpPr>
          <p:nvPr>
            <p:ph type="title"/>
          </p:nvPr>
        </p:nvSpPr>
        <p:spPr/>
        <p:txBody>
          <a:bodyPr/>
          <a:lstStyle/>
          <a:p>
            <a:r>
              <a:rPr lang="it-IT" b="1" dirty="0">
                <a:solidFill>
                  <a:schemeClr val="accent4">
                    <a:lumMod val="50000"/>
                  </a:schemeClr>
                </a:solidFill>
                <a:latin typeface="Bahnschrift Condensed" panose="020B0502040204020203" pitchFamily="34" charset="0"/>
              </a:rPr>
              <a:t>2. SỰ LO LẮNG VỀ TƯƠNG LAI</a:t>
            </a:r>
            <a:endParaRPr lang="en-US" b="1" dirty="0">
              <a:solidFill>
                <a:schemeClr val="accent4">
                  <a:lumMod val="50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FB9D6605-076A-27CF-6D80-CAABF6A4C2CE}"/>
              </a:ext>
            </a:extLst>
          </p:cNvPr>
          <p:cNvSpPr>
            <a:spLocks noGrp="1"/>
          </p:cNvSpPr>
          <p:nvPr>
            <p:ph idx="1"/>
          </p:nvPr>
        </p:nvSpPr>
        <p:spPr>
          <a:xfrm>
            <a:off x="838200" y="1825625"/>
            <a:ext cx="5856215" cy="4351338"/>
          </a:xfrm>
        </p:spPr>
        <p:txBody>
          <a:bodyPr/>
          <a:lstStyle/>
          <a:p>
            <a:pPr marL="0" indent="0" algn="just">
              <a:lnSpc>
                <a:spcPct val="150000"/>
              </a:lnSpc>
              <a:buNone/>
            </a:pPr>
            <a:r>
              <a:rPr lang="vi-VN" dirty="0"/>
              <a:t>Khách hàng thường lo lắng về tương lai của gia đình và bản thân, và việc tư vấn bảo hiểm nhân thọ giúp giảm bớt sự lo lắng này</a:t>
            </a:r>
            <a:endParaRPr lang="en-US" dirty="0"/>
          </a:p>
        </p:txBody>
      </p:sp>
      <p:pic>
        <p:nvPicPr>
          <p:cNvPr id="4098" name="Picture 2" descr="Những câu nói &quot;vàng&quot; giúp tư vấn viên thuyết phục khách hàng trong 10 giây  - Ý Tưởng Bảo Hiểm">
            <a:extLst>
              <a:ext uri="{FF2B5EF4-FFF2-40B4-BE49-F238E27FC236}">
                <a16:creationId xmlns:a16="http://schemas.microsoft.com/office/drawing/2014/main" id="{6248AAD8-0F32-4350-FA0D-B8349F832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3965342"/>
            <a:ext cx="4126584" cy="2527533"/>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539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A3C57-4AD2-55E8-6A61-0400F921FEDC}"/>
              </a:ext>
            </a:extLst>
          </p:cNvPr>
          <p:cNvSpPr>
            <a:spLocks noGrp="1"/>
          </p:cNvSpPr>
          <p:nvPr>
            <p:ph type="title"/>
          </p:nvPr>
        </p:nvSpPr>
        <p:spPr/>
        <p:txBody>
          <a:bodyPr/>
          <a:lstStyle/>
          <a:p>
            <a:r>
              <a:rPr lang="en-US" b="1" dirty="0">
                <a:solidFill>
                  <a:schemeClr val="accent4">
                    <a:lumMod val="50000"/>
                  </a:schemeClr>
                </a:solidFill>
                <a:latin typeface="Bahnschrift Condensed" panose="020B0502040204020203" pitchFamily="34" charset="0"/>
              </a:rPr>
              <a:t>3. SỰ AN TOÀN VÀ ỔN ĐỊNH</a:t>
            </a:r>
          </a:p>
        </p:txBody>
      </p:sp>
      <p:sp>
        <p:nvSpPr>
          <p:cNvPr id="3" name="Content Placeholder 2">
            <a:extLst>
              <a:ext uri="{FF2B5EF4-FFF2-40B4-BE49-F238E27FC236}">
                <a16:creationId xmlns:a16="http://schemas.microsoft.com/office/drawing/2014/main" id="{DE3CE5D5-CA11-E0AE-DB9F-D554BD723072}"/>
              </a:ext>
            </a:extLst>
          </p:cNvPr>
          <p:cNvSpPr>
            <a:spLocks noGrp="1"/>
          </p:cNvSpPr>
          <p:nvPr>
            <p:ph idx="1"/>
          </p:nvPr>
        </p:nvSpPr>
        <p:spPr>
          <a:xfrm>
            <a:off x="5587068" y="1825625"/>
            <a:ext cx="5766732" cy="4351338"/>
          </a:xfrm>
        </p:spPr>
        <p:txBody>
          <a:bodyPr/>
          <a:lstStyle/>
          <a:p>
            <a:pPr marL="0" indent="0" algn="just">
              <a:lnSpc>
                <a:spcPct val="150000"/>
              </a:lnSpc>
              <a:buNone/>
            </a:pPr>
            <a:r>
              <a:rPr lang="vi-VN" dirty="0"/>
              <a:t>Khách hàng thường tìm kiếm sự an toàn và ổn định về tài chính cho gia đình trong trường hợp xảy ra rủi ro. Sản phẩm bảo hiểm nhân thọ mang lại cảm giác yên tâm và bảo vệ cho tương lai của họ</a:t>
            </a:r>
            <a:endParaRPr lang="en-US" dirty="0"/>
          </a:p>
        </p:txBody>
      </p:sp>
      <p:pic>
        <p:nvPicPr>
          <p:cNvPr id="4" name="Picture 2" descr="8 triết lý bảo hiểm nhân thọ - Bảo Việt Nhân Thọ - Công ty bảo hiểm nhân  thọ hàng đầu Việt Nam">
            <a:extLst>
              <a:ext uri="{FF2B5EF4-FFF2-40B4-BE49-F238E27FC236}">
                <a16:creationId xmlns:a16="http://schemas.microsoft.com/office/drawing/2014/main" id="{3AE871CC-A752-0591-F7BC-79D8913663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882" y="2654591"/>
            <a:ext cx="4762500" cy="2857500"/>
          </a:xfrm>
          <a:prstGeom prst="rect">
            <a:avLst/>
          </a:prstGeom>
          <a:noFill/>
          <a:effectLst>
            <a:glow rad="228600">
              <a:schemeClr val="accent6">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68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394C-F8CC-5E89-029F-85BFBE73CC36}"/>
              </a:ext>
            </a:extLst>
          </p:cNvPr>
          <p:cNvSpPr>
            <a:spLocks noGrp="1"/>
          </p:cNvSpPr>
          <p:nvPr>
            <p:ph type="title"/>
          </p:nvPr>
        </p:nvSpPr>
        <p:spPr/>
        <p:txBody>
          <a:bodyPr/>
          <a:lstStyle/>
          <a:p>
            <a:r>
              <a:rPr lang="en-US" b="1" dirty="0">
                <a:solidFill>
                  <a:schemeClr val="accent4">
                    <a:lumMod val="50000"/>
                  </a:schemeClr>
                </a:solidFill>
                <a:latin typeface="Bahnschrift Condensed" panose="020B0502040204020203" pitchFamily="34" charset="0"/>
              </a:rPr>
              <a:t>4. </a:t>
            </a:r>
            <a:r>
              <a:rPr lang="vi-VN" b="1" dirty="0">
                <a:solidFill>
                  <a:schemeClr val="accent4">
                    <a:lumMod val="50000"/>
                  </a:schemeClr>
                </a:solidFill>
                <a:latin typeface="Bahnschrift Condensed" panose="020B0502040204020203" pitchFamily="34" charset="0"/>
              </a:rPr>
              <a:t>TRÁCH NHIỆM VỚI NGƯỜI THÂN</a:t>
            </a:r>
            <a:endParaRPr lang="en-US" b="1" dirty="0">
              <a:solidFill>
                <a:schemeClr val="accent4">
                  <a:lumMod val="50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5997041C-F301-92B0-2401-0D572781A20C}"/>
              </a:ext>
            </a:extLst>
          </p:cNvPr>
          <p:cNvSpPr>
            <a:spLocks noGrp="1"/>
          </p:cNvSpPr>
          <p:nvPr>
            <p:ph idx="1"/>
          </p:nvPr>
        </p:nvSpPr>
        <p:spPr>
          <a:xfrm>
            <a:off x="838200" y="1825625"/>
            <a:ext cx="6443444" cy="4351338"/>
          </a:xfrm>
        </p:spPr>
        <p:txBody>
          <a:bodyPr/>
          <a:lstStyle/>
          <a:p>
            <a:pPr marL="0" indent="0" algn="just">
              <a:lnSpc>
                <a:spcPct val="150000"/>
              </a:lnSpc>
              <a:buNone/>
            </a:pPr>
            <a:r>
              <a:rPr lang="vi-VN" dirty="0"/>
              <a:t>Nhiều người mua bảo hiểm nhân thọ vì trách nhiệm với gia đình và người thân. Họ muốn đảm bảo rằng gia đình mình sẽ được bảo vệ và có nguồn tài chính ổn định nếu họ gặp rủi ro.</a:t>
            </a:r>
            <a:endParaRPr lang="en-US" dirty="0"/>
          </a:p>
        </p:txBody>
      </p:sp>
      <p:pic>
        <p:nvPicPr>
          <p:cNvPr id="4" name="Picture 2" descr="Có thật là bạn &quot;không có tiền&quot; để mua bảo hiểm nhân thọ?">
            <a:extLst>
              <a:ext uri="{FF2B5EF4-FFF2-40B4-BE49-F238E27FC236}">
                <a16:creationId xmlns:a16="http://schemas.microsoft.com/office/drawing/2014/main" id="{A10BEC6C-F54D-642B-3004-3DFDFF8E17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584"/>
          <a:stretch/>
        </p:blipFill>
        <p:spPr bwMode="auto">
          <a:xfrm>
            <a:off x="6935476" y="1825625"/>
            <a:ext cx="5256524" cy="3837962"/>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93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93EC1-5AD1-C9B5-4B0C-5F7CD38BD7BA}"/>
              </a:ext>
            </a:extLst>
          </p:cNvPr>
          <p:cNvSpPr>
            <a:spLocks noGrp="1"/>
          </p:cNvSpPr>
          <p:nvPr>
            <p:ph type="title"/>
          </p:nvPr>
        </p:nvSpPr>
        <p:spPr/>
        <p:txBody>
          <a:bodyPr/>
          <a:lstStyle/>
          <a:p>
            <a:r>
              <a:rPr lang="en-US" b="1" dirty="0">
                <a:solidFill>
                  <a:schemeClr val="accent4">
                    <a:lumMod val="50000"/>
                  </a:schemeClr>
                </a:solidFill>
                <a:latin typeface="Bahnschrift Condensed" panose="020B0502040204020203" pitchFamily="34" charset="0"/>
              </a:rPr>
              <a:t>5. </a:t>
            </a:r>
            <a:r>
              <a:rPr lang="vi-VN" b="1" dirty="0">
                <a:solidFill>
                  <a:schemeClr val="accent4">
                    <a:lumMod val="50000"/>
                  </a:schemeClr>
                </a:solidFill>
                <a:latin typeface="Bahnschrift Condensed" panose="020B0502040204020203" pitchFamily="34" charset="0"/>
              </a:rPr>
              <a:t>LỢI ÍCH TÀI CHÍNH VÀ ĐẦU TƯ</a:t>
            </a:r>
            <a:endParaRPr lang="en-US" b="1" dirty="0">
              <a:solidFill>
                <a:schemeClr val="accent4">
                  <a:lumMod val="50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88CE1E61-7E66-C0CD-6B62-580C28C6F427}"/>
              </a:ext>
            </a:extLst>
          </p:cNvPr>
          <p:cNvSpPr>
            <a:spLocks noGrp="1"/>
          </p:cNvSpPr>
          <p:nvPr>
            <p:ph idx="1"/>
          </p:nvPr>
        </p:nvSpPr>
        <p:spPr>
          <a:xfrm>
            <a:off x="5041783" y="2052128"/>
            <a:ext cx="6647576" cy="4351338"/>
          </a:xfrm>
        </p:spPr>
        <p:txBody>
          <a:bodyPr/>
          <a:lstStyle/>
          <a:p>
            <a:pPr marL="0" indent="0" algn="just">
              <a:lnSpc>
                <a:spcPct val="150000"/>
              </a:lnSpc>
              <a:buNone/>
            </a:pPr>
            <a:r>
              <a:rPr lang="vi-VN" dirty="0"/>
              <a:t>Một số khách hàng bị thu hút bởi những lợi ích tài chính và khả năng đầu tư của sản phẩm bảo hiểm nhân thọ, như khả năng sinh lời và miễn thuế.</a:t>
            </a:r>
            <a:endParaRPr lang="en-US" dirty="0"/>
          </a:p>
        </p:txBody>
      </p:sp>
      <p:pic>
        <p:nvPicPr>
          <p:cNvPr id="7170" name="Picture 2" descr="Những câu nói &quot;vàng&quot; giúp tư vấn viên thuyết phục khách hàng trong 10 giây  - Ý Tưởng Bảo Hiểm">
            <a:extLst>
              <a:ext uri="{FF2B5EF4-FFF2-40B4-BE49-F238E27FC236}">
                <a16:creationId xmlns:a16="http://schemas.microsoft.com/office/drawing/2014/main" id="{CFA9F238-31B0-1564-46C4-0D1D630D3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468" y="2197916"/>
            <a:ext cx="4486328" cy="3133420"/>
          </a:xfrm>
          <a:prstGeom prst="rect">
            <a:avLst/>
          </a:prstGeom>
          <a:ln>
            <a:noFill/>
          </a:ln>
          <a:effectLst>
            <a:glow rad="228600">
              <a:schemeClr val="accent4">
                <a:satMod val="175000"/>
                <a:alpha val="4000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646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685BD-B54E-169E-7381-9BB81DBBF412}"/>
              </a:ext>
            </a:extLst>
          </p:cNvPr>
          <p:cNvSpPr>
            <a:spLocks noGrp="1"/>
          </p:cNvSpPr>
          <p:nvPr>
            <p:ph type="title"/>
          </p:nvPr>
        </p:nvSpPr>
        <p:spPr/>
        <p:txBody>
          <a:bodyPr/>
          <a:lstStyle/>
          <a:p>
            <a:r>
              <a:rPr lang="en-US" b="1" dirty="0">
                <a:solidFill>
                  <a:schemeClr val="accent4">
                    <a:lumMod val="50000"/>
                  </a:schemeClr>
                </a:solidFill>
                <a:latin typeface="Bahnschrift Condensed" panose="020B0502040204020203" pitchFamily="34" charset="0"/>
              </a:rPr>
              <a:t>6. </a:t>
            </a:r>
            <a:r>
              <a:rPr lang="vi-VN" b="1" dirty="0">
                <a:solidFill>
                  <a:schemeClr val="accent4">
                    <a:lumMod val="50000"/>
                  </a:schemeClr>
                </a:solidFill>
                <a:latin typeface="Bahnschrift Condensed" panose="020B0502040204020203" pitchFamily="34" charset="0"/>
              </a:rPr>
              <a:t>NIỀM TIN VÀO THƯƠNG HIỆU VÀ NGƯỜI TƯ VẤN</a:t>
            </a:r>
            <a:endParaRPr lang="en-US" b="1" dirty="0">
              <a:solidFill>
                <a:schemeClr val="accent4">
                  <a:lumMod val="50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BF8B4437-CDDF-4EDC-CA71-6D7EDAC28BCD}"/>
              </a:ext>
            </a:extLst>
          </p:cNvPr>
          <p:cNvSpPr>
            <a:spLocks noGrp="1"/>
          </p:cNvSpPr>
          <p:nvPr>
            <p:ph idx="1"/>
          </p:nvPr>
        </p:nvSpPr>
        <p:spPr>
          <a:xfrm>
            <a:off x="838201" y="1825625"/>
            <a:ext cx="6779004" cy="4351338"/>
          </a:xfrm>
        </p:spPr>
        <p:txBody>
          <a:bodyPr/>
          <a:lstStyle/>
          <a:p>
            <a:pPr marL="0" indent="0" algn="just">
              <a:lnSpc>
                <a:spcPct val="150000"/>
              </a:lnSpc>
              <a:buNone/>
            </a:pPr>
            <a:r>
              <a:rPr lang="vi-VN" dirty="0"/>
              <a:t>Khách hàng có xu hướng tin tưởng và mua bảo hiểm từ những công ty uy tín và từ những người tư vấn đáng tin cậy.</a:t>
            </a:r>
            <a:endParaRPr lang="en-US" dirty="0"/>
          </a:p>
        </p:txBody>
      </p:sp>
      <p:pic>
        <p:nvPicPr>
          <p:cNvPr id="5" name="Picture 4">
            <a:extLst>
              <a:ext uri="{FF2B5EF4-FFF2-40B4-BE49-F238E27FC236}">
                <a16:creationId xmlns:a16="http://schemas.microsoft.com/office/drawing/2014/main" id="{971E2601-5AF8-333F-FA33-B44654FA70EC}"/>
              </a:ext>
            </a:extLst>
          </p:cNvPr>
          <p:cNvPicPr>
            <a:picLocks noChangeAspect="1"/>
          </p:cNvPicPr>
          <p:nvPr/>
        </p:nvPicPr>
        <p:blipFill>
          <a:blip r:embed="rId2"/>
          <a:stretch>
            <a:fillRect/>
          </a:stretch>
        </p:blipFill>
        <p:spPr>
          <a:xfrm>
            <a:off x="6498672" y="3929983"/>
            <a:ext cx="5363361" cy="2835720"/>
          </a:xfrm>
          <a:prstGeom prst="rect">
            <a:avLst/>
          </a:prstGeom>
          <a:ln>
            <a:noFill/>
          </a:ln>
          <a:effectLst>
            <a:softEdge rad="112500"/>
          </a:effectLst>
        </p:spPr>
      </p:pic>
    </p:spTree>
    <p:extLst>
      <p:ext uri="{BB962C8B-B14F-4D97-AF65-F5344CB8AC3E}">
        <p14:creationId xmlns:p14="http://schemas.microsoft.com/office/powerpoint/2010/main" val="323444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183-71D3-8E68-6062-C57064EAEACA}"/>
              </a:ext>
            </a:extLst>
          </p:cNvPr>
          <p:cNvSpPr>
            <a:spLocks noGrp="1"/>
          </p:cNvSpPr>
          <p:nvPr>
            <p:ph type="title"/>
          </p:nvPr>
        </p:nvSpPr>
        <p:spPr/>
        <p:txBody>
          <a:bodyPr/>
          <a:lstStyle/>
          <a:p>
            <a:r>
              <a:rPr lang="en-US" b="1" dirty="0">
                <a:solidFill>
                  <a:schemeClr val="accent4">
                    <a:lumMod val="50000"/>
                  </a:schemeClr>
                </a:solidFill>
                <a:latin typeface="Bahnschrift Condensed" panose="020B0502040204020203" pitchFamily="34" charset="0"/>
              </a:rPr>
              <a:t>7. </a:t>
            </a:r>
            <a:r>
              <a:rPr lang="vi-VN" b="1" dirty="0">
                <a:solidFill>
                  <a:schemeClr val="accent4">
                    <a:lumMod val="50000"/>
                  </a:schemeClr>
                </a:solidFill>
                <a:latin typeface="Bahnschrift Condensed" panose="020B0502040204020203" pitchFamily="34" charset="0"/>
              </a:rPr>
              <a:t>SỰ ĐỒNG CẢM VÀ HỖ TRỢ TỪ NGƯỜI TƯ VẤN</a:t>
            </a:r>
            <a:endParaRPr lang="en-US" b="1" dirty="0">
              <a:solidFill>
                <a:schemeClr val="accent4">
                  <a:lumMod val="50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AF64288C-14AB-1EA7-57AD-98081260995D}"/>
              </a:ext>
            </a:extLst>
          </p:cNvPr>
          <p:cNvSpPr>
            <a:spLocks noGrp="1"/>
          </p:cNvSpPr>
          <p:nvPr>
            <p:ph idx="1"/>
          </p:nvPr>
        </p:nvSpPr>
        <p:spPr>
          <a:xfrm>
            <a:off x="5847126" y="1951460"/>
            <a:ext cx="5875789" cy="4351338"/>
          </a:xfrm>
        </p:spPr>
        <p:txBody>
          <a:bodyPr/>
          <a:lstStyle/>
          <a:p>
            <a:pPr marL="0" indent="0" algn="just">
              <a:lnSpc>
                <a:spcPct val="150000"/>
              </a:lnSpc>
              <a:buNone/>
            </a:pPr>
            <a:r>
              <a:rPr lang="vi-VN" dirty="0"/>
              <a:t>Sự đồng cảm và thái độ hỗ trợ từ người tư vấn giúp khách hàng cảm thấy thoải mái và tự tin hơn khi ra quyết định.</a:t>
            </a:r>
            <a:endParaRPr lang="en-US" dirty="0"/>
          </a:p>
        </p:txBody>
      </p:sp>
      <p:pic>
        <p:nvPicPr>
          <p:cNvPr id="9218" name="Picture 2" descr="Mô hình RATER là gì? Cách sử dụng mô hình RATER hiệu quả">
            <a:extLst>
              <a:ext uri="{FF2B5EF4-FFF2-40B4-BE49-F238E27FC236}">
                <a16:creationId xmlns:a16="http://schemas.microsoft.com/office/drawing/2014/main" id="{A685A200-2293-7ED9-B714-EA33D7CD70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208" y="1825625"/>
            <a:ext cx="5106099" cy="3829574"/>
          </a:xfrm>
          <a:prstGeom prst="rect">
            <a:avLst/>
          </a:prstGeom>
          <a:ln>
            <a:noFill/>
          </a:ln>
          <a:effectLst>
            <a:glow rad="228600">
              <a:schemeClr val="accent4">
                <a:satMod val="175000"/>
                <a:alpha val="40000"/>
              </a:schemeClr>
            </a:glow>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865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3CBBC-A93A-7304-D823-E4DF47F168AF}"/>
              </a:ext>
            </a:extLst>
          </p:cNvPr>
          <p:cNvSpPr>
            <a:spLocks noGrp="1"/>
          </p:cNvSpPr>
          <p:nvPr>
            <p:ph type="title"/>
          </p:nvPr>
        </p:nvSpPr>
        <p:spPr/>
        <p:txBody>
          <a:bodyPr/>
          <a:lstStyle/>
          <a:p>
            <a:r>
              <a:rPr lang="en-US" b="1" dirty="0">
                <a:solidFill>
                  <a:schemeClr val="accent4">
                    <a:lumMod val="50000"/>
                  </a:schemeClr>
                </a:solidFill>
              </a:rPr>
              <a:t>THANKS!</a:t>
            </a:r>
          </a:p>
        </p:txBody>
      </p:sp>
      <p:pic>
        <p:nvPicPr>
          <p:cNvPr id="10242" name="Picture 2" descr="Bản đồ thấu cảm là gì? Cách làm empathy map hoàn chỉnh – Travelopia – Phần  mềm quản lý điều hành tour, công ty du lịch">
            <a:extLst>
              <a:ext uri="{FF2B5EF4-FFF2-40B4-BE49-F238E27FC236}">
                <a16:creationId xmlns:a16="http://schemas.microsoft.com/office/drawing/2014/main" id="{4235EE52-F37B-788C-85C0-FDF82D5B7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4463" y="929338"/>
            <a:ext cx="6538869" cy="435991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691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558</Words>
  <Application>Microsoft Office PowerPoint</Application>
  <PresentationFormat>Widescreen</PresentationFormat>
  <Paragraphs>23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Bahnschrift Condensed</vt:lpstr>
      <vt:lpstr>Calibri</vt:lpstr>
      <vt:lpstr>Calibri Light</vt:lpstr>
      <vt:lpstr>Office Theme</vt:lpstr>
      <vt:lpstr>YẾU TỐ TÂM LÝ QUYẾT ĐỊNH  THAM GIA BẢO HIỂM NHÂN THỌ</vt:lpstr>
      <vt:lpstr>PowerPoint Presentation</vt:lpstr>
      <vt:lpstr>1. TẠO DỰNG MỐI QUAN HỆ BỀN CHẶT</vt:lpstr>
      <vt:lpstr>2. SỰ LO LẮNG VỀ TƯƠNG LAI</vt:lpstr>
      <vt:lpstr>3. SỰ AN TOÀN VÀ ỔN ĐỊNH</vt:lpstr>
      <vt:lpstr>4. TRÁCH NHIỆM VỚI NGƯỜI THÂN</vt:lpstr>
      <vt:lpstr>5. LỢI ÍCH TÀI CHÍNH VÀ ĐẦU TƯ</vt:lpstr>
      <vt:lpstr>6. NIỀM TIN VÀO THƯƠNG HIỆU VÀ NGƯỜI TƯ VẤN</vt:lpstr>
      <vt:lpstr>7. SỰ ĐỒNG CẢM VÀ HỖ TRỢ TỪ NGƯỜI TƯ VẤN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YẾU TỐ TÂM LÝ QUYẾT ĐỊNH  THAM GIA BẢO HIỂM NHÂN THỌ</dc:title>
  <dc:creator>Administrator</dc:creator>
  <cp:lastModifiedBy>Administrator</cp:lastModifiedBy>
  <cp:revision>2</cp:revision>
  <dcterms:created xsi:type="dcterms:W3CDTF">2025-01-02T08:35:16Z</dcterms:created>
  <dcterms:modified xsi:type="dcterms:W3CDTF">2025-01-02T08:44:43Z</dcterms:modified>
</cp:coreProperties>
</file>