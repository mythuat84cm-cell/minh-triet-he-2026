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D1CE8-D534-ADBA-F139-4B0EEA8107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127CD6-07A5-39A2-2782-6F6CF805E1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36C120-06C0-B7A4-1120-F256CCE6E6F9}"/>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5" name="Footer Placeholder 4">
            <a:extLst>
              <a:ext uri="{FF2B5EF4-FFF2-40B4-BE49-F238E27FC236}">
                <a16:creationId xmlns:a16="http://schemas.microsoft.com/office/drawing/2014/main" id="{84069FC0-E350-FE50-D498-E6746D5910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E930EA-CC41-22CD-805D-1C2276934B5A}"/>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734082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4BA4-0DFA-F238-F619-C87C77F0DF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0E3A89-C9DD-EE6D-A9BE-4F53250EAA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AD75D-C7B8-3757-50A2-2D76653CF56B}"/>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5" name="Footer Placeholder 4">
            <a:extLst>
              <a:ext uri="{FF2B5EF4-FFF2-40B4-BE49-F238E27FC236}">
                <a16:creationId xmlns:a16="http://schemas.microsoft.com/office/drawing/2014/main" id="{A9F446CD-B45E-93E4-79D0-EFAD7D25CF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2EED98-D16D-3BD8-1C97-ADDBAF3364CE}"/>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3533328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4ED9-5513-1751-9559-023370B6CA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51A92B-7CBD-A0B4-79C2-14647D3D56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E06E27-0007-421B-79F1-571359ED1311}"/>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5" name="Footer Placeholder 4">
            <a:extLst>
              <a:ext uri="{FF2B5EF4-FFF2-40B4-BE49-F238E27FC236}">
                <a16:creationId xmlns:a16="http://schemas.microsoft.com/office/drawing/2014/main" id="{4D7FD48D-0B06-622E-DF9F-D6777B31D9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8B868-6997-8E89-F43C-5CDF1F451944}"/>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4096881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4B615-3FE3-D4B8-9854-FB26EBF599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F76C57-1145-0AE0-2700-9250101A5D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2B1D3B-FF5B-C213-DA5D-1839C23CED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877423-3F99-E49B-B9E8-5A781D804F95}"/>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6" name="Footer Placeholder 5">
            <a:extLst>
              <a:ext uri="{FF2B5EF4-FFF2-40B4-BE49-F238E27FC236}">
                <a16:creationId xmlns:a16="http://schemas.microsoft.com/office/drawing/2014/main" id="{D0827CDA-37BB-6737-5083-FABB159F53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111C1-50F2-ED84-8A5A-6B6E04432888}"/>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2789631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FD71-F561-8C09-11C1-F46B0C8534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C69324-3646-A32B-8440-B3970B2CE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748A12-2730-FA49-0E4C-8F42E4536A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D6FB59-948D-1966-DCF2-F4BBC49101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8FD56F-BEC0-F76B-1B18-C4E577DFED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FA8F4B-695C-E66F-8460-8F1966C435F0}"/>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8" name="Footer Placeholder 7">
            <a:extLst>
              <a:ext uri="{FF2B5EF4-FFF2-40B4-BE49-F238E27FC236}">
                <a16:creationId xmlns:a16="http://schemas.microsoft.com/office/drawing/2014/main" id="{FD474892-D16A-3B53-1C03-138725AFE2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BB7192-7C31-401C-CEF8-3617B9B8EEB3}"/>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1836702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AB0B-1343-8AB0-60A8-2ECBF4C36E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7F975A-106F-4E85-499C-62800FCBA9C6}"/>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4" name="Footer Placeholder 3">
            <a:extLst>
              <a:ext uri="{FF2B5EF4-FFF2-40B4-BE49-F238E27FC236}">
                <a16:creationId xmlns:a16="http://schemas.microsoft.com/office/drawing/2014/main" id="{2610D121-3242-DD53-A3E5-69D094C07D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2CB65B-B158-08B1-4511-D686F42DB109}"/>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2188722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800746-B4CD-EF79-91B0-179357800E67}"/>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3" name="Footer Placeholder 2">
            <a:extLst>
              <a:ext uri="{FF2B5EF4-FFF2-40B4-BE49-F238E27FC236}">
                <a16:creationId xmlns:a16="http://schemas.microsoft.com/office/drawing/2014/main" id="{F32642C2-B920-35DE-857D-E81D0E085D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F120B2-E26B-05FD-9CC7-287215DD1BD7}"/>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311224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8C61-9030-F3E3-AFF7-3C62C61E0D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4755EE-89B6-4CE3-BE65-D20B9B2B48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B5C6F-1013-EC6F-D05D-BFCC8B4549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C9A60-156A-9D37-EBD8-BC9D09C58EE4}"/>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6" name="Footer Placeholder 5">
            <a:extLst>
              <a:ext uri="{FF2B5EF4-FFF2-40B4-BE49-F238E27FC236}">
                <a16:creationId xmlns:a16="http://schemas.microsoft.com/office/drawing/2014/main" id="{01D0F84F-686B-7162-99CD-16CB6C82FD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85788-7091-4513-EDEE-843FCC175F95}"/>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4271914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8508-CEE6-9E47-801F-AF56AEA847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37BD3-006E-A99D-7BA6-87ED44B5F4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AACA7A-4BDB-3CBB-029E-08607D65AA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A0F7C7-16BD-DB5B-EDF6-6D55F9E3C6ED}"/>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6" name="Footer Placeholder 5">
            <a:extLst>
              <a:ext uri="{FF2B5EF4-FFF2-40B4-BE49-F238E27FC236}">
                <a16:creationId xmlns:a16="http://schemas.microsoft.com/office/drawing/2014/main" id="{F1E48E56-C5BE-FB02-8505-A299BFCC01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8B1441-F401-5BFF-F185-B1842332BFF9}"/>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243017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3E596-3D4E-4995-FC60-8B50754EA2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E05AFA-A43E-727F-8538-7DA1AE04F8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25AAC-086D-356F-B2B3-04F949566B3C}"/>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5" name="Footer Placeholder 4">
            <a:extLst>
              <a:ext uri="{FF2B5EF4-FFF2-40B4-BE49-F238E27FC236}">
                <a16:creationId xmlns:a16="http://schemas.microsoft.com/office/drawing/2014/main" id="{D6C98FBB-81C3-C5B6-35E2-2DF3B87255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14B5CD-E24D-85EA-6817-B0E17E39A128}"/>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3668816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73726-78A0-7A8D-0744-3458D2E465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C0E33E-3F58-3075-215E-3D80045D02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1A4C5B-632B-845C-B59D-AED0B884D621}"/>
              </a:ext>
            </a:extLst>
          </p:cNvPr>
          <p:cNvSpPr>
            <a:spLocks noGrp="1"/>
          </p:cNvSpPr>
          <p:nvPr>
            <p:ph type="dt" sz="half" idx="10"/>
          </p:nvPr>
        </p:nvSpPr>
        <p:spPr/>
        <p:txBody>
          <a:bodyPr/>
          <a:lstStyle/>
          <a:p>
            <a:fld id="{CD126AE8-8E28-4CA7-BAF7-74169BD1DC84}" type="datetimeFigureOut">
              <a:rPr lang="en-US" smtClean="0"/>
              <a:t>12/17/2024</a:t>
            </a:fld>
            <a:endParaRPr lang="en-US"/>
          </a:p>
        </p:txBody>
      </p:sp>
      <p:sp>
        <p:nvSpPr>
          <p:cNvPr id="5" name="Footer Placeholder 4">
            <a:extLst>
              <a:ext uri="{FF2B5EF4-FFF2-40B4-BE49-F238E27FC236}">
                <a16:creationId xmlns:a16="http://schemas.microsoft.com/office/drawing/2014/main" id="{0DB774B1-74EE-E1EA-0EAF-005955980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1985B-9419-AEBC-DDD0-90A92DF067C9}"/>
              </a:ext>
            </a:extLst>
          </p:cNvPr>
          <p:cNvSpPr>
            <a:spLocks noGrp="1"/>
          </p:cNvSpPr>
          <p:nvPr>
            <p:ph type="sldNum" sz="quarter" idx="12"/>
          </p:nvPr>
        </p:nvSpPr>
        <p:spPr/>
        <p:txBody>
          <a:bodyPr/>
          <a:lstStyle/>
          <a:p>
            <a:fld id="{8DA7EE0E-B1E1-4F28-8AF2-93B0A64D3B0C}" type="slidenum">
              <a:rPr lang="en-US" smtClean="0"/>
              <a:t>‹#›</a:t>
            </a:fld>
            <a:endParaRPr lang="en-US"/>
          </a:p>
        </p:txBody>
      </p:sp>
    </p:spTree>
    <p:extLst>
      <p:ext uri="{BB962C8B-B14F-4D97-AF65-F5344CB8AC3E}">
        <p14:creationId xmlns:p14="http://schemas.microsoft.com/office/powerpoint/2010/main" val="1171138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44D7D2-DF02-F184-6814-7656AE11A9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83986A-F2EE-E028-1445-BEC10BF0E7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E2DEF5-DB94-C594-385D-CDFD17C94D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126AE8-8E28-4CA7-BAF7-74169BD1DC84}" type="datetimeFigureOut">
              <a:rPr lang="en-US" smtClean="0"/>
              <a:t>12/17/2024</a:t>
            </a:fld>
            <a:endParaRPr lang="en-US"/>
          </a:p>
        </p:txBody>
      </p:sp>
      <p:sp>
        <p:nvSpPr>
          <p:cNvPr id="5" name="Footer Placeholder 4">
            <a:extLst>
              <a:ext uri="{FF2B5EF4-FFF2-40B4-BE49-F238E27FC236}">
                <a16:creationId xmlns:a16="http://schemas.microsoft.com/office/drawing/2014/main" id="{3A9CA13C-D07E-F8FC-3F10-B81C27C0F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667999-3CCC-A8AC-ECC7-F84A7152B3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7EE0E-B1E1-4F28-8AF2-93B0A64D3B0C}" type="slidenum">
              <a:rPr lang="en-US" smtClean="0"/>
              <a:t>‹#›</a:t>
            </a:fld>
            <a:endParaRPr lang="en-US"/>
          </a:p>
        </p:txBody>
      </p:sp>
    </p:spTree>
    <p:extLst>
      <p:ext uri="{BB962C8B-B14F-4D97-AF65-F5344CB8AC3E}">
        <p14:creationId xmlns:p14="http://schemas.microsoft.com/office/powerpoint/2010/main" val="564134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5876B-3308-C003-97FA-1BD911F91202}"/>
              </a:ext>
            </a:extLst>
          </p:cNvPr>
          <p:cNvSpPr>
            <a:spLocks noGrp="1"/>
          </p:cNvSpPr>
          <p:nvPr>
            <p:ph type="ctrTitle"/>
          </p:nvPr>
        </p:nvSpPr>
        <p:spPr>
          <a:xfrm>
            <a:off x="1339443" y="2870200"/>
            <a:ext cx="9144000" cy="2387600"/>
          </a:xfrm>
        </p:spPr>
        <p:txBody>
          <a:bodyPr>
            <a:normAutofit/>
          </a:bodyPr>
          <a:lstStyle/>
          <a:p>
            <a:r>
              <a:rPr lang="en-US" sz="4800" b="1" dirty="0">
                <a:solidFill>
                  <a:schemeClr val="accent4">
                    <a:lumMod val="75000"/>
                  </a:schemeClr>
                </a:solidFill>
              </a:rPr>
              <a:t>CHỊU 3 NỖI KHỔ ĐỔI CUỘC ĐỜI</a:t>
            </a:r>
          </a:p>
        </p:txBody>
      </p:sp>
      <p:grpSp>
        <p:nvGrpSpPr>
          <p:cNvPr id="5" name="Group 4">
            <a:extLst>
              <a:ext uri="{FF2B5EF4-FFF2-40B4-BE49-F238E27FC236}">
                <a16:creationId xmlns:a16="http://schemas.microsoft.com/office/drawing/2014/main" id="{A8AE098C-6064-34E8-AA34-F69B0616B4B0}"/>
              </a:ext>
            </a:extLst>
          </p:cNvPr>
          <p:cNvGrpSpPr/>
          <p:nvPr/>
        </p:nvGrpSpPr>
        <p:grpSpPr>
          <a:xfrm>
            <a:off x="3963821" y="528507"/>
            <a:ext cx="3980555" cy="3682766"/>
            <a:chOff x="5381568" y="1775504"/>
            <a:chExt cx="2277580" cy="1528333"/>
          </a:xfrm>
        </p:grpSpPr>
        <p:sp>
          <p:nvSpPr>
            <p:cNvPr id="7" name="Freeform: Shape 6">
              <a:extLst>
                <a:ext uri="{FF2B5EF4-FFF2-40B4-BE49-F238E27FC236}">
                  <a16:creationId xmlns:a16="http://schemas.microsoft.com/office/drawing/2014/main" id="{D2C9E15A-E765-E865-A17E-4DC36536CDAF}"/>
                </a:ext>
              </a:extLst>
            </p:cNvPr>
            <p:cNvSpPr/>
            <p:nvPr/>
          </p:nvSpPr>
          <p:spPr>
            <a:xfrm>
              <a:off x="5551374" y="1945165"/>
              <a:ext cx="1924581" cy="1188780"/>
            </a:xfrm>
            <a:custGeom>
              <a:avLst/>
              <a:gdLst>
                <a:gd name="connsiteX0" fmla="*/ 0 w 1924581"/>
                <a:gd name="connsiteY0" fmla="*/ 0 h 1188780"/>
                <a:gd name="connsiteX1" fmla="*/ 1924581 w 1924581"/>
                <a:gd name="connsiteY1" fmla="*/ 0 h 1188780"/>
                <a:gd name="connsiteX2" fmla="*/ 1924581 w 1924581"/>
                <a:gd name="connsiteY2" fmla="*/ 1188780 h 1188780"/>
                <a:gd name="connsiteX3" fmla="*/ 0 w 1924581"/>
                <a:gd name="connsiteY3" fmla="*/ 1188780 h 1188780"/>
                <a:gd name="connsiteX4" fmla="*/ 0 w 1924581"/>
                <a:gd name="connsiteY4" fmla="*/ 0 h 1188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581" h="1188780">
                  <a:moveTo>
                    <a:pt x="0" y="0"/>
                  </a:moveTo>
                  <a:lnTo>
                    <a:pt x="1924581" y="0"/>
                  </a:lnTo>
                  <a:lnTo>
                    <a:pt x="1924581" y="1188780"/>
                  </a:lnTo>
                  <a:lnTo>
                    <a:pt x="0" y="118878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endParaRPr lang="en-US" sz="5200" kern="1200"/>
            </a:p>
          </p:txBody>
        </p:sp>
        <p:sp>
          <p:nvSpPr>
            <p:cNvPr id="8" name="Half Frame 7">
              <a:extLst>
                <a:ext uri="{FF2B5EF4-FFF2-40B4-BE49-F238E27FC236}">
                  <a16:creationId xmlns:a16="http://schemas.microsoft.com/office/drawing/2014/main" id="{B66A636C-4E9D-8503-1964-206852B32A6D}"/>
                </a:ext>
              </a:extLst>
            </p:cNvPr>
            <p:cNvSpPr/>
            <p:nvPr/>
          </p:nvSpPr>
          <p:spPr>
            <a:xfrm>
              <a:off x="5381568" y="1775505"/>
              <a:ext cx="462209" cy="462329"/>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Half Frame 8">
              <a:extLst>
                <a:ext uri="{FF2B5EF4-FFF2-40B4-BE49-F238E27FC236}">
                  <a16:creationId xmlns:a16="http://schemas.microsoft.com/office/drawing/2014/main" id="{BC503D85-E24E-CBA6-C1B9-07AE7E46243E}"/>
                </a:ext>
              </a:extLst>
            </p:cNvPr>
            <p:cNvSpPr/>
            <p:nvPr/>
          </p:nvSpPr>
          <p:spPr>
            <a:xfrm rot="5400000">
              <a:off x="7196879" y="1775564"/>
              <a:ext cx="462329" cy="462209"/>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Half Frame 9">
              <a:extLst>
                <a:ext uri="{FF2B5EF4-FFF2-40B4-BE49-F238E27FC236}">
                  <a16:creationId xmlns:a16="http://schemas.microsoft.com/office/drawing/2014/main" id="{F5F9F39F-8171-9CE8-F1F3-1D731BA15836}"/>
                </a:ext>
              </a:extLst>
            </p:cNvPr>
            <p:cNvSpPr/>
            <p:nvPr/>
          </p:nvSpPr>
          <p:spPr>
            <a:xfrm rot="16200000">
              <a:off x="5381509" y="2841567"/>
              <a:ext cx="462329" cy="462209"/>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Half Frame 10">
              <a:extLst>
                <a:ext uri="{FF2B5EF4-FFF2-40B4-BE49-F238E27FC236}">
                  <a16:creationId xmlns:a16="http://schemas.microsoft.com/office/drawing/2014/main" id="{EBAD0A11-D61A-4D87-C2CB-DF171521001A}"/>
                </a:ext>
              </a:extLst>
            </p:cNvPr>
            <p:cNvSpPr/>
            <p:nvPr/>
          </p:nvSpPr>
          <p:spPr>
            <a:xfrm rot="10800000">
              <a:off x="7196939" y="2841508"/>
              <a:ext cx="462209" cy="462329"/>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pic>
        <p:nvPicPr>
          <p:cNvPr id="1028" name="Picture 4" descr="MỘT NGÀY NÀO ĐÓ BẠN PHẢI CẢM ƠN NHỮNG GIAN KHỔ MÀ MÌNH ĐÃ TRẢI QUA">
            <a:extLst>
              <a:ext uri="{FF2B5EF4-FFF2-40B4-BE49-F238E27FC236}">
                <a16:creationId xmlns:a16="http://schemas.microsoft.com/office/drawing/2014/main" id="{B4F8F751-4759-95D6-7776-6C4C94AD68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2774" y="900648"/>
            <a:ext cx="2963235" cy="2963235"/>
          </a:xfrm>
          <a:prstGeom prst="rect">
            <a:avLst/>
          </a:prstGeom>
          <a:noFill/>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981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1A1DA-684E-CC81-2DE3-9C42ABEA0F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3A3148-3183-25AE-C785-7FF10CB3DD10}"/>
              </a:ext>
            </a:extLst>
          </p:cNvPr>
          <p:cNvSpPr>
            <a:spLocks noGrp="1"/>
          </p:cNvSpPr>
          <p:nvPr>
            <p:ph idx="1"/>
          </p:nvPr>
        </p:nvSpPr>
        <p:spPr>
          <a:xfrm>
            <a:off x="5533053" y="1853616"/>
            <a:ext cx="5820747" cy="4351338"/>
          </a:xfrm>
        </p:spPr>
        <p:txBody>
          <a:bodyPr>
            <a:normAutofit/>
          </a:bodyPr>
          <a:lstStyle/>
          <a:p>
            <a:pPr algn="just">
              <a:buFont typeface="Wingdings" panose="05000000000000000000" pitchFamily="2" charset="2"/>
              <a:buChar char="v"/>
            </a:pPr>
            <a:r>
              <a:rPr lang="vi-VN" sz="1600" b="0" i="0" dirty="0">
                <a:solidFill>
                  <a:srgbClr val="080809"/>
                </a:solidFill>
                <a:effectLst/>
                <a:latin typeface="inherit"/>
              </a:rPr>
              <a:t>Trong cuộc sống, người thành công và tiến xa nhất không hẳn là người chỉ biết chăm chỉ mà còn là những người biết nỗ lực, chấp nhận việc "chịu đựng" và vượt qua các nỗi gian nan. Người thành công tin rằng, đau khổ là một lẽ tất yếu trong cuộc sống và là thử thách giúp họ lớn mạnh, vững vàng hơn từng ngày.</a:t>
            </a:r>
          </a:p>
          <a:p>
            <a:pPr algn="just">
              <a:buFont typeface="Wingdings" panose="05000000000000000000" pitchFamily="2" charset="2"/>
              <a:buChar char="v"/>
            </a:pPr>
            <a:r>
              <a:rPr lang="vi-VN" sz="1600" b="0" i="0" dirty="0">
                <a:solidFill>
                  <a:srgbClr val="080809"/>
                </a:solidFill>
                <a:effectLst/>
                <a:latin typeface="inherit"/>
              </a:rPr>
              <a:t>Tuy nhiên, nhiều người cũng chỉ biết đâm đầu làm việc quần quật cả ngày mà không có mục đích hay chỉ để thỏa mãn câu nói: "Tôi đã làm việc chăm chỉ". Kết quả là dù trải qua nhiều gian nan, mất rất nhiều công sức nhưng không phải ai cũng đạt được thành công thực sự.</a:t>
            </a:r>
          </a:p>
          <a:p>
            <a:pPr algn="just">
              <a:buFont typeface="Wingdings" panose="05000000000000000000" pitchFamily="2" charset="2"/>
              <a:buChar char="v"/>
            </a:pPr>
            <a:r>
              <a:rPr lang="vi-VN" sz="1600" b="0" i="0" dirty="0">
                <a:solidFill>
                  <a:srgbClr val="080809"/>
                </a:solidFill>
                <a:effectLst/>
                <a:latin typeface="inherit"/>
              </a:rPr>
              <a:t>Một giáo sư Tâm lý của đại học ĐH Harvard từng nói trong một bài phát biểu: "Muốn trở thành tầng lớp thượng lưu, bạn phải chịu đựng được những nỗi đau của tầng lớp thượng lưu". Khi chủ động chịu 3 nỗi "khổ đau" sau, cuộc sống của bạn về sau sẽ ngày càng khởi sắc.</a:t>
            </a:r>
          </a:p>
          <a:p>
            <a:pPr algn="just">
              <a:buFont typeface="Wingdings" panose="05000000000000000000" pitchFamily="2" charset="2"/>
              <a:buChar char="v"/>
            </a:pPr>
            <a:endParaRPr lang="en-US" sz="1600" dirty="0"/>
          </a:p>
        </p:txBody>
      </p:sp>
      <p:pic>
        <p:nvPicPr>
          <p:cNvPr id="5" name="Picture 4">
            <a:extLst>
              <a:ext uri="{FF2B5EF4-FFF2-40B4-BE49-F238E27FC236}">
                <a16:creationId xmlns:a16="http://schemas.microsoft.com/office/drawing/2014/main" id="{3DF94B90-AECF-536C-4087-494EDB801899}"/>
              </a:ext>
            </a:extLst>
          </p:cNvPr>
          <p:cNvPicPr>
            <a:picLocks noChangeAspect="1"/>
          </p:cNvPicPr>
          <p:nvPr/>
        </p:nvPicPr>
        <p:blipFill>
          <a:blip r:embed="rId2"/>
          <a:stretch>
            <a:fillRect/>
          </a:stretch>
        </p:blipFill>
        <p:spPr>
          <a:xfrm>
            <a:off x="978159" y="2295330"/>
            <a:ext cx="4665307" cy="2799184"/>
          </a:xfrm>
          <a:prstGeom prst="rect">
            <a:avLst/>
          </a:prstGeom>
          <a:effectLst>
            <a:glow rad="228600">
              <a:schemeClr val="accent4">
                <a:satMod val="175000"/>
                <a:alpha val="40000"/>
              </a:schemeClr>
            </a:glow>
          </a:effectLst>
          <a:scene3d>
            <a:camera prst="isometricOffAxis1Right"/>
            <a:lightRig rig="threePt" dir="t"/>
          </a:scene3d>
        </p:spPr>
      </p:pic>
    </p:spTree>
    <p:extLst>
      <p:ext uri="{BB962C8B-B14F-4D97-AF65-F5344CB8AC3E}">
        <p14:creationId xmlns:p14="http://schemas.microsoft.com/office/powerpoint/2010/main" val="284438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462DB-D872-63D9-B6E5-328D8831CB69}"/>
              </a:ext>
            </a:extLst>
          </p:cNvPr>
          <p:cNvSpPr>
            <a:spLocks noGrp="1"/>
          </p:cNvSpPr>
          <p:nvPr>
            <p:ph type="title"/>
          </p:nvPr>
        </p:nvSpPr>
        <p:spPr/>
        <p:txBody>
          <a:bodyPr/>
          <a:lstStyle/>
          <a:p>
            <a:r>
              <a:rPr lang="pt-BR" b="1" dirty="0">
                <a:solidFill>
                  <a:schemeClr val="accent4">
                    <a:lumMod val="75000"/>
                  </a:schemeClr>
                </a:solidFill>
                <a:latin typeface="Arial" panose="020B0604020202020204" pitchFamily="34" charset="0"/>
                <a:cs typeface="Arial" panose="020B0604020202020204" pitchFamily="34" charset="0"/>
              </a:rPr>
              <a:t>1. </a:t>
            </a:r>
            <a:r>
              <a:rPr lang="vi-VN" b="1" dirty="0">
                <a:solidFill>
                  <a:schemeClr val="accent4">
                    <a:lumMod val="75000"/>
                  </a:schemeClr>
                </a:solidFill>
                <a:latin typeface="Arial" panose="020B0604020202020204" pitchFamily="34" charset="0"/>
                <a:cs typeface="Arial" panose="020B0604020202020204" pitchFamily="34" charset="0"/>
              </a:rPr>
              <a:t>Tư</a:t>
            </a:r>
            <a:r>
              <a:rPr lang="pt-BR" b="1" dirty="0">
                <a:solidFill>
                  <a:schemeClr val="accent4">
                    <a:lumMod val="75000"/>
                  </a:schemeClr>
                </a:solidFill>
                <a:latin typeface="Arial" panose="020B0604020202020204" pitchFamily="34" charset="0"/>
                <a:cs typeface="Arial" panose="020B0604020202020204" pitchFamily="34" charset="0"/>
              </a:rPr>
              <a:t> duy sâu khổ não</a:t>
            </a:r>
            <a:endParaRPr lang="en-US" b="1" dirty="0">
              <a:solidFill>
                <a:schemeClr val="accent4">
                  <a:lumMod val="7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F998C0C-D422-DB78-97C9-105A8F492602}"/>
              </a:ext>
            </a:extLst>
          </p:cNvPr>
          <p:cNvSpPr>
            <a:spLocks noGrp="1"/>
          </p:cNvSpPr>
          <p:nvPr>
            <p:ph idx="1"/>
          </p:nvPr>
        </p:nvSpPr>
        <p:spPr>
          <a:xfrm>
            <a:off x="838200" y="1825625"/>
            <a:ext cx="6570306" cy="4351338"/>
          </a:xfrm>
        </p:spPr>
        <p:txBody>
          <a:bodyPr>
            <a:normAutofit/>
          </a:bodyPr>
          <a:lstStyle/>
          <a:p>
            <a:pPr algn="just"/>
            <a:r>
              <a:rPr lang="vi-VN" sz="1800" dirty="0"/>
              <a:t>Để "rèn luyện sâu", trước hết bạn cần rèn luyện suy nghĩ, tư duy của mình. Ngoài làm việc một cách chăm chỉ, những người ưu tú thường dành nhiều thời gian để suy nghĩ, đặt tâm trí trong từng việc nhỏ và nỗ lực một cách có tính toán hơn cả.</a:t>
            </a:r>
          </a:p>
          <a:p>
            <a:pPr algn="just"/>
            <a:r>
              <a:rPr lang="vi-VN" sz="1800" dirty="0"/>
              <a:t>Trước khi bắt tay vào bất cứ việc gì, hãy dành thời gian suy nghĩ về mục đích và phương pháp thực hiện, sau đó lên kế hoạch thực hiện. Nếu chúng ta không có bất kỳ kế hoạch nào cho cuộc sống và công việc, bạn sẽ chỉ rơi vào vòng luẩn quẩn "càng bận càng nghèo - càng nghèo càng bận".</a:t>
            </a:r>
          </a:p>
          <a:p>
            <a:pPr algn="just"/>
            <a:endParaRPr lang="en-US" sz="1800" dirty="0"/>
          </a:p>
        </p:txBody>
      </p:sp>
      <p:pic>
        <p:nvPicPr>
          <p:cNvPr id="3074" name="Picture 2" descr="Người thích làm 3 điều này chứng tỏ chiều sâu tư duy vượt xa người thường,  ắt đạt đến đỉnh cao sự nghiệp, sống cuộc đời cao cấp">
            <a:extLst>
              <a:ext uri="{FF2B5EF4-FFF2-40B4-BE49-F238E27FC236}">
                <a16:creationId xmlns:a16="http://schemas.microsoft.com/office/drawing/2014/main" id="{71BD7ED9-4667-C973-D020-00099B31B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2079" y="2164702"/>
            <a:ext cx="3535061" cy="221193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4114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0DC9C-E48E-BCA4-F51D-8806216DAA9D}"/>
              </a:ext>
            </a:extLst>
          </p:cNvPr>
          <p:cNvSpPr>
            <a:spLocks noGrp="1"/>
          </p:cNvSpPr>
          <p:nvPr>
            <p:ph type="title"/>
          </p:nvPr>
        </p:nvSpPr>
        <p:spPr/>
        <p:txBody>
          <a:bodyPr/>
          <a:lstStyle/>
          <a:p>
            <a:r>
              <a:rPr lang="en-US" b="1" dirty="0">
                <a:solidFill>
                  <a:schemeClr val="accent4">
                    <a:lumMod val="75000"/>
                  </a:schemeClr>
                </a:solidFill>
              </a:rPr>
              <a:t>2. "</a:t>
            </a:r>
            <a:r>
              <a:rPr lang="en-US" b="1" dirty="0" err="1">
                <a:solidFill>
                  <a:schemeClr val="accent4">
                    <a:lumMod val="75000"/>
                  </a:schemeClr>
                </a:solidFill>
              </a:rPr>
              <a:t>Chịu</a:t>
            </a:r>
            <a:r>
              <a:rPr lang="en-US" b="1" dirty="0">
                <a:solidFill>
                  <a:schemeClr val="accent4">
                    <a:lumMod val="75000"/>
                  </a:schemeClr>
                </a:solidFill>
              </a:rPr>
              <a:t> </a:t>
            </a:r>
            <a:r>
              <a:rPr lang="en-US" b="1" dirty="0" err="1">
                <a:solidFill>
                  <a:schemeClr val="accent4">
                    <a:lumMod val="75000"/>
                  </a:schemeClr>
                </a:solidFill>
              </a:rPr>
              <a:t>đựng</a:t>
            </a:r>
            <a:r>
              <a:rPr lang="en-US" b="1" dirty="0">
                <a:solidFill>
                  <a:schemeClr val="accent4">
                    <a:lumMod val="75000"/>
                  </a:schemeClr>
                </a:solidFill>
              </a:rPr>
              <a:t>" </a:t>
            </a:r>
            <a:r>
              <a:rPr lang="en-US" b="1" dirty="0" err="1">
                <a:solidFill>
                  <a:schemeClr val="accent4">
                    <a:lumMod val="75000"/>
                  </a:schemeClr>
                </a:solidFill>
              </a:rPr>
              <a:t>kỷ</a:t>
            </a:r>
            <a:r>
              <a:rPr lang="en-US" b="1" dirty="0">
                <a:solidFill>
                  <a:schemeClr val="accent4">
                    <a:lumMod val="75000"/>
                  </a:schemeClr>
                </a:solidFill>
              </a:rPr>
              <a:t> </a:t>
            </a:r>
            <a:r>
              <a:rPr lang="en-US" b="1" dirty="0" err="1">
                <a:solidFill>
                  <a:schemeClr val="accent4">
                    <a:lumMod val="75000"/>
                  </a:schemeClr>
                </a:solidFill>
              </a:rPr>
              <a:t>luật</a:t>
            </a:r>
            <a:r>
              <a:rPr lang="en-US" b="1" dirty="0">
                <a:solidFill>
                  <a:schemeClr val="accent4">
                    <a:lumMod val="75000"/>
                  </a:schemeClr>
                </a:solidFill>
              </a:rPr>
              <a:t> </a:t>
            </a:r>
            <a:r>
              <a:rPr lang="en-US" b="1" dirty="0" err="1">
                <a:solidFill>
                  <a:schemeClr val="accent4">
                    <a:lumMod val="75000"/>
                  </a:schemeClr>
                </a:solidFill>
              </a:rPr>
              <a:t>tự</a:t>
            </a:r>
            <a:r>
              <a:rPr lang="en-US" b="1" dirty="0">
                <a:solidFill>
                  <a:schemeClr val="accent4">
                    <a:lumMod val="75000"/>
                  </a:schemeClr>
                </a:solidFill>
              </a:rPr>
              <a:t> </a:t>
            </a:r>
            <a:r>
              <a:rPr lang="en-US" b="1" dirty="0" err="1">
                <a:solidFill>
                  <a:schemeClr val="accent4">
                    <a:lumMod val="75000"/>
                  </a:schemeClr>
                </a:solidFill>
              </a:rPr>
              <a:t>giác</a:t>
            </a:r>
            <a:endParaRPr lang="en-US" b="1" dirty="0">
              <a:solidFill>
                <a:schemeClr val="accent4">
                  <a:lumMod val="75000"/>
                </a:schemeClr>
              </a:solidFill>
            </a:endParaRPr>
          </a:p>
        </p:txBody>
      </p:sp>
      <p:sp>
        <p:nvSpPr>
          <p:cNvPr id="7" name="Content Placeholder 6">
            <a:extLst>
              <a:ext uri="{FF2B5EF4-FFF2-40B4-BE49-F238E27FC236}">
                <a16:creationId xmlns:a16="http://schemas.microsoft.com/office/drawing/2014/main" id="{8AB0D82A-52B7-2445-1EF9-7342D586AD42}"/>
              </a:ext>
            </a:extLst>
          </p:cNvPr>
          <p:cNvSpPr>
            <a:spLocks noGrp="1"/>
          </p:cNvSpPr>
          <p:nvPr>
            <p:ph idx="1"/>
          </p:nvPr>
        </p:nvSpPr>
        <p:spPr/>
        <p:txBody>
          <a:bodyPr>
            <a:normAutofit/>
          </a:bodyPr>
          <a:lstStyle/>
          <a:p>
            <a:pPr algn="just"/>
            <a:r>
              <a:rPr lang="vi-VN" sz="2000" b="0" i="0" dirty="0">
                <a:solidFill>
                  <a:srgbClr val="080809"/>
                </a:solidFill>
                <a:effectLst/>
                <a:latin typeface="inherit"/>
              </a:rPr>
              <a:t>Tầm quan trọng của kỷ luật tất cả chúng ta đều "nằm lòng", thậm chí còn không ngừng tìm kiếm cách để có lối sống kỷ luật. Thế nhưng thực tế, ít ai có thể tuân thủ bởi khó khăn trong việc duy trì việc làm tốt mỗi ngày.</a:t>
            </a:r>
            <a:endParaRPr lang="en-US" sz="2000" b="0" i="0" dirty="0">
              <a:solidFill>
                <a:srgbClr val="080809"/>
              </a:solidFill>
              <a:effectLst/>
              <a:latin typeface="inherit"/>
            </a:endParaRPr>
          </a:p>
          <a:p>
            <a:pPr algn="just"/>
            <a:endParaRPr lang="en-US" sz="2000" dirty="0">
              <a:solidFill>
                <a:srgbClr val="080809"/>
              </a:solidFill>
              <a:latin typeface="inherit"/>
            </a:endParaRPr>
          </a:p>
          <a:p>
            <a:pPr algn="just"/>
            <a:endParaRPr lang="en-US" sz="2000" b="0" i="0" dirty="0">
              <a:solidFill>
                <a:srgbClr val="080809"/>
              </a:solidFill>
              <a:effectLst/>
              <a:latin typeface="inherit"/>
            </a:endParaRPr>
          </a:p>
          <a:p>
            <a:pPr algn="just"/>
            <a:endParaRPr lang="en-US" sz="2000" dirty="0">
              <a:solidFill>
                <a:srgbClr val="080809"/>
              </a:solidFill>
              <a:latin typeface="inherit"/>
            </a:endParaRPr>
          </a:p>
          <a:p>
            <a:pPr algn="just"/>
            <a:endParaRPr lang="en-US" sz="2000" b="0" i="0" dirty="0">
              <a:solidFill>
                <a:srgbClr val="080809"/>
              </a:solidFill>
              <a:effectLst/>
              <a:latin typeface="inherit"/>
            </a:endParaRPr>
          </a:p>
          <a:p>
            <a:pPr algn="just"/>
            <a:endParaRPr lang="en-US" sz="2000" dirty="0">
              <a:solidFill>
                <a:srgbClr val="080809"/>
              </a:solidFill>
              <a:latin typeface="inherit"/>
            </a:endParaRPr>
          </a:p>
          <a:p>
            <a:pPr algn="just"/>
            <a:endParaRPr lang="vi-VN" sz="2000" b="0" i="0" dirty="0">
              <a:solidFill>
                <a:srgbClr val="080809"/>
              </a:solidFill>
              <a:effectLst/>
              <a:latin typeface="inherit"/>
            </a:endParaRPr>
          </a:p>
          <a:p>
            <a:pPr algn="just"/>
            <a:r>
              <a:rPr lang="vi-VN" sz="2000" b="0" i="0" dirty="0">
                <a:solidFill>
                  <a:srgbClr val="080809"/>
                </a:solidFill>
                <a:effectLst/>
                <a:latin typeface="inherit"/>
              </a:rPr>
              <a:t>Kết quả từ sự kỷ luật tự giác sẽ khó có thể thấy một sớm một chiều nhưng giống như lãi kép, bạn sẽ cảm nhận được "vị ngọt" xứng đáng theo thời gian. Hãy hiểu bản thân cần rèn luyện, chịu đựng việc tự giác kỷ luật để thành công.</a:t>
            </a:r>
          </a:p>
          <a:p>
            <a:pPr algn="just"/>
            <a:endParaRPr lang="en-US" sz="2000" dirty="0"/>
          </a:p>
        </p:txBody>
      </p:sp>
      <p:pic>
        <p:nvPicPr>
          <p:cNvPr id="4098" name="Picture 2" descr="Giá trị của kỷ luật">
            <a:extLst>
              <a:ext uri="{FF2B5EF4-FFF2-40B4-BE49-F238E27FC236}">
                <a16:creationId xmlns:a16="http://schemas.microsoft.com/office/drawing/2014/main" id="{F6922829-E63C-1BCB-0985-1B6AF023A4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8821" y="2647950"/>
            <a:ext cx="3834029" cy="2041496"/>
          </a:xfrm>
          <a:prstGeom prst="rect">
            <a:avLst/>
          </a:prstGeom>
          <a:noFill/>
          <a:effectLst>
            <a:glow rad="63500">
              <a:schemeClr val="accent4">
                <a:satMod val="175000"/>
                <a:alpha val="40000"/>
              </a:schemeClr>
            </a:glow>
          </a:effectLst>
          <a:scene3d>
            <a:camera prst="orthographicFront"/>
            <a:lightRig rig="threePt" dir="t"/>
          </a:scene3d>
          <a:sp3d>
            <a:bevelT w="152400" h="50800" prst="softRound"/>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15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anim calcmode="lin" valueType="num">
                                      <p:cBhvr additive="base">
                                        <p:cTn id="13" dur="500" fill="hold"/>
                                        <p:tgtEl>
                                          <p:spTgt spid="7">
                                            <p:txEl>
                                              <p:pRg st="7" end="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D2BD1-69E6-1C15-C5D8-E12A3E7FB772}"/>
              </a:ext>
            </a:extLst>
          </p:cNvPr>
          <p:cNvSpPr>
            <a:spLocks noGrp="1"/>
          </p:cNvSpPr>
          <p:nvPr>
            <p:ph type="title"/>
          </p:nvPr>
        </p:nvSpPr>
        <p:spPr/>
        <p:txBody>
          <a:bodyPr/>
          <a:lstStyle/>
          <a:p>
            <a:r>
              <a:rPr lang="en-US" b="1" dirty="0">
                <a:solidFill>
                  <a:schemeClr val="accent4">
                    <a:lumMod val="75000"/>
                  </a:schemeClr>
                </a:solidFill>
              </a:rPr>
              <a:t>3. </a:t>
            </a:r>
            <a:r>
              <a:rPr lang="en-US" b="1" dirty="0" err="1">
                <a:solidFill>
                  <a:schemeClr val="accent4">
                    <a:lumMod val="75000"/>
                  </a:schemeClr>
                </a:solidFill>
              </a:rPr>
              <a:t>Chịu</a:t>
            </a:r>
            <a:r>
              <a:rPr lang="en-US" b="1" dirty="0">
                <a:solidFill>
                  <a:schemeClr val="accent4">
                    <a:lumMod val="75000"/>
                  </a:schemeClr>
                </a:solidFill>
              </a:rPr>
              <a:t> </a:t>
            </a:r>
            <a:r>
              <a:rPr lang="en-US" b="1" dirty="0" err="1">
                <a:solidFill>
                  <a:schemeClr val="accent4">
                    <a:lumMod val="75000"/>
                  </a:schemeClr>
                </a:solidFill>
              </a:rPr>
              <a:t>học</a:t>
            </a:r>
            <a:r>
              <a:rPr lang="en-US" b="1" dirty="0">
                <a:solidFill>
                  <a:schemeClr val="accent4">
                    <a:lumMod val="75000"/>
                  </a:schemeClr>
                </a:solidFill>
              </a:rPr>
              <a:t> </a:t>
            </a:r>
            <a:r>
              <a:rPr lang="en-US" b="1" dirty="0" err="1">
                <a:solidFill>
                  <a:schemeClr val="accent4">
                    <a:lumMod val="75000"/>
                  </a:schemeClr>
                </a:solidFill>
              </a:rPr>
              <a:t>hỏi</a:t>
            </a:r>
            <a:endParaRPr lang="en-US" b="1" dirty="0">
              <a:solidFill>
                <a:schemeClr val="accent4">
                  <a:lumMod val="75000"/>
                </a:schemeClr>
              </a:solidFill>
            </a:endParaRPr>
          </a:p>
        </p:txBody>
      </p:sp>
      <p:sp>
        <p:nvSpPr>
          <p:cNvPr id="3" name="Content Placeholder 2">
            <a:extLst>
              <a:ext uri="{FF2B5EF4-FFF2-40B4-BE49-F238E27FC236}">
                <a16:creationId xmlns:a16="http://schemas.microsoft.com/office/drawing/2014/main" id="{E7975CD6-AC91-25BE-049F-424DEB46D834}"/>
              </a:ext>
            </a:extLst>
          </p:cNvPr>
          <p:cNvSpPr>
            <a:spLocks noGrp="1"/>
          </p:cNvSpPr>
          <p:nvPr>
            <p:ph idx="1"/>
          </p:nvPr>
        </p:nvSpPr>
        <p:spPr>
          <a:xfrm>
            <a:off x="5268286" y="1825625"/>
            <a:ext cx="6085514" cy="4351338"/>
          </a:xfrm>
        </p:spPr>
        <p:txBody>
          <a:bodyPr>
            <a:noAutofit/>
          </a:bodyPr>
          <a:lstStyle/>
          <a:p>
            <a:pPr algn="just"/>
            <a:r>
              <a:rPr lang="vi-VN" sz="1800" dirty="0"/>
              <a:t>Nếu không học tập nghiêm túc, bạn sẽ mất đi nhiều quyền lựa chọn trong cuộc sống. Một cuộc khảo sát về những điều con người hối tiếc nhất. Xếp hạng đầu tiên là lựa chọn "Khi còn trẻ ham chơi, không chăm học nên hiện cuộc sống vô cùng nhàm tẻ".</a:t>
            </a:r>
          </a:p>
          <a:p>
            <a:pPr algn="just"/>
            <a:r>
              <a:rPr lang="vi-VN" sz="1800" dirty="0"/>
              <a:t>Nhiều người khi còn ở độ tuổi đi học thường lựa chọn sự thoải mái nhất thời, cùng bạn bè vui chơi để không bị bỏ lại một mình. Người có khả năng tự học, sẵn sàng từ bỏ một vài cuộc vui để tập trung học tập, không ngừng nỗ lực mới luôn là người tiến xa nhất.</a:t>
            </a:r>
          </a:p>
          <a:p>
            <a:pPr algn="just"/>
            <a:endParaRPr lang="en-US" sz="1800" dirty="0"/>
          </a:p>
        </p:txBody>
      </p:sp>
      <p:pic>
        <p:nvPicPr>
          <p:cNvPr id="5122" name="Picture 2" descr="25 câu nói hay của bậc vĩ nhân truyền động lực cho người trẻ - HANA WRITER">
            <a:extLst>
              <a:ext uri="{FF2B5EF4-FFF2-40B4-BE49-F238E27FC236}">
                <a16:creationId xmlns:a16="http://schemas.microsoft.com/office/drawing/2014/main" id="{DA0C0591-EB77-D259-5185-6DD2F471B6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722" y="1971413"/>
            <a:ext cx="4646208" cy="3318720"/>
          </a:xfrm>
          <a:prstGeom prst="rect">
            <a:avLst/>
          </a:prstGeom>
          <a:noFill/>
          <a:effectLst>
            <a:glow rad="228600">
              <a:schemeClr val="accent4">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585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5D6F1F-FCF4-B77A-21B4-0C9A02FD2B7F}"/>
              </a:ext>
            </a:extLst>
          </p:cNvPr>
          <p:cNvSpPr>
            <a:spLocks noGrp="1"/>
          </p:cNvSpPr>
          <p:nvPr>
            <p:ph idx="1"/>
          </p:nvPr>
        </p:nvSpPr>
        <p:spPr/>
        <p:txBody>
          <a:bodyPr/>
          <a:lstStyle/>
          <a:p>
            <a:endParaRPr lang="en-US"/>
          </a:p>
        </p:txBody>
      </p:sp>
      <p:pic>
        <p:nvPicPr>
          <p:cNvPr id="6146" name="Picture 2" descr="13 lối suy nghĩ tiêu cực mà mọi người nhất định phải loại bỏ">
            <a:extLst>
              <a:ext uri="{FF2B5EF4-FFF2-40B4-BE49-F238E27FC236}">
                <a16:creationId xmlns:a16="http://schemas.microsoft.com/office/drawing/2014/main" id="{F6613530-AAB7-9C90-AB31-99BD0921E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6850618"/>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F560322E-E0A2-8416-07E2-9FFED8C3BF84}"/>
              </a:ext>
            </a:extLst>
          </p:cNvPr>
          <p:cNvSpPr>
            <a:spLocks noGrp="1"/>
          </p:cNvSpPr>
          <p:nvPr>
            <p:ph type="title"/>
          </p:nvPr>
        </p:nvSpPr>
        <p:spPr/>
        <p:txBody>
          <a:bodyPr/>
          <a:lstStyle/>
          <a:p>
            <a:endParaRPr lang="en-US"/>
          </a:p>
        </p:txBody>
      </p:sp>
      <p:sp>
        <p:nvSpPr>
          <p:cNvPr id="6" name="Title 1">
            <a:extLst>
              <a:ext uri="{FF2B5EF4-FFF2-40B4-BE49-F238E27FC236}">
                <a16:creationId xmlns:a16="http://schemas.microsoft.com/office/drawing/2014/main" id="{DDA52139-8DB5-F396-4CCD-6D461C09DF0A}"/>
              </a:ext>
            </a:extLst>
          </p:cNvPr>
          <p:cNvSpPr txBox="1">
            <a:spLocks/>
          </p:cNvSpPr>
          <p:nvPr/>
        </p:nvSpPr>
        <p:spPr>
          <a:xfrm>
            <a:off x="-1" y="576249"/>
            <a:ext cx="12281484" cy="774380"/>
          </a:xfrm>
          <a:prstGeom prst="rect">
            <a:avLst/>
          </a:prstGeom>
          <a:solidFill>
            <a:schemeClr val="bg1">
              <a:lumMod val="9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vi-VN" sz="3200" b="1" dirty="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rPr>
              <a:t>4 THÓI QUEN TIÊU CỰC CỦA NGƯỜI KÉM HIỆU QUẢ</a:t>
            </a:r>
            <a:endParaRPr lang="en-US" sz="3200" b="1" dirty="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49299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42D6B-B912-22CB-BC27-AF8653B0EE85}"/>
              </a:ext>
            </a:extLst>
          </p:cNvPr>
          <p:cNvSpPr>
            <a:spLocks noGrp="1"/>
          </p:cNvSpPr>
          <p:nvPr>
            <p:ph type="title"/>
          </p:nvPr>
        </p:nvSpPr>
        <p:spPr/>
        <p:txBody>
          <a:bodyPr/>
          <a:lstStyle/>
          <a:p>
            <a:r>
              <a:rPr lang="en-US" b="1" i="0" dirty="0">
                <a:solidFill>
                  <a:schemeClr val="accent6">
                    <a:lumMod val="50000"/>
                  </a:schemeClr>
                </a:solidFill>
                <a:effectLst/>
                <a:latin typeface="Segoe UI Historic" panose="020B0502040204020203" pitchFamily="34" charset="0"/>
              </a:rPr>
              <a:t>1. SUY NGHĨ QUÁ NHIỀU</a:t>
            </a:r>
            <a:endParaRPr lang="en-US" b="1" dirty="0">
              <a:solidFill>
                <a:schemeClr val="accent6">
                  <a:lumMod val="50000"/>
                </a:schemeClr>
              </a:solidFill>
            </a:endParaRPr>
          </a:p>
        </p:txBody>
      </p:sp>
      <p:sp>
        <p:nvSpPr>
          <p:cNvPr id="3" name="Content Placeholder 2">
            <a:extLst>
              <a:ext uri="{FF2B5EF4-FFF2-40B4-BE49-F238E27FC236}">
                <a16:creationId xmlns:a16="http://schemas.microsoft.com/office/drawing/2014/main" id="{92F38CB3-EEF5-0764-50D8-381EF36DF6DF}"/>
              </a:ext>
            </a:extLst>
          </p:cNvPr>
          <p:cNvSpPr>
            <a:spLocks noGrp="1"/>
          </p:cNvSpPr>
          <p:nvPr>
            <p:ph idx="1"/>
          </p:nvPr>
        </p:nvSpPr>
        <p:spPr>
          <a:xfrm>
            <a:off x="5318620" y="1825625"/>
            <a:ext cx="6035179" cy="4351338"/>
          </a:xfrm>
        </p:spPr>
        <p:txBody>
          <a:bodyPr>
            <a:normAutofit/>
          </a:bodyPr>
          <a:lstStyle/>
          <a:p>
            <a:pPr algn="just"/>
            <a:r>
              <a:rPr lang="vi-VN" sz="1600" b="0" i="0" dirty="0">
                <a:solidFill>
                  <a:srgbClr val="080809"/>
                </a:solidFill>
                <a:effectLst/>
                <a:latin typeface="inherit"/>
              </a:rPr>
              <a:t>Việc suy nghĩ chu đáo, có kế hoạch rõ ràng và cụ thể cho một việc gì đó là điều cần thiết. Tuy nhiên, ở những người kém hiệu quả, biểu hiện trước tiên nhất khiến cho mọi công việc của họ luôn bị chậm trễ và không như ý muốn chính là do họ suy nghĩ quá nhiều. Suy nghĩ quá nhiều về một vấn đề nào đó rất có thể sẽ khiến bạn trở nên căng thẳng và lo lắng. Từ đó, đặt bản thân luôn trong trạng thái thụ động, chẳng bắt tay vào hành động.</a:t>
            </a:r>
          </a:p>
          <a:p>
            <a:pPr algn="just"/>
            <a:r>
              <a:rPr lang="vi-VN" sz="1600" b="0" i="0" dirty="0">
                <a:solidFill>
                  <a:srgbClr val="080809"/>
                </a:solidFill>
                <a:effectLst/>
                <a:latin typeface="inherit"/>
              </a:rPr>
              <a:t>Việc đầu tiên để dừng việc này lại là hãy chấp nhận rằng, mình thuộc tuýp người suy nghĩ quá nhiều và nhận thức được điều đó đang ảnh hưởng nghiêm trọng đến hiệu suất công việc và cả tâm lý của bạn. Nhanh chóng ra quyết định tức thì và hành động ngay sau đó. Chỉ có hành động, chỉ những có những bước đi đầu tiên mới khiến những điều bạn nghĩ trở thành sự thật. Hãy hành động và hành động.</a:t>
            </a:r>
          </a:p>
          <a:p>
            <a:pPr algn="just"/>
            <a:endParaRPr lang="en-US" sz="1600" dirty="0"/>
          </a:p>
        </p:txBody>
      </p:sp>
      <p:pic>
        <p:nvPicPr>
          <p:cNvPr id="7170" name="Picture 2" descr="Vì sao càng suy nghĩ nhiều, càng không thể hạnh phúc, thậm chí trầm cảm cứ  &quot;không mời mà đến&quot;?">
            <a:extLst>
              <a:ext uri="{FF2B5EF4-FFF2-40B4-BE49-F238E27FC236}">
                <a16:creationId xmlns:a16="http://schemas.microsoft.com/office/drawing/2014/main" id="{03288384-5C32-1847-7A90-1F7198A44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136"/>
          <a:stretch/>
        </p:blipFill>
        <p:spPr bwMode="auto">
          <a:xfrm>
            <a:off x="363523" y="1690688"/>
            <a:ext cx="4770539" cy="2457975"/>
          </a:xfrm>
          <a:prstGeom prst="rect">
            <a:avLst/>
          </a:prstGeom>
          <a:noFill/>
          <a:effectLst>
            <a:glow rad="228600">
              <a:schemeClr val="accent6">
                <a:satMod val="175000"/>
                <a:alpha val="40000"/>
              </a:schemeClr>
            </a:glow>
            <a:reflection blurRad="6350" stA="50000" endA="300" endPos="5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02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D6EF2-07F0-4A8F-33F6-5DED7719139B}"/>
              </a:ext>
            </a:extLst>
          </p:cNvPr>
          <p:cNvSpPr>
            <a:spLocks noGrp="1"/>
          </p:cNvSpPr>
          <p:nvPr>
            <p:ph type="title"/>
          </p:nvPr>
        </p:nvSpPr>
        <p:spPr/>
        <p:txBody>
          <a:bodyPr/>
          <a:lstStyle/>
          <a:p>
            <a:r>
              <a:rPr lang="en-US" b="0" i="0" dirty="0">
                <a:solidFill>
                  <a:schemeClr val="accent6">
                    <a:lumMod val="50000"/>
                  </a:schemeClr>
                </a:solidFill>
                <a:effectLst/>
                <a:latin typeface="Segoe UI Historic" panose="020B0502040204020203" pitchFamily="34" charset="0"/>
              </a:rPr>
              <a:t>2. CHỦ NGHĨA HOÀN HẢO</a:t>
            </a:r>
            <a:endParaRPr lang="en-US" dirty="0">
              <a:solidFill>
                <a:schemeClr val="accent6">
                  <a:lumMod val="50000"/>
                </a:schemeClr>
              </a:solidFill>
            </a:endParaRPr>
          </a:p>
        </p:txBody>
      </p:sp>
      <p:sp>
        <p:nvSpPr>
          <p:cNvPr id="3" name="Content Placeholder 2">
            <a:extLst>
              <a:ext uri="{FF2B5EF4-FFF2-40B4-BE49-F238E27FC236}">
                <a16:creationId xmlns:a16="http://schemas.microsoft.com/office/drawing/2014/main" id="{74FFC3D0-4E05-CB28-8A4C-59D5C4FC196C}"/>
              </a:ext>
            </a:extLst>
          </p:cNvPr>
          <p:cNvSpPr>
            <a:spLocks noGrp="1"/>
          </p:cNvSpPr>
          <p:nvPr>
            <p:ph idx="1"/>
          </p:nvPr>
        </p:nvSpPr>
        <p:spPr>
          <a:xfrm>
            <a:off x="952150" y="1847617"/>
            <a:ext cx="10515600" cy="4351338"/>
          </a:xfrm>
        </p:spPr>
        <p:txBody>
          <a:bodyPr>
            <a:normAutofit/>
          </a:bodyPr>
          <a:lstStyle/>
          <a:p>
            <a:pPr algn="just"/>
            <a:r>
              <a:rPr lang="vi-VN" sz="1400" b="0" i="0" dirty="0">
                <a:solidFill>
                  <a:srgbClr val="080809"/>
                </a:solidFill>
                <a:effectLst/>
                <a:latin typeface="inherit"/>
              </a:rPr>
              <a:t>Chủ nghĩa hoàn hảo không xấu nhưng đừng để “sự cầu toàn” của bản thân âm thầm phá hủy cuộc đời của mình. Con người sinh ra vốn dĩ là không hoàn hảo. Dù bạn có giỏi đến mấy, xuất sắc đến mấy thì vẫn sẽ có lúc mắc sai lầm, hoặc khi bối cảnh thay đổi mọi sự hoàn hảo mà bạn xây dựng đều trở nên lạc hậu. Sai lầm chính là bệ phóng tốt nhất cho sự tiến bộ. Việc mất quá nhiều thời gian để làm một việc gì đó đôi khi chỉ khiến việc đó trở nên tồi tệ và kém hiệu quả hơn.</a:t>
            </a:r>
            <a:endParaRPr lang="en-US" sz="1400" b="0" i="0" dirty="0">
              <a:solidFill>
                <a:srgbClr val="080809"/>
              </a:solidFill>
              <a:effectLst/>
              <a:latin typeface="inherit"/>
            </a:endParaRPr>
          </a:p>
          <a:p>
            <a:pPr algn="just"/>
            <a:endParaRPr lang="en-US" sz="1400" dirty="0">
              <a:solidFill>
                <a:srgbClr val="080809"/>
              </a:solidFill>
              <a:latin typeface="inherit"/>
            </a:endParaRPr>
          </a:p>
          <a:p>
            <a:pPr algn="just"/>
            <a:endParaRPr lang="en-US" sz="1400" b="0" i="0" dirty="0">
              <a:solidFill>
                <a:srgbClr val="080809"/>
              </a:solidFill>
              <a:effectLst/>
              <a:latin typeface="inherit"/>
            </a:endParaRPr>
          </a:p>
          <a:p>
            <a:pPr algn="just"/>
            <a:endParaRPr lang="en-US" sz="1400" dirty="0">
              <a:solidFill>
                <a:srgbClr val="080809"/>
              </a:solidFill>
              <a:latin typeface="inherit"/>
            </a:endParaRPr>
          </a:p>
          <a:p>
            <a:pPr algn="just"/>
            <a:endParaRPr lang="en-US" sz="1400" b="0" i="0" dirty="0">
              <a:solidFill>
                <a:srgbClr val="080809"/>
              </a:solidFill>
              <a:effectLst/>
              <a:latin typeface="inherit"/>
            </a:endParaRPr>
          </a:p>
          <a:p>
            <a:pPr algn="just"/>
            <a:endParaRPr lang="en-US" sz="1400" dirty="0">
              <a:solidFill>
                <a:srgbClr val="080809"/>
              </a:solidFill>
              <a:latin typeface="inherit"/>
            </a:endParaRPr>
          </a:p>
          <a:p>
            <a:pPr algn="just"/>
            <a:endParaRPr lang="en-US" sz="1400" b="0" i="0" dirty="0">
              <a:solidFill>
                <a:srgbClr val="080809"/>
              </a:solidFill>
              <a:effectLst/>
              <a:latin typeface="inherit"/>
            </a:endParaRPr>
          </a:p>
          <a:p>
            <a:pPr algn="just"/>
            <a:endParaRPr lang="en-US" sz="1400" b="0" i="0" dirty="0">
              <a:solidFill>
                <a:srgbClr val="080809"/>
              </a:solidFill>
              <a:effectLst/>
              <a:latin typeface="inherit"/>
            </a:endParaRPr>
          </a:p>
          <a:p>
            <a:pPr algn="just"/>
            <a:endParaRPr lang="vi-VN" sz="1400" b="0" i="0" dirty="0">
              <a:solidFill>
                <a:srgbClr val="080809"/>
              </a:solidFill>
              <a:effectLst/>
              <a:latin typeface="inherit"/>
            </a:endParaRPr>
          </a:p>
          <a:p>
            <a:pPr algn="just"/>
            <a:r>
              <a:rPr lang="vi-VN" sz="1400" b="0" i="0" dirty="0">
                <a:solidFill>
                  <a:srgbClr val="080809"/>
                </a:solidFill>
                <a:effectLst/>
                <a:latin typeface="inherit"/>
              </a:rPr>
              <a:t>Bạn cần phải ý thức được vấn đề này ngay khi bạn nhận ra mình đang làm một điều gì đó quá mức cần thiết và nó đang ảnh hưởng đến kết quả công việc và các giá trị của bạn. “Hãy hoàn thành trước khi hoàn hảo”. Khi công việc của bạn đạt ở mức “đã hoàn thành”, tâm trí của bạn sẽ trở nên thỏa mái và giảm được rất nhiều căng thẳng. Từ đó, các ý tưởng tuyệt vời để bổ trợ cho công việc bắt đầu xuất hiện. Lúc này, hãy bổ sung để “hoàn thiện nhất có thể” công việc của bạn. Bạn sẽ gặt được rất nhiều!</a:t>
            </a:r>
          </a:p>
          <a:p>
            <a:pPr algn="just"/>
            <a:endParaRPr lang="en-US" sz="1400" dirty="0"/>
          </a:p>
        </p:txBody>
      </p:sp>
      <p:pic>
        <p:nvPicPr>
          <p:cNvPr id="9218" name="Picture 2" descr="Vì sao những người theo chủ nghĩa hoàn hảo thường khó thành công lớn?">
            <a:extLst>
              <a:ext uri="{FF2B5EF4-FFF2-40B4-BE49-F238E27FC236}">
                <a16:creationId xmlns:a16="http://schemas.microsoft.com/office/drawing/2014/main" id="{2A424DDA-F66A-E5F9-9C48-B32EDF8DD1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6659" y="2759977"/>
            <a:ext cx="4338681" cy="2263033"/>
          </a:xfrm>
          <a:prstGeom prst="rect">
            <a:avLst/>
          </a:prstGeom>
          <a:noFill/>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78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9" end="9"/>
                                            </p:txEl>
                                          </p:spTgt>
                                        </p:tgtEl>
                                        <p:attrNameLst>
                                          <p:attrName>style.visibility</p:attrName>
                                        </p:attrNameLst>
                                      </p:cBhvr>
                                      <p:to>
                                        <p:strVal val="visible"/>
                                      </p:to>
                                    </p:set>
                                    <p:animEffect transition="in" filter="circle(in)">
                                      <p:cBhvr>
                                        <p:cTn id="12"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D38D0-C9BD-4A0A-F41F-7124B57CE285}"/>
              </a:ext>
            </a:extLst>
          </p:cNvPr>
          <p:cNvSpPr>
            <a:spLocks noGrp="1"/>
          </p:cNvSpPr>
          <p:nvPr>
            <p:ph type="title"/>
          </p:nvPr>
        </p:nvSpPr>
        <p:spPr/>
        <p:txBody>
          <a:bodyPr/>
          <a:lstStyle/>
          <a:p>
            <a:r>
              <a:rPr lang="vi-VN" b="1" dirty="0">
                <a:solidFill>
                  <a:schemeClr val="accent6">
                    <a:lumMod val="50000"/>
                  </a:schemeClr>
                </a:solidFill>
              </a:rPr>
              <a:t>3. CHÚA TỂ CỦA NHỮNG Ý TƯỞNG</a:t>
            </a:r>
            <a:endParaRPr lang="en-US" b="1" dirty="0">
              <a:solidFill>
                <a:schemeClr val="accent6">
                  <a:lumMod val="50000"/>
                </a:schemeClr>
              </a:solidFill>
            </a:endParaRPr>
          </a:p>
        </p:txBody>
      </p:sp>
      <p:sp>
        <p:nvSpPr>
          <p:cNvPr id="3" name="Content Placeholder 2">
            <a:extLst>
              <a:ext uri="{FF2B5EF4-FFF2-40B4-BE49-F238E27FC236}">
                <a16:creationId xmlns:a16="http://schemas.microsoft.com/office/drawing/2014/main" id="{1E0832C0-97EE-64A8-098A-288B246A0D58}"/>
              </a:ext>
            </a:extLst>
          </p:cNvPr>
          <p:cNvSpPr>
            <a:spLocks noGrp="1"/>
          </p:cNvSpPr>
          <p:nvPr>
            <p:ph idx="1"/>
          </p:nvPr>
        </p:nvSpPr>
        <p:spPr>
          <a:xfrm>
            <a:off x="838200" y="1825625"/>
            <a:ext cx="6737059" cy="4351338"/>
          </a:xfrm>
        </p:spPr>
        <p:txBody>
          <a:bodyPr>
            <a:normAutofit/>
          </a:bodyPr>
          <a:lstStyle/>
          <a:p>
            <a:pPr algn="just"/>
            <a:r>
              <a:rPr lang="vi-VN" sz="1600" dirty="0"/>
              <a:t>“Hội chứng quá nhiều ý tưởng” có thể vắt kiệt cả thể xác lẫn tinh thần của bạn. Nhiều ý tưởng đến mức không biết phải làm gì còn tệ hơn việc cạn kiệt ý tưởng. Bạn có bao giờ nhận thấy rằng, khi định làm một điều gì đó bạn luôn nghĩ tới một ý tưởng khác tốt hơn hoặc luôn phải cân đo giữa nhiều ý tưởng khác nhau. Lúc này, thay vì cứ mãi phân vân giữa quá nhiều lựa chọn hãy đánh giá các ý tưởng để tìm ra ý tưởng tốt nhất.</a:t>
            </a:r>
            <a:endParaRPr lang="en-US" sz="1600" dirty="0"/>
          </a:p>
          <a:p>
            <a:pPr marL="0" indent="0" algn="just">
              <a:buNone/>
            </a:pPr>
            <a:endParaRPr lang="vi-VN" sz="1600" dirty="0"/>
          </a:p>
          <a:p>
            <a:pPr algn="just"/>
            <a:r>
              <a:rPr lang="vi-VN" sz="1600" dirty="0"/>
              <a:t>Trước tiên hãy thực tế, hãy gắn các ý tưởng với hiện thực để tìm ra ý tưởng có tính khả nhất. Bên cạnh đó, hãy tham khảo ý kiến người khác, nhất là những người có chuyên môn cao, am hiểu về vấn đề của bạn. Điều cuối cùng và quan trọng nhất là hãy ưu tiên cho ý tưởng vừa có sự ổn định, vừa có khả năng phát triển trong tương lai.</a:t>
            </a:r>
          </a:p>
          <a:p>
            <a:pPr algn="just"/>
            <a:endParaRPr lang="en-US" sz="1600" dirty="0"/>
          </a:p>
        </p:txBody>
      </p:sp>
      <p:pic>
        <p:nvPicPr>
          <p:cNvPr id="8196" name="Picture 4" descr="Bí quyết để vượt qua ám ảnh về sự hoàn hảo | AIA Vietnam">
            <a:extLst>
              <a:ext uri="{FF2B5EF4-FFF2-40B4-BE49-F238E27FC236}">
                <a16:creationId xmlns:a16="http://schemas.microsoft.com/office/drawing/2014/main" id="{9A53E9E3-1DC6-5B2D-EEC6-65690A5CF6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3934"/>
          <a:stretch/>
        </p:blipFill>
        <p:spPr bwMode="auto">
          <a:xfrm>
            <a:off x="7871671" y="2139191"/>
            <a:ext cx="4027315" cy="245846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91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ou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out)">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F7DD-BBB9-B243-A413-C879C0A0659A}"/>
              </a:ext>
            </a:extLst>
          </p:cNvPr>
          <p:cNvSpPr>
            <a:spLocks noGrp="1"/>
          </p:cNvSpPr>
          <p:nvPr>
            <p:ph type="title"/>
          </p:nvPr>
        </p:nvSpPr>
        <p:spPr/>
        <p:txBody>
          <a:bodyPr/>
          <a:lstStyle/>
          <a:p>
            <a:r>
              <a:rPr lang="en-US" b="1" i="0" dirty="0">
                <a:solidFill>
                  <a:schemeClr val="accent6">
                    <a:lumMod val="50000"/>
                  </a:schemeClr>
                </a:solidFill>
                <a:effectLst/>
                <a:latin typeface="Segoe UI Historic" panose="020B0502040204020203" pitchFamily="34" charset="0"/>
              </a:rPr>
              <a:t>4. TRỌC PHÚ KIẾN THỨC</a:t>
            </a:r>
            <a:endParaRPr lang="en-US" b="1" dirty="0">
              <a:solidFill>
                <a:schemeClr val="accent6">
                  <a:lumMod val="50000"/>
                </a:schemeClr>
              </a:solidFill>
            </a:endParaRPr>
          </a:p>
        </p:txBody>
      </p:sp>
      <p:sp>
        <p:nvSpPr>
          <p:cNvPr id="3" name="Content Placeholder 2">
            <a:extLst>
              <a:ext uri="{FF2B5EF4-FFF2-40B4-BE49-F238E27FC236}">
                <a16:creationId xmlns:a16="http://schemas.microsoft.com/office/drawing/2014/main" id="{1205D0EA-3A4E-21A8-0231-AD77FA394F9E}"/>
              </a:ext>
            </a:extLst>
          </p:cNvPr>
          <p:cNvSpPr>
            <a:spLocks noGrp="1"/>
          </p:cNvSpPr>
          <p:nvPr>
            <p:ph idx="1"/>
          </p:nvPr>
        </p:nvSpPr>
        <p:spPr>
          <a:xfrm>
            <a:off x="4681057" y="1768904"/>
            <a:ext cx="6563685" cy="4351338"/>
          </a:xfrm>
        </p:spPr>
        <p:txBody>
          <a:bodyPr>
            <a:normAutofit/>
          </a:bodyPr>
          <a:lstStyle/>
          <a:p>
            <a:pPr algn="just"/>
            <a:r>
              <a:rPr lang="vi-VN" sz="1200" b="0" i="0" dirty="0">
                <a:solidFill>
                  <a:srgbClr val="080809"/>
                </a:solidFill>
                <a:effectLst/>
                <a:latin typeface="inherit"/>
              </a:rPr>
              <a:t>“Học, học nữa, học mãi” nhưng phải ứng dụng những gì đã học vào thực tế tức thì. Đừng là “con lừa cõng sách”, đừng học thật nhiều nhưng ứng dụng chẳng bao nhiêu. Bạn tham gia hết khóa học này đến khóa học khác, bạn ghi chép, lưu giữ mọi tài liệu học tập, nhưng số kiến thức mà bạn có thể vận dụng vào hành động chỉ trên đầu ngón tay. Và một sự thật tệ hại là bạn luôn lầm nghĩ rằng, tất cả những kiến thức bạn thu thập được điều là của bạn.</a:t>
            </a:r>
          </a:p>
          <a:p>
            <a:pPr algn="just"/>
            <a:r>
              <a:rPr lang="vi-VN" sz="1200" b="0" i="0" dirty="0">
                <a:solidFill>
                  <a:srgbClr val="080809"/>
                </a:solidFill>
                <a:effectLst/>
                <a:latin typeface="inherit"/>
              </a:rPr>
              <a:t>Việc đọc, ghi chép và nói lại những tri thức mà bạn gom góp có được là không hề sai. Nhưng nó cũng chẳng bao giờ là đúng tuyệt đối. Bởi lẽ, tri thức thực sự chỉ có được qua sự hình thành từ quá trình chiêm nghiệm và trải nghiệm. Nếu bạn không thực sự quan sát, chiêm nghiệm và bắt tay vào hành động dựa trên các kiến thức đã có, thì tất cả mọi thứ ấy chỉ đang diễn ra trong “thế giới của bạn”. Hãy nói cách khác, bạn là kẻ “trọc phú kiến thức”. Đừng để mọi thứ bạn nói suy cho cùng chỉ là đi nói lại của người khác.</a:t>
            </a:r>
          </a:p>
          <a:p>
            <a:pPr algn="just"/>
            <a:r>
              <a:rPr lang="vi-VN" sz="1200" b="0" i="0" dirty="0">
                <a:solidFill>
                  <a:srgbClr val="080809"/>
                </a:solidFill>
                <a:effectLst/>
                <a:latin typeface="inherit"/>
              </a:rPr>
              <a:t>Suy cho cùng, khi vẫn còn đang “lan man” trong thế giới của mình thì hãy ngay lập tức bắt tay vào hành động. Liên tục làm mới bản thân, phủ nhận chính mình mỗi ngày. Hãy tìm cho mình người Thầy, người huấn luyện “xứng đáng” để học tập, để để noi theo, người có đủ khả năng giúp bạn thoát ra khỏi “vòng xoáy” cuộc đời, trở nên hiệu quả và chinh phục những đỉnh cao.</a:t>
            </a:r>
          </a:p>
          <a:p>
            <a:pPr algn="just"/>
            <a:endParaRPr lang="en-US" sz="1200" dirty="0"/>
          </a:p>
        </p:txBody>
      </p:sp>
      <p:pic>
        <p:nvPicPr>
          <p:cNvPr id="4" name="Picture 2" descr="Waka.vn - ✓5 BƯỚC THOÁT KHỎI SUY NGHĨ CẨU THẢ VÀ LƯỜI BIẾNG TRÍ TUỆ ĐỂ  THÀNH CÔNG!👍 “Người đọc quá nhiều mà dùng tới bộ óc quá ít thì sẽ rơi">
            <a:extLst>
              <a:ext uri="{FF2B5EF4-FFF2-40B4-BE49-F238E27FC236}">
                <a16:creationId xmlns:a16="http://schemas.microsoft.com/office/drawing/2014/main" id="{B9594466-992E-5F10-3E36-DF2AA8E7B4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149"/>
          <a:stretch/>
        </p:blipFill>
        <p:spPr bwMode="auto">
          <a:xfrm>
            <a:off x="645253" y="1800129"/>
            <a:ext cx="3666556" cy="3257741"/>
          </a:xfrm>
          <a:prstGeom prst="rect">
            <a:avLst/>
          </a:prstGeom>
          <a:noFill/>
          <a:effectLst>
            <a:glow rad="228600">
              <a:schemeClr val="accent1">
                <a:satMod val="175000"/>
                <a:alpha val="40000"/>
              </a:schemeClr>
            </a:glow>
            <a:outerShdw blurRad="152400" dist="317500" dir="5400000" sx="90000" sy="-19000" rotWithShape="0">
              <a:prstClr val="black">
                <a:alpha val="15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718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B808-11D4-5038-E17A-8BE7A3E4178D}"/>
              </a:ext>
            </a:extLst>
          </p:cNvPr>
          <p:cNvSpPr>
            <a:spLocks noGrp="1"/>
          </p:cNvSpPr>
          <p:nvPr>
            <p:ph type="title"/>
          </p:nvPr>
        </p:nvSpPr>
        <p:spPr/>
        <p:txBody>
          <a:bodyPr/>
          <a:lstStyle/>
          <a:p>
            <a:r>
              <a:rPr lang="en-US" b="1" dirty="0">
                <a:solidFill>
                  <a:schemeClr val="accent6">
                    <a:lumMod val="50000"/>
                  </a:schemeClr>
                </a:solidFill>
              </a:rPr>
              <a:t>THANKS!</a:t>
            </a:r>
          </a:p>
        </p:txBody>
      </p:sp>
      <p:sp>
        <p:nvSpPr>
          <p:cNvPr id="3" name="Content Placeholder 2">
            <a:extLst>
              <a:ext uri="{FF2B5EF4-FFF2-40B4-BE49-F238E27FC236}">
                <a16:creationId xmlns:a16="http://schemas.microsoft.com/office/drawing/2014/main" id="{5D169530-D32A-89CD-BD8A-B34F49C8D4EA}"/>
              </a:ext>
            </a:extLst>
          </p:cNvPr>
          <p:cNvSpPr>
            <a:spLocks noGrp="1"/>
          </p:cNvSpPr>
          <p:nvPr>
            <p:ph idx="1"/>
          </p:nvPr>
        </p:nvSpPr>
        <p:spPr/>
        <p:txBody>
          <a:bodyPr/>
          <a:lstStyle/>
          <a:p>
            <a:endParaRPr lang="en-US"/>
          </a:p>
        </p:txBody>
      </p:sp>
      <p:pic>
        <p:nvPicPr>
          <p:cNvPr id="11266" name="Picture 2" descr="Lý tưởng là gì? Người sống có lý tưởng là người như thế nào?">
            <a:extLst>
              <a:ext uri="{FF2B5EF4-FFF2-40B4-BE49-F238E27FC236}">
                <a16:creationId xmlns:a16="http://schemas.microsoft.com/office/drawing/2014/main" id="{3801C240-A240-8C97-4D33-46A8F012F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1371" y="1027906"/>
            <a:ext cx="6429375" cy="4819650"/>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524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1595</Words>
  <Application>Microsoft Office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Calibri Light</vt:lpstr>
      <vt:lpstr>inherit</vt:lpstr>
      <vt:lpstr>Segoe UI Historic</vt:lpstr>
      <vt:lpstr>Tahoma</vt:lpstr>
      <vt:lpstr>Times New Roman</vt:lpstr>
      <vt:lpstr>Wingdings</vt:lpstr>
      <vt:lpstr>Office Theme</vt:lpstr>
      <vt:lpstr>CHỊU 3 NỖI KHỔ ĐỔI CUỘC ĐỜI</vt:lpstr>
      <vt:lpstr>PowerPoint Presentation</vt:lpstr>
      <vt:lpstr>1. Tư duy sâu khổ não</vt:lpstr>
      <vt:lpstr>2. "Chịu đựng" kỷ luật tự giác</vt:lpstr>
      <vt:lpstr>3. Chịu học hỏi</vt:lpstr>
      <vt:lpstr>PowerPoint Presentation</vt:lpstr>
      <vt:lpstr>1. SUY NGHĨ QUÁ NHIỀU</vt:lpstr>
      <vt:lpstr>2. CHỦ NGHĨA HOÀN HẢO</vt:lpstr>
      <vt:lpstr>3. CHÚA TỂ CỦA NHỮNG Ý TƯỞNG</vt:lpstr>
      <vt:lpstr>4. TRỌC PHÚ KIẾN THỨC</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CHỊU 3 NỖI KHỔ ĐỔI CUỘC ĐỜI</dc:title>
  <dc:creator>Administrator</dc:creator>
  <cp:lastModifiedBy>Administrator</cp:lastModifiedBy>
  <cp:revision>2</cp:revision>
  <dcterms:created xsi:type="dcterms:W3CDTF">2024-12-17T15:31:10Z</dcterms:created>
  <dcterms:modified xsi:type="dcterms:W3CDTF">2024-12-17T15:32:44Z</dcterms:modified>
</cp:coreProperties>
</file>