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3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C82D2-E088-1859-FC95-2DDCF2DF10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A1DC62-94D9-3978-695F-0523A74D6D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1B098C-850B-15BF-6295-2A22ABF50E23}"/>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5" name="Footer Placeholder 4">
            <a:extLst>
              <a:ext uri="{FF2B5EF4-FFF2-40B4-BE49-F238E27FC236}">
                <a16:creationId xmlns:a16="http://schemas.microsoft.com/office/drawing/2014/main" id="{BF777319-8D01-D17E-5089-6A7E75BE55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9DDEA-D4A9-63C6-D2CF-A69449A7AC5A}"/>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2055180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33F7B-52C4-07D6-B19E-48ED85815D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414923-2991-795B-6AD8-78ED08B1F4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96BE68-B2DF-0C98-D68B-53F09340863B}"/>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5" name="Footer Placeholder 4">
            <a:extLst>
              <a:ext uri="{FF2B5EF4-FFF2-40B4-BE49-F238E27FC236}">
                <a16:creationId xmlns:a16="http://schemas.microsoft.com/office/drawing/2014/main" id="{27DAEEC1-47A4-1BC9-F666-5BBEA16EF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9B2A5-8384-6F89-9EED-5E90187C811A}"/>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3520720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41E55-1CF2-BCAF-9C2C-FCDD9393A3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FF828B-2856-EC64-AA15-50DAB32E0C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F5C79E-D004-8851-266E-02F6606AAC5A}"/>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5" name="Footer Placeholder 4">
            <a:extLst>
              <a:ext uri="{FF2B5EF4-FFF2-40B4-BE49-F238E27FC236}">
                <a16:creationId xmlns:a16="http://schemas.microsoft.com/office/drawing/2014/main" id="{D3736A4C-8648-3225-9AC0-C12E097E4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D90D59-0971-D973-7364-0F1CCA46BF4D}"/>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713100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165A0-F3DB-F0F3-39DD-8925D490CA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A8B73B-EC77-05AD-C085-23A5946CC5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9AF6E9-38C1-0865-7E35-D98CA87CF9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2B82AD-3B63-8E44-D6F0-A52B02B87DC5}"/>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6" name="Footer Placeholder 5">
            <a:extLst>
              <a:ext uri="{FF2B5EF4-FFF2-40B4-BE49-F238E27FC236}">
                <a16:creationId xmlns:a16="http://schemas.microsoft.com/office/drawing/2014/main" id="{7C2C3DA4-4C06-6A66-ACC1-5C4B2BB46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927841-22CE-CA01-89F3-BB3C3B6E1EF8}"/>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1431876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1E2F6-C953-FD34-FEB5-B2E8B16E36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B38E43-DAB9-8551-42A9-0880A99740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7C2799-E05E-E339-3C5C-7C8250FB62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02FD67-4213-6B00-AF8F-87E59B0443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B7CD79-77CC-4D47-D480-C75AB31A87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0BA139-B25B-DAAE-6277-EB72E4323993}"/>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8" name="Footer Placeholder 7">
            <a:extLst>
              <a:ext uri="{FF2B5EF4-FFF2-40B4-BE49-F238E27FC236}">
                <a16:creationId xmlns:a16="http://schemas.microsoft.com/office/drawing/2014/main" id="{37AFE195-A09E-110E-86DF-16CE44FC4E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E9A4AA-DBD7-50EE-E4D2-EEFB9174DF91}"/>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550934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9E564-F5E7-0AE3-6771-D4706C9AD3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16B6F8-F6E4-ECBD-36FB-6E742DC1184F}"/>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4" name="Footer Placeholder 3">
            <a:extLst>
              <a:ext uri="{FF2B5EF4-FFF2-40B4-BE49-F238E27FC236}">
                <a16:creationId xmlns:a16="http://schemas.microsoft.com/office/drawing/2014/main" id="{425F6D1F-8524-254C-7C29-5E5E3EE7B7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62DB84-342E-644C-178A-0443D8611FE3}"/>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3197187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C89C98-81A9-238A-A303-7C37CF5C9942}"/>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3" name="Footer Placeholder 2">
            <a:extLst>
              <a:ext uri="{FF2B5EF4-FFF2-40B4-BE49-F238E27FC236}">
                <a16:creationId xmlns:a16="http://schemas.microsoft.com/office/drawing/2014/main" id="{49653F70-7992-7D48-7AB8-9E99B155F1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C763CD-7D9A-3881-3D24-CA0C637B7228}"/>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781951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9EF2D-81E5-3757-B19F-9405F8D211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618D8C-D202-B843-CAB0-B673C49B6A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76B7CF-B26D-481D-E190-56B4EE05F2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FE857A-EF94-9729-86AC-1FBE640B0455}"/>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6" name="Footer Placeholder 5">
            <a:extLst>
              <a:ext uri="{FF2B5EF4-FFF2-40B4-BE49-F238E27FC236}">
                <a16:creationId xmlns:a16="http://schemas.microsoft.com/office/drawing/2014/main" id="{33D07DB5-6D45-9961-19D2-EFA30FC3AC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BB7D8E-26EB-AE45-4E78-46491C368A66}"/>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160251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64347-804F-D673-EA51-53692691E4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8441E1-8CE1-24A2-A5ED-AB7D3D4DBC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2607FF-9C77-F382-1E8A-7D7BEF25E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FABAA2-3BA0-1848-00EF-4B5E9D79BBBD}"/>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6" name="Footer Placeholder 5">
            <a:extLst>
              <a:ext uri="{FF2B5EF4-FFF2-40B4-BE49-F238E27FC236}">
                <a16:creationId xmlns:a16="http://schemas.microsoft.com/office/drawing/2014/main" id="{6BFB039F-A827-BADA-C365-FB1B807D44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1AAD2A-403F-DFD7-543A-E22A7A6A2C71}"/>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3113384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E9E40-F99E-7B32-4515-6C7D1293D53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EE0D3C-AB0D-4C8F-8B2B-31A12C1FCA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E39B93-CB25-DC44-C066-1C24EDA83C37}"/>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5" name="Footer Placeholder 4">
            <a:extLst>
              <a:ext uri="{FF2B5EF4-FFF2-40B4-BE49-F238E27FC236}">
                <a16:creationId xmlns:a16="http://schemas.microsoft.com/office/drawing/2014/main" id="{EC1AF75A-476A-69ED-8326-0F9A4F843B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EDF599-4F2B-8431-3271-E5C849709215}"/>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2307757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4EF304-CF98-E3F3-5C3F-2EF24BB570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0D7F6F-4E30-A352-A693-7AF2D6BB52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2C8379-13DC-D669-2020-6EEEE373EFD5}"/>
              </a:ext>
            </a:extLst>
          </p:cNvPr>
          <p:cNvSpPr>
            <a:spLocks noGrp="1"/>
          </p:cNvSpPr>
          <p:nvPr>
            <p:ph type="dt" sz="half" idx="10"/>
          </p:nvPr>
        </p:nvSpPr>
        <p:spPr/>
        <p:txBody>
          <a:bodyPr/>
          <a:lstStyle/>
          <a:p>
            <a:fld id="{14B8CA0F-90D4-402B-A1C4-A542796A1EBA}" type="datetimeFigureOut">
              <a:rPr lang="en-US" smtClean="0"/>
              <a:t>1/27/2025</a:t>
            </a:fld>
            <a:endParaRPr lang="en-US"/>
          </a:p>
        </p:txBody>
      </p:sp>
      <p:sp>
        <p:nvSpPr>
          <p:cNvPr id="5" name="Footer Placeholder 4">
            <a:extLst>
              <a:ext uri="{FF2B5EF4-FFF2-40B4-BE49-F238E27FC236}">
                <a16:creationId xmlns:a16="http://schemas.microsoft.com/office/drawing/2014/main" id="{2E492766-F257-348C-AA70-10652C39B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884E53-0422-539E-9E1A-8C1A7C6838A8}"/>
              </a:ext>
            </a:extLst>
          </p:cNvPr>
          <p:cNvSpPr>
            <a:spLocks noGrp="1"/>
          </p:cNvSpPr>
          <p:nvPr>
            <p:ph type="sldNum" sz="quarter" idx="12"/>
          </p:nvPr>
        </p:nvSpPr>
        <p:spPr/>
        <p:txBody>
          <a:bodyPr/>
          <a:lstStyle/>
          <a:p>
            <a:fld id="{53943770-1B22-4172-A3B4-13AC490E0063}" type="slidenum">
              <a:rPr lang="en-US" smtClean="0"/>
              <a:t>‹#›</a:t>
            </a:fld>
            <a:endParaRPr lang="en-US"/>
          </a:p>
        </p:txBody>
      </p:sp>
    </p:spTree>
    <p:extLst>
      <p:ext uri="{BB962C8B-B14F-4D97-AF65-F5344CB8AC3E}">
        <p14:creationId xmlns:p14="http://schemas.microsoft.com/office/powerpoint/2010/main" val="3643668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CCD8CE-8672-7FEE-289D-B9BBB45A0B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774563-F82F-260C-9C4D-2ECF8C9089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5DF2F5-CE94-DDBB-6BD0-49B8F76FE0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B8CA0F-90D4-402B-A1C4-A542796A1EBA}" type="datetimeFigureOut">
              <a:rPr lang="en-US" smtClean="0"/>
              <a:t>1/27/2025</a:t>
            </a:fld>
            <a:endParaRPr lang="en-US"/>
          </a:p>
        </p:txBody>
      </p:sp>
      <p:sp>
        <p:nvSpPr>
          <p:cNvPr id="5" name="Footer Placeholder 4">
            <a:extLst>
              <a:ext uri="{FF2B5EF4-FFF2-40B4-BE49-F238E27FC236}">
                <a16:creationId xmlns:a16="http://schemas.microsoft.com/office/drawing/2014/main" id="{D8FB31D8-843C-ADCD-1DCB-A6408B7F46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34EEF13-EA93-8A3F-C208-8CBFA84BB8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943770-1B22-4172-A3B4-13AC490E0063}" type="slidenum">
              <a:rPr lang="en-US" smtClean="0"/>
              <a:t>‹#›</a:t>
            </a:fld>
            <a:endParaRPr lang="en-US"/>
          </a:p>
        </p:txBody>
      </p:sp>
    </p:spTree>
    <p:extLst>
      <p:ext uri="{BB962C8B-B14F-4D97-AF65-F5344CB8AC3E}">
        <p14:creationId xmlns:p14="http://schemas.microsoft.com/office/powerpoint/2010/main" val="1544442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A69C5-CE92-F67D-7636-8D1AB73655B3}"/>
              </a:ext>
            </a:extLst>
          </p:cNvPr>
          <p:cNvSpPr>
            <a:spLocks noGrp="1"/>
          </p:cNvSpPr>
          <p:nvPr>
            <p:ph type="ctrTitle"/>
          </p:nvPr>
        </p:nvSpPr>
        <p:spPr>
          <a:xfrm>
            <a:off x="1524000" y="406400"/>
            <a:ext cx="9144000" cy="2387600"/>
          </a:xfrm>
        </p:spPr>
        <p:txBody>
          <a:bodyPr>
            <a:normAutofit/>
          </a:bodyPr>
          <a:lstStyle/>
          <a:p>
            <a:r>
              <a:rPr lang="en-US" sz="4400" b="0" i="0" dirty="0">
                <a:solidFill>
                  <a:srgbClr val="00B050"/>
                </a:solidFill>
                <a:effectLst/>
                <a:latin typeface="Bahnschrift SemiCondensed" panose="020B0502040204020203" pitchFamily="34" charset="0"/>
              </a:rPr>
              <a:t>GIẢI PHÁP GIÚP </a:t>
            </a:r>
            <a:br>
              <a:rPr lang="en-US" sz="4400" b="0" i="0" dirty="0">
                <a:solidFill>
                  <a:srgbClr val="00B050"/>
                </a:solidFill>
                <a:effectLst/>
                <a:latin typeface="Bahnschrift SemiCondensed" panose="020B0502040204020203" pitchFamily="34" charset="0"/>
              </a:rPr>
            </a:br>
            <a:r>
              <a:rPr lang="en-US" sz="4400" b="0" i="0" dirty="0">
                <a:solidFill>
                  <a:srgbClr val="00B050"/>
                </a:solidFill>
                <a:effectLst/>
                <a:latin typeface="Bahnschrift SemiCondensed" panose="020B0502040204020203" pitchFamily="34" charset="0"/>
              </a:rPr>
              <a:t>THÚC ĐẨY ĐỘNG LỰC NỘI TẠI</a:t>
            </a:r>
            <a:endParaRPr lang="en-US" sz="4400" dirty="0">
              <a:solidFill>
                <a:srgbClr val="00B050"/>
              </a:solidFill>
              <a:latin typeface="Bahnschrift SemiCondensed" panose="020B0502040204020203" pitchFamily="34" charset="0"/>
            </a:endParaRPr>
          </a:p>
        </p:txBody>
      </p:sp>
      <p:sp>
        <p:nvSpPr>
          <p:cNvPr id="3" name="Subtitle 2">
            <a:extLst>
              <a:ext uri="{FF2B5EF4-FFF2-40B4-BE49-F238E27FC236}">
                <a16:creationId xmlns:a16="http://schemas.microsoft.com/office/drawing/2014/main" id="{0259BE82-D93D-7262-B84A-9A7196A3D7FB}"/>
              </a:ext>
            </a:extLst>
          </p:cNvPr>
          <p:cNvSpPr>
            <a:spLocks noGrp="1"/>
          </p:cNvSpPr>
          <p:nvPr>
            <p:ph type="subTitle" idx="1"/>
          </p:nvPr>
        </p:nvSpPr>
        <p:spPr/>
        <p:txBody>
          <a:bodyPr/>
          <a:lstStyle/>
          <a:p>
            <a:endParaRPr lang="en-US"/>
          </a:p>
        </p:txBody>
      </p:sp>
      <p:pic>
        <p:nvPicPr>
          <p:cNvPr id="1026" name="Picture 2" descr="Giải pháp phát triển nguồn nhân lực cho doanh nghiệp">
            <a:extLst>
              <a:ext uri="{FF2B5EF4-FFF2-40B4-BE49-F238E27FC236}">
                <a16:creationId xmlns:a16="http://schemas.microsoft.com/office/drawing/2014/main" id="{045D60B0-47B5-356E-E967-4A0EA8008C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1200" y="3255962"/>
            <a:ext cx="4029599" cy="2851716"/>
          </a:xfrm>
          <a:prstGeom prst="rect">
            <a:avLst/>
          </a:prstGeom>
          <a:ln w="88900" cap="sq" cmpd="thickThin">
            <a:solidFill>
              <a:srgbClr val="000000"/>
            </a:solidFill>
            <a:prstDash val="solid"/>
            <a:miter lim="800000"/>
          </a:ln>
          <a:effectLst>
            <a:glow rad="228600">
              <a:schemeClr val="accent4">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537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8E57B-1EC5-FF36-C41D-1D1B7010BE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F6CABC-869F-CA2F-3C40-F539586F6415}"/>
              </a:ext>
            </a:extLst>
          </p:cNvPr>
          <p:cNvSpPr>
            <a:spLocks noGrp="1"/>
          </p:cNvSpPr>
          <p:nvPr>
            <p:ph idx="1"/>
          </p:nvPr>
        </p:nvSpPr>
        <p:spPr>
          <a:xfrm>
            <a:off x="4290526" y="1788302"/>
            <a:ext cx="6794241" cy="4351338"/>
          </a:xfrm>
        </p:spPr>
        <p:txBody>
          <a:bodyPr>
            <a:normAutofit lnSpcReduction="10000"/>
          </a:bodyPr>
          <a:lstStyle/>
          <a:p>
            <a:pPr marL="0" indent="0" algn="just">
              <a:lnSpc>
                <a:spcPct val="150000"/>
              </a:lnSpc>
              <a:buNone/>
            </a:pPr>
            <a:r>
              <a:rPr lang="vi-VN" b="0" i="0" dirty="0">
                <a:solidFill>
                  <a:srgbClr val="080809"/>
                </a:solidFill>
                <a:effectLst/>
                <a:latin typeface="Segoe UI Historic" panose="020B0502040204020203" pitchFamily="34" charset="0"/>
              </a:rPr>
              <a:t>Việc tạo động lực cho nhân viên từ bên trong là một hoạt động cần thiết để tạo ra đội ngũ nhân viên mạnh và chất lượng. Động lực nội tại giúp nhân viên phát huy hết tiềm năng và hứng thú với công việc, đồng thời góp phần tạo nên sự gắn bó lâu dài giữa nhân viên với tổ chức</a:t>
            </a:r>
            <a:endParaRPr lang="en-US" dirty="0"/>
          </a:p>
        </p:txBody>
      </p:sp>
      <p:pic>
        <p:nvPicPr>
          <p:cNvPr id="2050" name="Picture 2" descr="Khái niệm nguồn nhân lực là gì? Đặc điểm, vai trò của nguồn nhân lực">
            <a:extLst>
              <a:ext uri="{FF2B5EF4-FFF2-40B4-BE49-F238E27FC236}">
                <a16:creationId xmlns:a16="http://schemas.microsoft.com/office/drawing/2014/main" id="{62E57C8B-7F58-8071-6CCF-2D2C2F138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39347"/>
            <a:ext cx="4126101" cy="299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634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34E99-CF8F-E30E-2ECD-6A518114EC61}"/>
              </a:ext>
            </a:extLst>
          </p:cNvPr>
          <p:cNvSpPr>
            <a:spLocks noGrp="1"/>
          </p:cNvSpPr>
          <p:nvPr>
            <p:ph type="title"/>
          </p:nvPr>
        </p:nvSpPr>
        <p:spPr/>
        <p:txBody>
          <a:bodyPr/>
          <a:lstStyle/>
          <a:p>
            <a:r>
              <a:rPr lang="en-US" b="1" i="0" dirty="0">
                <a:solidFill>
                  <a:schemeClr val="accent4">
                    <a:lumMod val="75000"/>
                  </a:schemeClr>
                </a:solidFill>
                <a:effectLst/>
                <a:latin typeface="Bahnschrift SemiCondensed" panose="020B0502040204020203" pitchFamily="34" charset="0"/>
              </a:rPr>
              <a:t>1. </a:t>
            </a:r>
            <a:r>
              <a:rPr lang="en-US" b="1" i="0" dirty="0" err="1">
                <a:solidFill>
                  <a:schemeClr val="accent4">
                    <a:lumMod val="75000"/>
                  </a:schemeClr>
                </a:solidFill>
                <a:effectLst/>
                <a:latin typeface="Bahnschrift SemiCondensed" panose="020B0502040204020203" pitchFamily="34" charset="0"/>
              </a:rPr>
              <a:t>Trao</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niềm</a:t>
            </a:r>
            <a:r>
              <a:rPr lang="en-US" b="1" i="0" dirty="0">
                <a:solidFill>
                  <a:schemeClr val="accent4">
                    <a:lumMod val="75000"/>
                  </a:schemeClr>
                </a:solidFill>
                <a:effectLst/>
                <a:latin typeface="Bahnschrift SemiCondensed" panose="020B0502040204020203" pitchFamily="34" charset="0"/>
              </a:rPr>
              <a:t> tin </a:t>
            </a:r>
            <a:r>
              <a:rPr lang="en-US" b="1" i="0" dirty="0" err="1">
                <a:solidFill>
                  <a:schemeClr val="accent4">
                    <a:lumMod val="75000"/>
                  </a:schemeClr>
                </a:solidFill>
                <a:effectLst/>
                <a:latin typeface="Bahnschrift SemiCondensed" panose="020B0502040204020203" pitchFamily="34" charset="0"/>
              </a:rPr>
              <a:t>là</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hành</a:t>
            </a:r>
            <a:r>
              <a:rPr lang="en-US" b="1" i="0" dirty="0">
                <a:solidFill>
                  <a:schemeClr val="accent4">
                    <a:lumMod val="75000"/>
                  </a:schemeClr>
                </a:solidFill>
                <a:effectLst/>
                <a:latin typeface="Bahnschrift SemiCondensed" panose="020B0502040204020203" pitchFamily="34" charset="0"/>
              </a:rPr>
              <a:t> vi </a:t>
            </a:r>
            <a:r>
              <a:rPr lang="en-US" b="1" i="0" dirty="0" err="1">
                <a:solidFill>
                  <a:schemeClr val="accent4">
                    <a:lumMod val="75000"/>
                  </a:schemeClr>
                </a:solidFill>
                <a:effectLst/>
                <a:latin typeface="Bahnschrift SemiCondensed" panose="020B0502040204020203" pitchFamily="34" charset="0"/>
              </a:rPr>
              <a:t>khích</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lệ</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lớn</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nhất</a:t>
            </a:r>
            <a:r>
              <a:rPr lang="en-US" b="1" i="0" dirty="0">
                <a:solidFill>
                  <a:schemeClr val="accent4">
                    <a:lumMod val="75000"/>
                  </a:schemeClr>
                </a:solidFill>
                <a:effectLst/>
                <a:latin typeface="Bahnschrift SemiCondensed" panose="020B0502040204020203" pitchFamily="34" charset="0"/>
              </a:rPr>
              <a:t>.</a:t>
            </a:r>
            <a:endParaRPr lang="en-US" b="1"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9CF070A2-2B89-668B-7F16-4601D6743D56}"/>
              </a:ext>
            </a:extLst>
          </p:cNvPr>
          <p:cNvSpPr>
            <a:spLocks noGrp="1"/>
          </p:cNvSpPr>
          <p:nvPr>
            <p:ph idx="1"/>
          </p:nvPr>
        </p:nvSpPr>
        <p:spPr>
          <a:xfrm>
            <a:off x="838200" y="1825625"/>
            <a:ext cx="6999514" cy="4351338"/>
          </a:xfrm>
        </p:spPr>
        <p:txBody>
          <a:bodyPr>
            <a:normAutofit fontScale="55000" lnSpcReduction="20000"/>
          </a:bodyPr>
          <a:lstStyle/>
          <a:p>
            <a:pPr algn="just">
              <a:lnSpc>
                <a:spcPct val="170000"/>
              </a:lnSpc>
            </a:pPr>
            <a:r>
              <a:rPr lang="vi-VN" b="0" i="0" dirty="0">
                <a:solidFill>
                  <a:srgbClr val="080809"/>
                </a:solidFill>
                <a:effectLst/>
                <a:latin typeface="inherit"/>
              </a:rPr>
              <a:t>Tin tưởng vào một người đã thành công là điều hết sức bình thường, bởi khi họ đã đạt được thành tựu, chúng ta dễ dàng nhận thấy khả năng của họ. Tuy nhiên, sự tin tưởng thật sự đáng quý và mang tính khích lệ lớn nhất chính là khi bạn đặt lòng tin vào những người chưa chứng minh được năng lực hoặc thậm chí đang gặp khó khăn trong cuộc sống. Đó là lúc niềm tin của bạn trở thành nguồn động lực mạnh mẽ, giúp họ nhìn thấy tiềm năng bên trong và khơi dậy sức mạnh vượt qua giới hạn.</a:t>
            </a:r>
          </a:p>
          <a:p>
            <a:pPr algn="just">
              <a:lnSpc>
                <a:spcPct val="170000"/>
              </a:lnSpc>
            </a:pPr>
            <a:r>
              <a:rPr lang="vi-VN" b="0" i="0" dirty="0">
                <a:solidFill>
                  <a:srgbClr val="080809"/>
                </a:solidFill>
                <a:effectLst/>
                <a:latin typeface="inherit"/>
              </a:rPr>
              <a:t>Điều cốt lõi ở đây là khi bạn trao niềm tin cho ai đó, không chỉ khích lệ họ mà bạn còn đặt họ vào một vị trí đặc biệt, nơi họ cảm thấy "mắc nợ" lòng tin của bạn. Sự kỳ vọng ấy tạo nên một áp lực tích cực, thúc đẩy họ hành động để không phụ lòng tin tưởng mà bạn đã dành cho họ. Họ sẽ nỗ lực, cố gắng không ngừng, không chỉ để chứng minh năng lực của bản thân mà còn để đáp lại sự tin tưởng đầy ý nghĩa mà họ nhận được. Đó chính là sức mạnh của lòng tin.</a:t>
            </a:r>
          </a:p>
          <a:p>
            <a:pPr algn="just">
              <a:lnSpc>
                <a:spcPct val="170000"/>
              </a:lnSpc>
            </a:pPr>
            <a:endParaRPr lang="en-US" dirty="0"/>
          </a:p>
        </p:txBody>
      </p:sp>
      <p:pic>
        <p:nvPicPr>
          <p:cNvPr id="3074" name="Picture 2" descr="Thiếu hụt nhân tài trong quá trình chuyển đổi số? Doanh nghiệp cần làm thế  nào? - Công ty FSI">
            <a:extLst>
              <a:ext uri="{FF2B5EF4-FFF2-40B4-BE49-F238E27FC236}">
                <a16:creationId xmlns:a16="http://schemas.microsoft.com/office/drawing/2014/main" id="{6E500D72-B40D-8739-2264-F930FACAF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9390" y="2332653"/>
            <a:ext cx="4174637" cy="2780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3348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B537-745B-787D-5458-80B4F9417999}"/>
              </a:ext>
            </a:extLst>
          </p:cNvPr>
          <p:cNvSpPr>
            <a:spLocks noGrp="1"/>
          </p:cNvSpPr>
          <p:nvPr>
            <p:ph type="title"/>
          </p:nvPr>
        </p:nvSpPr>
        <p:spPr>
          <a:xfrm>
            <a:off x="838200" y="337134"/>
            <a:ext cx="10515600" cy="1325563"/>
          </a:xfrm>
        </p:spPr>
        <p:txBody>
          <a:bodyPr/>
          <a:lstStyle/>
          <a:p>
            <a:r>
              <a:rPr lang="en-US" b="1" i="0" dirty="0">
                <a:solidFill>
                  <a:schemeClr val="accent4">
                    <a:lumMod val="75000"/>
                  </a:schemeClr>
                </a:solidFill>
                <a:effectLst/>
                <a:latin typeface="Bahnschrift SemiCondensed" panose="020B0502040204020203" pitchFamily="34" charset="0"/>
              </a:rPr>
              <a:t>2. </a:t>
            </a:r>
            <a:r>
              <a:rPr lang="en-US" b="1" dirty="0" err="1">
                <a:solidFill>
                  <a:schemeClr val="accent4">
                    <a:lumMod val="75000"/>
                  </a:schemeClr>
                </a:solidFill>
                <a:latin typeface="Bahnschrift SemiCondensed" panose="020B0502040204020203" pitchFamily="34" charset="0"/>
              </a:rPr>
              <a:t>G</a:t>
            </a:r>
            <a:r>
              <a:rPr lang="en-US" b="1" i="0" dirty="0" err="1">
                <a:solidFill>
                  <a:schemeClr val="accent4">
                    <a:lumMod val="75000"/>
                  </a:schemeClr>
                </a:solidFill>
                <a:effectLst/>
                <a:latin typeface="Bahnschrift SemiCondensed" panose="020B0502040204020203" pitchFamily="34" charset="0"/>
              </a:rPr>
              <a:t>ây</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dựng</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sự</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kết</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nối</a:t>
            </a:r>
            <a:r>
              <a:rPr lang="en-US" b="1" i="0" dirty="0">
                <a:solidFill>
                  <a:schemeClr val="accent4">
                    <a:lumMod val="75000"/>
                  </a:schemeClr>
                </a:solidFill>
                <a:effectLst/>
                <a:latin typeface="Bahnschrift SemiCondensed" panose="020B0502040204020203" pitchFamily="34" charset="0"/>
              </a:rPr>
              <a:t>.</a:t>
            </a:r>
            <a:endParaRPr lang="en-US" b="1"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ED4FE98D-2CDE-4E8D-4879-5F96286700A9}"/>
              </a:ext>
            </a:extLst>
          </p:cNvPr>
          <p:cNvSpPr>
            <a:spLocks noGrp="1"/>
          </p:cNvSpPr>
          <p:nvPr>
            <p:ph idx="1"/>
          </p:nvPr>
        </p:nvSpPr>
        <p:spPr>
          <a:xfrm>
            <a:off x="3704253" y="1825625"/>
            <a:ext cx="7649547" cy="4351338"/>
          </a:xfrm>
        </p:spPr>
        <p:txBody>
          <a:bodyPr>
            <a:normAutofit fontScale="55000" lnSpcReduction="20000"/>
          </a:bodyPr>
          <a:lstStyle/>
          <a:p>
            <a:pPr algn="just">
              <a:lnSpc>
                <a:spcPct val="160000"/>
              </a:lnSpc>
            </a:pPr>
            <a:r>
              <a:rPr lang="en-US" b="0" i="0" dirty="0">
                <a:solidFill>
                  <a:srgbClr val="080809"/>
                </a:solidFill>
                <a:effectLst/>
                <a:latin typeface="inherit"/>
              </a:rPr>
              <a:t>T</a:t>
            </a:r>
            <a:r>
              <a:rPr lang="vi-VN" b="0" i="0" dirty="0">
                <a:solidFill>
                  <a:srgbClr val="080809"/>
                </a:solidFill>
                <a:effectLst/>
                <a:latin typeface="inherit"/>
              </a:rPr>
              <a:t>rong thực tế, rất nhiều người sống trong cảm giác cô đơn và thiếu vắng lòng tin, đặc biệt trong thời đại công nghệ 4.0. Mặc dù sự kết nối qua các nền tảng số ngày càng phổ biến, nhưng ý thức cộng đồng dường như ngày càng trở nên mong manh. Không ít người nhận ra rằng, ngay cả những người thân thiết nhất, như bố mẹ, anh em, bạn bè…cũng không thực sự đặt niềm tin vào họ.</a:t>
            </a:r>
          </a:p>
          <a:p>
            <a:pPr algn="just">
              <a:lnSpc>
                <a:spcPct val="160000"/>
              </a:lnSpc>
            </a:pPr>
            <a:r>
              <a:rPr lang="vi-VN" b="0" i="0" dirty="0">
                <a:solidFill>
                  <a:srgbClr val="080809"/>
                </a:solidFill>
                <a:effectLst/>
                <a:latin typeface="inherit"/>
              </a:rPr>
              <a:t>Sự thiếu vắng niềm tin này khiến con người dễ rơi vào cảm giác chông chênh, như thể mình không có giá trị, rồi người ta ngày càng khát khao được một ai đó thực sự tin tưởng vào họ. Chỉ cần có một người tin tưởng và ở bên, họ có thể tìm thấy sức mạnh để vượt qua cảm giác cô lập ấy. Đương nhiên, nếu bạn khỏa lấp vào chỗ trống đó bằng sự trân thành, bạn sẽ nhận lại mối quan hệ bền chặt, bạn sẽ có tất cả.</a:t>
            </a:r>
          </a:p>
          <a:p>
            <a:pPr algn="just">
              <a:lnSpc>
                <a:spcPct val="160000"/>
              </a:lnSpc>
            </a:pPr>
            <a:endParaRPr lang="en-US" dirty="0"/>
          </a:p>
        </p:txBody>
      </p:sp>
      <p:pic>
        <p:nvPicPr>
          <p:cNvPr id="5" name="Picture 4">
            <a:extLst>
              <a:ext uri="{FF2B5EF4-FFF2-40B4-BE49-F238E27FC236}">
                <a16:creationId xmlns:a16="http://schemas.microsoft.com/office/drawing/2014/main" id="{ABB51BB8-521D-8D19-FB86-C591BBF03AE0}"/>
              </a:ext>
            </a:extLst>
          </p:cNvPr>
          <p:cNvPicPr>
            <a:picLocks noChangeAspect="1"/>
          </p:cNvPicPr>
          <p:nvPr/>
        </p:nvPicPr>
        <p:blipFill rotWithShape="1">
          <a:blip r:embed="rId2"/>
          <a:srcRect b="14946"/>
          <a:stretch/>
        </p:blipFill>
        <p:spPr>
          <a:xfrm>
            <a:off x="132961" y="2351314"/>
            <a:ext cx="3773755" cy="240729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307423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BE036-A98C-4CB6-054B-BE0B4810BF0C}"/>
              </a:ext>
            </a:extLst>
          </p:cNvPr>
          <p:cNvSpPr>
            <a:spLocks noGrp="1"/>
          </p:cNvSpPr>
          <p:nvPr>
            <p:ph type="title"/>
          </p:nvPr>
        </p:nvSpPr>
        <p:spPr/>
        <p:txBody>
          <a:bodyPr/>
          <a:lstStyle/>
          <a:p>
            <a:r>
              <a:rPr lang="en-US" b="1" i="0" dirty="0">
                <a:solidFill>
                  <a:schemeClr val="accent4">
                    <a:lumMod val="75000"/>
                  </a:schemeClr>
                </a:solidFill>
                <a:effectLst/>
                <a:latin typeface="Bahnschrift SemiCondensed" panose="020B0502040204020203" pitchFamily="34" charset="0"/>
              </a:rPr>
              <a:t>3. </a:t>
            </a:r>
            <a:r>
              <a:rPr lang="en-US" b="1" dirty="0" err="1">
                <a:solidFill>
                  <a:schemeClr val="accent4">
                    <a:lumMod val="75000"/>
                  </a:schemeClr>
                </a:solidFill>
                <a:latin typeface="Bahnschrift SemiCondensed" panose="020B0502040204020203" pitchFamily="34" charset="0"/>
              </a:rPr>
              <a:t>S</a:t>
            </a:r>
            <a:r>
              <a:rPr lang="en-US" b="1" i="0" dirty="0" err="1">
                <a:solidFill>
                  <a:schemeClr val="accent4">
                    <a:lumMod val="75000"/>
                  </a:schemeClr>
                </a:solidFill>
                <a:effectLst/>
                <a:latin typeface="Bahnschrift SemiCondensed" panose="020B0502040204020203" pitchFamily="34" charset="0"/>
              </a:rPr>
              <a:t>ự</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chân</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thành</a:t>
            </a:r>
            <a:endParaRPr lang="en-US" b="1"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8B129716-F588-5E78-988E-AEFFEA889DD8}"/>
              </a:ext>
            </a:extLst>
          </p:cNvPr>
          <p:cNvSpPr>
            <a:spLocks noGrp="1"/>
          </p:cNvSpPr>
          <p:nvPr>
            <p:ph idx="1"/>
          </p:nvPr>
        </p:nvSpPr>
        <p:spPr>
          <a:xfrm>
            <a:off x="838200" y="1825625"/>
            <a:ext cx="7195457" cy="4351338"/>
          </a:xfrm>
        </p:spPr>
        <p:txBody>
          <a:bodyPr>
            <a:normAutofit fontScale="55000" lnSpcReduction="20000"/>
          </a:bodyPr>
          <a:lstStyle/>
          <a:p>
            <a:pPr algn="just">
              <a:lnSpc>
                <a:spcPct val="160000"/>
              </a:lnSpc>
            </a:pPr>
            <a:r>
              <a:rPr lang="en-US" dirty="0">
                <a:solidFill>
                  <a:srgbClr val="080809"/>
                </a:solidFill>
                <a:latin typeface="inherit"/>
              </a:rPr>
              <a:t>Đ</a:t>
            </a:r>
            <a:r>
              <a:rPr lang="vi-VN" b="0" i="0" dirty="0">
                <a:solidFill>
                  <a:srgbClr val="080809"/>
                </a:solidFill>
                <a:effectLst/>
                <a:latin typeface="inherit"/>
              </a:rPr>
              <a:t>iều thú vị là con người có một bản năng nhạy cảm đặc biệt đối với lòng tin. Họ có thể nhận biết gần như ngay lập tức khi ai đó thực sự tin tưởng mình dù không cần phải nói ra bằng lời. Khi nhận được lòng tin chân thành, họ không chỉ tôn trọng người trao niềm tin mà còn bắt đầu nhìn nhận bản thân ở một góc nhìn tích cực hơn. Điều này thúc đẩy họ cố gắng sống và hành động sao cho xứng đáng với sự kỳ vọng. Trái lại nếu bạn hoài nghi, hay trao niềm tin một cách xã giao, họ cũng có khả năng nhận diện điều đó một cách rõ ràng. Họ sẽ nghi ngờ, khép mình, xa cách, thậm chí là trao cho bạn sự khinh thường. </a:t>
            </a:r>
          </a:p>
          <a:p>
            <a:pPr algn="just">
              <a:lnSpc>
                <a:spcPct val="160000"/>
              </a:lnSpc>
            </a:pPr>
            <a:r>
              <a:rPr lang="vi-VN" b="0" i="0" dirty="0">
                <a:solidFill>
                  <a:srgbClr val="080809"/>
                </a:solidFill>
                <a:effectLst/>
                <a:latin typeface="inherit"/>
              </a:rPr>
              <a:t>Bởi vậy, lòng tin không chỉ là một hành động cho đi một cách đơn giản mà nó đòi hỏi sự kiên định, chân thành và nhất quán. Khi xuất phát từ trái tim, nó sẽ trở thành sợi dây gắn kết mạnh mẽ, vừa tạo nên sự kết nối sâu sắc, vừa thúc đẩy cả hai bên cùng phát triển.</a:t>
            </a:r>
          </a:p>
          <a:p>
            <a:pPr algn="just">
              <a:lnSpc>
                <a:spcPct val="160000"/>
              </a:lnSpc>
            </a:pPr>
            <a:endParaRPr lang="en-US" dirty="0"/>
          </a:p>
        </p:txBody>
      </p:sp>
      <p:pic>
        <p:nvPicPr>
          <p:cNvPr id="5" name="Picture 4">
            <a:extLst>
              <a:ext uri="{FF2B5EF4-FFF2-40B4-BE49-F238E27FC236}">
                <a16:creationId xmlns:a16="http://schemas.microsoft.com/office/drawing/2014/main" id="{6D2F9F57-446D-B2B1-82AF-4EC8DCB95BA0}"/>
              </a:ext>
            </a:extLst>
          </p:cNvPr>
          <p:cNvPicPr>
            <a:picLocks noChangeAspect="1"/>
          </p:cNvPicPr>
          <p:nvPr/>
        </p:nvPicPr>
        <p:blipFill rotWithShape="1">
          <a:blip r:embed="rId2"/>
          <a:srcRect b="14562"/>
          <a:stretch/>
        </p:blipFill>
        <p:spPr>
          <a:xfrm>
            <a:off x="8322907" y="2453951"/>
            <a:ext cx="3661976" cy="2346544"/>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1157870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F4F73-EE7E-192C-7058-130D1F002E8A}"/>
              </a:ext>
            </a:extLst>
          </p:cNvPr>
          <p:cNvSpPr>
            <a:spLocks noGrp="1"/>
          </p:cNvSpPr>
          <p:nvPr>
            <p:ph type="title"/>
          </p:nvPr>
        </p:nvSpPr>
        <p:spPr>
          <a:xfrm>
            <a:off x="838200" y="327803"/>
            <a:ext cx="10515600" cy="1325563"/>
          </a:xfrm>
        </p:spPr>
        <p:txBody>
          <a:bodyPr/>
          <a:lstStyle/>
          <a:p>
            <a:r>
              <a:rPr lang="en-US" b="1" dirty="0">
                <a:solidFill>
                  <a:schemeClr val="accent4">
                    <a:lumMod val="75000"/>
                  </a:schemeClr>
                </a:solidFill>
                <a:latin typeface="Bahnschrift SemiCondensed" panose="020B0502040204020203" pitchFamily="34" charset="0"/>
              </a:rPr>
              <a:t>4</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Sự</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tò</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mò</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trong</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bản</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thân</a:t>
            </a:r>
            <a:endParaRPr lang="en-US" b="1"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80A505C5-61BA-1797-F9BC-97AAF81C4FA3}"/>
              </a:ext>
            </a:extLst>
          </p:cNvPr>
          <p:cNvSpPr>
            <a:spLocks noGrp="1"/>
          </p:cNvSpPr>
          <p:nvPr>
            <p:ph idx="1"/>
          </p:nvPr>
        </p:nvSpPr>
        <p:spPr>
          <a:xfrm>
            <a:off x="4879910" y="1825625"/>
            <a:ext cx="6473890" cy="4351338"/>
          </a:xfrm>
        </p:spPr>
        <p:txBody>
          <a:bodyPr>
            <a:normAutofit fontScale="77500" lnSpcReduction="20000"/>
          </a:bodyPr>
          <a:lstStyle/>
          <a:p>
            <a:pPr algn="just">
              <a:lnSpc>
                <a:spcPct val="150000"/>
              </a:lnSpc>
            </a:pPr>
            <a:r>
              <a:rPr lang="vi-VN" b="0" i="0" dirty="0">
                <a:solidFill>
                  <a:srgbClr val="080809"/>
                </a:solidFill>
                <a:effectLst/>
                <a:latin typeface="Segoe UI Historic" panose="020B0502040204020203" pitchFamily="34" charset="0"/>
              </a:rPr>
              <a:t>Sự tò mò biểu hiện cho thái độ ham học hỏi, muốn tìm hiểu cái mới. Yếu tố này giúp khơi gợi sự học hỏi và khám phá của nhân viên, giúp họ mở rộng kiến thức và kỹ năng. </a:t>
            </a:r>
            <a:endParaRPr lang="en-US" b="0" i="0" dirty="0">
              <a:solidFill>
                <a:srgbClr val="080809"/>
              </a:solidFill>
              <a:effectLst/>
              <a:latin typeface="Segoe UI Historic" panose="020B0502040204020203" pitchFamily="34" charset="0"/>
            </a:endParaRPr>
          </a:p>
          <a:p>
            <a:pPr algn="just">
              <a:lnSpc>
                <a:spcPct val="150000"/>
              </a:lnSpc>
            </a:pPr>
            <a:r>
              <a:rPr lang="vi-VN" b="0" i="0" dirty="0">
                <a:solidFill>
                  <a:srgbClr val="080809"/>
                </a:solidFill>
                <a:effectLst/>
                <a:latin typeface="Segoe UI Historic" panose="020B0502040204020203" pitchFamily="34" charset="0"/>
              </a:rPr>
              <a:t>Khi môi trường của tổ chức liên tục tạo ra các điểm chạm tạo nên sự hứng thú được học hỏi, ở các thành viên sẽ xuất hiện và tăng tính tìm hiểu và gắn kết cùng nhau để giải quyết vấn đề đang gây tò mò đó.</a:t>
            </a:r>
            <a:endParaRPr lang="en-US" dirty="0"/>
          </a:p>
        </p:txBody>
      </p:sp>
      <p:pic>
        <p:nvPicPr>
          <p:cNvPr id="6146" name="Picture 2" descr="Bí quyết đăng tin tuyển dụng chiêu mộ nhân tài – Trung tâm đào tạo Kế toán  Tin Học Kỹ năng tại Bình Dương">
            <a:extLst>
              <a:ext uri="{FF2B5EF4-FFF2-40B4-BE49-F238E27FC236}">
                <a16:creationId xmlns:a16="http://schemas.microsoft.com/office/drawing/2014/main" id="{43684D32-C73C-2278-C4A8-0798C44B8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621" y="2747865"/>
            <a:ext cx="4314558" cy="2533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5378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528F7-FC5F-DC61-1253-4D2DE1F86BF9}"/>
              </a:ext>
            </a:extLst>
          </p:cNvPr>
          <p:cNvSpPr>
            <a:spLocks noGrp="1"/>
          </p:cNvSpPr>
          <p:nvPr>
            <p:ph type="title"/>
          </p:nvPr>
        </p:nvSpPr>
        <p:spPr/>
        <p:txBody>
          <a:bodyPr/>
          <a:lstStyle/>
          <a:p>
            <a:r>
              <a:rPr lang="en-US" b="1" dirty="0">
                <a:solidFill>
                  <a:schemeClr val="accent4">
                    <a:lumMod val="75000"/>
                  </a:schemeClr>
                </a:solidFill>
                <a:latin typeface="Bahnschrift SemiCondensed" panose="020B0502040204020203" pitchFamily="34" charset="0"/>
              </a:rPr>
              <a:t>5</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Thách</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thức</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vượt</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kỳ</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vọng</a:t>
            </a:r>
            <a:endParaRPr lang="en-US" b="1"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724D9B5E-736F-1845-E7AD-16FF46761AC3}"/>
              </a:ext>
            </a:extLst>
          </p:cNvPr>
          <p:cNvSpPr>
            <a:spLocks noGrp="1"/>
          </p:cNvSpPr>
          <p:nvPr>
            <p:ph idx="1"/>
          </p:nvPr>
        </p:nvSpPr>
        <p:spPr>
          <a:xfrm>
            <a:off x="838200" y="1825625"/>
            <a:ext cx="11353800" cy="4351338"/>
          </a:xfrm>
        </p:spPr>
        <p:txBody>
          <a:bodyPr>
            <a:normAutofit/>
          </a:bodyPr>
          <a:lstStyle/>
          <a:p>
            <a:pPr algn="just">
              <a:lnSpc>
                <a:spcPct val="150000"/>
              </a:lnSpc>
            </a:pPr>
            <a:r>
              <a:rPr lang="vi-VN" sz="2000" b="0" i="0" dirty="0">
                <a:solidFill>
                  <a:srgbClr val="080809"/>
                </a:solidFill>
                <a:effectLst/>
                <a:latin typeface="Segoe UI Historic" panose="020B0502040204020203" pitchFamily="34" charset="0"/>
              </a:rPr>
              <a:t>Chính những thách thức sẽ kích thích sự cố gắng và nỗ lực của nhân viên để họ vượt qua các khó khăn nhằm chinh phục mục tiêu. </a:t>
            </a:r>
            <a:endParaRPr lang="en-US" sz="2000" b="0" i="0" dirty="0">
              <a:solidFill>
                <a:srgbClr val="080809"/>
              </a:solidFill>
              <a:effectLst/>
              <a:latin typeface="Segoe UI Historic" panose="020B0502040204020203" pitchFamily="34" charset="0"/>
            </a:endParaRPr>
          </a:p>
          <a:p>
            <a:pPr algn="just">
              <a:lnSpc>
                <a:spcPct val="150000"/>
              </a:lnSpc>
            </a:pPr>
            <a:r>
              <a:rPr lang="vi-VN" sz="2000" b="0" i="0" dirty="0">
                <a:solidFill>
                  <a:srgbClr val="080809"/>
                </a:solidFill>
                <a:effectLst/>
                <a:latin typeface="Segoe UI Historic" panose="020B0502040204020203" pitchFamily="34" charset="0"/>
              </a:rPr>
              <a:t>Họ sẽ không ngừng cải thiện hiệu suất và chấp nhận những rủi ro. Đồng thời, tính phối hợp nhóm sẽ gia tăng giữa các đội nhóm trong tổ chức.</a:t>
            </a:r>
            <a:endParaRPr lang="en-US" sz="2000" dirty="0"/>
          </a:p>
        </p:txBody>
      </p:sp>
      <p:pic>
        <p:nvPicPr>
          <p:cNvPr id="7170" name="Picture 2" descr="7 thử thách bạn phải vượt qua để chạm tay tới thành công">
            <a:extLst>
              <a:ext uri="{FF2B5EF4-FFF2-40B4-BE49-F238E27FC236}">
                <a16:creationId xmlns:a16="http://schemas.microsoft.com/office/drawing/2014/main" id="{49493111-62C0-EF40-4C46-DDD67CB4FE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4564" y="3856407"/>
            <a:ext cx="4368865" cy="2455493"/>
          </a:xfrm>
          <a:prstGeom prst="rect">
            <a:avLst/>
          </a:prstGeom>
          <a:noFill/>
          <a:effectLst>
            <a:glow rad="228600">
              <a:schemeClr val="accent1">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3021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0C04-E4E6-F948-4B25-0CD73C113EB2}"/>
              </a:ext>
            </a:extLst>
          </p:cNvPr>
          <p:cNvSpPr>
            <a:spLocks noGrp="1"/>
          </p:cNvSpPr>
          <p:nvPr>
            <p:ph type="title"/>
          </p:nvPr>
        </p:nvSpPr>
        <p:spPr/>
        <p:txBody>
          <a:bodyPr/>
          <a:lstStyle/>
          <a:p>
            <a:r>
              <a:rPr lang="en-US" b="1" dirty="0">
                <a:solidFill>
                  <a:schemeClr val="accent4">
                    <a:lumMod val="75000"/>
                  </a:schemeClr>
                </a:solidFill>
                <a:latin typeface="Bahnschrift SemiCondensed" panose="020B0502040204020203" pitchFamily="34" charset="0"/>
              </a:rPr>
              <a:t>6</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Sự</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công</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nhận</a:t>
            </a:r>
            <a:endParaRPr lang="en-US" b="1"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97F4268E-9CD8-A9DC-13ED-C7893A7A06DD}"/>
              </a:ext>
            </a:extLst>
          </p:cNvPr>
          <p:cNvSpPr>
            <a:spLocks noGrp="1"/>
          </p:cNvSpPr>
          <p:nvPr>
            <p:ph idx="1"/>
          </p:nvPr>
        </p:nvSpPr>
        <p:spPr>
          <a:xfrm>
            <a:off x="3937518" y="1690688"/>
            <a:ext cx="7416282" cy="4351338"/>
          </a:xfrm>
        </p:spPr>
        <p:txBody>
          <a:bodyPr>
            <a:normAutofit fontScale="77500" lnSpcReduction="20000"/>
          </a:bodyPr>
          <a:lstStyle/>
          <a:p>
            <a:pPr algn="just">
              <a:lnSpc>
                <a:spcPct val="150000"/>
              </a:lnSpc>
            </a:pPr>
            <a:r>
              <a:rPr lang="vi-VN" b="0" i="0" dirty="0">
                <a:solidFill>
                  <a:srgbClr val="080809"/>
                </a:solidFill>
                <a:effectLst/>
                <a:latin typeface="Segoe UI Historic" panose="020B0502040204020203" pitchFamily="34" charset="0"/>
              </a:rPr>
              <a:t>Ai cũng muốn được ghi nhận, nhất là khi sự ghi nhận đó đúng với thực tế. Khi được công nhận xứng đáng với nỗ lực sẽ giúp từng thành viên cảm thấy được trân trọng và được đánh giá cao. </a:t>
            </a:r>
            <a:endParaRPr lang="en-US" b="0" i="0" dirty="0">
              <a:solidFill>
                <a:srgbClr val="080809"/>
              </a:solidFill>
              <a:effectLst/>
              <a:latin typeface="Segoe UI Historic" panose="020B0502040204020203" pitchFamily="34" charset="0"/>
            </a:endParaRPr>
          </a:p>
          <a:p>
            <a:pPr algn="just">
              <a:lnSpc>
                <a:spcPct val="150000"/>
              </a:lnSpc>
            </a:pPr>
            <a:r>
              <a:rPr lang="vi-VN" b="0" i="0" dirty="0">
                <a:solidFill>
                  <a:srgbClr val="080809"/>
                </a:solidFill>
                <a:effectLst/>
                <a:latin typeface="Segoe UI Historic" panose="020B0502040204020203" pitchFamily="34" charset="0"/>
              </a:rPr>
              <a:t>Đồng thời họ sẽ có ý thức trách nhiệm cao, hiểu được mình đang tạo ra giá trị cho tổ chức. Từ đó, tính cam kết với công việc được nâng cao và mong muốn góp phần vào thành công của tổ chức càng lớn dần trong họ.</a:t>
            </a:r>
            <a:endParaRPr lang="en-US" dirty="0"/>
          </a:p>
        </p:txBody>
      </p:sp>
      <p:pic>
        <p:nvPicPr>
          <p:cNvPr id="5" name="Picture 4">
            <a:extLst>
              <a:ext uri="{FF2B5EF4-FFF2-40B4-BE49-F238E27FC236}">
                <a16:creationId xmlns:a16="http://schemas.microsoft.com/office/drawing/2014/main" id="{D0E82882-924D-5694-4A85-70E6CEE9861C}"/>
              </a:ext>
            </a:extLst>
          </p:cNvPr>
          <p:cNvPicPr>
            <a:picLocks noChangeAspect="1"/>
          </p:cNvPicPr>
          <p:nvPr/>
        </p:nvPicPr>
        <p:blipFill>
          <a:blip r:embed="rId2"/>
          <a:stretch>
            <a:fillRect/>
          </a:stretch>
        </p:blipFill>
        <p:spPr>
          <a:xfrm>
            <a:off x="0" y="2681266"/>
            <a:ext cx="3938404" cy="2146430"/>
          </a:xfrm>
          <a:prstGeom prst="rect">
            <a:avLst/>
          </a:prstGeom>
          <a:effectLst>
            <a:glow rad="228600">
              <a:schemeClr val="accent4">
                <a:satMod val="175000"/>
                <a:alpha val="40000"/>
              </a:schemeClr>
            </a:glow>
          </a:effectLst>
          <a:scene3d>
            <a:camera prst="isometricOffAxis2Left"/>
            <a:lightRig rig="threePt" dir="t"/>
          </a:scene3d>
        </p:spPr>
      </p:pic>
    </p:spTree>
    <p:extLst>
      <p:ext uri="{BB962C8B-B14F-4D97-AF65-F5344CB8AC3E}">
        <p14:creationId xmlns:p14="http://schemas.microsoft.com/office/powerpoint/2010/main" val="281083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EA37D-B1C5-4AD8-4442-6F6B96415D53}"/>
              </a:ext>
            </a:extLst>
          </p:cNvPr>
          <p:cNvSpPr>
            <a:spLocks noGrp="1"/>
          </p:cNvSpPr>
          <p:nvPr>
            <p:ph type="title"/>
          </p:nvPr>
        </p:nvSpPr>
        <p:spPr/>
        <p:txBody>
          <a:bodyPr/>
          <a:lstStyle/>
          <a:p>
            <a:r>
              <a:rPr lang="en-US" b="1" dirty="0">
                <a:solidFill>
                  <a:schemeClr val="accent4">
                    <a:lumMod val="75000"/>
                  </a:schemeClr>
                </a:solidFill>
                <a:latin typeface="Bahnschrift SemiCondensed" panose="020B0502040204020203" pitchFamily="34" charset="0"/>
              </a:rPr>
              <a:t>7</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Cảm</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giác</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thân</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thuộc</a:t>
            </a:r>
            <a:endParaRPr lang="en-US" b="1"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E4721C2E-AA0B-2C5D-7DE6-60B5E5532C9E}"/>
              </a:ext>
            </a:extLst>
          </p:cNvPr>
          <p:cNvSpPr>
            <a:spLocks noGrp="1"/>
          </p:cNvSpPr>
          <p:nvPr>
            <p:ph idx="1"/>
          </p:nvPr>
        </p:nvSpPr>
        <p:spPr>
          <a:xfrm>
            <a:off x="838200" y="1825625"/>
            <a:ext cx="11132976" cy="4351338"/>
          </a:xfrm>
        </p:spPr>
        <p:txBody>
          <a:bodyPr>
            <a:normAutofit/>
          </a:bodyPr>
          <a:lstStyle/>
          <a:p>
            <a:pPr algn="just"/>
            <a:r>
              <a:rPr lang="vi-VN" sz="2400" b="0" i="0" dirty="0">
                <a:solidFill>
                  <a:srgbClr val="080809"/>
                </a:solidFill>
                <a:effectLst/>
                <a:latin typeface="Segoe UI Historic" panose="020B0502040204020203" pitchFamily="34" charset="0"/>
              </a:rPr>
              <a:t>Đây là yếu tố xây dựng sự gắn kết của nhân viên và giữa các thành viên với nhau. Nó giúp họ cảm thấy được hỗ trợ và chia sẻ. </a:t>
            </a:r>
            <a:endParaRPr lang="en-US" sz="2400" b="0" i="0" dirty="0">
              <a:solidFill>
                <a:srgbClr val="080809"/>
              </a:solidFill>
              <a:effectLst/>
              <a:latin typeface="Segoe UI Historic" panose="020B0502040204020203" pitchFamily="34" charset="0"/>
            </a:endParaRPr>
          </a:p>
          <a:p>
            <a:pPr algn="just"/>
            <a:r>
              <a:rPr lang="vi-VN" sz="2400" b="0" i="0" dirty="0">
                <a:solidFill>
                  <a:srgbClr val="080809"/>
                </a:solidFill>
                <a:effectLst/>
                <a:latin typeface="Segoe UI Historic" panose="020B0502040204020203" pitchFamily="34" charset="0"/>
              </a:rPr>
              <a:t>Các nghiên cứu đã chỉ ra, khi nhân viên có cảm giác thân thuộc cao thường có tinh thần đồng đội tốt, đồng thời biết lắng nghe và tôn trọng ý kiến của người khác.</a:t>
            </a:r>
            <a:endParaRPr lang="en-US" sz="2400" dirty="0"/>
          </a:p>
        </p:txBody>
      </p:sp>
      <p:pic>
        <p:nvPicPr>
          <p:cNvPr id="4" name="Picture 2" descr="5 phương pháp tạo động lực cho công nhân viên nỗ lực trong công việc -  CHUYÊN GIA QUÀ TẶNG DOANH NGHIỆP WOWGIFT">
            <a:extLst>
              <a:ext uri="{FF2B5EF4-FFF2-40B4-BE49-F238E27FC236}">
                <a16:creationId xmlns:a16="http://schemas.microsoft.com/office/drawing/2014/main" id="{8B0FC6F3-2554-6953-8067-3F387E2CA7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0771" y="4099520"/>
            <a:ext cx="3442218" cy="1985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397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9A37B-1EA6-6E7A-7CCC-6F2C64520713}"/>
              </a:ext>
            </a:extLst>
          </p:cNvPr>
          <p:cNvSpPr>
            <a:spLocks noGrp="1"/>
          </p:cNvSpPr>
          <p:nvPr>
            <p:ph type="title"/>
          </p:nvPr>
        </p:nvSpPr>
        <p:spPr/>
        <p:txBody>
          <a:bodyPr/>
          <a:lstStyle/>
          <a:p>
            <a:r>
              <a:rPr lang="en-US" b="1" dirty="0">
                <a:solidFill>
                  <a:schemeClr val="accent4">
                    <a:lumMod val="75000"/>
                  </a:schemeClr>
                </a:solidFill>
                <a:latin typeface="Bahnschrift SemiCondensed" panose="020B0502040204020203" pitchFamily="34" charset="0"/>
              </a:rPr>
              <a:t>8</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Phát</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triển</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bản</a:t>
            </a:r>
            <a:r>
              <a:rPr lang="en-US" b="1" i="0" dirty="0">
                <a:solidFill>
                  <a:schemeClr val="accent4">
                    <a:lumMod val="75000"/>
                  </a:schemeClr>
                </a:solidFill>
                <a:effectLst/>
                <a:latin typeface="Bahnschrift SemiCondensed" panose="020B0502040204020203" pitchFamily="34" charset="0"/>
              </a:rPr>
              <a:t> </a:t>
            </a:r>
            <a:r>
              <a:rPr lang="en-US" b="1" i="0" dirty="0" err="1">
                <a:solidFill>
                  <a:schemeClr val="accent4">
                    <a:lumMod val="75000"/>
                  </a:schemeClr>
                </a:solidFill>
                <a:effectLst/>
                <a:latin typeface="Bahnschrift SemiCondensed" panose="020B0502040204020203" pitchFamily="34" charset="0"/>
              </a:rPr>
              <a:t>thân</a:t>
            </a:r>
            <a:endParaRPr lang="en-US" b="1" dirty="0">
              <a:solidFill>
                <a:schemeClr val="accent4">
                  <a:lumMod val="75000"/>
                </a:schemeClr>
              </a:solidFill>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CCC006AC-DF36-0034-1173-9BB71AB962BC}"/>
              </a:ext>
            </a:extLst>
          </p:cNvPr>
          <p:cNvSpPr>
            <a:spLocks noGrp="1"/>
          </p:cNvSpPr>
          <p:nvPr>
            <p:ph idx="1"/>
          </p:nvPr>
        </p:nvSpPr>
        <p:spPr>
          <a:xfrm>
            <a:off x="838200" y="1825625"/>
            <a:ext cx="7018176" cy="4351338"/>
          </a:xfrm>
        </p:spPr>
        <p:txBody>
          <a:bodyPr>
            <a:normAutofit fontScale="70000" lnSpcReduction="20000"/>
          </a:bodyPr>
          <a:lstStyle/>
          <a:p>
            <a:pPr algn="just">
              <a:lnSpc>
                <a:spcPct val="160000"/>
              </a:lnSpc>
            </a:pPr>
            <a:r>
              <a:rPr lang="vi-VN" b="0" i="0" dirty="0">
                <a:solidFill>
                  <a:srgbClr val="080809"/>
                </a:solidFill>
                <a:effectLst/>
                <a:latin typeface="Segoe UI Historic" panose="020B0502040204020203" pitchFamily="34" charset="0"/>
              </a:rPr>
              <a:t>Các doanh nghiệp đa phần vẫn còn mắc phải một sai lầm là nghĩ người lao động chỉ đi làm vì lợi ích tài chính. Điều đó đúng nhưng chưa đủ. Chỉ khi lợi ích tài chính được song hành cùng với sự phát triển cá nhân họ thì họ mới thực sự cảm nhận được giá trị và gắn bó lâu dài với công ty. </a:t>
            </a:r>
            <a:endParaRPr lang="en-US" b="0" i="0" dirty="0">
              <a:solidFill>
                <a:srgbClr val="080809"/>
              </a:solidFill>
              <a:effectLst/>
              <a:latin typeface="Segoe UI Historic" panose="020B0502040204020203" pitchFamily="34" charset="0"/>
            </a:endParaRPr>
          </a:p>
          <a:p>
            <a:pPr algn="just">
              <a:lnSpc>
                <a:spcPct val="160000"/>
              </a:lnSpc>
            </a:pPr>
            <a:r>
              <a:rPr lang="vi-VN" b="0" i="0" dirty="0">
                <a:solidFill>
                  <a:srgbClr val="080809"/>
                </a:solidFill>
                <a:effectLst/>
                <a:latin typeface="Segoe UI Historic" panose="020B0502040204020203" pitchFamily="34" charset="0"/>
              </a:rPr>
              <a:t>Do đó, các tổ chức cần tạo được môi trường giúp các nhân viên nâng cao được kiến thức, kỹ năng và thái độ của bản thân, đồng thời gia tăng được giá trị sống trong cả công việc và cuộc sống của họ</a:t>
            </a:r>
            <a:endParaRPr lang="en-US" dirty="0"/>
          </a:p>
        </p:txBody>
      </p:sp>
      <p:pic>
        <p:nvPicPr>
          <p:cNvPr id="9218" name="Picture 2" descr="Động Lực Là Gì? Vì Sao Cần Tạo Động Lực Cho Nhân Viên? | Cẩm Nang Việc Làm">
            <a:extLst>
              <a:ext uri="{FF2B5EF4-FFF2-40B4-BE49-F238E27FC236}">
                <a16:creationId xmlns:a16="http://schemas.microsoft.com/office/drawing/2014/main" id="{65CEFA6F-8BC1-119C-2110-5F98066B4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5429" y="2125921"/>
            <a:ext cx="4136571" cy="2753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74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860BF-9396-90D5-4ABF-C75F7898F0B3}"/>
              </a:ext>
            </a:extLst>
          </p:cNvPr>
          <p:cNvSpPr>
            <a:spLocks noGrp="1"/>
          </p:cNvSpPr>
          <p:nvPr>
            <p:ph type="title"/>
          </p:nvPr>
        </p:nvSpPr>
        <p:spPr/>
        <p:txBody>
          <a:bodyPr/>
          <a:lstStyle/>
          <a:p>
            <a:r>
              <a:rPr lang="en-US" b="1" dirty="0">
                <a:solidFill>
                  <a:schemeClr val="accent4">
                    <a:lumMod val="75000"/>
                  </a:schemeClr>
                </a:solidFill>
              </a:rPr>
              <a:t>THANKS!</a:t>
            </a:r>
          </a:p>
        </p:txBody>
      </p:sp>
      <p:sp>
        <p:nvSpPr>
          <p:cNvPr id="3" name="Content Placeholder 2">
            <a:extLst>
              <a:ext uri="{FF2B5EF4-FFF2-40B4-BE49-F238E27FC236}">
                <a16:creationId xmlns:a16="http://schemas.microsoft.com/office/drawing/2014/main" id="{D4960B05-ACF6-3983-3077-251D693D6C33}"/>
              </a:ext>
            </a:extLst>
          </p:cNvPr>
          <p:cNvSpPr>
            <a:spLocks noGrp="1"/>
          </p:cNvSpPr>
          <p:nvPr>
            <p:ph idx="1"/>
          </p:nvPr>
        </p:nvSpPr>
        <p:spPr/>
        <p:txBody>
          <a:bodyPr/>
          <a:lstStyle/>
          <a:p>
            <a:endParaRPr lang="en-US"/>
          </a:p>
        </p:txBody>
      </p:sp>
      <p:pic>
        <p:nvPicPr>
          <p:cNvPr id="11266" name="Picture 2" descr="Những câu nói truyền cảm hứng, động lực trong cuộc sống">
            <a:extLst>
              <a:ext uri="{FF2B5EF4-FFF2-40B4-BE49-F238E27FC236}">
                <a16:creationId xmlns:a16="http://schemas.microsoft.com/office/drawing/2014/main" id="{7E775A43-7FCD-91EF-087F-E631BE47B2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5755" y="1614197"/>
            <a:ext cx="6476858" cy="4452840"/>
          </a:xfrm>
          <a:prstGeom prst="rect">
            <a:avLst/>
          </a:prstGeom>
          <a:noFill/>
          <a:effectLst>
            <a:glow rad="228600">
              <a:schemeClr val="accent4">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077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1218</Words>
  <Application>Microsoft Office PowerPoint</Application>
  <PresentationFormat>Widescreen</PresentationFormat>
  <Paragraphs>27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Bahnschrift SemiCondensed</vt:lpstr>
      <vt:lpstr>Calibri</vt:lpstr>
      <vt:lpstr>Calibri Light</vt:lpstr>
      <vt:lpstr>inherit</vt:lpstr>
      <vt:lpstr>Segoe UI Historic</vt:lpstr>
      <vt:lpstr>Office Theme</vt:lpstr>
      <vt:lpstr>GIẢI PHÁP GIÚP  THÚC ĐẨY ĐỘNG LỰC NỘI TẠI</vt:lpstr>
      <vt:lpstr>PowerPoint Presentation</vt:lpstr>
      <vt:lpstr>1. Trao niềm tin là hành vi khích lệ lớn nhất.</vt:lpstr>
      <vt:lpstr>2. Gây dựng sự kết nối.</vt:lpstr>
      <vt:lpstr>3. Sự chân thành</vt:lpstr>
      <vt:lpstr>4. Sự tò mò trong bản thân</vt:lpstr>
      <vt:lpstr>5. Thách thức vượt kỳ vọng</vt:lpstr>
      <vt:lpstr>6. Sự công nhận</vt:lpstr>
      <vt:lpstr>7. Cảm giác thân thuộc</vt:lpstr>
      <vt:lpstr>8. Phát triển bản thân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GIẢI PHÁP GIÚP  THÚC ĐẨY ĐỘNG LỰC NỘI TẠI</dc:title>
  <dc:creator>Administrator</dc:creator>
  <cp:lastModifiedBy>Administrator</cp:lastModifiedBy>
  <cp:revision>1</cp:revision>
  <dcterms:created xsi:type="dcterms:W3CDTF">2025-01-27T16:06:06Z</dcterms:created>
  <dcterms:modified xsi:type="dcterms:W3CDTF">2025-01-27T16:07:12Z</dcterms:modified>
</cp:coreProperties>
</file>