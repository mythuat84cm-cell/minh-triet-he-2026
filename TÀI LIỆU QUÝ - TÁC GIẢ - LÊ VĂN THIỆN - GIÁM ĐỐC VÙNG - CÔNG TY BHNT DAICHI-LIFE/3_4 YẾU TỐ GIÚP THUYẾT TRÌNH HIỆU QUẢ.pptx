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16"/>
  </p:notesMasterIdLst>
  <p:handoutMasterIdLst>
    <p:handoutMasterId r:id="rId17"/>
  </p:handoutMasterIdLst>
  <p:sldIdLst>
    <p:sldId id="317" r:id="rId5"/>
    <p:sldId id="308" r:id="rId6"/>
    <p:sldId id="318" r:id="rId7"/>
    <p:sldId id="309" r:id="rId8"/>
    <p:sldId id="263" r:id="rId9"/>
    <p:sldId id="310" r:id="rId10"/>
    <p:sldId id="319" r:id="rId11"/>
    <p:sldId id="312" r:id="rId12"/>
    <p:sldId id="320" r:id="rId13"/>
    <p:sldId id="321"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5405" autoAdjust="0"/>
  </p:normalViewPr>
  <p:slideViewPr>
    <p:cSldViewPr snapToGrid="0">
      <p:cViewPr varScale="1">
        <p:scale>
          <a:sx n="114" d="100"/>
          <a:sy n="114" d="100"/>
        </p:scale>
        <p:origin x="300" y="8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12/12/2024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12/12/2024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3632432"/>
            <a:ext cx="9410924" cy="2311167"/>
          </a:xfrm>
        </p:spPr>
        <p:txBody>
          <a:bodyPr anchor="ctr"/>
          <a:lstStyle/>
          <a:p>
            <a:r>
              <a:rPr lang="en-US" sz="3600" b="1">
                <a:solidFill>
                  <a:srgbClr val="00B050"/>
                </a:solidFill>
              </a:rPr>
              <a:t>4 YẾU TỐ KỸ NĂNG </a:t>
            </a:r>
            <a:br>
              <a:rPr lang="en-US" sz="3600" b="1">
                <a:solidFill>
                  <a:srgbClr val="00B050"/>
                </a:solidFill>
              </a:rPr>
            </a:br>
            <a:r>
              <a:rPr lang="en-US" sz="3600" b="1">
                <a:solidFill>
                  <a:srgbClr val="00B050"/>
                </a:solidFill>
              </a:rPr>
              <a:t>THUYẾT TRÌNH ĐỈNH CAO</a:t>
            </a:r>
            <a:endParaRPr lang="en-US" sz="3600" b="1" dirty="0">
              <a:solidFill>
                <a:srgbClr val="00B050"/>
              </a:solidFill>
            </a:endParaRPr>
          </a:p>
        </p:txBody>
      </p:sp>
      <p:pic>
        <p:nvPicPr>
          <p:cNvPr id="4" name="Picture 3">
            <a:extLst>
              <a:ext uri="{FF2B5EF4-FFF2-40B4-BE49-F238E27FC236}">
                <a16:creationId xmlns:a16="http://schemas.microsoft.com/office/drawing/2014/main" id="{D91632B6-0D11-4D31-AEA9-C4556F83DB8E}"/>
              </a:ext>
            </a:extLst>
          </p:cNvPr>
          <p:cNvPicPr>
            <a:picLocks noChangeAspect="1"/>
          </p:cNvPicPr>
          <p:nvPr/>
        </p:nvPicPr>
        <p:blipFill>
          <a:blip r:embed="rId3"/>
          <a:stretch>
            <a:fillRect/>
          </a:stretch>
        </p:blipFill>
        <p:spPr>
          <a:xfrm>
            <a:off x="3787216" y="427838"/>
            <a:ext cx="4845056" cy="349146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6" name="Picture 5">
            <a:extLst>
              <a:ext uri="{FF2B5EF4-FFF2-40B4-BE49-F238E27FC236}">
                <a16:creationId xmlns:a16="http://schemas.microsoft.com/office/drawing/2014/main" id="{DB730C54-3700-429F-8992-DA0E05B0EF06}"/>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906011" y="914400"/>
            <a:ext cx="5641848" cy="5029200"/>
          </a:xfrm>
        </p:spPr>
        <p:txBody>
          <a:bodyPr/>
          <a:lstStyle/>
          <a:p>
            <a:pPr>
              <a:lnSpc>
                <a:spcPct val="150000"/>
              </a:lnSpc>
            </a:pPr>
            <a:r>
              <a:rPr lang="vi-VN" sz="1600">
                <a:solidFill>
                  <a:srgbClr val="002060"/>
                </a:solidFill>
              </a:rPr>
              <a:t>Một ý tưởng dù có hay đến đâu sẽ mãi chỉ là ý tưởng nếu thông tin không được trình bày một cách rõ ràng với lập luận</a:t>
            </a:r>
            <a:r>
              <a:rPr lang="en-US" sz="1600">
                <a:solidFill>
                  <a:srgbClr val="002060"/>
                </a:solidFill>
              </a:rPr>
              <a:t> </a:t>
            </a:r>
            <a:r>
              <a:rPr lang="vi-VN" sz="1600">
                <a:solidFill>
                  <a:srgbClr val="002060"/>
                </a:solidFill>
              </a:rPr>
              <a:t>chặt chẽ.</a:t>
            </a:r>
            <a:br>
              <a:rPr lang="en-US" sz="1600">
                <a:solidFill>
                  <a:srgbClr val="002060"/>
                </a:solidFill>
              </a:rPr>
            </a:br>
            <a:r>
              <a:rPr lang="vi-VN" sz="1600">
                <a:solidFill>
                  <a:srgbClr val="002060"/>
                </a:solidFill>
              </a:rPr>
              <a:t>Kỹ năng thuyết trình - Giao tiếp là việc xác lập và vận hành một mối quan hệ. Vận hành mối quan hệ khó hơn xác lập rất nhiều nên nó đòi hỏi rất nhiều các kỹ năng mềm nói, lôi cuốn cảm xúc, thuyết phục, ….</a:t>
            </a:r>
            <a:br>
              <a:rPr lang="en-US" sz="1600">
                <a:solidFill>
                  <a:srgbClr val="002060"/>
                </a:solidFill>
              </a:rPr>
            </a:br>
            <a:r>
              <a:rPr lang="vi-VN" sz="1600">
                <a:solidFill>
                  <a:srgbClr val="002060"/>
                </a:solidFill>
              </a:rPr>
              <a:t>Một người muốn thành công thì ngoài suy nghĩ ở trong đầu thì cũng phải biết cách đẩy nó ra ngoài cho mọi người hiểu qua thuyết trình và không phải cứ nói thế nào cũng được. Những người thành công luôn có các nghệ thuật thuyết trình với các đối tượng phù hợp, và nó chủ yếu tập trung vào 4 yếu tố sau</a:t>
            </a:r>
            <a:r>
              <a:rPr lang="en-US" sz="1600">
                <a:solidFill>
                  <a:srgbClr val="002060"/>
                </a:solidFill>
              </a:rPr>
              <a:t>.</a:t>
            </a:r>
            <a:endParaRPr lang="vi-VN" sz="1600">
              <a:solidFill>
                <a:srgbClr val="002060"/>
              </a:solidFill>
            </a:endParaRPr>
          </a:p>
        </p:txBody>
      </p:sp>
      <p:pic>
        <p:nvPicPr>
          <p:cNvPr id="8" name="Picture Placeholder 21" descr="Person in black skirt and white shirt holding some dandelions">
            <a:extLst>
              <a:ext uri="{FF2B5EF4-FFF2-40B4-BE49-F238E27FC236}">
                <a16:creationId xmlns:a16="http://schemas.microsoft.com/office/drawing/2014/main" id="{FFD2BD9F-962D-9BA5-14BE-C9CD52FEF9C7}"/>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t="18" b="18"/>
          <a:stretch/>
        </p:blipFill>
        <p:spPr>
          <a:xfrm>
            <a:off x="7401941" y="0"/>
            <a:ext cx="4790059" cy="6587067"/>
          </a:xfrm>
        </p:spPr>
      </p:pic>
      <p:pic>
        <p:nvPicPr>
          <p:cNvPr id="4" name="Picture 3">
            <a:extLst>
              <a:ext uri="{FF2B5EF4-FFF2-40B4-BE49-F238E27FC236}">
                <a16:creationId xmlns:a16="http://schemas.microsoft.com/office/drawing/2014/main" id="{D9E56CAA-B442-4DED-909E-A45F26809699}"/>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C92BB-1DDB-405E-9BC6-23FA602D3A7D}"/>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99B6D132-249C-4D02-99F7-27F6DBE13D02}"/>
              </a:ext>
            </a:extLst>
          </p:cNvPr>
          <p:cNvSpPr>
            <a:spLocks noGrp="1"/>
          </p:cNvSpPr>
          <p:nvPr>
            <p:ph type="pic" idx="1"/>
          </p:nvPr>
        </p:nvSpPr>
        <p:spPr/>
      </p:sp>
      <p:pic>
        <p:nvPicPr>
          <p:cNvPr id="3074" name="Picture 2" descr="Não bộ con người - Cấu tạo, chức năng và sự thật thú vị">
            <a:extLst>
              <a:ext uri="{FF2B5EF4-FFF2-40B4-BE49-F238E27FC236}">
                <a16:creationId xmlns:a16="http://schemas.microsoft.com/office/drawing/2014/main" id="{C67D01D0-7A80-4231-B85E-BDBD32C92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593" y="1207558"/>
            <a:ext cx="5715000" cy="41719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3076" name="Picture 4" descr="Những câu nói hay về lòng dạ con người - Stt, status lòng dạ con người thâm  thúy">
            <a:extLst>
              <a:ext uri="{FF2B5EF4-FFF2-40B4-BE49-F238E27FC236}">
                <a16:creationId xmlns:a16="http://schemas.microsoft.com/office/drawing/2014/main" id="{62C72C26-8A9A-438A-8D31-9DA05425D9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749"/>
          <a:stretch/>
        </p:blipFill>
        <p:spPr bwMode="auto">
          <a:xfrm>
            <a:off x="8040400" y="2025485"/>
            <a:ext cx="3839189" cy="223612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D6AA397-2560-438F-BBA4-80A3F1D5B81A}"/>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2542891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pt-BR" b="1">
                <a:solidFill>
                  <a:srgbClr val="7030A0"/>
                </a:solidFill>
              </a:rPr>
              <a:t>1. CHINH PHỤC BỘ NÃO</a:t>
            </a:r>
            <a:endParaRPr lang="en-US" b="1" dirty="0">
              <a:solidFill>
                <a:srgbClr val="7030A0"/>
              </a:solidFill>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3657600" y="2089446"/>
            <a:ext cx="7150608" cy="3356576"/>
          </a:xfrm>
        </p:spPr>
        <p:txBody>
          <a:bodyPr>
            <a:normAutofit fontScale="62500" lnSpcReduction="20000"/>
          </a:bodyPr>
          <a:lstStyle/>
          <a:p>
            <a:pPr algn="just">
              <a:lnSpc>
                <a:spcPct val="170000"/>
              </a:lnSpc>
            </a:pPr>
            <a:r>
              <a:rPr lang="en-US">
                <a:latin typeface="Candara" panose="020E0502030303020204" pitchFamily="34" charset="0"/>
              </a:rPr>
              <a:t>T</a:t>
            </a:r>
            <a:r>
              <a:rPr lang="vi-VN">
                <a:latin typeface="Candara" panose="020E0502030303020204" pitchFamily="34" charset="0"/>
              </a:rPr>
              <a:t>âm trí của đối phương sẽ bị chinh phục khi: Cách bạn thuyết trình có cấu trúc hợp lý: phù hợp với khả năng hiểu của người nghe, phù hợp với cấu trúc chủ đề, phù hợp với mẫu người nghe (phù hợp với lứa tuổi). </a:t>
            </a:r>
          </a:p>
          <a:p>
            <a:pPr algn="just">
              <a:lnSpc>
                <a:spcPct val="170000"/>
              </a:lnSpc>
            </a:pPr>
            <a:r>
              <a:rPr lang="vi-VN">
                <a:latin typeface="Candara" panose="020E0502030303020204" pitchFamily="34" charset="0"/>
              </a:rPr>
              <a:t>Bằng chứng phải đầy đủ và thuyết phục. Bằng chứng có thể ở các dạng sau: khẳng định, bằng chứng bằng ví dụ, dữ liệu thống kê, tài liệu trực quan và các minh chứng giúp người nghe chuyển những điều trừu tượng thành những điều cụ thể.</a:t>
            </a:r>
          </a:p>
          <a:p>
            <a:pPr algn="just">
              <a:lnSpc>
                <a:spcPct val="170000"/>
              </a:lnSpc>
            </a:pPr>
            <a:r>
              <a:rPr lang="vi-VN">
                <a:latin typeface="Candara" panose="020E0502030303020204" pitchFamily="34" charset="0"/>
              </a:rPr>
              <a:t>Nhấn mạnh những lợi ích mà người nghe sẽ nhận được như: Nhóm lợi ích đạt được mà người nghe không có: đó là tiền bạc, thời gian, danh vọng và các tài sản thay thế hoặc Nhóm lợi ích giúp người nghe tránh mất đi cái họ đang có, chẳng hạn như hạnh phúc gia đình. Khi làm như vậy, các nhóm lợi ích không bị mất đi có tác động lớn hơn nhiều so với có thêm lợi ích bổ sung.</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pic>
        <p:nvPicPr>
          <p:cNvPr id="2050" name="Picture 2" descr="Mách teen những trò chơi giúp bài thuyết trình lôi cuốn hơn">
            <a:extLst>
              <a:ext uri="{FF2B5EF4-FFF2-40B4-BE49-F238E27FC236}">
                <a16:creationId xmlns:a16="http://schemas.microsoft.com/office/drawing/2014/main" id="{7D626EEC-9D1A-4207-A1A6-FB7120D29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396" y="2432808"/>
            <a:ext cx="2767833" cy="2306972"/>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E9CE27C-252B-48E8-BECE-808BE06DF7D6}"/>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196691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heel(1)">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heel(1)">
                                      <p:cBhvr>
                                        <p:cTn id="12" dur="2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heel(1)">
                                      <p:cBhvr>
                                        <p:cTn id="17" dur="2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408D6B-28FB-4247-AEEC-4ED0F05F2591}"/>
              </a:ext>
            </a:extLst>
          </p:cNvPr>
          <p:cNvSpPr>
            <a:spLocks noGrp="1"/>
          </p:cNvSpPr>
          <p:nvPr>
            <p:ph type="body" sz="quarter" idx="13"/>
          </p:nvPr>
        </p:nvSpPr>
        <p:spPr/>
        <p:txBody>
          <a:bodyPr/>
          <a:lstStyle/>
          <a:p>
            <a:endParaRPr lang="en-US"/>
          </a:p>
        </p:txBody>
      </p:sp>
      <p:sp>
        <p:nvSpPr>
          <p:cNvPr id="5" name="Title 4">
            <a:extLst>
              <a:ext uri="{FF2B5EF4-FFF2-40B4-BE49-F238E27FC236}">
                <a16:creationId xmlns:a16="http://schemas.microsoft.com/office/drawing/2014/main" id="{0C0A084D-738D-468E-BF70-E7EFC80AA96D}"/>
              </a:ext>
            </a:extLst>
          </p:cNvPr>
          <p:cNvSpPr>
            <a:spLocks noGrp="1"/>
          </p:cNvSpPr>
          <p:nvPr>
            <p:ph type="title"/>
          </p:nvPr>
        </p:nvSpPr>
        <p:spPr/>
        <p:txBody>
          <a:bodyPr/>
          <a:lstStyle/>
          <a:p>
            <a:endParaRPr lang="en-US"/>
          </a:p>
        </p:txBody>
      </p:sp>
      <p:pic>
        <p:nvPicPr>
          <p:cNvPr id="4100" name="Picture 4" descr="110 câu danh ngôn, câu nói hay về sự lựa chọn">
            <a:extLst>
              <a:ext uri="{FF2B5EF4-FFF2-40B4-BE49-F238E27FC236}">
                <a16:creationId xmlns:a16="http://schemas.microsoft.com/office/drawing/2014/main" id="{E6F76B70-EA27-4A51-B8DE-D7B0D32543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9270" y="1019175"/>
            <a:ext cx="6429375" cy="48196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CB3E37C-2BEC-458F-9BC0-CD3399B7BEEC}"/>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109671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vi-VN" b="1">
                <a:solidFill>
                  <a:srgbClr val="7030A0"/>
                </a:solidFill>
              </a:rPr>
              <a:t>2. CHINH PHỤC TRÁI TIM NGƯỜI NGHE</a:t>
            </a:r>
            <a:endParaRPr lang="en-US" b="1" dirty="0">
              <a:solidFill>
                <a:srgbClr val="7030A0"/>
              </a:solidFill>
            </a:endParaRP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352338" y="2039112"/>
            <a:ext cx="6005409" cy="3877055"/>
          </a:xfrm>
        </p:spPr>
        <p:txBody>
          <a:bodyPr>
            <a:normAutofit lnSpcReduction="10000"/>
          </a:bodyPr>
          <a:lstStyle/>
          <a:p>
            <a:pPr marL="342900" indent="-342900" algn="just">
              <a:buFont typeface="Wingdings" panose="05000000000000000000" pitchFamily="2" charset="2"/>
              <a:buChar char="§"/>
            </a:pPr>
            <a:r>
              <a:rPr lang="vi-VN">
                <a:latin typeface="Candara" panose="020E0502030303020204" pitchFamily="34" charset="0"/>
              </a:rPr>
              <a:t>Dù lý lẽ đầy logic nhưng vẫn không thể chinh phục được người nghe mà cần kết nối với người nghe qua các cung bậc cảm xúc khác nhau. Trên thực tế, yếu tố cảm xúc đóng một vai trò lớn hơn nhiều so với yếu tố logic (não bộ). </a:t>
            </a:r>
          </a:p>
          <a:p>
            <a:pPr marL="342900" indent="-342900" algn="just">
              <a:buFont typeface="Wingdings" panose="05000000000000000000" pitchFamily="2" charset="2"/>
              <a:buChar char="§"/>
            </a:pPr>
            <a:r>
              <a:rPr lang="vi-VN">
                <a:latin typeface="Candara" panose="020E0502030303020204" pitchFamily="34" charset="0"/>
              </a:rPr>
              <a:t>Cảm xúc chi phối nhiều hơn vì những bài nói chuyện nếu khơi gợi được cảm xúc, có tính thú vị, nó cho phép người ta nhớ hơn rất nhiều so với số liệu khô khan.</a:t>
            </a:r>
          </a:p>
          <a:p>
            <a:pPr marL="342900" indent="-342900" algn="just">
              <a:buFont typeface="Wingdings" panose="05000000000000000000" pitchFamily="2" charset="2"/>
              <a:buChar char="§"/>
            </a:pPr>
            <a:r>
              <a:rPr lang="vi-VN">
                <a:latin typeface="Candara" panose="020E0502030303020204" pitchFamily="34" charset="0"/>
              </a:rPr>
              <a:t>Cảm xúc thường kích hoạt hành động nhanh hơn số liệu. Mặt khác, người nghe chấp nhận các ý tưởng dựa trên phản xạ cảm xúc của họ trong tiềm thức sau đó, họ về nhà, họ mới tính tới yếu tố suy xét. </a:t>
            </a:r>
          </a:p>
          <a:p>
            <a:pPr lvl="1" algn="just">
              <a:buFont typeface="Wingdings" panose="05000000000000000000" pitchFamily="2" charset="2"/>
              <a:buChar char="§"/>
            </a:pPr>
            <a:endParaRPr lang="en-US" dirty="0">
              <a:latin typeface="Candara" panose="020E0502030303020204" pitchFamily="34" charset="0"/>
            </a:endParaRP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pic>
        <p:nvPicPr>
          <p:cNvPr id="5122" name="Picture 2" descr="70 câu nói hay về cuộc sống tích cực, tiến tới thành công | TIKI">
            <a:extLst>
              <a:ext uri="{FF2B5EF4-FFF2-40B4-BE49-F238E27FC236}">
                <a16:creationId xmlns:a16="http://schemas.microsoft.com/office/drawing/2014/main" id="{5CB8A69E-CDAE-4ACF-8D97-600B43CFF9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56"/>
          <a:stretch/>
        </p:blipFill>
        <p:spPr bwMode="auto">
          <a:xfrm>
            <a:off x="6823045" y="2039112"/>
            <a:ext cx="5016617" cy="35159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206C491-88FD-4946-BE2E-B2F002EDAC58}"/>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423010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arn(inVertic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arn(inVertic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arn(inVertical)">
                                      <p:cBhvr>
                                        <p:cTn id="17"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9B5F1-1ECF-4C91-939A-2950B92984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D62B60-0862-4DF1-9B93-FEC6A027029C}"/>
              </a:ext>
            </a:extLst>
          </p:cNvPr>
          <p:cNvSpPr>
            <a:spLocks noGrp="1"/>
          </p:cNvSpPr>
          <p:nvPr>
            <p:ph sz="quarter" idx="11"/>
          </p:nvPr>
        </p:nvSpPr>
        <p:spPr/>
        <p:txBody>
          <a:bodyPr/>
          <a:lstStyle/>
          <a:p>
            <a:endParaRPr lang="en-US"/>
          </a:p>
        </p:txBody>
      </p:sp>
      <p:sp>
        <p:nvSpPr>
          <p:cNvPr id="4" name="Content Placeholder 3">
            <a:extLst>
              <a:ext uri="{FF2B5EF4-FFF2-40B4-BE49-F238E27FC236}">
                <a16:creationId xmlns:a16="http://schemas.microsoft.com/office/drawing/2014/main" id="{C502F710-4848-4C7F-81DD-6A11186922A8}"/>
              </a:ext>
            </a:extLst>
          </p:cNvPr>
          <p:cNvSpPr>
            <a:spLocks noGrp="1"/>
          </p:cNvSpPr>
          <p:nvPr>
            <p:ph sz="quarter" idx="12"/>
          </p:nvPr>
        </p:nvSpPr>
        <p:spPr/>
        <p:txBody>
          <a:bodyPr/>
          <a:lstStyle/>
          <a:p>
            <a:endParaRPr lang="en-US"/>
          </a:p>
        </p:txBody>
      </p:sp>
      <p:sp>
        <p:nvSpPr>
          <p:cNvPr id="5" name="Slide Number Placeholder 4">
            <a:extLst>
              <a:ext uri="{FF2B5EF4-FFF2-40B4-BE49-F238E27FC236}">
                <a16:creationId xmlns:a16="http://schemas.microsoft.com/office/drawing/2014/main" id="{ADA5C908-FE02-4517-B503-0F480DF62051}"/>
              </a:ext>
            </a:extLst>
          </p:cNvPr>
          <p:cNvSpPr>
            <a:spLocks noGrp="1"/>
          </p:cNvSpPr>
          <p:nvPr>
            <p:ph type="sldNum" sz="quarter" idx="4"/>
          </p:nvPr>
        </p:nvSpPr>
        <p:spPr/>
        <p:txBody>
          <a:bodyPr/>
          <a:lstStyle/>
          <a:p>
            <a:fld id="{58FB4751-880F-D840-AAA9-3A15815CC996}" type="slidenum">
              <a:rPr lang="en-US" smtClean="0"/>
              <a:pPr/>
              <a:t>7</a:t>
            </a:fld>
            <a:endParaRPr lang="en-US" dirty="0"/>
          </a:p>
        </p:txBody>
      </p:sp>
      <p:pic>
        <p:nvPicPr>
          <p:cNvPr id="6146" name="Picture 2" descr="Bản chất con người rất phức tạp, những kẻ càng hay nói đạo lý thì càng sống  tệ không ngờ: Đây là dấu hiệu nhận biết tiểu nhân ai cũng cần để">
            <a:extLst>
              <a:ext uri="{FF2B5EF4-FFF2-40B4-BE49-F238E27FC236}">
                <a16:creationId xmlns:a16="http://schemas.microsoft.com/office/drawing/2014/main" id="{C44436FA-7E7E-41CF-8FD4-AB2B09EC80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644"/>
          <a:stretch/>
        </p:blipFill>
        <p:spPr bwMode="auto">
          <a:xfrm>
            <a:off x="1257300" y="1208801"/>
            <a:ext cx="8564234" cy="47347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253477B-1C55-4CCF-91A3-514C81526C0B}"/>
              </a:ext>
            </a:extLst>
          </p:cNvPr>
          <p:cNvPicPr>
            <a:picLocks noChangeAspect="1"/>
          </p:cNvPicPr>
          <p:nvPr/>
        </p:nvPicPr>
        <p:blipFill>
          <a:blip r:embed="rId3"/>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2866859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595618" y="94777"/>
            <a:ext cx="7534656" cy="914400"/>
          </a:xfrm>
        </p:spPr>
        <p:txBody>
          <a:bodyPr/>
          <a:lstStyle/>
          <a:p>
            <a:r>
              <a:rPr lang="vi-VN" sz="2800" b="1">
                <a:solidFill>
                  <a:srgbClr val="7030A0"/>
                </a:solidFill>
              </a:rPr>
              <a:t>3. XỬ LÝ NGƯỜI</a:t>
            </a:r>
            <a:r>
              <a:rPr lang="en-US" sz="2800" b="1">
                <a:solidFill>
                  <a:srgbClr val="7030A0"/>
                </a:solidFill>
              </a:rPr>
              <a:t> KHÔNG ĐỒNG THUẬN</a:t>
            </a:r>
            <a:endParaRPr lang="en-US" sz="2800" b="1" dirty="0">
              <a:solidFill>
                <a:srgbClr val="7030A0"/>
              </a:solidFill>
            </a:endParaRP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780176" y="1009177"/>
            <a:ext cx="6708726" cy="4905062"/>
          </a:xfrm>
        </p:spPr>
        <p:txBody>
          <a:bodyPr>
            <a:noAutofit/>
          </a:bodyPr>
          <a:lstStyle/>
          <a:p>
            <a:pPr marL="342900" indent="-342900">
              <a:lnSpc>
                <a:spcPct val="170000"/>
              </a:lnSpc>
              <a:buFont typeface="Wingdings" panose="05000000000000000000" pitchFamily="2" charset="2"/>
              <a:buChar char="§"/>
            </a:pPr>
            <a:r>
              <a:rPr lang="vi-VN" sz="1050">
                <a:latin typeface="Candara" panose="020E0502030303020204" pitchFamily="34" charset="0"/>
              </a:rPr>
              <a:t>Ngay cả những đề xuất được suy nghĩ kỹ càng nhất cũng vấp phải sự phản đối. Bất cứ ai cũng có thể trở thành kẻ chống đối bất cứ lúc nào. Họ chống lại vì nhiều lý do. Ví dụ, phản đối do yếu tố kỹ thuật, phản đối do tư tưởng triết học, phản đối do cảm xúc bất mãn, phản đối do mâu thuẫn, v.v.</a:t>
            </a:r>
          </a:p>
          <a:p>
            <a:pPr marL="342900" indent="-342900">
              <a:lnSpc>
                <a:spcPct val="170000"/>
              </a:lnSpc>
              <a:buFont typeface="Wingdings" panose="05000000000000000000" pitchFamily="2" charset="2"/>
              <a:buChar char="§"/>
            </a:pPr>
            <a:r>
              <a:rPr lang="vi-VN" sz="1050">
                <a:latin typeface="Candara" panose="020E0502030303020204" pitchFamily="34" charset="0"/>
              </a:rPr>
              <a:t>Dù nguyên nhân là gì, hãy loại bỏ nó bằng các phương pháp sau.</a:t>
            </a:r>
          </a:p>
          <a:p>
            <a:pPr marL="342900" indent="-342900">
              <a:lnSpc>
                <a:spcPct val="170000"/>
              </a:lnSpc>
              <a:buFont typeface="Wingdings" panose="05000000000000000000" pitchFamily="2" charset="2"/>
              <a:buChar char="§"/>
            </a:pPr>
            <a:r>
              <a:rPr lang="vi-VN" sz="1050">
                <a:latin typeface="Candara" panose="020E0502030303020204" pitchFamily="34" charset="0"/>
              </a:rPr>
              <a:t>Thăm dò động cơ của Họ: Khi gặp phải sự phản kháng, hãy tránh đưa ra những yêu sách và tập trung vào quá trình điều tra động cơ của họ. Sau đó nhanh chóng điều chỉnh phản ứng của mình, điều chỉnh nhanh chóng, ngay lập tức.</a:t>
            </a:r>
          </a:p>
          <a:p>
            <a:pPr marL="342900" indent="-342900">
              <a:lnSpc>
                <a:spcPct val="170000"/>
              </a:lnSpc>
              <a:buFont typeface="Wingdings" panose="05000000000000000000" pitchFamily="2" charset="2"/>
              <a:buChar char="§"/>
            </a:pPr>
            <a:r>
              <a:rPr lang="vi-VN" sz="1050">
                <a:latin typeface="Candara" panose="020E0502030303020204" pitchFamily="34" charset="0"/>
              </a:rPr>
              <a:t>Bây giờ bạn đã hiểu động cơ, đừng tấn công họ chút gì cả mà hãy tiếp tục đọc cảm xúc của họ. Và sự chống đối thường bắt nguồn từ 2 cảm xúc là sợ hãi và không tin tưởng:</a:t>
            </a:r>
          </a:p>
          <a:p>
            <a:pPr marL="571500" lvl="1" indent="-342900">
              <a:lnSpc>
                <a:spcPct val="170000"/>
              </a:lnSpc>
              <a:buFont typeface="Wingdings" panose="05000000000000000000" pitchFamily="2" charset="2"/>
              <a:buChar char="Ø"/>
            </a:pPr>
            <a:r>
              <a:rPr lang="vi-VN" sz="1050">
                <a:latin typeface="Candara" panose="020E0502030303020204" pitchFamily="34" charset="0"/>
              </a:rPr>
              <a:t>Sợ hãi: Họ lo sợ những hậu quả nếu đề xuất của bạn được chấp nhận.</a:t>
            </a:r>
          </a:p>
          <a:p>
            <a:pPr marL="571500" lvl="1" indent="-342900">
              <a:lnSpc>
                <a:spcPct val="170000"/>
              </a:lnSpc>
              <a:buFont typeface="Wingdings" panose="05000000000000000000" pitchFamily="2" charset="2"/>
              <a:buChar char="Ø"/>
            </a:pPr>
            <a:r>
              <a:rPr lang="vi-VN" sz="1050">
                <a:latin typeface="Candara" panose="020E0502030303020204" pitchFamily="34" charset="0"/>
              </a:rPr>
              <a:t>Không tin tưởng: Người ta không tin vì người nghe không thích bạn và bạn không gây dựng được sự tin tưởng của họ.</a:t>
            </a:r>
          </a:p>
          <a:p>
            <a:pPr marL="571500" lvl="1" indent="-342900">
              <a:lnSpc>
                <a:spcPct val="170000"/>
              </a:lnSpc>
              <a:buFont typeface="Wingdings" panose="05000000000000000000" pitchFamily="2" charset="2"/>
              <a:buChar char="Ø"/>
            </a:pPr>
            <a:r>
              <a:rPr lang="vi-VN" sz="1050">
                <a:latin typeface="Candara" panose="020E0502030303020204" pitchFamily="34" charset="0"/>
              </a:rPr>
              <a:t>Cụ thể bạn có thể tạo dựng niềm tin bằng các cách cụ thể như sau:</a:t>
            </a:r>
            <a:endParaRPr lang="en-US" sz="1050">
              <a:latin typeface="Candara" panose="020E0502030303020204" pitchFamily="34" charset="0"/>
            </a:endParaRPr>
          </a:p>
          <a:p>
            <a:pPr marL="1028700" lvl="2" indent="-342900">
              <a:lnSpc>
                <a:spcPct val="170000"/>
              </a:lnSpc>
              <a:buFont typeface="Wingdings" panose="05000000000000000000" pitchFamily="2" charset="2"/>
              <a:buChar char="ü"/>
            </a:pPr>
            <a:r>
              <a:rPr lang="vi-VN" sz="1050">
                <a:latin typeface="Candara" panose="020E0502030303020204" pitchFamily="34" charset="0"/>
              </a:rPr>
              <a:t>Lắng nghe ý kiến ​​của họ và chứng minh rằng bạn và tôi có điểm chung.</a:t>
            </a:r>
          </a:p>
          <a:p>
            <a:pPr marL="1028700" lvl="2" indent="-342900">
              <a:lnSpc>
                <a:spcPct val="170000"/>
              </a:lnSpc>
              <a:buFont typeface="Wingdings" panose="05000000000000000000" pitchFamily="2" charset="2"/>
              <a:buChar char="ü"/>
            </a:pPr>
            <a:r>
              <a:rPr lang="vi-VN" sz="1050">
                <a:latin typeface="Candara" panose="020E0502030303020204" pitchFamily="34" charset="0"/>
              </a:rPr>
              <a:t>Bình tĩnh giải thích và làm rõ vấn đề để làm rõ động cơ dẫn đến sự chống đối.</a:t>
            </a:r>
          </a:p>
          <a:p>
            <a:pPr marL="1028700" lvl="2" indent="-342900">
              <a:lnSpc>
                <a:spcPct val="170000"/>
              </a:lnSpc>
              <a:buFont typeface="Wingdings" panose="05000000000000000000" pitchFamily="2" charset="2"/>
              <a:buChar char="ü"/>
            </a:pPr>
            <a:r>
              <a:rPr lang="vi-VN" sz="1050">
                <a:latin typeface="Candara" panose="020E0502030303020204" pitchFamily="34" charset="0"/>
              </a:rPr>
              <a:t>Đưa ra thông điệp bằng ngôn ngữ hoặc phi ngôn ngữ.</a:t>
            </a:r>
          </a:p>
        </p:txBody>
      </p:sp>
      <p:pic>
        <p:nvPicPr>
          <p:cNvPr id="15" name="Picture Placeholder 14" descr="A person in an apron holding a computer">
            <a:extLst>
              <a:ext uri="{FF2B5EF4-FFF2-40B4-BE49-F238E27FC236}">
                <a16:creationId xmlns:a16="http://schemas.microsoft.com/office/drawing/2014/main" id="{48869757-F643-C013-26AA-3DDE95080099}"/>
              </a:ext>
            </a:extLst>
          </p:cNvPr>
          <p:cNvPicPr>
            <a:picLocks noGrp="1" noChangeAspect="1"/>
          </p:cNvPicPr>
          <p:nvPr>
            <p:ph type="pic" sz="quarter" idx="10"/>
          </p:nvPr>
        </p:nvPicPr>
        <p:blipFill>
          <a:blip r:embed="rId3"/>
          <a:srcRect l="331" r="331"/>
          <a:stretch/>
        </p:blipFill>
        <p:spPr>
          <a:xfrm>
            <a:off x="7623125" y="-20757"/>
            <a:ext cx="4589511" cy="6555026"/>
          </a:xfrm>
        </p:spPr>
      </p:pic>
      <p:pic>
        <p:nvPicPr>
          <p:cNvPr id="6" name="Picture 5">
            <a:extLst>
              <a:ext uri="{FF2B5EF4-FFF2-40B4-BE49-F238E27FC236}">
                <a16:creationId xmlns:a16="http://schemas.microsoft.com/office/drawing/2014/main" id="{8C7FF7CF-85DD-4BA7-A728-B00F61072A50}"/>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85990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fade">
                                      <p:cBhvr>
                                        <p:cTn id="58" dur="1000"/>
                                        <p:tgtEl>
                                          <p:spTgt spid="3">
                                            <p:txEl>
                                              <p:pRg st="9" end="9"/>
                                            </p:txEl>
                                          </p:spTgt>
                                        </p:tgtEl>
                                      </p:cBhvr>
                                    </p:animEffect>
                                    <p:anim calcmode="lin" valueType="num">
                                      <p:cBhvr>
                                        <p:cTn id="5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4E521-A760-4588-9D59-676BB82063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F5983A-9A41-4D69-ADC1-5687F343BEF4}"/>
              </a:ext>
            </a:extLst>
          </p:cNvPr>
          <p:cNvSpPr>
            <a:spLocks noGrp="1"/>
          </p:cNvSpPr>
          <p:nvPr>
            <p:ph sz="quarter" idx="12"/>
          </p:nvPr>
        </p:nvSpPr>
        <p:spPr/>
        <p:txBody>
          <a:bodyPr/>
          <a:lstStyle/>
          <a:p>
            <a:endParaRPr lang="en-US"/>
          </a:p>
        </p:txBody>
      </p:sp>
      <p:sp>
        <p:nvSpPr>
          <p:cNvPr id="4" name="Picture Placeholder 3">
            <a:extLst>
              <a:ext uri="{FF2B5EF4-FFF2-40B4-BE49-F238E27FC236}">
                <a16:creationId xmlns:a16="http://schemas.microsoft.com/office/drawing/2014/main" id="{2A703131-B572-4758-A544-60FB21A18B9B}"/>
              </a:ext>
            </a:extLst>
          </p:cNvPr>
          <p:cNvSpPr>
            <a:spLocks noGrp="1"/>
          </p:cNvSpPr>
          <p:nvPr>
            <p:ph type="pic" sz="quarter" idx="10"/>
          </p:nvPr>
        </p:nvSpPr>
        <p:spPr/>
      </p:sp>
      <p:sp>
        <p:nvSpPr>
          <p:cNvPr id="5" name="Slide Number Placeholder 4">
            <a:extLst>
              <a:ext uri="{FF2B5EF4-FFF2-40B4-BE49-F238E27FC236}">
                <a16:creationId xmlns:a16="http://schemas.microsoft.com/office/drawing/2014/main" id="{F313475F-315D-4716-888B-F1DEB7F913AD}"/>
              </a:ext>
            </a:extLst>
          </p:cNvPr>
          <p:cNvSpPr>
            <a:spLocks noGrp="1"/>
          </p:cNvSpPr>
          <p:nvPr>
            <p:ph type="sldNum" sz="quarter" idx="4"/>
          </p:nvPr>
        </p:nvSpPr>
        <p:spPr/>
        <p:txBody>
          <a:bodyPr/>
          <a:lstStyle/>
          <a:p>
            <a:fld id="{58FB4751-880F-D840-AAA9-3A15815CC996}" type="slidenum">
              <a:rPr lang="en-US" smtClean="0"/>
              <a:pPr/>
              <a:t>9</a:t>
            </a:fld>
            <a:endParaRPr lang="en-US" dirty="0"/>
          </a:p>
        </p:txBody>
      </p:sp>
      <p:pic>
        <p:nvPicPr>
          <p:cNvPr id="7170" name="Picture 2" descr="Thất bại ở đời chính là cố gắng làm vừa lòng tất cả mọi người - DKN.TV">
            <a:extLst>
              <a:ext uri="{FF2B5EF4-FFF2-40B4-BE49-F238E27FC236}">
                <a16:creationId xmlns:a16="http://schemas.microsoft.com/office/drawing/2014/main" id="{6A8A8C22-8F68-477E-BFF0-CF5BB99D1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9854" y="2262187"/>
            <a:ext cx="6667500" cy="23336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F29C5A6-C79A-4B5C-8217-37A3A0343F88}"/>
              </a:ext>
            </a:extLst>
          </p:cNvPr>
          <p:cNvPicPr>
            <a:picLocks noChangeAspect="1"/>
          </p:cNvPicPr>
          <p:nvPr/>
        </p:nvPicPr>
        <p:blipFill>
          <a:blip r:embed="rId3"/>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1550259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4CE95-DFFA-404A-92FF-9182D65BC8A0}"/>
              </a:ext>
            </a:extLst>
          </p:cNvPr>
          <p:cNvSpPr>
            <a:spLocks noGrp="1"/>
          </p:cNvSpPr>
          <p:nvPr>
            <p:ph type="title"/>
          </p:nvPr>
        </p:nvSpPr>
        <p:spPr>
          <a:xfrm>
            <a:off x="801548" y="323731"/>
            <a:ext cx="7534656" cy="914400"/>
          </a:xfrm>
        </p:spPr>
        <p:txBody>
          <a:bodyPr/>
          <a:lstStyle/>
          <a:p>
            <a:r>
              <a:rPr lang="vi-VN" sz="2000" b="1">
                <a:solidFill>
                  <a:srgbClr val="7030A0"/>
                </a:solidFill>
              </a:rPr>
              <a:t>4. GIẢI QUYẾT NHỮNG NGƯ</a:t>
            </a:r>
            <a:r>
              <a:rPr lang="en-US" sz="2000" b="1">
                <a:solidFill>
                  <a:srgbClr val="7030A0"/>
                </a:solidFill>
              </a:rPr>
              <a:t>ỜI THIẾU HIỂU BIẾT</a:t>
            </a:r>
          </a:p>
        </p:txBody>
      </p:sp>
      <p:sp>
        <p:nvSpPr>
          <p:cNvPr id="3" name="Content Placeholder 2">
            <a:extLst>
              <a:ext uri="{FF2B5EF4-FFF2-40B4-BE49-F238E27FC236}">
                <a16:creationId xmlns:a16="http://schemas.microsoft.com/office/drawing/2014/main" id="{7AE944DF-5E35-41C0-AC89-BE070D8F4603}"/>
              </a:ext>
            </a:extLst>
          </p:cNvPr>
          <p:cNvSpPr>
            <a:spLocks noGrp="1"/>
          </p:cNvSpPr>
          <p:nvPr>
            <p:ph sz="quarter" idx="12"/>
          </p:nvPr>
        </p:nvSpPr>
        <p:spPr>
          <a:xfrm>
            <a:off x="828042" y="1476756"/>
            <a:ext cx="6795083" cy="3904488"/>
          </a:xfrm>
        </p:spPr>
        <p:txBody>
          <a:bodyPr>
            <a:noAutofit/>
          </a:bodyPr>
          <a:lstStyle/>
          <a:p>
            <a:pPr marL="342900" indent="-342900">
              <a:lnSpc>
                <a:spcPct val="170000"/>
              </a:lnSpc>
              <a:buFont typeface="Wingdings" panose="05000000000000000000" pitchFamily="2" charset="2"/>
              <a:buChar char="§"/>
            </a:pPr>
            <a:r>
              <a:rPr lang="vi-VN" sz="1200">
                <a:latin typeface="Candara" panose="020E0502030303020204" pitchFamily="34" charset="0"/>
              </a:rPr>
              <a:t>Mọi người phản ứng với sự thuyết phục theo hai cách là Có ý thức và Vô thức.</a:t>
            </a:r>
          </a:p>
          <a:p>
            <a:pPr marL="342900" indent="-342900">
              <a:lnSpc>
                <a:spcPct val="170000"/>
              </a:lnSpc>
              <a:buFont typeface="Wingdings" panose="05000000000000000000" pitchFamily="2" charset="2"/>
              <a:buChar char="§"/>
            </a:pPr>
            <a:r>
              <a:rPr lang="vi-VN" sz="1200">
                <a:latin typeface="Candara" panose="020E0502030303020204" pitchFamily="34" charset="0"/>
              </a:rPr>
              <a:t>Nếu là chấp nhận một cách có ý thức, họ tiếp nhận rất thận trọng. Trên thực tế, nhiều người thiếu hiểu biết, không có thời gian để lắng nghe, không quan tâm và họ thường lắng nghe trong vô thức. Do đó, người thuyết trình thuyết phục bằng logic là vô ích. Do đó, người thuyết trình đưa ra các đề xuất và được chấp nhận một cách rất đơn giản. Đó là một giải pháp tâm lý. Các giải pháp cụ thể là:</a:t>
            </a:r>
          </a:p>
          <a:p>
            <a:pPr marL="571500" lvl="1" indent="-342900">
              <a:lnSpc>
                <a:spcPct val="170000"/>
              </a:lnSpc>
              <a:buFontTx/>
              <a:buChar char="-"/>
            </a:pPr>
            <a:r>
              <a:rPr lang="vi-VN" sz="1200">
                <a:latin typeface="Candara" panose="020E0502030303020204" pitchFamily="34" charset="0"/>
              </a:rPr>
              <a:t>Tạo yếu tố tương đối</a:t>
            </a:r>
            <a:endParaRPr lang="en-US" sz="1200">
              <a:latin typeface="Candara" panose="020E0502030303020204" pitchFamily="34" charset="0"/>
            </a:endParaRPr>
          </a:p>
          <a:p>
            <a:pPr marL="571500" lvl="1" indent="-342900">
              <a:lnSpc>
                <a:spcPct val="170000"/>
              </a:lnSpc>
              <a:buFontTx/>
              <a:buChar char="-"/>
            </a:pPr>
            <a:r>
              <a:rPr lang="vi-VN" sz="1200">
                <a:latin typeface="Candara" panose="020E0502030303020204" pitchFamily="34" charset="0"/>
              </a:rPr>
              <a:t>Tạo ra 1 điểm nào đó tương đồng giữa 2 ta và họ</a:t>
            </a:r>
          </a:p>
          <a:p>
            <a:pPr marL="571500" lvl="1" indent="-342900">
              <a:lnSpc>
                <a:spcPct val="170000"/>
              </a:lnSpc>
              <a:buFontTx/>
              <a:buChar char="-"/>
            </a:pPr>
            <a:r>
              <a:rPr lang="vi-VN" sz="1200">
                <a:latin typeface="Candara" panose="020E0502030303020204" pitchFamily="34" charset="0"/>
              </a:rPr>
              <a:t>Sử dụng các yếu tố có đi có lại</a:t>
            </a:r>
            <a:endParaRPr lang="en-US" sz="1200">
              <a:latin typeface="Candara" panose="020E0502030303020204" pitchFamily="34" charset="0"/>
            </a:endParaRPr>
          </a:p>
          <a:p>
            <a:pPr marL="571500" lvl="1" indent="-342900">
              <a:lnSpc>
                <a:spcPct val="170000"/>
              </a:lnSpc>
              <a:buFontTx/>
              <a:buChar char="-"/>
            </a:pPr>
            <a:r>
              <a:rPr lang="vi-VN" sz="1200">
                <a:latin typeface="Candara" panose="020E0502030303020204" pitchFamily="34" charset="0"/>
              </a:rPr>
              <a:t>Cung cấp bằng chứng xã hội</a:t>
            </a:r>
          </a:p>
          <a:p>
            <a:pPr marL="571500" lvl="1" indent="-342900">
              <a:lnSpc>
                <a:spcPct val="170000"/>
              </a:lnSpc>
              <a:buFontTx/>
              <a:buChar char="-"/>
            </a:pPr>
            <a:r>
              <a:rPr lang="vi-VN" sz="1200">
                <a:latin typeface="Candara" panose="020E0502030303020204" pitchFamily="34" charset="0"/>
              </a:rPr>
              <a:t>Sử dụng các yếu tố cam kết và nhất quán</a:t>
            </a:r>
            <a:endParaRPr lang="en-US" sz="1200">
              <a:latin typeface="Candara" panose="020E0502030303020204" pitchFamily="34" charset="0"/>
            </a:endParaRPr>
          </a:p>
          <a:p>
            <a:pPr marL="571500" lvl="1" indent="-342900">
              <a:lnSpc>
                <a:spcPct val="170000"/>
              </a:lnSpc>
              <a:buFontTx/>
              <a:buChar char="-"/>
            </a:pPr>
            <a:r>
              <a:rPr lang="vi-VN" sz="1200">
                <a:latin typeface="Candara" panose="020E0502030303020204" pitchFamily="34" charset="0"/>
              </a:rPr>
              <a:t>Yếu tố quyền lực</a:t>
            </a:r>
          </a:p>
          <a:p>
            <a:pPr marL="342900" indent="-342900">
              <a:lnSpc>
                <a:spcPct val="170000"/>
              </a:lnSpc>
              <a:buFont typeface="Wingdings" panose="05000000000000000000" pitchFamily="2" charset="2"/>
              <a:buChar char="§"/>
            </a:pPr>
            <a:endParaRPr lang="en-US" sz="1200">
              <a:latin typeface="Candara" panose="020E0502030303020204" pitchFamily="34" charset="0"/>
            </a:endParaRPr>
          </a:p>
        </p:txBody>
      </p:sp>
      <p:sp>
        <p:nvSpPr>
          <p:cNvPr id="4" name="Picture Placeholder 3">
            <a:extLst>
              <a:ext uri="{FF2B5EF4-FFF2-40B4-BE49-F238E27FC236}">
                <a16:creationId xmlns:a16="http://schemas.microsoft.com/office/drawing/2014/main" id="{BC83B0D1-A93B-4910-B803-2AC409A910E0}"/>
              </a:ext>
            </a:extLst>
          </p:cNvPr>
          <p:cNvSpPr>
            <a:spLocks noGrp="1"/>
          </p:cNvSpPr>
          <p:nvPr>
            <p:ph type="pic" sz="quarter" idx="10"/>
          </p:nvPr>
        </p:nvSpPr>
        <p:spPr/>
      </p:sp>
      <p:sp>
        <p:nvSpPr>
          <p:cNvPr id="5" name="Slide Number Placeholder 4">
            <a:extLst>
              <a:ext uri="{FF2B5EF4-FFF2-40B4-BE49-F238E27FC236}">
                <a16:creationId xmlns:a16="http://schemas.microsoft.com/office/drawing/2014/main" id="{93096C53-12EA-4F45-B8D1-12A9922FBF28}"/>
              </a:ext>
            </a:extLst>
          </p:cNvPr>
          <p:cNvSpPr>
            <a:spLocks noGrp="1"/>
          </p:cNvSpPr>
          <p:nvPr>
            <p:ph type="sldNum" sz="quarter" idx="4"/>
          </p:nvPr>
        </p:nvSpPr>
        <p:spPr/>
        <p:txBody>
          <a:bodyPr/>
          <a:lstStyle/>
          <a:p>
            <a:fld id="{58FB4751-880F-D840-AAA9-3A15815CC996}" type="slidenum">
              <a:rPr lang="en-US" smtClean="0"/>
              <a:pPr/>
              <a:t>10</a:t>
            </a:fld>
            <a:endParaRPr lang="en-US" dirty="0"/>
          </a:p>
        </p:txBody>
      </p:sp>
      <p:pic>
        <p:nvPicPr>
          <p:cNvPr id="8194" name="Picture 2" descr="006. Đừng cố gắng làm vừa lòng tất cả mọi người - Tuệ Tâm VH">
            <a:extLst>
              <a:ext uri="{FF2B5EF4-FFF2-40B4-BE49-F238E27FC236}">
                <a16:creationId xmlns:a16="http://schemas.microsoft.com/office/drawing/2014/main" id="{2D93ED16-3A91-4653-84E3-32B444B52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4810" y="1893355"/>
            <a:ext cx="3830406" cy="307128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171374A-5AFA-4EA1-BFEE-59B31697A351}"/>
              </a:ext>
            </a:extLst>
          </p:cNvPr>
          <p:cNvPicPr>
            <a:picLocks noChangeAspect="1"/>
          </p:cNvPicPr>
          <p:nvPr/>
        </p:nvPicPr>
        <p:blipFill>
          <a:blip r:embed="rId3"/>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293523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down)">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3" name="Content Placeholder 2">
            <a:extLst>
              <a:ext uri="{FF2B5EF4-FFF2-40B4-BE49-F238E27FC236}">
                <a16:creationId xmlns:a16="http://schemas.microsoft.com/office/drawing/2014/main" id="{12AB0813-D96A-4717-8922-DF2FC45AC6E4}"/>
              </a:ext>
            </a:extLst>
          </p:cNvPr>
          <p:cNvSpPr>
            <a:spLocks noGrp="1"/>
          </p:cNvSpPr>
          <p:nvPr>
            <p:ph sz="quarter" idx="13"/>
          </p:nvPr>
        </p:nvSpPr>
        <p:spPr/>
        <p:txBody>
          <a:bodyPr/>
          <a:lstStyle/>
          <a:p>
            <a:endParaRPr lang="en-US"/>
          </a:p>
        </p:txBody>
      </p:sp>
      <p:pic>
        <p:nvPicPr>
          <p:cNvPr id="9218" name="Picture 2" descr="Những câu nói truyền cảm hứng, động lực trong cuộc sống">
            <a:extLst>
              <a:ext uri="{FF2B5EF4-FFF2-40B4-BE49-F238E27FC236}">
                <a16:creationId xmlns:a16="http://schemas.microsoft.com/office/drawing/2014/main" id="{CF26048C-4737-4A6A-9D66-5ADA95E7B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4583" y="1101055"/>
            <a:ext cx="6772204" cy="465589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C116760-B4FF-43E2-81D8-FC8F1D0C8DF2}"/>
              </a:ext>
            </a:extLst>
          </p:cNvPr>
          <p:cNvPicPr>
            <a:picLocks noChangeAspect="1"/>
          </p:cNvPicPr>
          <p:nvPr/>
        </p:nvPicPr>
        <p:blipFill>
          <a:blip r:embed="rId4"/>
          <a:stretch>
            <a:fillRect/>
          </a:stretch>
        </p:blipFill>
        <p:spPr>
          <a:xfrm>
            <a:off x="11276076" y="219397"/>
            <a:ext cx="810838" cy="695004"/>
          </a:xfrm>
          <a:prstGeom prst="rect">
            <a:avLst/>
          </a:prstGeom>
        </p:spPr>
      </p:pic>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{A04874F6-C82F-4194-B09E-0BFCAA9415F5}tf11964407_win32</Template>
  <TotalTime>0</TotalTime>
  <Words>1015</Words>
  <Application>Microsoft Office PowerPoint</Application>
  <PresentationFormat>Widescreen</PresentationFormat>
  <Paragraphs>43</Paragraphs>
  <Slides>11</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Candara</vt:lpstr>
      <vt:lpstr>Courier New</vt:lpstr>
      <vt:lpstr>Gill Sans Nova Light</vt:lpstr>
      <vt:lpstr>Sagona Book</vt:lpstr>
      <vt:lpstr>Wingdings</vt:lpstr>
      <vt:lpstr>Custom</vt:lpstr>
      <vt:lpstr>4 YẾU TỐ KỸ NĂNG  THUYẾT TRÌNH ĐỈNH CAO</vt:lpstr>
      <vt:lpstr>Một ý tưởng dù có hay đến đâu sẽ mãi chỉ là ý tưởng nếu thông tin không được trình bày một cách rõ ràng với lập luận chặt chẽ. Kỹ năng thuyết trình - Giao tiếp là việc xác lập và vận hành một mối quan hệ. Vận hành mối quan hệ khó hơn xác lập rất nhiều nên nó đòi hỏi rất nhiều các kỹ năng mềm nói, lôi cuốn cảm xúc, thuyết phục, …. Một người muốn thành công thì ngoài suy nghĩ ở trong đầu thì cũng phải biết cách đẩy nó ra ngoài cho mọi người hiểu qua thuyết trình và không phải cứ nói thế nào cũng được. Những người thành công luôn có các nghệ thuật thuyết trình với các đối tượng phù hợp, và nó chủ yếu tập trung vào 4 yếu tố sau.</vt:lpstr>
      <vt:lpstr>PowerPoint Presentation</vt:lpstr>
      <vt:lpstr>1. CHINH PHỤC BỘ NÃO</vt:lpstr>
      <vt:lpstr>PowerPoint Presentation</vt:lpstr>
      <vt:lpstr>2. CHINH PHỤC TRÁI TIM NGƯỜI NGHE</vt:lpstr>
      <vt:lpstr>PowerPoint Presentation</vt:lpstr>
      <vt:lpstr>3. XỬ LÝ NGƯỜI KHÔNG ĐỒNG THUẬN</vt:lpstr>
      <vt:lpstr>PowerPoint Presentation</vt:lpstr>
      <vt:lpstr>4. GIẢI QUYẾT NHỮNG NGƯỜI THIẾU HIỂU BIẾT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2024-12-12T12:26:21Z</dcterms:created>
  <dcterms:modified xsi:type="dcterms:W3CDTF">2024-12-12T12:54:31Z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