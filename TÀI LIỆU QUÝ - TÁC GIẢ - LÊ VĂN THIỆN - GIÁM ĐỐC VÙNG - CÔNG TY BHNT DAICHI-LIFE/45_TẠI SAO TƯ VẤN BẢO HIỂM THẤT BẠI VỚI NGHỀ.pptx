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4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6488-5BBE-5668-9E01-22523D660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D10F1-7D99-2D94-2FDB-7396EFF60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DFFA0-2163-2BD0-D0F4-12BA5DA3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8BC01-1D56-BC80-C620-61F6E7510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544D7-4E72-E687-FCF2-F02FEC05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01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7595-9E72-5458-5FAE-EF5668C4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97AB-A6B1-CCFF-BBAE-C28332BBA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B5833-DC3A-2E28-0616-850B2563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22BD3-3AB1-9A89-8369-9BF810EEB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A9700-4967-230A-18FB-2996C568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04800-1BAB-8D77-F156-9626D863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FFB9B-168A-21DD-D9DC-D9CECED6F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A0C50-BB0B-47F5-7CB9-B1033437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0F9D9-F281-A34A-1041-CD4A7F73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6190-0C1A-5D1F-90EB-09C83C7B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0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3D07-7D4B-2483-2E7B-CC24BD8E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8784-21BE-E8FA-EF2D-065B3703A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FD103-F24D-2EDA-8D28-A3CC33CD4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E1BE5-9EFB-4E72-4793-034659C2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27B9B-3BE0-BDDC-880C-60005B0F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285E7-BAA9-042C-2209-6ADCB788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7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107A-5F67-910F-B14E-6E4D0E815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D4E14-A83E-1135-BFF1-4FCC15A31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69657-B22F-0DE8-236F-06A0D41A6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F5982-28C4-6389-A76F-629D57142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D9D0D-1A7E-C30A-F447-B0AB6D224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BC0EE-AD10-144E-6532-6D6B1973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C0A8A-0898-A2DA-DC3E-7023B73A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30934-713E-E37C-E832-9CABE7D1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3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85E5-9B59-ED14-3E87-813626D1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123FC-4ED4-4210-46B7-B37C564C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92D82-DF43-00B6-984B-6F2A61ED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907BD-BD2A-580F-B789-5365A243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1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99857-207E-2FDC-7F86-C76B646C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8A4F8-4FF3-61F9-9249-AB1E1D60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B23E5-DDC4-FFF5-3CDA-8BEB1343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4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4D87-8B54-E1A1-2149-24A06BF0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D4647-8458-C287-7C39-0E5A4AE1E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95486-1E01-306C-3E91-E66CE34DE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AE1CB-686A-F95C-F11B-E115B899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B77AE-2844-D936-64FA-C2DE443A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39836-D772-1A7D-CBBC-9892ED5B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FFD0-6A62-58A0-873C-D54DE8C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BC8B2-C353-A339-CD6F-3A8D09F42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BD434-BE4B-FD9D-AB1F-8CB59CAB2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88157-0D74-3A16-3219-15A1B274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5B116-D09D-3D78-31E4-E5A1ECC9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5213B-C27A-B503-B71E-2D869AE1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4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C233-EECF-CE8A-0661-2EEBC0CB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BFE3E-2D38-B87F-3695-33721FF1B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05FCE-8345-B231-5A65-3FF61A77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256F8-8860-4867-6274-7FA2C641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F1163-123F-0045-B2F4-EDD5AC52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0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400A7-A76C-B50B-83AA-E32C9EC38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7E1D5-B345-1B6D-3475-B62B6BC1B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EB082-DADD-59B4-E97C-CB185F7B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D0F9-45FE-24A0-27F1-FE09F45C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CDF9F-1180-FFCE-28F2-9F4A3C70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8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7ED5D-D37D-22C1-7C15-8CD7C2DE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06A7F-5FAC-C945-0CC7-54BC0D344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90A5F-46DE-6222-CC11-145F052DB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E1943-FFA3-4766-9423-397BD182F53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5D8E-C1EA-BC2E-0957-B5C42B145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129FD-DFF1-3EB1-008E-E438A8B7C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E262E-B713-48DD-8390-317B5AA82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5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DDA6-85EC-3883-9DA1-8FAD70B08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4542" y="3285413"/>
            <a:ext cx="6706739" cy="23876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TẠI SAO TƯ VẤN THẤT BẠI VỚI NGHỀ BẢO HIỂM</a:t>
            </a:r>
          </a:p>
        </p:txBody>
      </p:sp>
      <p:pic>
        <p:nvPicPr>
          <p:cNvPr id="1026" name="Picture 2" descr="8 Bài Học Được Rút Ra Từ Thất Bại Khi Khởi Nghiệp">
            <a:extLst>
              <a:ext uri="{FF2B5EF4-FFF2-40B4-BE49-F238E27FC236}">
                <a16:creationId xmlns:a16="http://schemas.microsoft.com/office/drawing/2014/main" id="{D6223E8E-4C8D-0D6E-E36B-2B4128F4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718457"/>
            <a:ext cx="4436373" cy="29547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6110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E6D5-0D4A-FFDB-B14C-CA0995C5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CHUYỆN GÌ ĐANG XẢY 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27643-D64C-7590-D2B7-83962B321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1657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Mỗi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năm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các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cty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bảo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hiểm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tuyển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dụng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vài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chục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ngàn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người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,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nhưng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tại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sao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tỷ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lệ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gắn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bó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và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thành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công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lạ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i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rất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thấp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,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mặc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dù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đây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là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nghề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rất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giá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trị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và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thu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nhập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dirty="0" err="1">
                <a:solidFill>
                  <a:srgbClr val="1F1F1F"/>
                </a:solidFill>
                <a:latin typeface="Google Sans"/>
              </a:rPr>
              <a:t>cao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.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 algn="just">
              <a:buNone/>
            </a:pPr>
            <a:r>
              <a:rPr lang="vi-VN" b="0" i="0" dirty="0">
                <a:solidFill>
                  <a:srgbClr val="1F1F1F"/>
                </a:solidFill>
                <a:effectLst/>
                <a:latin typeface="Google Sans"/>
              </a:rPr>
              <a:t>Theo thống kê của Hiệp hội bảo hiểm Việt Nam thì </a:t>
            </a:r>
            <a:r>
              <a:rPr lang="vi-VN" b="0" i="0" dirty="0">
                <a:solidFill>
                  <a:srgbClr val="040C28"/>
                </a:solidFill>
                <a:effectLst/>
                <a:latin typeface="Google Sans"/>
              </a:rPr>
              <a:t>95% người làm nghề tư vấn bảo hiểm nhân thọ bị “đào thải” sau 2 năm đầu, chỉ có 5% có thể trụ lại với công việc này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</a:p>
        </p:txBody>
      </p:sp>
      <p:pic>
        <p:nvPicPr>
          <p:cNvPr id="1026" name="Picture 2" descr="3 lý do chính khiến nhân viên rời bỏ doanh nghiệp - MarketingTrips">
            <a:extLst>
              <a:ext uri="{FF2B5EF4-FFF2-40B4-BE49-F238E27FC236}">
                <a16:creationId xmlns:a16="http://schemas.microsoft.com/office/drawing/2014/main" id="{AF2695C6-A2C5-4F35-1ECD-9BEBDEC70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648" y="2394679"/>
            <a:ext cx="4892233" cy="275595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03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F9E6-3C61-9A00-AE47-F4D97FFD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1. CHƯA ĐỦ NIỀM TIN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5D0F-D976-1FA2-C818-27E803D81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972" y="1547719"/>
            <a:ext cx="10354056" cy="4351338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400" b="1" dirty="0" err="1">
                <a:solidFill>
                  <a:srgbClr val="002060"/>
                </a:solidFill>
              </a:rPr>
              <a:t>Thiếu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niềm</a:t>
            </a:r>
            <a:r>
              <a:rPr lang="en-US" altLang="en-US" sz="2400" b="1" dirty="0">
                <a:solidFill>
                  <a:srgbClr val="002060"/>
                </a:solidFill>
              </a:rPr>
              <a:t> tin: </a:t>
            </a:r>
            <a:r>
              <a:rPr lang="en-US" altLang="en-US" sz="2400" dirty="0" err="1">
                <a:solidFill>
                  <a:srgbClr val="002060"/>
                </a:solidFill>
              </a:rPr>
              <a:t>Người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tư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vấn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không</a:t>
            </a:r>
            <a:r>
              <a:rPr lang="en-US" altLang="en-US" sz="2400" dirty="0">
                <a:solidFill>
                  <a:srgbClr val="002060"/>
                </a:solidFill>
              </a:rPr>
              <a:t> tin </a:t>
            </a:r>
            <a:r>
              <a:rPr lang="en-US" altLang="en-US" sz="2400" dirty="0" err="1">
                <a:solidFill>
                  <a:srgbClr val="002060"/>
                </a:solidFill>
              </a:rPr>
              <a:t>vào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bản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thân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có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thể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làm</a:t>
            </a:r>
            <a:r>
              <a:rPr lang="en-US" altLang="en-US" sz="2400" dirty="0">
                <a:solidFill>
                  <a:srgbClr val="002060"/>
                </a:solidFill>
              </a:rPr>
              <a:t>, </a:t>
            </a:r>
            <a:r>
              <a:rPr lang="en-US" altLang="en-US" sz="2400" dirty="0" err="1">
                <a:solidFill>
                  <a:srgbClr val="002060"/>
                </a:solidFill>
              </a:rPr>
              <a:t>không</a:t>
            </a:r>
            <a:r>
              <a:rPr lang="en-US" altLang="en-US" sz="2400" dirty="0">
                <a:solidFill>
                  <a:srgbClr val="002060"/>
                </a:solidFill>
              </a:rPr>
              <a:t> tin </a:t>
            </a:r>
            <a:r>
              <a:rPr lang="en-US" altLang="en-US" sz="2400" dirty="0" err="1">
                <a:solidFill>
                  <a:srgbClr val="002060"/>
                </a:solidFill>
              </a:rPr>
              <a:t>công</a:t>
            </a:r>
            <a:r>
              <a:rPr lang="en-US" altLang="en-US" sz="2400" dirty="0">
                <a:solidFill>
                  <a:srgbClr val="002060"/>
                </a:solidFill>
              </a:rPr>
              <a:t> ty, </a:t>
            </a:r>
            <a:r>
              <a:rPr lang="en-US" altLang="en-US" sz="2400" dirty="0" err="1">
                <a:solidFill>
                  <a:srgbClr val="002060"/>
                </a:solidFill>
              </a:rPr>
              <a:t>không</a:t>
            </a:r>
            <a:r>
              <a:rPr lang="en-US" altLang="en-US" sz="2400" dirty="0">
                <a:solidFill>
                  <a:srgbClr val="002060"/>
                </a:solidFill>
              </a:rPr>
              <a:t> tin </a:t>
            </a:r>
            <a:r>
              <a:rPr lang="en-US" altLang="en-US" sz="2400" dirty="0" err="1">
                <a:solidFill>
                  <a:srgbClr val="002060"/>
                </a:solidFill>
              </a:rPr>
              <a:t>vào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nghề</a:t>
            </a:r>
            <a:r>
              <a:rPr lang="en-US" altLang="en-US" sz="2400" dirty="0">
                <a:solidFill>
                  <a:srgbClr val="002060"/>
                </a:solidFill>
              </a:rPr>
              <a:t>. </a:t>
            </a:r>
            <a:r>
              <a:rPr lang="en-US" altLang="en-US" sz="2400" dirty="0" err="1">
                <a:solidFill>
                  <a:srgbClr val="002060"/>
                </a:solidFill>
              </a:rPr>
              <a:t>Điều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này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làm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cho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họ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không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tư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vấn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hoặc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bỏ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nghề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sớm</a:t>
            </a:r>
            <a:r>
              <a:rPr lang="en-US" altLang="en-US" sz="2400" dirty="0">
                <a:solidFill>
                  <a:srgbClr val="002060"/>
                </a:solidFill>
              </a:rPr>
              <a:t>.</a:t>
            </a:r>
          </a:p>
          <a:p>
            <a:pPr algn="just" eaLnBrk="1" hangingPunct="1"/>
            <a:r>
              <a:rPr lang="en-US" altLang="en-US" sz="2400" b="1" dirty="0" err="1">
                <a:solidFill>
                  <a:srgbClr val="002060"/>
                </a:solidFill>
              </a:rPr>
              <a:t>Làm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vì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tiền</a:t>
            </a:r>
            <a:r>
              <a:rPr lang="en-US" altLang="en-US" sz="2400" b="1" dirty="0">
                <a:solidFill>
                  <a:srgbClr val="002060"/>
                </a:solidFill>
              </a:rPr>
              <a:t>: </a:t>
            </a:r>
            <a:r>
              <a:rPr lang="en-US" altLang="en-US" sz="2400" dirty="0" err="1">
                <a:solidFill>
                  <a:srgbClr val="002060"/>
                </a:solidFill>
              </a:rPr>
              <a:t>Đúng</a:t>
            </a:r>
            <a:r>
              <a:rPr lang="en-US" altLang="en-US" sz="2400" dirty="0">
                <a:solidFill>
                  <a:srgbClr val="002060"/>
                </a:solidFill>
              </a:rPr>
              <a:t> ai </a:t>
            </a:r>
            <a:r>
              <a:rPr lang="en-US" altLang="en-US" sz="2400" dirty="0" err="1">
                <a:solidFill>
                  <a:srgbClr val="002060"/>
                </a:solidFill>
              </a:rPr>
              <a:t>cũng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làm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vì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cần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tiền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nhưng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có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nhiều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người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vào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nghề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này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kiếm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thêm</a:t>
            </a:r>
            <a:r>
              <a:rPr lang="en-US" altLang="en-US" sz="2400" dirty="0">
                <a:solidFill>
                  <a:srgbClr val="002060"/>
                </a:solidFill>
              </a:rPr>
              <a:t>, </a:t>
            </a:r>
            <a:r>
              <a:rPr lang="en-US" altLang="en-US" sz="2400" dirty="0" err="1">
                <a:solidFill>
                  <a:srgbClr val="002060"/>
                </a:solidFill>
              </a:rPr>
              <a:t>kiếm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vài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cú</a:t>
            </a:r>
            <a:r>
              <a:rPr lang="en-US" altLang="en-US" sz="2400" dirty="0">
                <a:solidFill>
                  <a:srgbClr val="002060"/>
                </a:solidFill>
              </a:rPr>
              <a:t>… </a:t>
            </a:r>
            <a:r>
              <a:rPr lang="en-US" altLang="en-US" sz="2400" dirty="0" err="1">
                <a:solidFill>
                  <a:srgbClr val="002060"/>
                </a:solidFill>
              </a:rPr>
              <a:t>chán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thì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bỏ</a:t>
            </a:r>
            <a:r>
              <a:rPr lang="en-US" altLang="en-US" sz="2400" dirty="0">
                <a:solidFill>
                  <a:srgbClr val="002060"/>
                </a:solidFill>
              </a:rPr>
              <a:t>.</a:t>
            </a:r>
          </a:p>
          <a:p>
            <a:pPr algn="just" eaLnBrk="1" hangingPunct="1"/>
            <a:r>
              <a:rPr lang="en-US" altLang="en-US" sz="2400" b="1" dirty="0" err="1">
                <a:solidFill>
                  <a:srgbClr val="002060"/>
                </a:solidFill>
              </a:rPr>
              <a:t>Tâm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lý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nghề</a:t>
            </a:r>
            <a:r>
              <a:rPr lang="en-US" altLang="en-US" sz="2400" b="1" dirty="0">
                <a:solidFill>
                  <a:srgbClr val="002060"/>
                </a:solidFill>
              </a:rPr>
              <a:t>: </a:t>
            </a:r>
            <a:r>
              <a:rPr lang="en-US" altLang="en-US" sz="2400" dirty="0" err="1">
                <a:solidFill>
                  <a:srgbClr val="002060"/>
                </a:solidFill>
              </a:rPr>
              <a:t>Nghề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mang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nhiều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điều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tiếng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nên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không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dám</a:t>
            </a:r>
            <a:r>
              <a:rPr lang="en-US" altLang="en-US" sz="2400" dirty="0">
                <a:solidFill>
                  <a:srgbClr val="002060"/>
                </a:solidFill>
              </a:rPr>
              <a:t> chia </a:t>
            </a:r>
            <a:r>
              <a:rPr lang="en-US" altLang="en-US" sz="2400" dirty="0" err="1">
                <a:solidFill>
                  <a:srgbClr val="002060"/>
                </a:solidFill>
              </a:rPr>
              <a:t>sẻ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với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người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khách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mình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làm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nghề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bảo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hiểm</a:t>
            </a:r>
            <a:r>
              <a:rPr lang="en-US" altLang="en-US" sz="2400" dirty="0">
                <a:solidFill>
                  <a:srgbClr val="002060"/>
                </a:solidFill>
              </a:rPr>
              <a:t>, </a:t>
            </a:r>
            <a:r>
              <a:rPr lang="en-US" altLang="en-US" sz="2400" dirty="0" err="1">
                <a:solidFill>
                  <a:srgbClr val="002060"/>
                </a:solidFill>
              </a:rPr>
              <a:t>sợ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bị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kỳ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thị</a:t>
            </a:r>
            <a:r>
              <a:rPr lang="en-US" altLang="en-US" sz="2400" dirty="0">
                <a:solidFill>
                  <a:srgbClr val="002060"/>
                </a:solidFill>
              </a:rPr>
              <a:t>.</a:t>
            </a:r>
          </a:p>
          <a:p>
            <a:pPr algn="just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E6276-3AEA-86E1-98CC-2FE7AABE18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736" b="6150"/>
          <a:stretch/>
        </p:blipFill>
        <p:spPr>
          <a:xfrm>
            <a:off x="3675888" y="4070858"/>
            <a:ext cx="5413248" cy="2487929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8711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922F-2084-56F1-4D61-DAF85512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2. THIẾU KIẾN THỨC VÀ KỸ NĂNG CHUYÊN MÔN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C93B26-CF53-ED1C-58D3-05AB8461C5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1722" y="1766508"/>
            <a:ext cx="633648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nắm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vững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quyền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Yếu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về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k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ỹ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lắng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thuyết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niệm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050" name="Picture 2" descr="Năng lực là gì? 5 cách nâng cao năng lực bản thân bạn cần biết">
            <a:extLst>
              <a:ext uri="{FF2B5EF4-FFF2-40B4-BE49-F238E27FC236}">
                <a16:creationId xmlns:a16="http://schemas.microsoft.com/office/drawing/2014/main" id="{1ADF4793-3A50-027B-AC36-B0326D41C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187" y="3791823"/>
            <a:ext cx="4933883" cy="275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9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6FD7-1334-DA67-BAE2-C00FFBE9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3</a:t>
            </a:r>
            <a:r>
              <a:rPr lang="vi-VN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. KHÔNG XÂY DỰNG ĐƯỢC LÒNG TIN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38E7E7-0B98-56C0-BE2E-F2116AFB7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697" y="1494686"/>
            <a:ext cx="662800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hoạch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rằng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này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ăn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ngã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hoạch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chiến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lược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găn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bó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lâu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dài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tưởng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gây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lòng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3074" name="Picture 2" descr="9 cách làm khách hàng tin tưởng ngay cả khi bạn chưa có thương hiệu -  SUNO.vn Blog">
            <a:extLst>
              <a:ext uri="{FF2B5EF4-FFF2-40B4-BE49-F238E27FC236}">
                <a16:creationId xmlns:a16="http://schemas.microsoft.com/office/drawing/2014/main" id="{23166208-C9E7-90CE-54FC-DD6281F7F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58" y="3665990"/>
            <a:ext cx="3496267" cy="251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5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7C8D-F85D-62C7-920C-673C9336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4. THIẾU KIÊN NHẪN VÀ SỰ KIÊN TRÌ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D43CF7-E7E8-7739-22D8-FC7DDFFDB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7140"/>
            <a:ext cx="6854505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nản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lòng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nhẫn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gặp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cuộc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sớm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dõi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sóc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xuyên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Tuy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duy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tạm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bợ</a:t>
            </a:r>
            <a:r>
              <a:rPr lang="en-US" altLang="en-US" sz="1800" b="1" dirty="0">
                <a:latin typeface="Arial" panose="020B0604020202020204" pitchFamily="34" charset="0"/>
              </a:rPr>
              <a:t>: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Người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vấn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nghĩ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rằng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vào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có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thêm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tốt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có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còn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đang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làm</a:t>
            </a:r>
            <a:r>
              <a:rPr lang="en-US" altLang="en-US" sz="1800" dirty="0">
                <a:latin typeface="Arial" panose="020B0604020202020204" pitchFamily="34" charset="0"/>
              </a:rPr>
              <a:t>. </a:t>
            </a:r>
            <a:r>
              <a:rPr lang="en-US" altLang="en-US" sz="1800" dirty="0" err="1">
                <a:latin typeface="Arial" panose="020B0604020202020204" pitchFamily="34" charset="0"/>
              </a:rPr>
              <a:t>Họ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đặt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nặng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sự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nghiệp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vào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nghề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này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Tiếng Anh giao tiếp Langmaster - ĐỜI NÀY KHÔNG BAO GIỜ THIẾU NGƯỜI BIẾT CỐ  GẮNG, CHỈ THIẾU NGƯỜI BIẾT KIÊN TRÌ! 1. Nếu không chịu cố gắng thì một năm  sau">
            <a:extLst>
              <a:ext uri="{FF2B5EF4-FFF2-40B4-BE49-F238E27FC236}">
                <a16:creationId xmlns:a16="http://schemas.microsoft.com/office/drawing/2014/main" id="{1BFDD018-E59D-05CB-B659-29324B215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366" y="2281937"/>
            <a:ext cx="2701123" cy="2701123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91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15A5-076F-EA4F-4591-240A2D99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5. KHÔNG HIỂU RÕ NHU CẦU CỦA KHÁCH HÀNG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98C434-3F14-9131-AC3D-FBF4A1B4E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3553" y="1482939"/>
            <a:ext cx="747757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tâm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lý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sự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mong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đợi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đến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thiếu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lắng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nghe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hiểu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họ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muốn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gì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đến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từ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chối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muốn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vấn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sai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bản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chất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vấn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hiểu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hoặc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lợi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ích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bản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thân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Tiếng Việt - giàu và đẹp - Những mẩu chuyện vui về câu “Ông nói gà bà nói  vịt” Trong sự giao tiếp với nhau hằng ngày, chúng ta ít nhiều cũng">
            <a:extLst>
              <a:ext uri="{FF2B5EF4-FFF2-40B4-BE49-F238E27FC236}">
                <a16:creationId xmlns:a16="http://schemas.microsoft.com/office/drawing/2014/main" id="{5F41312C-0FBB-258A-F698-D4D546CD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32" y="2191590"/>
            <a:ext cx="1990725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57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9031-2061-B07A-117A-185DD7F4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6. KHÔNG CÓ VÀ BỔ SUNG NGUỒN KHÁCH HÀNG TIỀM NĂNG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D136-A919-3602-BD9D-4F9E441FD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5988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/>
              <a:t>Chờ</a:t>
            </a:r>
            <a:r>
              <a:rPr lang="en-US" sz="1800" b="1" dirty="0"/>
              <a:t> sung </a:t>
            </a:r>
            <a:r>
              <a:rPr lang="en-US" sz="1800" b="1" dirty="0" err="1"/>
              <a:t>rụng</a:t>
            </a:r>
            <a:r>
              <a:rPr lang="en-US" sz="1800" b="1" dirty="0"/>
              <a:t>: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nghĩ</a:t>
            </a:r>
            <a:r>
              <a:rPr lang="en-US" sz="1800" dirty="0"/>
              <a:t> </a:t>
            </a:r>
            <a:r>
              <a:rPr lang="en-US" sz="1800" dirty="0" err="1"/>
              <a:t>rằng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tư</a:t>
            </a:r>
            <a:r>
              <a:rPr lang="en-US" sz="1800" dirty="0"/>
              <a:t> </a:t>
            </a:r>
            <a:r>
              <a:rPr lang="en-US" sz="1800" dirty="0" err="1"/>
              <a:t>vấn</a:t>
            </a:r>
            <a:r>
              <a:rPr lang="en-US" sz="1800" dirty="0"/>
              <a:t>,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thồi</a:t>
            </a:r>
            <a:r>
              <a:rPr lang="en-US" sz="1800" dirty="0"/>
              <a:t> </a:t>
            </a:r>
            <a:r>
              <a:rPr lang="en-US" sz="1800" dirty="0" err="1"/>
              <a:t>nên</a:t>
            </a:r>
            <a:r>
              <a:rPr lang="en-US" sz="1800" dirty="0"/>
              <a:t> </a:t>
            </a:r>
            <a:r>
              <a:rPr lang="en-US" sz="1800" dirty="0" err="1"/>
              <a:t>tư</a:t>
            </a:r>
            <a:r>
              <a:rPr lang="en-US" sz="1800" dirty="0"/>
              <a:t> </a:t>
            </a:r>
            <a:r>
              <a:rPr lang="en-US" sz="1800" dirty="0" err="1"/>
              <a:t>vấn</a:t>
            </a:r>
            <a:r>
              <a:rPr lang="en-US" sz="1800" dirty="0"/>
              <a:t> </a:t>
            </a:r>
            <a:r>
              <a:rPr lang="en-US" sz="1800" dirty="0" err="1"/>
              <a:t>thiếu</a:t>
            </a:r>
            <a:r>
              <a:rPr lang="en-US" sz="1800" dirty="0"/>
              <a:t>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bổ</a:t>
            </a:r>
            <a:r>
              <a:rPr lang="en-US" sz="1800" dirty="0"/>
              <a:t> sung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chăm</a:t>
            </a:r>
            <a:r>
              <a:rPr lang="en-US" sz="1800" dirty="0"/>
              <a:t> </a:t>
            </a:r>
            <a:r>
              <a:rPr lang="en-US" sz="1800" dirty="0" err="1"/>
              <a:t>sóc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Tay </a:t>
            </a:r>
            <a:r>
              <a:rPr lang="en-US" sz="1800" b="1" dirty="0" err="1"/>
              <a:t>không</a:t>
            </a:r>
            <a:r>
              <a:rPr lang="en-US" sz="1800" b="1" dirty="0"/>
              <a:t> </a:t>
            </a:r>
            <a:r>
              <a:rPr lang="en-US" sz="1800" b="1" dirty="0" err="1"/>
              <a:t>bắt</a:t>
            </a:r>
            <a:r>
              <a:rPr lang="en-US" sz="1800" b="1" dirty="0"/>
              <a:t> </a:t>
            </a:r>
            <a:r>
              <a:rPr lang="en-US" sz="1800" b="1" dirty="0" err="1"/>
              <a:t>giặc</a:t>
            </a:r>
            <a:r>
              <a:rPr lang="en-US" sz="1800" b="1" dirty="0"/>
              <a:t>: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tư</a:t>
            </a:r>
            <a:r>
              <a:rPr lang="en-US" sz="1800" dirty="0"/>
              <a:t> </a:t>
            </a:r>
            <a:r>
              <a:rPr lang="en-US" sz="1800" dirty="0" err="1"/>
              <a:t>vấn</a:t>
            </a:r>
            <a:r>
              <a:rPr lang="en-US" sz="1800" dirty="0"/>
              <a:t>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nhưng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đủ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tin </a:t>
            </a:r>
            <a:r>
              <a:rPr lang="en-US" sz="1800" dirty="0" err="1"/>
              <a:t>nên</a:t>
            </a:r>
            <a:r>
              <a:rPr lang="en-US" sz="1800" dirty="0"/>
              <a:t> </a:t>
            </a:r>
            <a:r>
              <a:rPr lang="en-US" sz="1800" dirty="0" err="1"/>
              <a:t>cũng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chia </a:t>
            </a:r>
            <a:r>
              <a:rPr lang="en-US" sz="1800" dirty="0" err="1"/>
              <a:t>sẻ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hiểm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khác</a:t>
            </a:r>
            <a:r>
              <a:rPr lang="en-US" sz="1800" dirty="0"/>
              <a:t>, hay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cũng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tham</a:t>
            </a:r>
            <a:r>
              <a:rPr lang="en-US" sz="1800" dirty="0"/>
              <a:t> </a:t>
            </a:r>
            <a:r>
              <a:rPr lang="en-US" sz="1800" dirty="0" err="1"/>
              <a:t>gia</a:t>
            </a:r>
            <a:r>
              <a:rPr lang="en-US" sz="1800" dirty="0"/>
              <a:t>.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này</a:t>
            </a:r>
            <a:r>
              <a:rPr lang="en-US" sz="1800" dirty="0"/>
              <a:t> </a:t>
            </a:r>
            <a:r>
              <a:rPr lang="en-US" sz="1800" dirty="0" err="1"/>
              <a:t>dẫn</a:t>
            </a:r>
            <a:r>
              <a:rPr lang="en-US" sz="1800" dirty="0"/>
              <a:t> </a:t>
            </a:r>
            <a:r>
              <a:rPr lang="en-US" sz="1800" dirty="0" err="1"/>
              <a:t>đến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tư</a:t>
            </a:r>
            <a:r>
              <a:rPr lang="en-US" sz="1800" dirty="0"/>
              <a:t> </a:t>
            </a:r>
            <a:r>
              <a:rPr lang="en-US" sz="1800" dirty="0" err="1"/>
              <a:t>vấn</a:t>
            </a:r>
            <a:r>
              <a:rPr lang="en-US" sz="1800" dirty="0"/>
              <a:t> (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chất</a:t>
            </a:r>
            <a:r>
              <a:rPr lang="en-US" sz="1800" dirty="0"/>
              <a:t> </a:t>
            </a:r>
            <a:r>
              <a:rPr lang="en-US" sz="1800" dirty="0" err="1"/>
              <a:t>nằm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tư</a:t>
            </a:r>
            <a:r>
              <a:rPr lang="en-US" sz="1800" dirty="0"/>
              <a:t> </a:t>
            </a:r>
            <a:r>
              <a:rPr lang="en-US" sz="1800" dirty="0" err="1"/>
              <a:t>vấn</a:t>
            </a:r>
            <a:r>
              <a:rPr lang="en-US" sz="18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1800" b="1" dirty="0" err="1"/>
              <a:t>Bắn</a:t>
            </a:r>
            <a:r>
              <a:rPr lang="en-US" sz="1800" b="1" dirty="0"/>
              <a:t> </a:t>
            </a:r>
            <a:r>
              <a:rPr lang="en-US" sz="1800" b="1" dirty="0" err="1"/>
              <a:t>rồi</a:t>
            </a:r>
            <a:r>
              <a:rPr lang="en-US" sz="1800" b="1" dirty="0"/>
              <a:t> </a:t>
            </a:r>
            <a:r>
              <a:rPr lang="en-US" sz="1800" b="1" dirty="0" err="1"/>
              <a:t>quên</a:t>
            </a:r>
            <a:r>
              <a:rPr lang="en-US" sz="1800" b="1" dirty="0"/>
              <a:t>: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chăm</a:t>
            </a:r>
            <a:r>
              <a:rPr lang="en-US" sz="1800" dirty="0"/>
              <a:t> </a:t>
            </a:r>
            <a:r>
              <a:rPr lang="en-US" sz="1800" dirty="0" err="1"/>
              <a:t>sóc</a:t>
            </a:r>
            <a:r>
              <a:rPr lang="en-US" sz="1800" dirty="0"/>
              <a:t>  </a:t>
            </a:r>
            <a:r>
              <a:rPr lang="en-US" sz="1800" dirty="0" err="1"/>
              <a:t>khách</a:t>
            </a:r>
            <a:r>
              <a:rPr lang="en-US" sz="1800" dirty="0"/>
              <a:t> </a:t>
            </a:r>
            <a:r>
              <a:rPr lang="en-US" sz="1800" dirty="0" err="1"/>
              <a:t>hàng</a:t>
            </a:r>
            <a:r>
              <a:rPr lang="en-US" sz="1800" dirty="0"/>
              <a:t> </a:t>
            </a:r>
            <a:r>
              <a:rPr lang="en-US" sz="1800" dirty="0" err="1"/>
              <a:t>cũ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chu </a:t>
            </a:r>
            <a:r>
              <a:rPr lang="en-US" sz="1800" dirty="0" err="1"/>
              <a:t>đáo</a:t>
            </a:r>
            <a:r>
              <a:rPr lang="en-US" sz="1800" dirty="0"/>
              <a:t> </a:t>
            </a:r>
            <a:r>
              <a:rPr lang="en-US" sz="1800" dirty="0" err="1"/>
              <a:t>dẫn</a:t>
            </a:r>
            <a:r>
              <a:rPr lang="en-US" sz="1800" dirty="0"/>
              <a:t> </a:t>
            </a:r>
            <a:r>
              <a:rPr lang="en-US" sz="1800" dirty="0" err="1"/>
              <a:t>đến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en-US" sz="1800" dirty="0"/>
              <a:t> </a:t>
            </a:r>
            <a:r>
              <a:rPr lang="en-US" sz="1800" dirty="0" err="1"/>
              <a:t>bỏ</a:t>
            </a:r>
            <a:r>
              <a:rPr lang="en-US" sz="1800" dirty="0"/>
              <a:t> </a:t>
            </a:r>
            <a:r>
              <a:rPr lang="en-US" sz="1800" dirty="0" err="1"/>
              <a:t>rơi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sinh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tiêu</a:t>
            </a:r>
            <a:r>
              <a:rPr lang="en-US" sz="1800" dirty="0"/>
              <a:t> </a:t>
            </a:r>
            <a:r>
              <a:rPr lang="en-US" sz="1800" dirty="0" err="1"/>
              <a:t>cực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hiểm</a:t>
            </a:r>
            <a:r>
              <a:rPr lang="en-US" sz="1800" dirty="0"/>
              <a:t>,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này</a:t>
            </a:r>
            <a:r>
              <a:rPr lang="en-US" sz="1800" dirty="0"/>
              <a:t> </a:t>
            </a:r>
            <a:r>
              <a:rPr lang="en-US" sz="1800" dirty="0" err="1"/>
              <a:t>dẫn</a:t>
            </a:r>
            <a:r>
              <a:rPr lang="en-US" sz="1800" dirty="0"/>
              <a:t> </a:t>
            </a:r>
            <a:r>
              <a:rPr lang="en-US" sz="1800" dirty="0" err="1"/>
              <a:t>đến</a:t>
            </a:r>
            <a:r>
              <a:rPr lang="en-US" sz="1800" dirty="0"/>
              <a:t> </a:t>
            </a:r>
            <a:r>
              <a:rPr lang="en-US" sz="1800" dirty="0" err="1"/>
              <a:t>cũng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giới</a:t>
            </a:r>
            <a:r>
              <a:rPr lang="en-US" sz="1800" dirty="0"/>
              <a:t> </a:t>
            </a:r>
            <a:r>
              <a:rPr lang="en-US" sz="1800" dirty="0" err="1"/>
              <a:t>thiệu</a:t>
            </a:r>
            <a:r>
              <a:rPr lang="en-US" sz="1800" dirty="0"/>
              <a:t> hay </a:t>
            </a:r>
            <a:r>
              <a:rPr lang="en-US" sz="1800" dirty="0" err="1"/>
              <a:t>tham</a:t>
            </a:r>
            <a:r>
              <a:rPr lang="en-US" sz="1800" dirty="0"/>
              <a:t> </a:t>
            </a:r>
            <a:r>
              <a:rPr lang="en-US" sz="1800" dirty="0" err="1"/>
              <a:t>gia</a:t>
            </a:r>
            <a:r>
              <a:rPr lang="en-US" sz="1800" dirty="0"/>
              <a:t> </a:t>
            </a:r>
            <a:r>
              <a:rPr lang="en-US" sz="1800" dirty="0" err="1"/>
              <a:t>thêm</a:t>
            </a:r>
            <a:r>
              <a:rPr lang="en-US" sz="1800" dirty="0"/>
              <a:t>.</a:t>
            </a:r>
          </a:p>
        </p:txBody>
      </p:sp>
      <p:pic>
        <p:nvPicPr>
          <p:cNvPr id="6146" name="Picture 2" descr="Ý nghĩa và bài học từ câu tục ngữ “Há miệng chờ sung”">
            <a:extLst>
              <a:ext uri="{FF2B5EF4-FFF2-40B4-BE49-F238E27FC236}">
                <a16:creationId xmlns:a16="http://schemas.microsoft.com/office/drawing/2014/main" id="{DEE3643D-442C-40FA-3A9F-F11E5828A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818" y="4191280"/>
            <a:ext cx="4359760" cy="266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48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A424-C6E0-4734-B66D-BC4724DA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7. KHÔNG CẬP NHẬT VÀ NÂNG CAO KỸ NĂNG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17E629-4EE0-A0C5-A7DC-668783F40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2659" y="3236663"/>
            <a:ext cx="6768354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Lỗi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kịp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đổi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ngành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nâng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hỏi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Thiếu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chuyên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sâu</a:t>
            </a:r>
            <a:r>
              <a:rPr lang="en-US" altLang="en-US" sz="1800" b="1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Lúc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nào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cũng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đòi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cái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mới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nhưng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cái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cũ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chịu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rèn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luyện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sâu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ngại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học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ngại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họp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đến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thiêu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thông</a:t>
            </a:r>
            <a:r>
              <a:rPr lang="en-US" altLang="en-US" sz="1800" dirty="0">
                <a:latin typeface="Arial" panose="020B0604020202020204" pitchFamily="34" charset="0"/>
              </a:rPr>
              <a:t> tin </a:t>
            </a:r>
            <a:r>
              <a:rPr lang="en-US" altLang="en-US" sz="1800" dirty="0" err="1">
                <a:latin typeface="Arial" panose="020B0604020202020204" pitchFamily="34" charset="0"/>
              </a:rPr>
              <a:t>và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giỏi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trong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Làm sao để chống lại bệnh lười học trong mùa đông - TKBooks">
            <a:extLst>
              <a:ext uri="{FF2B5EF4-FFF2-40B4-BE49-F238E27FC236}">
                <a16:creationId xmlns:a16="http://schemas.microsoft.com/office/drawing/2014/main" id="{ADE4EC0A-A7EA-3C45-9AE9-59FBCBA97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81" y="1954237"/>
            <a:ext cx="4115618" cy="294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87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C504-E58B-2B93-B16E-201021AA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8. THIẾU SỰ CHUYÊN NGHIỆP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3D98D2-D10E-5703-950F-C710AD0D8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5741" y="1690688"/>
            <a:ext cx="6598025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đúng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hẹn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hẹn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gây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mắt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Thái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tôn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Tư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duy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tiêu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cực</a:t>
            </a:r>
            <a:r>
              <a:rPr lang="en-US" altLang="en-US" sz="1800" b="1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Luôn</a:t>
            </a: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lang="en-US" altLang="en-US" sz="1800" dirty="0" err="1">
                <a:latin typeface="Arial" panose="020B0604020202020204" pitchFamily="34" charset="0"/>
              </a:rPr>
              <a:t>nhìn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thị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trường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 ở </a:t>
            </a:r>
            <a:r>
              <a:rPr lang="en-US" altLang="en-US" sz="1800" dirty="0" err="1">
                <a:latin typeface="Arial" panose="020B0604020202020204" pitchFamily="34" charset="0"/>
              </a:rPr>
              <a:t>góc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độ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khó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khắn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khó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làm</a:t>
            </a:r>
            <a:r>
              <a:rPr lang="en-US" altLang="en-US" sz="1800" dirty="0">
                <a:latin typeface="Arial" panose="020B0604020202020204" pitchFamily="34" charset="0"/>
              </a:rPr>
              <a:t>. </a:t>
            </a:r>
            <a:r>
              <a:rPr lang="en-US" altLang="en-US" sz="1800" dirty="0" err="1">
                <a:latin typeface="Arial" panose="020B0604020202020204" pitchFamily="34" charset="0"/>
              </a:rPr>
              <a:t>Điều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này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đến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thái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độ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tiêu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cực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với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nghề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Thiếu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tự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kỷ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luật</a:t>
            </a:r>
            <a:r>
              <a:rPr lang="en-US" altLang="en-US" sz="1800" b="1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Tâm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lý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nghề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tay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trái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sao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điều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này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đến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thích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làm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bỏ</a:t>
            </a:r>
            <a:r>
              <a:rPr lang="en-US" altLang="en-US" sz="1800" dirty="0">
                <a:latin typeface="Arial" panose="020B0604020202020204" pitchFamily="34" charset="0"/>
              </a:rPr>
              <a:t>.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có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sự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tự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giác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trong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INAMORI - MUỐN THÀNH CÔNG? HÃY KỶ LUẬT BẢN THÂN TRIỆT ĐỂ Người ta thường  cho rằng kỷ luật là một từ kinh khủng và nó đồng nghĩa với việc mất tự">
            <a:extLst>
              <a:ext uri="{FF2B5EF4-FFF2-40B4-BE49-F238E27FC236}">
                <a16:creationId xmlns:a16="http://schemas.microsoft.com/office/drawing/2014/main" id="{9A929C9F-9DC8-B32C-865E-55DB5F28C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341" y="2412532"/>
            <a:ext cx="2550459" cy="255045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16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0FD9A-0C00-342D-E84A-FFEEC8C6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9</a:t>
            </a:r>
            <a:r>
              <a:rPr lang="vi-VN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. KHÔNG CÓ CHIẾN LƯỢC CHĂM SÓC KHÁCH HÀNG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85A86A-9337-F22C-4387-7D11748E8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538739"/>
            <a:ext cx="5401235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mối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lâu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dài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sóc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Tâm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lý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thua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thiệt</a:t>
            </a:r>
            <a:r>
              <a:rPr lang="en-US" altLang="en-US" sz="1800" b="1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Khai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thác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mới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nhập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cao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chăm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sóc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nhập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thấp</a:t>
            </a:r>
            <a:r>
              <a:rPr lang="en-US" altLang="en-US" sz="1800" dirty="0">
                <a:latin typeface="Arial" panose="020B0604020202020204" pitchFamily="34" charset="0"/>
              </a:rPr>
              <a:t>. </a:t>
            </a:r>
            <a:r>
              <a:rPr lang="en-US" altLang="en-US" sz="1800" dirty="0" err="1">
                <a:latin typeface="Arial" panose="020B0604020202020204" pitchFamily="34" charset="0"/>
              </a:rPr>
              <a:t>Điều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này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đến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việc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nhiều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xa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hợp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đồng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nhỏ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sẽ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không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còn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được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chăm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sóc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tốt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ứa thật nhiều, thất hứa rồi cũng thật nhiều - Ngố Hoàng Phúc - - Cười Đã">
            <a:extLst>
              <a:ext uri="{FF2B5EF4-FFF2-40B4-BE49-F238E27FC236}">
                <a16:creationId xmlns:a16="http://schemas.microsoft.com/office/drawing/2014/main" id="{52FF2091-9B39-2121-00F4-F7303A0B6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33" y="3809217"/>
            <a:ext cx="4762500" cy="26384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99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C7E2-33B1-6583-11A8-10754098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10.THIẾU KHÁT VỌNG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28C3A-2534-4680-B383-196F4E20A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0106" cy="435133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tạm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đầy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nản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nghề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Thiếu mục tiêu rõ ràng: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Không có mục tiêu cụ thể và chiến lược phát triển nghề nghiệp.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nghề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Đôi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242" name="Picture 2" descr="Hướng dẫn cách Định hướng nghề nghiệp bản thân cho tương lai">
            <a:extLst>
              <a:ext uri="{FF2B5EF4-FFF2-40B4-BE49-F238E27FC236}">
                <a16:creationId xmlns:a16="http://schemas.microsoft.com/office/drawing/2014/main" id="{69180813-0B86-9F11-D19A-EC83F837D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37929" y="2095500"/>
            <a:ext cx="4554071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517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1EF2-618B-3D83-CB5E-0C01C1E4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11. CÔNG TY TUYỂN SAI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5D3D-EC9E-1184-13FF-25FAC7584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613"/>
            <a:ext cx="10887635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 err="1"/>
              <a:t>Chất</a:t>
            </a:r>
            <a:r>
              <a:rPr lang="en-US" sz="2000" b="1" dirty="0"/>
              <a:t> </a:t>
            </a:r>
            <a:r>
              <a:rPr lang="en-US" sz="2000" b="1" dirty="0" err="1"/>
              <a:t>lượng</a:t>
            </a:r>
            <a:r>
              <a:rPr lang="en-US" sz="2000" b="1" dirty="0"/>
              <a:t> </a:t>
            </a:r>
            <a:r>
              <a:rPr lang="en-US" sz="2000" b="1" dirty="0" err="1"/>
              <a:t>quản</a:t>
            </a:r>
            <a:r>
              <a:rPr lang="en-US" sz="2000" b="1" dirty="0"/>
              <a:t> </a:t>
            </a:r>
            <a:r>
              <a:rPr lang="en-US" sz="2000" b="1" dirty="0" err="1"/>
              <a:t>lý</a:t>
            </a:r>
            <a:r>
              <a:rPr lang="en-US" sz="2000" b="1" dirty="0"/>
              <a:t>: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yếu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kiến</a:t>
            </a:r>
            <a:r>
              <a:rPr lang="en-US" sz="2000" dirty="0"/>
              <a:t> </a:t>
            </a:r>
            <a:r>
              <a:rPr lang="en-US" sz="2000" dirty="0" err="1"/>
              <a:t>thức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kỹ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dẫn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</a:t>
            </a:r>
            <a:r>
              <a:rPr lang="en-US" sz="2000" dirty="0" err="1"/>
              <a:t>họ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bừa</a:t>
            </a:r>
            <a:r>
              <a:rPr lang="en-US" sz="2000" dirty="0"/>
              <a:t>,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đại</a:t>
            </a:r>
            <a:r>
              <a:rPr lang="en-US" sz="2000" dirty="0"/>
              <a:t>,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đúng</a:t>
            </a:r>
            <a:r>
              <a:rPr lang="en-US" sz="2000" dirty="0"/>
              <a:t> </a:t>
            </a:r>
            <a:r>
              <a:rPr lang="en-US" sz="2000" dirty="0" err="1"/>
              <a:t>đối</a:t>
            </a:r>
            <a:r>
              <a:rPr lang="en-US" sz="2000" dirty="0"/>
              <a:t> </a:t>
            </a:r>
            <a:r>
              <a:rPr lang="en-US" sz="2000" dirty="0" err="1"/>
              <a:t>tượng</a:t>
            </a:r>
            <a:r>
              <a:rPr lang="en-US" sz="2000" dirty="0"/>
              <a:t>.</a:t>
            </a:r>
          </a:p>
          <a:p>
            <a:pPr algn="just"/>
            <a:r>
              <a:rPr lang="en-US" sz="2000" b="1" dirty="0" err="1"/>
              <a:t>Chạy</a:t>
            </a:r>
            <a:r>
              <a:rPr lang="en-US" sz="2000" b="1" dirty="0"/>
              <a:t> </a:t>
            </a:r>
            <a:r>
              <a:rPr lang="en-US" sz="2000" b="1" dirty="0" err="1"/>
              <a:t>chỉ</a:t>
            </a:r>
            <a:r>
              <a:rPr lang="en-US" sz="2000" b="1" dirty="0"/>
              <a:t> </a:t>
            </a:r>
            <a:r>
              <a:rPr lang="en-US" sz="2000" b="1" dirty="0" err="1"/>
              <a:t>tiêu</a:t>
            </a:r>
            <a:r>
              <a:rPr lang="en-US" sz="2000" b="1" dirty="0"/>
              <a:t>: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chạy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áp</a:t>
            </a:r>
            <a:r>
              <a:rPr lang="en-US" sz="2000" dirty="0"/>
              <a:t> </a:t>
            </a:r>
            <a:r>
              <a:rPr lang="en-US" sz="2000" dirty="0" err="1"/>
              <a:t>lực</a:t>
            </a:r>
            <a:r>
              <a:rPr lang="en-US" sz="2000" dirty="0"/>
              <a:t> </a:t>
            </a:r>
            <a:r>
              <a:rPr lang="en-US" sz="2000" dirty="0" err="1"/>
              <a:t>dẫn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đủ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 </a:t>
            </a:r>
            <a:r>
              <a:rPr lang="en-US" sz="2000" dirty="0" err="1"/>
              <a:t>mà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sàng</a:t>
            </a:r>
            <a:r>
              <a:rPr lang="en-US" sz="2000" dirty="0"/>
              <a:t> </a:t>
            </a:r>
            <a:r>
              <a:rPr lang="en-US" sz="2000" dirty="0" err="1"/>
              <a:t>lọc</a:t>
            </a:r>
            <a:r>
              <a:rPr lang="en-US" sz="2000" dirty="0"/>
              <a:t>. </a:t>
            </a:r>
            <a:r>
              <a:rPr lang="en-US" sz="2000" dirty="0" err="1"/>
              <a:t>Đôi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 </a:t>
            </a:r>
            <a:r>
              <a:rPr lang="en-US" sz="2000" dirty="0" err="1"/>
              <a:t>cực</a:t>
            </a:r>
            <a:r>
              <a:rPr lang="en-US" sz="2000" dirty="0"/>
              <a:t>.</a:t>
            </a:r>
          </a:p>
          <a:p>
            <a:pPr algn="just"/>
            <a:r>
              <a:rPr lang="en-US" sz="2000" b="1" dirty="0" err="1"/>
              <a:t>Thiếu</a:t>
            </a:r>
            <a:r>
              <a:rPr lang="en-US" sz="2000" b="1" dirty="0"/>
              <a:t> </a:t>
            </a:r>
            <a:r>
              <a:rPr lang="en-US" sz="2000" b="1" dirty="0" err="1"/>
              <a:t>giám</a:t>
            </a:r>
            <a:r>
              <a:rPr lang="en-US" sz="2000" b="1" dirty="0"/>
              <a:t> </a:t>
            </a:r>
            <a:r>
              <a:rPr lang="en-US" sz="2000" b="1" dirty="0" err="1"/>
              <a:t>sát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quản</a:t>
            </a:r>
            <a:r>
              <a:rPr lang="en-US" sz="2000" b="1" dirty="0"/>
              <a:t> </a:t>
            </a:r>
            <a:r>
              <a:rPr lang="en-US" sz="2000" b="1" dirty="0" err="1"/>
              <a:t>lý</a:t>
            </a:r>
            <a:r>
              <a:rPr lang="en-US" sz="2000" b="1" dirty="0"/>
              <a:t>: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thiếu</a:t>
            </a:r>
            <a:r>
              <a:rPr lang="en-US" sz="2000" dirty="0"/>
              <a:t> </a:t>
            </a:r>
            <a:r>
              <a:rPr lang="en-US" sz="2000" dirty="0" err="1"/>
              <a:t>giám</a:t>
            </a:r>
            <a:r>
              <a:rPr lang="en-US" sz="2000" dirty="0"/>
              <a:t> </a:t>
            </a:r>
            <a:r>
              <a:rPr lang="en-US" sz="2000" dirty="0" err="1"/>
              <a:t>sát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bị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sai</a:t>
            </a:r>
            <a:r>
              <a:rPr lang="en-US" sz="2000" dirty="0"/>
              <a:t>, </a:t>
            </a:r>
            <a:r>
              <a:rPr lang="en-US" sz="2000" dirty="0" err="1"/>
              <a:t>đôi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giả</a:t>
            </a:r>
            <a:r>
              <a:rPr lang="en-US" sz="2000" dirty="0"/>
              <a:t>.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 </a:t>
            </a:r>
            <a:r>
              <a:rPr lang="en-US" sz="2000" dirty="0" err="1"/>
              <a:t>dẫn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rất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năm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lấy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mà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chất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hướng</a:t>
            </a:r>
            <a:r>
              <a:rPr lang="en-US" sz="2000" dirty="0"/>
              <a:t> </a:t>
            </a:r>
            <a:r>
              <a:rPr lang="en-US" sz="2000" dirty="0" err="1"/>
              <a:t>nhưng</a:t>
            </a:r>
            <a:r>
              <a:rPr lang="en-US" sz="2000" dirty="0"/>
              <a:t> </a:t>
            </a:r>
            <a:r>
              <a:rPr lang="en-US" sz="2000" dirty="0" err="1"/>
              <a:t>thiếu</a:t>
            </a:r>
            <a:r>
              <a:rPr lang="en-US" sz="2000" dirty="0"/>
              <a:t> </a:t>
            </a:r>
            <a:r>
              <a:rPr lang="en-US" sz="2000" dirty="0" err="1"/>
              <a:t>hỗ</a:t>
            </a:r>
            <a:r>
              <a:rPr lang="en-US" sz="2000" dirty="0"/>
              <a:t> </a:t>
            </a:r>
            <a:r>
              <a:rPr lang="en-US" sz="2000" dirty="0" err="1"/>
              <a:t>trợ</a:t>
            </a:r>
            <a:r>
              <a:rPr lang="en-US" sz="2000" dirty="0"/>
              <a:t>: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vẽ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màu</a:t>
            </a:r>
            <a:r>
              <a:rPr lang="en-US" sz="2000" dirty="0"/>
              <a:t> </a:t>
            </a:r>
            <a:r>
              <a:rPr lang="en-US" sz="2000" dirty="0" err="1"/>
              <a:t>hồng</a:t>
            </a:r>
            <a:r>
              <a:rPr lang="en-US" sz="2000" dirty="0"/>
              <a:t> </a:t>
            </a:r>
            <a:r>
              <a:rPr lang="en-US" sz="2000" dirty="0" err="1"/>
              <a:t>mà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khó</a:t>
            </a:r>
            <a:r>
              <a:rPr lang="en-US" sz="2000" dirty="0"/>
              <a:t> </a:t>
            </a:r>
            <a:r>
              <a:rPr lang="en-US" sz="2000" dirty="0" err="1"/>
              <a:t>khăn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tư</a:t>
            </a:r>
            <a:r>
              <a:rPr lang="en-US" sz="2000" dirty="0"/>
              <a:t> </a:t>
            </a:r>
            <a:r>
              <a:rPr lang="en-US" sz="2000" dirty="0" err="1"/>
              <a:t>vấn</a:t>
            </a:r>
            <a:r>
              <a:rPr lang="en-US" sz="2000" dirty="0"/>
              <a:t> </a:t>
            </a:r>
            <a:r>
              <a:rPr lang="en-US" sz="2000" dirty="0" err="1"/>
              <a:t>bất</a:t>
            </a:r>
            <a:r>
              <a:rPr lang="en-US" sz="2000" dirty="0"/>
              <a:t> </a:t>
            </a:r>
            <a:r>
              <a:rPr lang="en-US" sz="2000" dirty="0" err="1"/>
              <a:t>nghờ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,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đủ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lực</a:t>
            </a:r>
            <a:r>
              <a:rPr lang="en-US" sz="2000" dirty="0"/>
              <a:t> </a:t>
            </a:r>
            <a:r>
              <a:rPr lang="en-US" sz="2000" dirty="0" err="1"/>
              <a:t>tư</a:t>
            </a:r>
            <a:r>
              <a:rPr lang="en-US" sz="2000" dirty="0"/>
              <a:t> </a:t>
            </a:r>
            <a:r>
              <a:rPr lang="en-US" sz="2000" dirty="0" err="1"/>
              <a:t>vấn</a:t>
            </a:r>
            <a:r>
              <a:rPr lang="en-US" sz="2000" dirty="0"/>
              <a:t>.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nản</a:t>
            </a:r>
            <a:r>
              <a:rPr lang="en-US" sz="2000" dirty="0"/>
              <a:t> </a:t>
            </a:r>
            <a:r>
              <a:rPr lang="en-US" sz="2000" dirty="0" err="1"/>
              <a:t>lòng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rời</a:t>
            </a:r>
            <a:r>
              <a:rPr lang="en-US" sz="2000" dirty="0"/>
              <a:t> </a:t>
            </a:r>
            <a:r>
              <a:rPr lang="en-US" sz="2000" dirty="0" err="1"/>
              <a:t>ngành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</p:txBody>
      </p:sp>
      <p:pic>
        <p:nvPicPr>
          <p:cNvPr id="12290" name="Picture 2" descr="CÁCH TUYỂN DỤNG NHÂN SỰ HIỆU QUẢ CHO DOANH NGHIỆP">
            <a:extLst>
              <a:ext uri="{FF2B5EF4-FFF2-40B4-BE49-F238E27FC236}">
                <a16:creationId xmlns:a16="http://schemas.microsoft.com/office/drawing/2014/main" id="{7D70EBD4-169D-625F-BB8E-AB3A9A807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t="22745" r="8088" b="18431"/>
          <a:stretch/>
        </p:blipFill>
        <p:spPr bwMode="auto">
          <a:xfrm>
            <a:off x="3314005" y="4461996"/>
            <a:ext cx="5563990" cy="216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17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E150-3AB6-894C-0882-2DC7B3B6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CDBA6-C15F-CCFF-162F-93B1C694E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Nghề Dịch Vụ Và Những Câu Nói Truyền Cảm Hứng">
            <a:extLst>
              <a:ext uri="{FF2B5EF4-FFF2-40B4-BE49-F238E27FC236}">
                <a16:creationId xmlns:a16="http://schemas.microsoft.com/office/drawing/2014/main" id="{42D084A6-E4B3-53B2-8568-B7666F782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835" y="1027906"/>
            <a:ext cx="7028329" cy="5315174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26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1421</Words>
  <Application>Microsoft Office PowerPoint</Application>
  <PresentationFormat>Widescreen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 Condensed</vt:lpstr>
      <vt:lpstr>Calibri</vt:lpstr>
      <vt:lpstr>Calibri Light</vt:lpstr>
      <vt:lpstr>Google Sans</vt:lpstr>
      <vt:lpstr>Office Theme</vt:lpstr>
      <vt:lpstr>TẠI SAO TƯ VẤN THẤT BẠI VỚI NGHỀ BẢO HIỂM</vt:lpstr>
      <vt:lpstr>CHUYỆN GÌ ĐANG XẢY RA?</vt:lpstr>
      <vt:lpstr>1. CHƯA ĐỦ NIỀM TIN</vt:lpstr>
      <vt:lpstr>2. THIẾU KIẾN THỨC VÀ KỸ NĂNG CHUYÊN MÔN</vt:lpstr>
      <vt:lpstr>3. KHÔNG XÂY DỰNG ĐƯỢC LÒNG TIN</vt:lpstr>
      <vt:lpstr>4. THIẾU KIÊN NHẪN VÀ SỰ KIÊN TRÌ</vt:lpstr>
      <vt:lpstr>5. KHÔNG HIỂU RÕ NHU CẦU CỦA KHÁCH HÀNG</vt:lpstr>
      <vt:lpstr>6. KHÔNG CÓ VÀ BỔ SUNG NGUỒN KHÁCH HÀNG TIỀM NĂNG</vt:lpstr>
      <vt:lpstr>7. KHÔNG CẬP NHẬT VÀ NÂNG CAO KỸ NĂNG</vt:lpstr>
      <vt:lpstr>8. THIẾU SỰ CHUYÊN NGHIỆP</vt:lpstr>
      <vt:lpstr>9. KHÔNG CÓ CHIẾN LƯỢC CHĂM SÓC KHÁCH HÀNG</vt:lpstr>
      <vt:lpstr>10.THIẾU KHÁT VỌNG</vt:lpstr>
      <vt:lpstr>11. CÔNG TY TUYỂN SAI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TẠI SAO TƯ VẤN THẤT BẠI VỚI NGHỀ BẢO HIỂM</dc:title>
  <dc:creator>Administrator</dc:creator>
  <cp:lastModifiedBy>Administrator</cp:lastModifiedBy>
  <cp:revision>4</cp:revision>
  <dcterms:created xsi:type="dcterms:W3CDTF">2024-12-29T09:55:20Z</dcterms:created>
  <dcterms:modified xsi:type="dcterms:W3CDTF">2024-12-30T02:31:55Z</dcterms:modified>
</cp:coreProperties>
</file>