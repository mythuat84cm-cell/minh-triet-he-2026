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12" r:id="rId4"/>
  </p:sldMasterIdLst>
  <p:sldIdLst>
    <p:sldId id="257" r:id="rId5"/>
    <p:sldId id="259" r:id="rId6"/>
    <p:sldId id="258"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9" autoAdjust="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12/12/2024</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12/12/2024</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12/12/2024</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12/12/2024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12/12/2024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12/12/2024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12/12/2024</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12/12/2024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12/12/2024</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12/12/2024</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a:t>Tâm lý HÁI CHUỐI</a:t>
            </a:r>
            <a:endParaRPr lang="en-US" dirty="0"/>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a:t>Vì sao ta lại làm theo kẻ khác</a:t>
            </a:r>
            <a:endParaRPr lang="en-US"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1026" name="Picture 2" descr="Tâm lý đám đông trên mạng xã hội gây ảnh hưởng gì?">
            <a:extLst>
              <a:ext uri="{FF2B5EF4-FFF2-40B4-BE49-F238E27FC236}">
                <a16:creationId xmlns:a16="http://schemas.microsoft.com/office/drawing/2014/main" id="{F07D4075-D382-4E4A-9550-5BFFF349A5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0108" y="2256709"/>
            <a:ext cx="4910084" cy="275552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78D44-9F0E-4BCF-9027-BE9C6AB37A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F8FB0C-F826-4078-A576-DE5200B8D245}"/>
              </a:ext>
            </a:extLst>
          </p:cNvPr>
          <p:cNvSpPr>
            <a:spLocks noGrp="1"/>
          </p:cNvSpPr>
          <p:nvPr>
            <p:ph idx="1"/>
          </p:nvPr>
        </p:nvSpPr>
        <p:spPr/>
        <p:txBody>
          <a:bodyPr/>
          <a:lstStyle/>
          <a:p>
            <a:endParaRPr lang="en-US"/>
          </a:p>
        </p:txBody>
      </p:sp>
      <p:pic>
        <p:nvPicPr>
          <p:cNvPr id="2050" name="Picture 2" descr="3 cách bảo quản chuối chín được lâu, không thâm đen">
            <a:extLst>
              <a:ext uri="{FF2B5EF4-FFF2-40B4-BE49-F238E27FC236}">
                <a16:creationId xmlns:a16="http://schemas.microsoft.com/office/drawing/2014/main" id="{CF858E7B-2CE3-4724-BBDA-19895E743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9886" y="1119926"/>
            <a:ext cx="9592225" cy="503591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205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p:txBody>
          <a:bodyPr/>
          <a:lstStyle/>
          <a:p>
            <a:r>
              <a:rPr lang="en-US"/>
              <a:t>1. TÂM LÝ ĐÁM ĐÔNG</a:t>
            </a:r>
            <a:endParaRPr lang="en-US" dirty="0"/>
          </a:p>
        </p:txBody>
      </p:sp>
      <p:sp>
        <p:nvSpPr>
          <p:cNvPr id="5" name="Content Placeholder 4">
            <a:extLst>
              <a:ext uri="{FF2B5EF4-FFF2-40B4-BE49-F238E27FC236}">
                <a16:creationId xmlns:a16="http://schemas.microsoft.com/office/drawing/2014/main" id="{C323E9A8-9F17-4487-A3F3-760ED872280C}"/>
              </a:ext>
            </a:extLst>
          </p:cNvPr>
          <p:cNvSpPr>
            <a:spLocks noGrp="1"/>
          </p:cNvSpPr>
          <p:nvPr>
            <p:ph idx="1"/>
          </p:nvPr>
        </p:nvSpPr>
        <p:spPr>
          <a:xfrm>
            <a:off x="760654" y="2272497"/>
            <a:ext cx="6050344" cy="3634486"/>
          </a:xfrm>
        </p:spPr>
        <p:txBody>
          <a:bodyPr/>
          <a:lstStyle/>
          <a:p>
            <a:pPr algn="just"/>
            <a:r>
              <a:rPr lang="vi-VN"/>
              <a:t>Khi một người bắt đầu làm gì đó, (chẳng hạn như hái quả chuối), những người xung quanh có xu hướng theo dõi vì họ tin rằng người đó có lý do chính đáng để làm như vậy. </a:t>
            </a:r>
            <a:endParaRPr lang="en-US"/>
          </a:p>
          <a:p>
            <a:pPr algn="just"/>
            <a:r>
              <a:rPr lang="vi-VN"/>
              <a:t>Trong tình huống như thế này, mọi người thường hành động theo đám đông để tránh cảm giác bị bỏ lỡ hoặc đứng ngoài, mà không cần suy nghĩ quá nhiều về hành động của mình. </a:t>
            </a:r>
            <a:endParaRPr lang="en-US"/>
          </a:p>
          <a:p>
            <a:pPr algn="just"/>
            <a:r>
              <a:rPr lang="vi-VN"/>
              <a:t>Tâm lý đám đông này rất phổ biến trong xã hội, đặc biệt khi hành động của một nhóm lớn dường như trở nên hợp lý hơn đối với từng cá nhân.</a:t>
            </a:r>
            <a:endParaRPr lang="en-US"/>
          </a:p>
        </p:txBody>
      </p:sp>
      <p:pic>
        <p:nvPicPr>
          <p:cNvPr id="3074" name="Picture 2" descr="Hiệu ứng đám đông là gì? Các tác động của hiệu ứng tâm lý đám đông">
            <a:extLst>
              <a:ext uri="{FF2B5EF4-FFF2-40B4-BE49-F238E27FC236}">
                <a16:creationId xmlns:a16="http://schemas.microsoft.com/office/drawing/2014/main" id="{718662F4-EBBB-4C67-81FD-922A5A65F6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8111" y="2600391"/>
            <a:ext cx="4512137" cy="253431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8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3B80E-DDAD-4AEE-84C1-009F18F8447C}"/>
              </a:ext>
            </a:extLst>
          </p:cNvPr>
          <p:cNvSpPr>
            <a:spLocks noGrp="1"/>
          </p:cNvSpPr>
          <p:nvPr>
            <p:ph type="title"/>
          </p:nvPr>
        </p:nvSpPr>
        <p:spPr/>
        <p:txBody>
          <a:bodyPr>
            <a:normAutofit/>
          </a:bodyPr>
          <a:lstStyle/>
          <a:p>
            <a:r>
              <a:rPr lang="en-US" sz="3200" b="1">
                <a:solidFill>
                  <a:srgbClr val="002060"/>
                </a:solidFill>
              </a:rPr>
              <a:t>2. hiệu ứng dẫn đầu</a:t>
            </a:r>
          </a:p>
        </p:txBody>
      </p:sp>
      <p:sp>
        <p:nvSpPr>
          <p:cNvPr id="3" name="Content Placeholder 2">
            <a:extLst>
              <a:ext uri="{FF2B5EF4-FFF2-40B4-BE49-F238E27FC236}">
                <a16:creationId xmlns:a16="http://schemas.microsoft.com/office/drawing/2014/main" id="{4AC0C669-5BED-427F-8AE2-1CB5E22671D1}"/>
              </a:ext>
            </a:extLst>
          </p:cNvPr>
          <p:cNvSpPr>
            <a:spLocks noGrp="1"/>
          </p:cNvSpPr>
          <p:nvPr>
            <p:ph idx="1"/>
          </p:nvPr>
        </p:nvSpPr>
        <p:spPr>
          <a:xfrm>
            <a:off x="581192" y="2011474"/>
            <a:ext cx="6631458" cy="3634486"/>
          </a:xfrm>
        </p:spPr>
        <p:txBody>
          <a:bodyPr/>
          <a:lstStyle/>
          <a:p>
            <a:pPr algn="just"/>
            <a:r>
              <a:rPr lang="vi-VN"/>
              <a:t>Hiệu ứng này giải thích xu hướng của mọi người thay đổi niềm tin hoặc hành vi theo chiều hướng mà đám đông dẫn dắt. Ví dụ, khi một người đầu tiên hái chuối, hành động này được xem là “đúng” hoặc “hợp lý” và những người khác bắt đầu bắt chước theo. Điều này thường xảy ra mà không cần có lý do sâu xa, chỉ đơn giản là vì ai đó đã làm trước.</a:t>
            </a:r>
            <a:endParaRPr lang="en-US"/>
          </a:p>
          <a:p>
            <a:pPr algn="just"/>
            <a:r>
              <a:rPr lang="en-US"/>
              <a:t>Bản chất con ng</a:t>
            </a:r>
            <a:r>
              <a:rPr lang="vi-VN"/>
              <a:t>ư</a:t>
            </a:r>
            <a:r>
              <a:rPr lang="en-US"/>
              <a:t>ời là VĨ CUỒNG nên không bao giờ chấp nhận kẽ khác h</a:t>
            </a:r>
            <a:r>
              <a:rPr lang="vi-VN"/>
              <a:t>ơ</a:t>
            </a:r>
            <a:r>
              <a:rPr lang="en-US"/>
              <a:t>n mình.</a:t>
            </a:r>
          </a:p>
        </p:txBody>
      </p:sp>
      <p:pic>
        <p:nvPicPr>
          <p:cNvPr id="4098" name="Picture 2" descr="HIỆU ỨNG TÂM LÝ ĐÁM ĐÔNG- Đang tự chủ hay bị dẫn dắt bởi thế lực nào đó? -  YouTube">
            <a:extLst>
              <a:ext uri="{FF2B5EF4-FFF2-40B4-BE49-F238E27FC236}">
                <a16:creationId xmlns:a16="http://schemas.microsoft.com/office/drawing/2014/main" id="{A271E6AF-76A6-4F8A-8B7C-5B01FFA367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4749" y="1296516"/>
            <a:ext cx="4227690" cy="237884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Rò rỉ giá bán iPhone 16 Pro tại Mỹ">
            <a:extLst>
              <a:ext uri="{FF2B5EF4-FFF2-40B4-BE49-F238E27FC236}">
                <a16:creationId xmlns:a16="http://schemas.microsoft.com/office/drawing/2014/main" id="{A593C593-C0B5-418E-9956-AC72D6AFD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4750" y="3828717"/>
            <a:ext cx="4227690" cy="2219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05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9F588-DA95-4D87-8B80-76F10F98A9F8}"/>
              </a:ext>
            </a:extLst>
          </p:cNvPr>
          <p:cNvSpPr>
            <a:spLocks noGrp="1"/>
          </p:cNvSpPr>
          <p:nvPr>
            <p:ph type="title"/>
          </p:nvPr>
        </p:nvSpPr>
        <p:spPr>
          <a:xfrm>
            <a:off x="581192" y="685065"/>
            <a:ext cx="11029616" cy="1188720"/>
          </a:xfrm>
        </p:spPr>
        <p:txBody>
          <a:bodyPr/>
          <a:lstStyle/>
          <a:p>
            <a:r>
              <a:rPr lang="en-US" b="1">
                <a:solidFill>
                  <a:srgbClr val="002060"/>
                </a:solidFill>
              </a:rPr>
              <a:t>3. SỢ BỊ BỎ LỠ</a:t>
            </a:r>
          </a:p>
        </p:txBody>
      </p:sp>
      <p:sp>
        <p:nvSpPr>
          <p:cNvPr id="3" name="Content Placeholder 2">
            <a:extLst>
              <a:ext uri="{FF2B5EF4-FFF2-40B4-BE49-F238E27FC236}">
                <a16:creationId xmlns:a16="http://schemas.microsoft.com/office/drawing/2014/main" id="{EC95DFB0-7A85-4E4B-8114-54BDAA444ADA}"/>
              </a:ext>
            </a:extLst>
          </p:cNvPr>
          <p:cNvSpPr>
            <a:spLocks noGrp="1"/>
          </p:cNvSpPr>
          <p:nvPr>
            <p:ph idx="1"/>
          </p:nvPr>
        </p:nvSpPr>
        <p:spPr>
          <a:xfrm>
            <a:off x="5594647" y="2146025"/>
            <a:ext cx="6016161" cy="3634486"/>
          </a:xfrm>
        </p:spPr>
        <p:txBody>
          <a:bodyPr/>
          <a:lstStyle/>
          <a:p>
            <a:pPr algn="just"/>
            <a:r>
              <a:rPr lang="vi-VN"/>
              <a:t>Một phần khác của tâm lý này là nỗi sợ bị bỏ lỡ cơ hội (FOMO). Khi thấy ai đó hái chuối, người khác có thể sợ rằng nếu mình không làm ngay, sẽ không còn quả nào để hái nữa, dẫn đến việc hành động theo một cách khá cảm tính. </a:t>
            </a:r>
            <a:endParaRPr lang="en-US"/>
          </a:p>
          <a:p>
            <a:pPr algn="just"/>
            <a:r>
              <a:rPr lang="en-US"/>
              <a:t>Con người luôn ẩn chứa sự ÁI KỸ trong bản thân nên luôn sợ bị bỏ r</a:t>
            </a:r>
            <a:r>
              <a:rPr lang="vi-VN"/>
              <a:t>ơ</a:t>
            </a:r>
            <a:r>
              <a:rPr lang="en-US"/>
              <a:t>i và bỏ lỡ bất cứ lợi ích nào.</a:t>
            </a:r>
          </a:p>
        </p:txBody>
      </p:sp>
      <p:pic>
        <p:nvPicPr>
          <p:cNvPr id="5122" name="Picture 2" descr="7 Dấu hiệu bạn đang ở cạnh một người ái kỷ | Vietcetera">
            <a:extLst>
              <a:ext uri="{FF2B5EF4-FFF2-40B4-BE49-F238E27FC236}">
                <a16:creationId xmlns:a16="http://schemas.microsoft.com/office/drawing/2014/main" id="{F1ACAAE2-638A-4AD0-B5FD-E61960EA17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489" y="2751746"/>
            <a:ext cx="4315626" cy="2423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485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F4C32-3C32-42B9-8631-08618D1E55C2}"/>
              </a:ext>
            </a:extLst>
          </p:cNvPr>
          <p:cNvSpPr>
            <a:spLocks noGrp="1"/>
          </p:cNvSpPr>
          <p:nvPr>
            <p:ph type="title"/>
          </p:nvPr>
        </p:nvSpPr>
        <p:spPr/>
        <p:txBody>
          <a:bodyPr/>
          <a:lstStyle/>
          <a:p>
            <a:r>
              <a:rPr lang="en-US" b="1">
                <a:solidFill>
                  <a:srgbClr val="002060"/>
                </a:solidFill>
              </a:rPr>
              <a:t>18 QUY LUẬT của BẢN CHẤT CON NGƯỜI</a:t>
            </a:r>
          </a:p>
        </p:txBody>
      </p:sp>
      <p:sp>
        <p:nvSpPr>
          <p:cNvPr id="3" name="Content Placeholder 2">
            <a:extLst>
              <a:ext uri="{FF2B5EF4-FFF2-40B4-BE49-F238E27FC236}">
                <a16:creationId xmlns:a16="http://schemas.microsoft.com/office/drawing/2014/main" id="{A41773A9-CC46-4311-8C21-A867CEDB45D8}"/>
              </a:ext>
            </a:extLst>
          </p:cNvPr>
          <p:cNvSpPr>
            <a:spLocks noGrp="1"/>
          </p:cNvSpPr>
          <p:nvPr>
            <p:ph idx="1"/>
          </p:nvPr>
        </p:nvSpPr>
        <p:spPr>
          <a:xfrm>
            <a:off x="581193" y="2340864"/>
            <a:ext cx="4427036" cy="3634486"/>
          </a:xfrm>
        </p:spPr>
        <p:txBody>
          <a:bodyPr>
            <a:normAutofit lnSpcReduction="10000"/>
          </a:bodyPr>
          <a:lstStyle/>
          <a:p>
            <a:pPr marL="342900" indent="-342900">
              <a:buFont typeface="+mj-lt"/>
              <a:buAutoNum type="arabicPeriod"/>
            </a:pPr>
            <a:r>
              <a:rPr lang="en-US">
                <a:solidFill>
                  <a:schemeClr val="tx1"/>
                </a:solidFill>
              </a:rPr>
              <a:t>Sự thiếu sáng suốt</a:t>
            </a:r>
          </a:p>
          <a:p>
            <a:pPr marL="342900" indent="-342900">
              <a:buFont typeface="+mj-lt"/>
              <a:buAutoNum type="arabicPeriod"/>
            </a:pPr>
            <a:r>
              <a:rPr lang="en-US">
                <a:solidFill>
                  <a:schemeClr val="tx1"/>
                </a:solidFill>
              </a:rPr>
              <a:t>Ái kỷ</a:t>
            </a:r>
          </a:p>
          <a:p>
            <a:pPr marL="342900" indent="-342900">
              <a:buFont typeface="+mj-lt"/>
              <a:buAutoNum type="arabicPeriod"/>
            </a:pPr>
            <a:r>
              <a:rPr lang="en-US">
                <a:solidFill>
                  <a:schemeClr val="tx1"/>
                </a:solidFill>
              </a:rPr>
              <a:t>Diễn vai</a:t>
            </a:r>
          </a:p>
          <a:p>
            <a:pPr marL="342900" indent="-342900">
              <a:buFont typeface="+mj-lt"/>
              <a:buAutoNum type="arabicPeriod"/>
            </a:pPr>
            <a:r>
              <a:rPr lang="en-US">
                <a:solidFill>
                  <a:schemeClr val="tx1"/>
                </a:solidFill>
              </a:rPr>
              <a:t>Tính cách cá nhân</a:t>
            </a:r>
          </a:p>
          <a:p>
            <a:pPr marL="342900" indent="-342900">
              <a:buFont typeface="+mj-lt"/>
              <a:buAutoNum type="arabicPeriod"/>
            </a:pPr>
            <a:r>
              <a:rPr lang="en-US">
                <a:solidFill>
                  <a:schemeClr val="tx1"/>
                </a:solidFill>
              </a:rPr>
              <a:t>Khát khao</a:t>
            </a:r>
          </a:p>
          <a:p>
            <a:pPr marL="342900" indent="-342900">
              <a:buFont typeface="+mj-lt"/>
              <a:buAutoNum type="arabicPeriod"/>
            </a:pPr>
            <a:r>
              <a:rPr lang="en-US">
                <a:solidFill>
                  <a:schemeClr val="tx1"/>
                </a:solidFill>
              </a:rPr>
              <a:t>Thiển cận</a:t>
            </a:r>
          </a:p>
          <a:p>
            <a:pPr marL="342900" indent="-342900">
              <a:buFont typeface="+mj-lt"/>
              <a:buAutoNum type="arabicPeriod"/>
            </a:pPr>
            <a:r>
              <a:rPr lang="en-US">
                <a:solidFill>
                  <a:schemeClr val="tx1"/>
                </a:solidFill>
              </a:rPr>
              <a:t>Phòng vệ</a:t>
            </a:r>
          </a:p>
          <a:p>
            <a:pPr marL="342900" indent="-342900">
              <a:buFont typeface="+mj-lt"/>
              <a:buAutoNum type="arabicPeriod"/>
            </a:pPr>
            <a:r>
              <a:rPr lang="en-US">
                <a:solidFill>
                  <a:schemeClr val="tx1"/>
                </a:solidFill>
              </a:rPr>
              <a:t>Sự phá hoại</a:t>
            </a:r>
          </a:p>
          <a:p>
            <a:pPr marL="342900" indent="-342900">
              <a:buFont typeface="+mj-lt"/>
              <a:buAutoNum type="arabicPeriod"/>
            </a:pPr>
            <a:r>
              <a:rPr lang="en-US">
                <a:solidFill>
                  <a:schemeClr val="tx1"/>
                </a:solidFill>
              </a:rPr>
              <a:t>Kìm nén</a:t>
            </a:r>
          </a:p>
        </p:txBody>
      </p:sp>
      <p:pic>
        <p:nvPicPr>
          <p:cNvPr id="5" name="Picture 4">
            <a:extLst>
              <a:ext uri="{FF2B5EF4-FFF2-40B4-BE49-F238E27FC236}">
                <a16:creationId xmlns:a16="http://schemas.microsoft.com/office/drawing/2014/main" id="{D7D45A9D-7DA6-4605-BF4F-2F547FE93804}"/>
              </a:ext>
            </a:extLst>
          </p:cNvPr>
          <p:cNvPicPr>
            <a:picLocks noChangeAspect="1"/>
          </p:cNvPicPr>
          <p:nvPr/>
        </p:nvPicPr>
        <p:blipFill>
          <a:blip r:embed="rId2"/>
          <a:stretch>
            <a:fillRect/>
          </a:stretch>
        </p:blipFill>
        <p:spPr>
          <a:xfrm>
            <a:off x="3451086" y="2419382"/>
            <a:ext cx="3732687" cy="3076249"/>
          </a:xfrm>
          <a:prstGeom prst="rect">
            <a:avLst/>
          </a:prstGeom>
        </p:spPr>
      </p:pic>
      <p:sp>
        <p:nvSpPr>
          <p:cNvPr id="6" name="Content Placeholder 2">
            <a:extLst>
              <a:ext uri="{FF2B5EF4-FFF2-40B4-BE49-F238E27FC236}">
                <a16:creationId xmlns:a16="http://schemas.microsoft.com/office/drawing/2014/main" id="{CFC2EABE-C507-40DC-B534-736A3BC7DF3C}"/>
              </a:ext>
            </a:extLst>
          </p:cNvPr>
          <p:cNvSpPr txBox="1">
            <a:spLocks/>
          </p:cNvSpPr>
          <p:nvPr/>
        </p:nvSpPr>
        <p:spPr>
          <a:xfrm>
            <a:off x="8073960" y="2419382"/>
            <a:ext cx="4427036" cy="3634486"/>
          </a:xfrm>
          <a:prstGeom prst="rect">
            <a:avLst/>
          </a:prstGeom>
        </p:spPr>
        <p:txBody>
          <a:bodyPr vert="horz" lIns="91440" tIns="45720" rIns="91440" bIns="45720" rtlCol="0" anchor="ctr">
            <a:normAutofit lnSpcReduction="1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a:t>10. Đố kỵ</a:t>
            </a:r>
          </a:p>
          <a:p>
            <a:pPr marL="0" indent="0">
              <a:buNone/>
            </a:pPr>
            <a:r>
              <a:rPr lang="en-US"/>
              <a:t>11. Vĩ cuồng</a:t>
            </a:r>
          </a:p>
          <a:p>
            <a:pPr marL="0" indent="0">
              <a:buNone/>
            </a:pPr>
            <a:r>
              <a:rPr lang="en-US"/>
              <a:t>12. Cứng nhắc giới tính</a:t>
            </a:r>
          </a:p>
          <a:p>
            <a:pPr marL="0" indent="0">
              <a:buNone/>
            </a:pPr>
            <a:r>
              <a:rPr lang="en-US"/>
              <a:t>13. Vô mục đích</a:t>
            </a:r>
          </a:p>
          <a:p>
            <a:pPr marL="0" indent="0">
              <a:buNone/>
            </a:pPr>
            <a:r>
              <a:rPr lang="en-US"/>
              <a:t>14. Tính cảm xúc xã hội</a:t>
            </a:r>
          </a:p>
          <a:p>
            <a:pPr marL="0" indent="0">
              <a:buNone/>
            </a:pPr>
            <a:r>
              <a:rPr lang="en-US"/>
              <a:t>15. Sự quay xe</a:t>
            </a:r>
          </a:p>
          <a:p>
            <a:pPr marL="0" indent="0">
              <a:buNone/>
            </a:pPr>
            <a:r>
              <a:rPr lang="en-US"/>
              <a:t>16. Mâu thuẫn thế hệ</a:t>
            </a:r>
          </a:p>
          <a:p>
            <a:pPr marL="0" indent="0">
              <a:buNone/>
            </a:pPr>
            <a:r>
              <a:rPr lang="en-US"/>
              <a:t>17. Gây hấn</a:t>
            </a:r>
          </a:p>
          <a:p>
            <a:pPr marL="0" indent="0">
              <a:buNone/>
            </a:pPr>
            <a:r>
              <a:rPr lang="en-US"/>
              <a:t>18. Phủ nhận cái chết</a:t>
            </a:r>
          </a:p>
          <a:p>
            <a:pPr marL="0" indent="0">
              <a:buNone/>
            </a:pPr>
            <a:endParaRPr lang="en-US"/>
          </a:p>
        </p:txBody>
      </p:sp>
    </p:spTree>
    <p:extLst>
      <p:ext uri="{BB962C8B-B14F-4D97-AF65-F5344CB8AC3E}">
        <p14:creationId xmlns:p14="http://schemas.microsoft.com/office/powerpoint/2010/main" val="2446960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2C9A1-3345-4C9D-9BE1-43503375DF87}"/>
              </a:ext>
            </a:extLst>
          </p:cNvPr>
          <p:cNvSpPr>
            <a:spLocks noGrp="1"/>
          </p:cNvSpPr>
          <p:nvPr>
            <p:ph type="title"/>
          </p:nvPr>
        </p:nvSpPr>
        <p:spPr>
          <a:xfrm>
            <a:off x="925140" y="2659147"/>
            <a:ext cx="3663638" cy="1188720"/>
          </a:xfrm>
        </p:spPr>
        <p:txBody>
          <a:bodyPr>
            <a:normAutofit fontScale="90000"/>
          </a:bodyPr>
          <a:lstStyle/>
          <a:p>
            <a:r>
              <a:rPr lang="en-US" sz="3200" b="1">
                <a:solidFill>
                  <a:srgbClr val="7030A0"/>
                </a:solidFill>
              </a:rPr>
              <a:t>ĐỪNG CHỈ THẤY </a:t>
            </a:r>
            <a:br>
              <a:rPr lang="en-US" sz="3200" b="1">
                <a:solidFill>
                  <a:srgbClr val="7030A0"/>
                </a:solidFill>
              </a:rPr>
            </a:br>
            <a:r>
              <a:rPr lang="en-US" sz="3200" b="1">
                <a:solidFill>
                  <a:srgbClr val="7030A0"/>
                </a:solidFill>
              </a:rPr>
              <a:t>CÁI LỢI TRƯỚC MẮT</a:t>
            </a:r>
          </a:p>
        </p:txBody>
      </p:sp>
      <p:pic>
        <p:nvPicPr>
          <p:cNvPr id="7170" name="Picture 2" descr="ICOLOZ: Nếu chỉ nhìn thấy cái lợi trước mắt mà không suy tính cẩn thận, bạn  sẽ dễ dàng bị lợi dụng.">
            <a:extLst>
              <a:ext uri="{FF2B5EF4-FFF2-40B4-BE49-F238E27FC236}">
                <a16:creationId xmlns:a16="http://schemas.microsoft.com/office/drawing/2014/main" id="{23BEF573-F1C5-49E2-889A-46E0C7CCB3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9009" y="1008692"/>
            <a:ext cx="6191250" cy="535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134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3A181-B6FF-4E78-86DD-A94C7AE4ED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3203B2-24CE-40C5-81BE-1F1CF1A40D97}"/>
              </a:ext>
            </a:extLst>
          </p:cNvPr>
          <p:cNvSpPr>
            <a:spLocks noGrp="1"/>
          </p:cNvSpPr>
          <p:nvPr>
            <p:ph idx="1"/>
          </p:nvPr>
        </p:nvSpPr>
        <p:spPr>
          <a:xfrm>
            <a:off x="715417" y="1890876"/>
            <a:ext cx="4427036" cy="3634486"/>
          </a:xfrm>
        </p:spPr>
        <p:txBody>
          <a:bodyPr/>
          <a:lstStyle/>
          <a:p>
            <a:pPr marL="0" indent="0" algn="just">
              <a:buNone/>
            </a:pPr>
            <a:r>
              <a:rPr lang="vi-VN"/>
              <a:t>Có một số việc tưởng như rất rõ ràng, nhưng thực tế lại rất mong manh. Có một vài cơ hội tưởng không phải tranh giành nhưng thực ra lại là cái bẫy</a:t>
            </a:r>
            <a:endParaRPr lang="en-US"/>
          </a:p>
        </p:txBody>
      </p:sp>
      <p:pic>
        <p:nvPicPr>
          <p:cNvPr id="8194" name="Picture 2" descr="Cạm bẫy đáng sợ nhất đời người là gì?&quot; và câu trả lời chúng ta nên biết để  tránh!">
            <a:extLst>
              <a:ext uri="{FF2B5EF4-FFF2-40B4-BE49-F238E27FC236}">
                <a16:creationId xmlns:a16="http://schemas.microsoft.com/office/drawing/2014/main" id="{64DE1DDB-DA4A-4054-A16A-2814960B26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563" r="7387"/>
          <a:stretch/>
        </p:blipFill>
        <p:spPr bwMode="auto">
          <a:xfrm>
            <a:off x="5654449" y="2007977"/>
            <a:ext cx="5822134" cy="340028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48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F397F-0204-470B-A0A4-B937A7BC76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1C9801-62D7-4FE2-9A3B-F9E37C39CB32}"/>
              </a:ext>
            </a:extLst>
          </p:cNvPr>
          <p:cNvSpPr>
            <a:spLocks noGrp="1"/>
          </p:cNvSpPr>
          <p:nvPr>
            <p:ph idx="1"/>
          </p:nvPr>
        </p:nvSpPr>
        <p:spPr>
          <a:xfrm>
            <a:off x="6201816" y="2147918"/>
            <a:ext cx="5182045" cy="3634486"/>
          </a:xfrm>
        </p:spPr>
        <p:txBody>
          <a:bodyPr/>
          <a:lstStyle/>
          <a:p>
            <a:pPr marL="0" indent="0">
              <a:buNone/>
            </a:pPr>
            <a:r>
              <a:rPr lang="vi-VN"/>
              <a:t>Con chuột sa chĩnh gạo nghĩ mình may mắn. Hưởng thụ, ăn chơi rồi đến ngày gạo hết, chết nhăn răng.</a:t>
            </a:r>
            <a:endParaRPr lang="en-US"/>
          </a:p>
        </p:txBody>
      </p:sp>
      <p:pic>
        <p:nvPicPr>
          <p:cNvPr id="9218" name="Picture 2" descr="Lười biếng ở hiện tại sẽ giết chết tương lai của chính bạn!">
            <a:extLst>
              <a:ext uri="{FF2B5EF4-FFF2-40B4-BE49-F238E27FC236}">
                <a16:creationId xmlns:a16="http://schemas.microsoft.com/office/drawing/2014/main" id="{6D19DF02-1824-479D-83DA-5E31D9C759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9542" y="1952830"/>
            <a:ext cx="4292314" cy="382957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46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9B0A7-9164-4778-90FD-D684A5878B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78B4FD-BF3C-4789-A7A7-2B5DEC44702C}"/>
              </a:ext>
            </a:extLst>
          </p:cNvPr>
          <p:cNvSpPr>
            <a:spLocks noGrp="1"/>
          </p:cNvSpPr>
          <p:nvPr>
            <p:ph idx="1"/>
          </p:nvPr>
        </p:nvSpPr>
        <p:spPr>
          <a:xfrm>
            <a:off x="581193" y="2340864"/>
            <a:ext cx="4619982" cy="3634486"/>
          </a:xfrm>
        </p:spPr>
        <p:txBody>
          <a:bodyPr/>
          <a:lstStyle/>
          <a:p>
            <a:pPr marL="0" indent="0" algn="just">
              <a:buNone/>
            </a:pPr>
            <a:r>
              <a:rPr lang="vi-VN"/>
              <a:t>Nếu phát hiện mình đi sai hướng, nên dừng lại cũng là bước tiến. Nếu nhìn về phía trước là sai, hãy quay đầu nhìn lại</a:t>
            </a:r>
            <a:endParaRPr lang="en-US"/>
          </a:p>
        </p:txBody>
      </p:sp>
      <p:pic>
        <p:nvPicPr>
          <p:cNvPr id="10242" name="Picture 2" descr="Nhìn lại chính mình">
            <a:extLst>
              <a:ext uri="{FF2B5EF4-FFF2-40B4-BE49-F238E27FC236}">
                <a16:creationId xmlns:a16="http://schemas.microsoft.com/office/drawing/2014/main" id="{44716583-BA60-4D3E-82B2-0494998997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5215" y="2495229"/>
            <a:ext cx="6322227" cy="332575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4911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D0732-B448-42AF-906B-C923595BE2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E5C46A-78DE-4BD8-848E-EA28DDE0A8A0}"/>
              </a:ext>
            </a:extLst>
          </p:cNvPr>
          <p:cNvSpPr>
            <a:spLocks noGrp="1"/>
          </p:cNvSpPr>
          <p:nvPr>
            <p:ph idx="1"/>
          </p:nvPr>
        </p:nvSpPr>
        <p:spPr>
          <a:xfrm>
            <a:off x="6635692" y="2340864"/>
            <a:ext cx="4975115" cy="3634486"/>
          </a:xfrm>
        </p:spPr>
        <p:txBody>
          <a:bodyPr/>
          <a:lstStyle/>
          <a:p>
            <a:pPr marL="0" indent="0">
              <a:buNone/>
            </a:pPr>
            <a:r>
              <a:rPr lang="vi-VN"/>
              <a:t>Đừng tự cho là giỏi khi "qua mặt" nhiều người</a:t>
            </a:r>
            <a:r>
              <a:rPr lang="en-US"/>
              <a:t>.</a:t>
            </a:r>
          </a:p>
          <a:p>
            <a:pPr marL="0" indent="0">
              <a:buNone/>
            </a:pPr>
            <a:r>
              <a:rPr lang="vi-VN"/>
              <a:t>Đừng toan tính khôn lỏi vì ở đời chẳng ai ngốc</a:t>
            </a:r>
            <a:r>
              <a:rPr lang="en-US"/>
              <a:t>.</a:t>
            </a:r>
          </a:p>
        </p:txBody>
      </p:sp>
      <p:pic>
        <p:nvPicPr>
          <p:cNvPr id="11266" name="Picture 2" descr="Nhìn qua tưởng dại dột, nhưng 9 kiểu người sau đây mới là thông minh nhất!">
            <a:extLst>
              <a:ext uri="{FF2B5EF4-FFF2-40B4-BE49-F238E27FC236}">
                <a16:creationId xmlns:a16="http://schemas.microsoft.com/office/drawing/2014/main" id="{17151A06-1417-400D-850B-5F66712E74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909" b="8486"/>
          <a:stretch/>
        </p:blipFill>
        <p:spPr bwMode="auto">
          <a:xfrm>
            <a:off x="981559" y="2340864"/>
            <a:ext cx="5114441" cy="332204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578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24661-060A-4A1A-BC06-5DE7FCA8D2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631B1D-FFEF-4099-A05D-94D43ED847F8}"/>
              </a:ext>
            </a:extLst>
          </p:cNvPr>
          <p:cNvSpPr>
            <a:spLocks noGrp="1"/>
          </p:cNvSpPr>
          <p:nvPr>
            <p:ph idx="1"/>
          </p:nvPr>
        </p:nvSpPr>
        <p:spPr>
          <a:xfrm>
            <a:off x="581192" y="2340864"/>
            <a:ext cx="11029615" cy="771452"/>
          </a:xfrm>
        </p:spPr>
        <p:txBody>
          <a:bodyPr/>
          <a:lstStyle/>
          <a:p>
            <a:pPr marL="0" indent="0">
              <a:buNone/>
            </a:pPr>
            <a:r>
              <a:rPr lang="vi-VN"/>
              <a:t>Đừng sợ kẻ thông minh, hãy sợ kẻ ngốc tưởng mình thông minh</a:t>
            </a:r>
            <a:endParaRPr lang="en-US"/>
          </a:p>
        </p:txBody>
      </p:sp>
      <p:pic>
        <p:nvPicPr>
          <p:cNvPr id="5" name="Picture 4">
            <a:extLst>
              <a:ext uri="{FF2B5EF4-FFF2-40B4-BE49-F238E27FC236}">
                <a16:creationId xmlns:a16="http://schemas.microsoft.com/office/drawing/2014/main" id="{A9078F1E-1295-460A-AC03-96B8FDCC10EB}"/>
              </a:ext>
            </a:extLst>
          </p:cNvPr>
          <p:cNvPicPr>
            <a:picLocks noChangeAspect="1"/>
          </p:cNvPicPr>
          <p:nvPr/>
        </p:nvPicPr>
        <p:blipFill>
          <a:blip r:embed="rId2"/>
          <a:stretch>
            <a:fillRect/>
          </a:stretch>
        </p:blipFill>
        <p:spPr>
          <a:xfrm>
            <a:off x="4440573" y="3174184"/>
            <a:ext cx="6096000" cy="3429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65875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4150A-4AAF-4825-A89F-FF9B3B3E56C5}"/>
              </a:ext>
            </a:extLst>
          </p:cNvPr>
          <p:cNvSpPr>
            <a:spLocks noGrp="1"/>
          </p:cNvSpPr>
          <p:nvPr>
            <p:ph type="title"/>
          </p:nvPr>
        </p:nvSpPr>
        <p:spPr/>
        <p:txBody>
          <a:bodyPr/>
          <a:lstStyle/>
          <a:p>
            <a:r>
              <a:rPr lang="en-US" b="1">
                <a:solidFill>
                  <a:srgbClr val="7030A0"/>
                </a:solidFill>
              </a:rPr>
              <a:t>THANKS!</a:t>
            </a:r>
          </a:p>
        </p:txBody>
      </p:sp>
      <p:sp>
        <p:nvSpPr>
          <p:cNvPr id="3" name="Content Placeholder 2">
            <a:extLst>
              <a:ext uri="{FF2B5EF4-FFF2-40B4-BE49-F238E27FC236}">
                <a16:creationId xmlns:a16="http://schemas.microsoft.com/office/drawing/2014/main" id="{101B4335-3367-4376-BCD5-CA21CF039BC0}"/>
              </a:ext>
            </a:extLst>
          </p:cNvPr>
          <p:cNvSpPr>
            <a:spLocks noGrp="1"/>
          </p:cNvSpPr>
          <p:nvPr>
            <p:ph idx="1"/>
          </p:nvPr>
        </p:nvSpPr>
        <p:spPr/>
        <p:txBody>
          <a:bodyPr/>
          <a:lstStyle/>
          <a:p>
            <a:endParaRPr lang="en-US"/>
          </a:p>
        </p:txBody>
      </p:sp>
      <p:pic>
        <p:nvPicPr>
          <p:cNvPr id="13314" name="Picture 2" descr="Khoa học lý giải: Tại sao những người thông minh thường hay làm điều NGU  NGỐC?">
            <a:extLst>
              <a:ext uri="{FF2B5EF4-FFF2-40B4-BE49-F238E27FC236}">
                <a16:creationId xmlns:a16="http://schemas.microsoft.com/office/drawing/2014/main" id="{9E418B9E-285C-442D-A4BD-0EFE72468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2043" y="1998182"/>
            <a:ext cx="7070521" cy="3977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9938879"/>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{DBF9FB2B-9277-455A-921C-61909F7A693B}tf33552983_win32</Template>
  <TotalTime>0</TotalTime>
  <Words>555</Words>
  <Application>Microsoft Office PowerPoint</Application>
  <PresentationFormat>Widescreen</PresentationFormat>
  <Paragraphs>39</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Franklin Gothic Book</vt:lpstr>
      <vt:lpstr>Franklin Gothic Demi</vt:lpstr>
      <vt:lpstr>Tahoma</vt:lpstr>
      <vt:lpstr>Wingdings 2</vt:lpstr>
      <vt:lpstr>DividendVTI</vt:lpstr>
      <vt:lpstr>Tâm lý HÁI CHUỐI</vt:lpstr>
      <vt:lpstr>PowerPoint Presentation</vt:lpstr>
      <vt:lpstr>1. TÂM LÝ ĐÁM ĐÔNG</vt:lpstr>
      <vt:lpstr>2. hiệu ứng dẫn đầu</vt:lpstr>
      <vt:lpstr>3. SỢ BỊ BỎ LỠ</vt:lpstr>
      <vt:lpstr>18 QUY LUẬT của BẢN CHẤT CON NGƯỜI</vt:lpstr>
      <vt:lpstr>ĐỪNG CHỈ THẤY  CÁI LỢI TRƯỚC MẮT</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2024-12-12T09:06:42Z</dcterms:created>
  <dcterms:modified xsi:type="dcterms:W3CDTF">2024-12-12T09:58:44Z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