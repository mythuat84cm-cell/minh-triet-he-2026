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AD94A-FDFC-109B-EF6B-F2B9ED51D7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6EE9AE-5FAE-BBE2-6E16-F9F148C4A0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2EE146-66F2-C310-32DE-F40AF79BE866}"/>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5" name="Footer Placeholder 4">
            <a:extLst>
              <a:ext uri="{FF2B5EF4-FFF2-40B4-BE49-F238E27FC236}">
                <a16:creationId xmlns:a16="http://schemas.microsoft.com/office/drawing/2014/main" id="{C2AD62AE-D1B8-4043-042D-5B871A441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E7D9E-4E88-1D61-DEEA-5ACEDCFE2136}"/>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990446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F3DA-A0A9-3ECF-8B4A-F96C049700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B5C350-61D3-B905-D038-23A9CC5172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02518-910A-682A-7AE0-2C99E862C078}"/>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5" name="Footer Placeholder 4">
            <a:extLst>
              <a:ext uri="{FF2B5EF4-FFF2-40B4-BE49-F238E27FC236}">
                <a16:creationId xmlns:a16="http://schemas.microsoft.com/office/drawing/2014/main" id="{F27BF6BD-3A4E-FD57-2972-D42DEC6E97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82BFFD-6FC6-A040-BB56-7C1B8A99557D}"/>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3999586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30EF-3FA4-6486-96B3-2021B09D6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37E5C0-7BC7-B591-5A5B-C7DF260F2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508ECE-2B4E-0459-8547-FA50DD4A24B8}"/>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5" name="Footer Placeholder 4">
            <a:extLst>
              <a:ext uri="{FF2B5EF4-FFF2-40B4-BE49-F238E27FC236}">
                <a16:creationId xmlns:a16="http://schemas.microsoft.com/office/drawing/2014/main" id="{A2E88B66-9693-54E9-4716-E56E45F885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34F415-E134-9AF2-EC04-E40C595CE952}"/>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937246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80275-532F-B5F8-D249-704B1E654A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95493A-5063-4CF5-81E1-AD95E84EC0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96D1C0-8835-9FEF-6F58-5C7354B17E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AE698D-8327-5FC1-E279-F6A08102B732}"/>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6" name="Footer Placeholder 5">
            <a:extLst>
              <a:ext uri="{FF2B5EF4-FFF2-40B4-BE49-F238E27FC236}">
                <a16:creationId xmlns:a16="http://schemas.microsoft.com/office/drawing/2014/main" id="{9C8B771D-0243-2DB3-5746-A7F37AE9D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044-ECC9-ECD9-84C2-0F97FBF7C2E2}"/>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106258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044DA-31F4-0F7E-2497-59FA25A6EF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A84E49-C9E2-E57B-DEB6-5377D2BD19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BB3EDB-846B-3D71-E094-AFDF97E012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B08886-0812-F2CF-7EEB-16FB69D6D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67953F-FFEA-0109-6639-6F298826F7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233FB5-0CD3-BA36-7169-096768889D96}"/>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8" name="Footer Placeholder 7">
            <a:extLst>
              <a:ext uri="{FF2B5EF4-FFF2-40B4-BE49-F238E27FC236}">
                <a16:creationId xmlns:a16="http://schemas.microsoft.com/office/drawing/2014/main" id="{F6C346B1-684B-ED94-E282-98DFE448A9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71B549-07DD-7C40-29CD-2FE6D0B445E7}"/>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1639188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8C72-ACC7-5EBC-ED0D-6EAEB9F46F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AEE43D-559C-8F29-18FE-C43DE3BF39CF}"/>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4" name="Footer Placeholder 3">
            <a:extLst>
              <a:ext uri="{FF2B5EF4-FFF2-40B4-BE49-F238E27FC236}">
                <a16:creationId xmlns:a16="http://schemas.microsoft.com/office/drawing/2014/main" id="{FFAADD46-6125-EBC2-3E72-87DA5F0896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DD58FA-5DF1-ED4B-B817-3D90BEE1C03A}"/>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3020745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990A7A-E460-DB15-D588-7836BC3BDB51}"/>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3" name="Footer Placeholder 2">
            <a:extLst>
              <a:ext uri="{FF2B5EF4-FFF2-40B4-BE49-F238E27FC236}">
                <a16:creationId xmlns:a16="http://schemas.microsoft.com/office/drawing/2014/main" id="{751E7E08-BCDD-CE49-A0F1-33BB4D7E5E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729D09-D611-A672-2207-F8F81CE1BF8D}"/>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3403252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7CEE0-EF0B-9F6B-3116-B571DD2DA9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5F6C93-72CD-4B59-8EFB-0B4F61F50D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65D50F-E892-D9C6-23D1-13C4A4D8E0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EDCF6E-1213-A3BC-A7D5-6F36ABD921BC}"/>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6" name="Footer Placeholder 5">
            <a:extLst>
              <a:ext uri="{FF2B5EF4-FFF2-40B4-BE49-F238E27FC236}">
                <a16:creationId xmlns:a16="http://schemas.microsoft.com/office/drawing/2014/main" id="{DDC0D522-B48E-5133-C304-758C7D2A05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CBB4F7-29FE-E4F5-2F84-16FC6B67DFD2}"/>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3970479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397C-3B06-3E27-EDFF-06D5D339DB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A49502-0999-9276-BBE0-DBB27AD60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E57231-FE8C-1285-A3EB-43F7FB3962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420C7-0447-6496-C332-165979DC2D2F}"/>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6" name="Footer Placeholder 5">
            <a:extLst>
              <a:ext uri="{FF2B5EF4-FFF2-40B4-BE49-F238E27FC236}">
                <a16:creationId xmlns:a16="http://schemas.microsoft.com/office/drawing/2014/main" id="{CC313A93-9443-2FE0-8839-A748682F58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1EC19-B175-A4FC-DE5A-E5C96D4A05CC}"/>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386461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75EAD-52F8-A68E-19C1-B46E54F751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4F8C91-EDAE-5F06-93DF-6A707902F6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49D648-5B1B-5C84-35E6-473D90BD421F}"/>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5" name="Footer Placeholder 4">
            <a:extLst>
              <a:ext uri="{FF2B5EF4-FFF2-40B4-BE49-F238E27FC236}">
                <a16:creationId xmlns:a16="http://schemas.microsoft.com/office/drawing/2014/main" id="{5EEDFAEA-AAF9-A686-29F9-47F07D25D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F71A43-3C27-D887-1B04-249D67C0D439}"/>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4261647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7B803E-38CB-450C-A716-294E00C627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9C98C4-15EC-09A4-EAD0-A0A8243ABA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5EB89C-2C0F-3C76-14EC-33A9B809701C}"/>
              </a:ext>
            </a:extLst>
          </p:cNvPr>
          <p:cNvSpPr>
            <a:spLocks noGrp="1"/>
          </p:cNvSpPr>
          <p:nvPr>
            <p:ph type="dt" sz="half" idx="10"/>
          </p:nvPr>
        </p:nvSpPr>
        <p:spPr/>
        <p:txBody>
          <a:bodyPr/>
          <a:lstStyle/>
          <a:p>
            <a:fld id="{120F38A0-E274-40F6-BE04-CB32634069DB}" type="datetimeFigureOut">
              <a:rPr lang="en-US" smtClean="0"/>
              <a:t>1/16/2025</a:t>
            </a:fld>
            <a:endParaRPr lang="en-US"/>
          </a:p>
        </p:txBody>
      </p:sp>
      <p:sp>
        <p:nvSpPr>
          <p:cNvPr id="5" name="Footer Placeholder 4">
            <a:extLst>
              <a:ext uri="{FF2B5EF4-FFF2-40B4-BE49-F238E27FC236}">
                <a16:creationId xmlns:a16="http://schemas.microsoft.com/office/drawing/2014/main" id="{B5B50BFD-880D-B11C-C22E-A98A8D8312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70B21-972D-1735-C7DC-DB99B12DEF2A}"/>
              </a:ext>
            </a:extLst>
          </p:cNvPr>
          <p:cNvSpPr>
            <a:spLocks noGrp="1"/>
          </p:cNvSpPr>
          <p:nvPr>
            <p:ph type="sldNum" sz="quarter" idx="12"/>
          </p:nvPr>
        </p:nvSpPr>
        <p:spPr/>
        <p:txBody>
          <a:bodyPr/>
          <a:lstStyle/>
          <a:p>
            <a:fld id="{72F9F91B-3322-4B32-BEFC-2215A52D7758}" type="slidenum">
              <a:rPr lang="en-US" smtClean="0"/>
              <a:t>‹#›</a:t>
            </a:fld>
            <a:endParaRPr lang="en-US"/>
          </a:p>
        </p:txBody>
      </p:sp>
    </p:spTree>
    <p:extLst>
      <p:ext uri="{BB962C8B-B14F-4D97-AF65-F5344CB8AC3E}">
        <p14:creationId xmlns:p14="http://schemas.microsoft.com/office/powerpoint/2010/main" val="2735985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C13926-B76F-005F-27CC-DDDE1E80A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25BF57-E3C1-1662-87C7-8CFAFD9D4F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8AD98B-1A26-5DF1-5798-39EEE752F7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F38A0-E274-40F6-BE04-CB32634069DB}" type="datetimeFigureOut">
              <a:rPr lang="en-US" smtClean="0"/>
              <a:t>1/16/2025</a:t>
            </a:fld>
            <a:endParaRPr lang="en-US"/>
          </a:p>
        </p:txBody>
      </p:sp>
      <p:sp>
        <p:nvSpPr>
          <p:cNvPr id="5" name="Footer Placeholder 4">
            <a:extLst>
              <a:ext uri="{FF2B5EF4-FFF2-40B4-BE49-F238E27FC236}">
                <a16:creationId xmlns:a16="http://schemas.microsoft.com/office/drawing/2014/main" id="{2225324B-C711-B4AC-F1D8-414A8E4CE4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AD58F7-0E02-62BA-4399-7238A985DF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F9F91B-3322-4B32-BEFC-2215A52D7758}" type="slidenum">
              <a:rPr lang="en-US" smtClean="0"/>
              <a:t>‹#›</a:t>
            </a:fld>
            <a:endParaRPr lang="en-US"/>
          </a:p>
        </p:txBody>
      </p:sp>
    </p:spTree>
    <p:extLst>
      <p:ext uri="{BB962C8B-B14F-4D97-AF65-F5344CB8AC3E}">
        <p14:creationId xmlns:p14="http://schemas.microsoft.com/office/powerpoint/2010/main" val="827195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5E52-8BD7-3969-60A4-E471F4634DBC}"/>
              </a:ext>
            </a:extLst>
          </p:cNvPr>
          <p:cNvSpPr>
            <a:spLocks noGrp="1"/>
          </p:cNvSpPr>
          <p:nvPr>
            <p:ph type="ctrTitle"/>
          </p:nvPr>
        </p:nvSpPr>
        <p:spPr>
          <a:xfrm>
            <a:off x="2729999" y="3355767"/>
            <a:ext cx="6183085" cy="2387600"/>
          </a:xfrm>
        </p:spPr>
        <p:txBody>
          <a:bodyPr>
            <a:normAutofit/>
          </a:bodyPr>
          <a:lstStyle/>
          <a:p>
            <a:pPr>
              <a:lnSpc>
                <a:spcPct val="100000"/>
              </a:lnSpc>
            </a:pPr>
            <a:r>
              <a:rPr lang="en-US" sz="4400" b="1" dirty="0">
                <a:solidFill>
                  <a:srgbClr val="0070C0"/>
                </a:solidFill>
                <a:latin typeface="Bahnschrift" panose="020B0502040204020203" pitchFamily="34" charset="0"/>
              </a:rPr>
              <a:t>TẠI SAO PHẢI CHĂM SÓC KHÁCH HÀNG CŨ</a:t>
            </a:r>
          </a:p>
        </p:txBody>
      </p:sp>
      <p:grpSp>
        <p:nvGrpSpPr>
          <p:cNvPr id="6" name="Group 5">
            <a:extLst>
              <a:ext uri="{FF2B5EF4-FFF2-40B4-BE49-F238E27FC236}">
                <a16:creationId xmlns:a16="http://schemas.microsoft.com/office/drawing/2014/main" id="{9D5A0327-B432-DE5B-984E-D91A0A95D4E2}"/>
              </a:ext>
            </a:extLst>
          </p:cNvPr>
          <p:cNvGrpSpPr/>
          <p:nvPr/>
        </p:nvGrpSpPr>
        <p:grpSpPr>
          <a:xfrm>
            <a:off x="3408784" y="596738"/>
            <a:ext cx="6884289" cy="3570758"/>
            <a:chOff x="2373086" y="632382"/>
            <a:chExt cx="6884289" cy="3570758"/>
          </a:xfrm>
        </p:grpSpPr>
        <p:sp>
          <p:nvSpPr>
            <p:cNvPr id="7" name="Frame 6">
              <a:extLst>
                <a:ext uri="{FF2B5EF4-FFF2-40B4-BE49-F238E27FC236}">
                  <a16:creationId xmlns:a16="http://schemas.microsoft.com/office/drawing/2014/main" id="{21CC93A3-44A4-500F-DBF7-CA935AED2B14}"/>
                </a:ext>
              </a:extLst>
            </p:cNvPr>
            <p:cNvSpPr/>
            <p:nvPr/>
          </p:nvSpPr>
          <p:spPr>
            <a:xfrm>
              <a:off x="2545374" y="1014453"/>
              <a:ext cx="4480941" cy="3188687"/>
            </a:xfrm>
            <a:prstGeom prst="frame">
              <a:avLst>
                <a:gd name="adj1" fmla="val 5450"/>
              </a:avLst>
            </a:prstGeom>
            <a:solidFill>
              <a:srgbClr val="FFC000">
                <a:alpha val="40000"/>
              </a:srgbClr>
            </a:solidFill>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8" name="Rectangle 7">
              <a:extLst>
                <a:ext uri="{FF2B5EF4-FFF2-40B4-BE49-F238E27FC236}">
                  <a16:creationId xmlns:a16="http://schemas.microsoft.com/office/drawing/2014/main" id="{F5616FB4-E7CB-187A-9789-4F8B1BF281AA}"/>
                </a:ext>
              </a:extLst>
            </p:cNvPr>
            <p:cNvSpPr/>
            <p:nvPr/>
          </p:nvSpPr>
          <p:spPr>
            <a:xfrm>
              <a:off x="2373086" y="632382"/>
              <a:ext cx="4308652" cy="3016220"/>
            </a:xfrm>
            <a:prstGeom prst="rect">
              <a:avLst/>
            </a:prstGeom>
            <a:blipFill>
              <a:blip r:embed="rId2"/>
              <a:srcRect/>
              <a:stretch>
                <a:fillRect l="-17000" r="-17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9" name="Freeform: Shape 8">
              <a:extLst>
                <a:ext uri="{FF2B5EF4-FFF2-40B4-BE49-F238E27FC236}">
                  <a16:creationId xmlns:a16="http://schemas.microsoft.com/office/drawing/2014/main" id="{65BCDE3D-5A4E-812E-6D28-63F682060E70}"/>
                </a:ext>
              </a:extLst>
            </p:cNvPr>
            <p:cNvSpPr/>
            <p:nvPr/>
          </p:nvSpPr>
          <p:spPr>
            <a:xfrm>
              <a:off x="2720558" y="3649673"/>
              <a:ext cx="4133469" cy="378500"/>
            </a:xfrm>
            <a:custGeom>
              <a:avLst/>
              <a:gdLst>
                <a:gd name="connsiteX0" fmla="*/ 0 w 4133469"/>
                <a:gd name="connsiteY0" fmla="*/ 0 h 378500"/>
                <a:gd name="connsiteX1" fmla="*/ 4133469 w 4133469"/>
                <a:gd name="connsiteY1" fmla="*/ 0 h 378500"/>
                <a:gd name="connsiteX2" fmla="*/ 4133469 w 4133469"/>
                <a:gd name="connsiteY2" fmla="*/ 378500 h 378500"/>
                <a:gd name="connsiteX3" fmla="*/ 0 w 4133469"/>
                <a:gd name="connsiteY3" fmla="*/ 378500 h 378500"/>
                <a:gd name="connsiteX4" fmla="*/ 0 w 4133469"/>
                <a:gd name="connsiteY4" fmla="*/ 0 h 37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469" h="378500">
                  <a:moveTo>
                    <a:pt x="0" y="0"/>
                  </a:moveTo>
                  <a:lnTo>
                    <a:pt x="4133469" y="0"/>
                  </a:lnTo>
                  <a:lnTo>
                    <a:pt x="4133469" y="378500"/>
                  </a:lnTo>
                  <a:lnTo>
                    <a:pt x="0" y="3785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2720" tIns="64770" rIns="172720" bIns="64770" numCol="1" spcCol="1270" anchor="ctr" anchorCtr="0">
              <a:noAutofit/>
            </a:bodyPr>
            <a:lstStyle/>
            <a:p>
              <a:pPr marL="0" lvl="0" indent="0" algn="l" defTabSz="755650">
                <a:lnSpc>
                  <a:spcPct val="90000"/>
                </a:lnSpc>
                <a:spcBef>
                  <a:spcPct val="0"/>
                </a:spcBef>
                <a:spcAft>
                  <a:spcPct val="35000"/>
                </a:spcAft>
                <a:buNone/>
              </a:pPr>
              <a:endParaRPr lang="en-US" sz="1700" kern="1200"/>
            </a:p>
          </p:txBody>
        </p:sp>
        <p:sp>
          <p:nvSpPr>
            <p:cNvPr id="10" name="Rectangle 9">
              <a:extLst>
                <a:ext uri="{FF2B5EF4-FFF2-40B4-BE49-F238E27FC236}">
                  <a16:creationId xmlns:a16="http://schemas.microsoft.com/office/drawing/2014/main" id="{83E99282-D592-3A84-9725-1EC0D3D60814}"/>
                </a:ext>
              </a:extLst>
            </p:cNvPr>
            <p:cNvSpPr/>
            <p:nvPr/>
          </p:nvSpPr>
          <p:spPr>
            <a:xfrm>
              <a:off x="7208738" y="1014453"/>
              <a:ext cx="2048637" cy="31886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Tree>
    <p:extLst>
      <p:ext uri="{BB962C8B-B14F-4D97-AF65-F5344CB8AC3E}">
        <p14:creationId xmlns:p14="http://schemas.microsoft.com/office/powerpoint/2010/main" val="2562423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95B8C-777B-FB6E-0744-DE797678CAAA}"/>
              </a:ext>
            </a:extLst>
          </p:cNvPr>
          <p:cNvSpPr>
            <a:spLocks noGrp="1"/>
          </p:cNvSpPr>
          <p:nvPr>
            <p:ph type="title"/>
          </p:nvPr>
        </p:nvSpPr>
        <p:spPr/>
        <p:txBody>
          <a:bodyPr/>
          <a:lstStyle/>
          <a:p>
            <a:r>
              <a:rPr lang="en-US" dirty="0">
                <a:solidFill>
                  <a:srgbClr val="0070C0"/>
                </a:solidFill>
                <a:latin typeface="Bahnschrift" panose="020B0502040204020203" pitchFamily="34" charset="0"/>
              </a:rPr>
              <a:t>KHÁCH HÀNG CŨ</a:t>
            </a:r>
          </a:p>
        </p:txBody>
      </p:sp>
      <p:sp>
        <p:nvSpPr>
          <p:cNvPr id="3" name="Content Placeholder 2">
            <a:extLst>
              <a:ext uri="{FF2B5EF4-FFF2-40B4-BE49-F238E27FC236}">
                <a16:creationId xmlns:a16="http://schemas.microsoft.com/office/drawing/2014/main" id="{C7E6FBEA-1158-5D6C-D0C6-8CF6EA294100}"/>
              </a:ext>
            </a:extLst>
          </p:cNvPr>
          <p:cNvSpPr>
            <a:spLocks noGrp="1"/>
          </p:cNvSpPr>
          <p:nvPr>
            <p:ph idx="1"/>
          </p:nvPr>
        </p:nvSpPr>
        <p:spPr>
          <a:xfrm>
            <a:off x="5958179" y="2506662"/>
            <a:ext cx="5827746" cy="4351338"/>
          </a:xfrm>
        </p:spPr>
        <p:txBody>
          <a:bodyPr>
            <a:normAutofit/>
          </a:bodyPr>
          <a:lstStyle/>
          <a:p>
            <a:pPr algn="just"/>
            <a:r>
              <a:rPr lang="en-US" sz="2400" dirty="0" err="1"/>
              <a:t>Chăm</a:t>
            </a:r>
            <a:r>
              <a:rPr lang="en-US" sz="2400" dirty="0"/>
              <a:t> </a:t>
            </a:r>
            <a:r>
              <a:rPr lang="en-US" sz="2400" dirty="0" err="1"/>
              <a:t>sóc</a:t>
            </a:r>
            <a:r>
              <a:rPr lang="en-US" sz="2400" dirty="0"/>
              <a:t> </a:t>
            </a:r>
            <a:r>
              <a:rPr lang="en-US" sz="2400" dirty="0" err="1"/>
              <a:t>khách</a:t>
            </a:r>
            <a:r>
              <a:rPr lang="en-US" sz="2400" dirty="0"/>
              <a:t> </a:t>
            </a:r>
            <a:r>
              <a:rPr lang="en-US" sz="2400" dirty="0" err="1"/>
              <a:t>hàng</a:t>
            </a:r>
            <a:r>
              <a:rPr lang="en-US" sz="2400" dirty="0"/>
              <a:t> </a:t>
            </a:r>
            <a:r>
              <a:rPr lang="en-US" sz="2400" dirty="0" err="1"/>
              <a:t>cũ</a:t>
            </a:r>
            <a:r>
              <a:rPr lang="en-US" sz="2400" dirty="0"/>
              <a:t> </a:t>
            </a:r>
            <a:r>
              <a:rPr lang="en-US" sz="2400" dirty="0" err="1"/>
              <a:t>đóng</a:t>
            </a:r>
            <a:r>
              <a:rPr lang="en-US" sz="2400" dirty="0"/>
              <a:t> </a:t>
            </a:r>
            <a:r>
              <a:rPr lang="en-US" sz="2400" dirty="0" err="1"/>
              <a:t>một</a:t>
            </a:r>
            <a:r>
              <a:rPr lang="en-US" sz="2400" dirty="0"/>
              <a:t> </a:t>
            </a:r>
            <a:r>
              <a:rPr lang="en-US" sz="2400" dirty="0" err="1"/>
              <a:t>vai</a:t>
            </a:r>
            <a:r>
              <a:rPr lang="en-US" sz="2400" dirty="0"/>
              <a:t> </a:t>
            </a:r>
            <a:r>
              <a:rPr lang="en-US" sz="2400" dirty="0" err="1"/>
              <a:t>trò</a:t>
            </a:r>
            <a:r>
              <a:rPr lang="en-US" sz="2400" dirty="0"/>
              <a:t> </a:t>
            </a:r>
            <a:r>
              <a:rPr lang="en-US" sz="2400" dirty="0" err="1"/>
              <a:t>quan</a:t>
            </a:r>
            <a:r>
              <a:rPr lang="en-US" sz="2400" dirty="0"/>
              <a:t> </a:t>
            </a:r>
            <a:r>
              <a:rPr lang="en-US" sz="2400" dirty="0" err="1"/>
              <a:t>trọng</a:t>
            </a:r>
            <a:r>
              <a:rPr lang="en-US" sz="2400" dirty="0"/>
              <a:t> </a:t>
            </a:r>
            <a:r>
              <a:rPr lang="en-US" sz="2400" dirty="0" err="1"/>
              <a:t>trong</a:t>
            </a:r>
            <a:r>
              <a:rPr lang="en-US" sz="2400" dirty="0"/>
              <a:t> </a:t>
            </a:r>
            <a:r>
              <a:rPr lang="en-US" sz="2400" dirty="0" err="1"/>
              <a:t>sự</a:t>
            </a:r>
            <a:r>
              <a:rPr lang="en-US" sz="2400" dirty="0"/>
              <a:t> </a:t>
            </a:r>
            <a:r>
              <a:rPr lang="en-US" sz="2400" dirty="0" err="1"/>
              <a:t>phát</a:t>
            </a:r>
            <a:r>
              <a:rPr lang="en-US" sz="2400" dirty="0"/>
              <a:t> </a:t>
            </a:r>
            <a:r>
              <a:rPr lang="en-US" sz="2400" dirty="0" err="1"/>
              <a:t>triển</a:t>
            </a:r>
            <a:r>
              <a:rPr lang="en-US" sz="2400" dirty="0"/>
              <a:t> </a:t>
            </a:r>
            <a:r>
              <a:rPr lang="en-US" sz="2400" dirty="0" err="1"/>
              <a:t>bền</a:t>
            </a:r>
            <a:r>
              <a:rPr lang="en-US" sz="2400" dirty="0"/>
              <a:t> </a:t>
            </a:r>
            <a:r>
              <a:rPr lang="en-US" sz="2400" dirty="0" err="1"/>
              <a:t>vững</a:t>
            </a:r>
            <a:r>
              <a:rPr lang="en-US" sz="2400" dirty="0"/>
              <a:t> </a:t>
            </a:r>
            <a:r>
              <a:rPr lang="en-US" sz="2400" dirty="0" err="1"/>
              <a:t>của</a:t>
            </a:r>
            <a:r>
              <a:rPr lang="en-US" sz="2400" dirty="0"/>
              <a:t> </a:t>
            </a:r>
            <a:r>
              <a:rPr lang="en-US" sz="2400" dirty="0" err="1"/>
              <a:t>doanh</a:t>
            </a:r>
            <a:r>
              <a:rPr lang="en-US" sz="2400" dirty="0"/>
              <a:t> </a:t>
            </a:r>
            <a:r>
              <a:rPr lang="en-US" sz="2400" dirty="0" err="1"/>
              <a:t>nghiệp</a:t>
            </a:r>
            <a:r>
              <a:rPr lang="en-US" sz="2400" dirty="0"/>
              <a:t>.</a:t>
            </a:r>
          </a:p>
          <a:p>
            <a:pPr algn="just"/>
            <a:r>
              <a:rPr lang="en-US" sz="2400" dirty="0"/>
              <a:t>Chi </a:t>
            </a:r>
            <a:r>
              <a:rPr lang="en-US" sz="2400" dirty="0" err="1"/>
              <a:t>phí</a:t>
            </a:r>
            <a:r>
              <a:rPr lang="en-US" sz="2400" dirty="0"/>
              <a:t> </a:t>
            </a:r>
            <a:r>
              <a:rPr lang="en-US" sz="2400" dirty="0" err="1"/>
              <a:t>chăm</a:t>
            </a:r>
            <a:r>
              <a:rPr lang="en-US" sz="2400" dirty="0"/>
              <a:t> </a:t>
            </a:r>
            <a:r>
              <a:rPr lang="en-US" sz="2400" dirty="0" err="1"/>
              <a:t>sóc</a:t>
            </a:r>
            <a:r>
              <a:rPr lang="en-US" sz="2400" dirty="0"/>
              <a:t> </a:t>
            </a:r>
            <a:r>
              <a:rPr lang="en-US" sz="2400" dirty="0" err="1"/>
              <a:t>khách</a:t>
            </a:r>
            <a:r>
              <a:rPr lang="en-US" sz="2400" dirty="0"/>
              <a:t> </a:t>
            </a:r>
            <a:r>
              <a:rPr lang="en-US" sz="2400" dirty="0" err="1"/>
              <a:t>cũ</a:t>
            </a:r>
            <a:r>
              <a:rPr lang="en-US" sz="2400" dirty="0"/>
              <a:t> </a:t>
            </a:r>
            <a:r>
              <a:rPr lang="en-US" sz="2400" dirty="0" err="1"/>
              <a:t>chỉ</a:t>
            </a:r>
            <a:r>
              <a:rPr lang="en-US" sz="2400" dirty="0"/>
              <a:t> </a:t>
            </a:r>
            <a:r>
              <a:rPr lang="en-US" sz="2400" dirty="0" err="1"/>
              <a:t>bằng</a:t>
            </a:r>
            <a:r>
              <a:rPr lang="en-US" sz="2400" dirty="0"/>
              <a:t> ¼ </a:t>
            </a:r>
            <a:r>
              <a:rPr lang="en-US" sz="2400" dirty="0" err="1"/>
              <a:t>khách</a:t>
            </a:r>
            <a:r>
              <a:rPr lang="en-US" sz="2400" dirty="0"/>
              <a:t> </a:t>
            </a:r>
            <a:r>
              <a:rPr lang="en-US" sz="2400" dirty="0" err="1"/>
              <a:t>mới</a:t>
            </a:r>
            <a:r>
              <a:rPr lang="en-US" sz="2400" dirty="0"/>
              <a:t> </a:t>
            </a:r>
            <a:r>
              <a:rPr lang="en-US" sz="2400" dirty="0" err="1"/>
              <a:t>nhưng</a:t>
            </a:r>
            <a:r>
              <a:rPr lang="en-US" sz="2400" dirty="0"/>
              <a:t> </a:t>
            </a:r>
            <a:r>
              <a:rPr lang="en-US" sz="2400" dirty="0" err="1"/>
              <a:t>doanh</a:t>
            </a:r>
            <a:r>
              <a:rPr lang="en-US" sz="2400" dirty="0"/>
              <a:t> </a:t>
            </a:r>
            <a:r>
              <a:rPr lang="en-US" sz="2400" dirty="0" err="1"/>
              <a:t>thu</a:t>
            </a:r>
            <a:r>
              <a:rPr lang="en-US" sz="2400" dirty="0"/>
              <a:t> </a:t>
            </a:r>
            <a:r>
              <a:rPr lang="en-US" sz="2400" dirty="0" err="1"/>
              <a:t>có</a:t>
            </a:r>
            <a:r>
              <a:rPr lang="en-US" sz="2400" dirty="0"/>
              <a:t> </a:t>
            </a:r>
            <a:r>
              <a:rPr lang="en-US" sz="2400" dirty="0" err="1"/>
              <a:t>thể</a:t>
            </a:r>
            <a:r>
              <a:rPr lang="en-US" sz="2400" dirty="0"/>
              <a:t> </a:t>
            </a:r>
            <a:r>
              <a:rPr lang="en-US" sz="2400" dirty="0" err="1"/>
              <a:t>tăng</a:t>
            </a:r>
            <a:r>
              <a:rPr lang="en-US" sz="2400" dirty="0"/>
              <a:t> </a:t>
            </a:r>
            <a:r>
              <a:rPr lang="en-US" sz="2400" dirty="0" err="1"/>
              <a:t>từ</a:t>
            </a:r>
            <a:r>
              <a:rPr lang="en-US" sz="2400" dirty="0"/>
              <a:t> 25-95%.</a:t>
            </a:r>
          </a:p>
          <a:p>
            <a:pPr algn="just"/>
            <a:r>
              <a:rPr lang="en-US" sz="2400" dirty="0" err="1"/>
              <a:t>Khách</a:t>
            </a:r>
            <a:r>
              <a:rPr lang="en-US" sz="2400" dirty="0"/>
              <a:t> </a:t>
            </a:r>
            <a:r>
              <a:rPr lang="en-US" sz="2400" dirty="0" err="1"/>
              <a:t>hàng</a:t>
            </a:r>
            <a:r>
              <a:rPr lang="en-US" sz="2400" dirty="0"/>
              <a:t> </a:t>
            </a:r>
            <a:r>
              <a:rPr lang="en-US" sz="2400" dirty="0" err="1"/>
              <a:t>cũ</a:t>
            </a:r>
            <a:r>
              <a:rPr lang="en-US" sz="2400" dirty="0"/>
              <a:t> </a:t>
            </a:r>
            <a:r>
              <a:rPr lang="en-US" sz="2400" dirty="0" err="1"/>
              <a:t>có</a:t>
            </a:r>
            <a:r>
              <a:rPr lang="en-US" sz="2400" dirty="0"/>
              <a:t> </a:t>
            </a:r>
            <a:r>
              <a:rPr lang="en-US" sz="2400" dirty="0" err="1"/>
              <a:t>tâm</a:t>
            </a:r>
            <a:r>
              <a:rPr lang="en-US" sz="2400" dirty="0"/>
              <a:t> </a:t>
            </a:r>
            <a:r>
              <a:rPr lang="en-US" sz="2400" dirty="0" err="1"/>
              <a:t>lý</a:t>
            </a:r>
            <a:r>
              <a:rPr lang="en-US" sz="2400" dirty="0"/>
              <a:t> </a:t>
            </a:r>
            <a:r>
              <a:rPr lang="en-US" sz="2400" dirty="0" err="1"/>
              <a:t>dễ</a:t>
            </a:r>
            <a:r>
              <a:rPr lang="en-US" sz="2400" dirty="0"/>
              <a:t> </a:t>
            </a:r>
            <a:r>
              <a:rPr lang="en-US" sz="2400" dirty="0" err="1"/>
              <a:t>mua</a:t>
            </a:r>
            <a:r>
              <a:rPr lang="en-US" sz="2400" dirty="0"/>
              <a:t> </a:t>
            </a:r>
            <a:r>
              <a:rPr lang="en-US" sz="2400" dirty="0" err="1"/>
              <a:t>hàng</a:t>
            </a:r>
            <a:r>
              <a:rPr lang="en-US" sz="2400" dirty="0"/>
              <a:t> </a:t>
            </a:r>
            <a:r>
              <a:rPr lang="en-US" sz="2400" dirty="0" err="1"/>
              <a:t>hơn</a:t>
            </a:r>
            <a:r>
              <a:rPr lang="en-US" sz="2400" dirty="0"/>
              <a:t> </a:t>
            </a:r>
            <a:r>
              <a:rPr lang="en-US" sz="2400" dirty="0" err="1"/>
              <a:t>khách</a:t>
            </a:r>
            <a:r>
              <a:rPr lang="en-US" sz="2400" dirty="0"/>
              <a:t> </a:t>
            </a:r>
            <a:r>
              <a:rPr lang="en-US" sz="2400" dirty="0" err="1"/>
              <a:t>hàng</a:t>
            </a:r>
            <a:r>
              <a:rPr lang="en-US" sz="2400" dirty="0"/>
              <a:t> </a:t>
            </a:r>
            <a:r>
              <a:rPr lang="en-US" sz="2400" dirty="0" err="1"/>
              <a:t>mới</a:t>
            </a:r>
            <a:r>
              <a:rPr lang="en-US" sz="2400" dirty="0"/>
              <a:t> </a:t>
            </a:r>
            <a:r>
              <a:rPr lang="en-US" sz="2400" dirty="0" err="1"/>
              <a:t>bởi</a:t>
            </a:r>
            <a:r>
              <a:rPr lang="en-US" sz="2400" dirty="0"/>
              <a:t> </a:t>
            </a:r>
            <a:r>
              <a:rPr lang="en-US" sz="2400" dirty="0" err="1"/>
              <a:t>họ</a:t>
            </a:r>
            <a:r>
              <a:rPr lang="en-US" sz="2400" dirty="0"/>
              <a:t> </a:t>
            </a:r>
            <a:r>
              <a:rPr lang="en-US" sz="2400" dirty="0" err="1"/>
              <a:t>đã</a:t>
            </a:r>
            <a:r>
              <a:rPr lang="en-US" sz="2400" dirty="0"/>
              <a:t> </a:t>
            </a:r>
            <a:r>
              <a:rPr lang="en-US" sz="2400" dirty="0" err="1"/>
              <a:t>được</a:t>
            </a:r>
            <a:r>
              <a:rPr lang="en-US" sz="2400" dirty="0"/>
              <a:t> </a:t>
            </a:r>
            <a:r>
              <a:rPr lang="en-US" sz="2400" dirty="0" err="1"/>
              <a:t>trải</a:t>
            </a:r>
            <a:r>
              <a:rPr lang="en-US" sz="2400" dirty="0"/>
              <a:t> </a:t>
            </a:r>
            <a:r>
              <a:rPr lang="en-US" sz="2400" dirty="0" err="1"/>
              <a:t>nghiệm</a:t>
            </a:r>
            <a:r>
              <a:rPr lang="en-US" sz="2400" dirty="0"/>
              <a:t> </a:t>
            </a:r>
            <a:r>
              <a:rPr lang="en-US" sz="2400" dirty="0" err="1"/>
              <a:t>dịch</a:t>
            </a:r>
            <a:r>
              <a:rPr lang="en-US" sz="2400" dirty="0"/>
              <a:t> </a:t>
            </a:r>
            <a:r>
              <a:rPr lang="en-US" sz="2400" dirty="0" err="1"/>
              <a:t>vụ</a:t>
            </a:r>
            <a:r>
              <a:rPr lang="en-US" sz="2400" dirty="0"/>
              <a:t>.</a:t>
            </a:r>
          </a:p>
        </p:txBody>
      </p:sp>
      <p:pic>
        <p:nvPicPr>
          <p:cNvPr id="4" name="Picture 3" descr="Giữ Chân Khách Hàng: Khách Hàng Cũ Hay Khách Hàng Mới Tốt Hơn?">
            <a:extLst>
              <a:ext uri="{FF2B5EF4-FFF2-40B4-BE49-F238E27FC236}">
                <a16:creationId xmlns:a16="http://schemas.microsoft.com/office/drawing/2014/main" id="{E0E8711B-C9A6-4410-A125-D219D63E48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5625"/>
            <a:ext cx="5958179" cy="3972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03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1000" fill="hold"/>
                                        <p:tgtEl>
                                          <p:spTgt spid="4"/>
                                        </p:tgtEl>
                                        <p:attrNameLst>
                                          <p:attrName>ppt_w</p:attrName>
                                        </p:attrNameLst>
                                      </p:cBhvr>
                                      <p:tavLst>
                                        <p:tav tm="0">
                                          <p:val>
                                            <p:fltVal val="0"/>
                                          </p:val>
                                        </p:tav>
                                        <p:tav tm="100000">
                                          <p:val>
                                            <p:strVal val="#ppt_w"/>
                                          </p:val>
                                        </p:tav>
                                      </p:tavLst>
                                    </p:anim>
                                    <p:anim calcmode="lin" valueType="num">
                                      <p:cBhvr>
                                        <p:cTn id="23" dur="1000" fill="hold"/>
                                        <p:tgtEl>
                                          <p:spTgt spid="4"/>
                                        </p:tgtEl>
                                        <p:attrNameLst>
                                          <p:attrName>ppt_h</p:attrName>
                                        </p:attrNameLst>
                                      </p:cBhvr>
                                      <p:tavLst>
                                        <p:tav tm="0">
                                          <p:val>
                                            <p:fltVal val="0"/>
                                          </p:val>
                                        </p:tav>
                                        <p:tav tm="100000">
                                          <p:val>
                                            <p:strVal val="#ppt_h"/>
                                          </p:val>
                                        </p:tav>
                                      </p:tavLst>
                                    </p:anim>
                                    <p:anim calcmode="lin" valueType="num">
                                      <p:cBhvr>
                                        <p:cTn id="24" dur="1000" fill="hold"/>
                                        <p:tgtEl>
                                          <p:spTgt spid="4"/>
                                        </p:tgtEl>
                                        <p:attrNameLst>
                                          <p:attrName>style.rotation</p:attrName>
                                        </p:attrNameLst>
                                      </p:cBhvr>
                                      <p:tavLst>
                                        <p:tav tm="0">
                                          <p:val>
                                            <p:fltVal val="90"/>
                                          </p:val>
                                        </p:tav>
                                        <p:tav tm="100000">
                                          <p:val>
                                            <p:fltVal val="0"/>
                                          </p:val>
                                        </p:tav>
                                      </p:tavLst>
                                    </p:anim>
                                    <p:animEffect transition="in" filter="fade">
                                      <p:cBhvr>
                                        <p:cTn id="2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BACCA-8B6A-7F2E-F36C-E5761D885799}"/>
              </a:ext>
            </a:extLst>
          </p:cNvPr>
          <p:cNvSpPr>
            <a:spLocks noGrp="1"/>
          </p:cNvSpPr>
          <p:nvPr>
            <p:ph type="title"/>
          </p:nvPr>
        </p:nvSpPr>
        <p:spPr/>
        <p:txBody>
          <a:bodyPr/>
          <a:lstStyle/>
          <a:p>
            <a:r>
              <a:rPr lang="en-US" b="1" dirty="0">
                <a:solidFill>
                  <a:srgbClr val="0070C0"/>
                </a:solidFill>
                <a:latin typeface="Bahnschrift" panose="020B0502040204020203" pitchFamily="34" charset="0"/>
              </a:rPr>
              <a:t>1. TĂNG DOANH THU</a:t>
            </a:r>
          </a:p>
        </p:txBody>
      </p:sp>
      <p:sp>
        <p:nvSpPr>
          <p:cNvPr id="4" name="Rectangle 1">
            <a:extLst>
              <a:ext uri="{FF2B5EF4-FFF2-40B4-BE49-F238E27FC236}">
                <a16:creationId xmlns:a16="http://schemas.microsoft.com/office/drawing/2014/main" id="{B2959853-F2B4-9B4F-4582-9C4DEABDCB41}"/>
              </a:ext>
            </a:extLst>
          </p:cNvPr>
          <p:cNvSpPr>
            <a:spLocks noGrp="1" noChangeArrowheads="1"/>
          </p:cNvSpPr>
          <p:nvPr>
            <p:ph idx="1"/>
          </p:nvPr>
        </p:nvSpPr>
        <p:spPr bwMode="auto">
          <a:xfrm>
            <a:off x="6205634" y="2720495"/>
            <a:ext cx="5835521"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Lợi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nhuận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cao</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hơn</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cũ</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thường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có</a:t>
            </a:r>
            <a:r>
              <a:rPr kumimoji="0" lang="en-US" altLang="en-US" sz="1800" b="0" i="0" u="none" strike="noStrike" cap="none" normalizeH="0" baseline="0" dirty="0">
                <a:ln>
                  <a:noFill/>
                </a:ln>
                <a:solidFill>
                  <a:schemeClr val="tx1"/>
                </a:solidFill>
                <a:effectLst/>
                <a:latin typeface="Arial" panose="020B0604020202020204" pitchFamily="34" charset="0"/>
              </a:rPr>
              <a:t> xu </a:t>
            </a:r>
            <a:r>
              <a:rPr kumimoji="0" lang="en-US" altLang="en-US" sz="1800" b="0" i="0" u="none" strike="noStrike" cap="none" normalizeH="0" baseline="0" dirty="0" err="1">
                <a:ln>
                  <a:noFill/>
                </a:ln>
                <a:solidFill>
                  <a:schemeClr val="tx1"/>
                </a:solidFill>
                <a:effectLst/>
                <a:latin typeface="Arial" panose="020B0604020202020204" pitchFamily="34" charset="0"/>
              </a:rPr>
              <a:t>hướng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mua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thường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xuyên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dẫn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ổn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định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bền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vững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Bán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thêm</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sản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phẩm</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đã</a:t>
            </a:r>
            <a:r>
              <a:rPr kumimoji="0" lang="en-US" altLang="en-US" sz="1800" b="0" i="0" u="none" strike="noStrike" cap="none" normalizeH="0" baseline="0" dirty="0">
                <a:ln>
                  <a:noFill/>
                </a:ln>
                <a:solidFill>
                  <a:schemeClr val="tx1"/>
                </a:solidFill>
                <a:effectLst/>
                <a:latin typeface="Arial" panose="020B0604020202020204" pitchFamily="34" charset="0"/>
              </a:rPr>
              <a:t> tin </a:t>
            </a:r>
            <a:r>
              <a:rPr kumimoji="0" lang="en-US" altLang="en-US" sz="1800" b="0" i="0" u="none" strike="noStrike" cap="none" normalizeH="0" baseline="0" dirty="0" err="1">
                <a:ln>
                  <a:noFill/>
                </a:ln>
                <a:solidFill>
                  <a:schemeClr val="tx1"/>
                </a:solidFill>
                <a:effectLst/>
                <a:latin typeface="Arial" panose="020B0604020202020204" pitchFamily="34" charset="0"/>
              </a:rPr>
              <a:t>tưởng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tiếp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nhận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mới</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029" name="Picture 5" descr="Top 6 phương pháp nhận diện khách hàng hiệu quả cho doanh nghiệp">
            <a:extLst>
              <a:ext uri="{FF2B5EF4-FFF2-40B4-BE49-F238E27FC236}">
                <a16:creationId xmlns:a16="http://schemas.microsoft.com/office/drawing/2014/main" id="{B25EEEDE-2A56-28E1-B0F1-2BEE42046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82570"/>
            <a:ext cx="5715000" cy="280987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550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19A6E-B918-AF58-18DA-04A3A8BD15EC}"/>
              </a:ext>
            </a:extLst>
          </p:cNvPr>
          <p:cNvSpPr>
            <a:spLocks noGrp="1"/>
          </p:cNvSpPr>
          <p:nvPr>
            <p:ph type="title"/>
          </p:nvPr>
        </p:nvSpPr>
        <p:spPr/>
        <p:txBody>
          <a:bodyPr/>
          <a:lstStyle/>
          <a:p>
            <a:r>
              <a:rPr lang="en-US" b="1" dirty="0">
                <a:solidFill>
                  <a:srgbClr val="0070C0"/>
                </a:solidFill>
                <a:latin typeface="Bahnschrift" panose="020B0502040204020203" pitchFamily="34" charset="0"/>
              </a:rPr>
              <a:t>2. GIẢM CHI PHÍ</a:t>
            </a:r>
          </a:p>
        </p:txBody>
      </p:sp>
      <p:sp>
        <p:nvSpPr>
          <p:cNvPr id="4" name="Rectangle 1">
            <a:extLst>
              <a:ext uri="{FF2B5EF4-FFF2-40B4-BE49-F238E27FC236}">
                <a16:creationId xmlns:a16="http://schemas.microsoft.com/office/drawing/2014/main" id="{0036E9B7-8959-F105-F4A0-287CD67131A4}"/>
              </a:ext>
            </a:extLst>
          </p:cNvPr>
          <p:cNvSpPr>
            <a:spLocks noGrp="1" noChangeArrowheads="1"/>
          </p:cNvSpPr>
          <p:nvPr>
            <p:ph idx="1"/>
          </p:nvPr>
        </p:nvSpPr>
        <p:spPr bwMode="auto">
          <a:xfrm>
            <a:off x="838200" y="1954237"/>
            <a:ext cx="5019870"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Chi </a:t>
            </a:r>
            <a:r>
              <a:rPr kumimoji="0" lang="en-US" altLang="en-US" sz="1800" b="1" i="0" u="none" strike="noStrike" cap="none" normalizeH="0" baseline="0" dirty="0" err="1">
                <a:ln>
                  <a:noFill/>
                </a:ln>
                <a:solidFill>
                  <a:schemeClr val="tx1"/>
                </a:solidFill>
                <a:effectLst/>
                <a:latin typeface="Arial" panose="020B0604020202020204" pitchFamily="34" charset="0"/>
              </a:rPr>
              <a:t>phí</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thấp</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hơn</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Thu </a:t>
            </a:r>
            <a:r>
              <a:rPr kumimoji="0" lang="en-US" altLang="en-US" sz="1800" b="0" i="0" u="none" strike="noStrike" cap="none" normalizeH="0" baseline="0" dirty="0" err="1">
                <a:ln>
                  <a:noFill/>
                </a:ln>
                <a:solidFill>
                  <a:schemeClr val="tx1"/>
                </a:solidFill>
                <a:effectLst/>
                <a:latin typeface="Arial" panose="020B0604020202020204" pitchFamily="34" charset="0"/>
              </a:rPr>
              <a:t>hút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nhiều</a:t>
            </a:r>
            <a:r>
              <a:rPr kumimoji="0" lang="en-US" altLang="en-US" sz="1800" b="0" i="0" u="none" strike="noStrike" cap="none" normalizeH="0" baseline="0" dirty="0">
                <a:ln>
                  <a:noFill/>
                </a:ln>
                <a:solidFill>
                  <a:schemeClr val="tx1"/>
                </a:solidFill>
                <a:effectLst/>
                <a:latin typeface="Arial" panose="020B0604020202020204" pitchFamily="34" charset="0"/>
              </a:rPr>
              <a:t> chi </a:t>
            </a:r>
            <a:r>
              <a:rPr kumimoji="0" lang="en-US" altLang="en-US" sz="1800" b="0" i="0" u="none" strike="noStrike" cap="none" normalizeH="0" baseline="0" dirty="0" err="1">
                <a:ln>
                  <a:noFill/>
                </a:ln>
                <a:solidFill>
                  <a:schemeClr val="tx1"/>
                </a:solidFill>
                <a:effectLst/>
                <a:latin typeface="Arial" panose="020B0604020202020204" pitchFamily="34" charset="0"/>
              </a:rPr>
              <a:t>phí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tiếp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so </a:t>
            </a:r>
            <a:r>
              <a:rPr kumimoji="0" lang="en-US" altLang="en-US" sz="1800" b="0" i="0" u="none" strike="noStrike" cap="none" normalizeH="0" baseline="0" dirty="0" err="1">
                <a:ln>
                  <a:noFill/>
                </a:ln>
                <a:solidFill>
                  <a:schemeClr val="tx1"/>
                </a:solidFill>
                <a:effectLst/>
                <a:latin typeface="Arial" panose="020B0604020202020204" pitchFamily="34" charset="0"/>
              </a:rPr>
              <a:t>với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việc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tại</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Tăng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hiệu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quả</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cũ</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quen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thuộc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giúp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thiểu</a:t>
            </a:r>
            <a:r>
              <a:rPr kumimoji="0" lang="en-US" altLang="en-US" sz="1800" b="0" i="0" u="none" strike="noStrike" cap="none" normalizeH="0" baseline="0" dirty="0">
                <a:ln>
                  <a:noFill/>
                </a:ln>
                <a:solidFill>
                  <a:schemeClr val="tx1"/>
                </a:solidFill>
                <a:effectLst/>
                <a:latin typeface="Arial" panose="020B0604020202020204" pitchFamily="34" charset="0"/>
              </a:rPr>
              <a:t> chi </a:t>
            </a:r>
            <a:r>
              <a:rPr kumimoji="0" lang="en-US" altLang="en-US" sz="1800" b="0" i="0" u="none" strike="noStrike" cap="none" normalizeH="0" baseline="0" dirty="0" err="1">
                <a:ln>
                  <a:noFill/>
                </a:ln>
                <a:solidFill>
                  <a:schemeClr val="tx1"/>
                </a:solidFill>
                <a:effectLst/>
                <a:latin typeface="Arial" panose="020B0604020202020204" pitchFamily="34" charset="0"/>
              </a:rPr>
              <a:t>phí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vấn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đề</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2051" name="Picture 3" descr="6 Cách tìm khách hàng tiềm năng cho Doanh nghiệp Du lịch">
            <a:extLst>
              <a:ext uri="{FF2B5EF4-FFF2-40B4-BE49-F238E27FC236}">
                <a16:creationId xmlns:a16="http://schemas.microsoft.com/office/drawing/2014/main" id="{086879AE-7808-E86E-6741-26A2EC5DC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6407" y="1268963"/>
            <a:ext cx="5198726" cy="3463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94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circle(in)">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06F3-CA13-B217-5D7E-B328782AA2A3}"/>
              </a:ext>
            </a:extLst>
          </p:cNvPr>
          <p:cNvSpPr>
            <a:spLocks noGrp="1"/>
          </p:cNvSpPr>
          <p:nvPr>
            <p:ph type="title"/>
          </p:nvPr>
        </p:nvSpPr>
        <p:spPr/>
        <p:txBody>
          <a:bodyPr/>
          <a:lstStyle/>
          <a:p>
            <a:r>
              <a:rPr lang="en-US" b="1" dirty="0">
                <a:solidFill>
                  <a:srgbClr val="0070C0"/>
                </a:solidFill>
                <a:latin typeface="Bahnschrift" panose="020B0502040204020203" pitchFamily="34" charset="0"/>
              </a:rPr>
              <a:t>3. </a:t>
            </a:r>
            <a:r>
              <a:rPr lang="vi-VN" b="1" dirty="0">
                <a:solidFill>
                  <a:srgbClr val="0070C0"/>
                </a:solidFill>
                <a:latin typeface="Bahnschrift" panose="020B0502040204020203" pitchFamily="34" charset="0"/>
              </a:rPr>
              <a:t>XÂY DỰNG UY TÍN VÀ THƯƠNG HIỆU</a:t>
            </a:r>
            <a:endParaRPr lang="en-US" b="1" dirty="0">
              <a:solidFill>
                <a:srgbClr val="0070C0"/>
              </a:solidFill>
              <a:latin typeface="Bahnschrift" panose="020B0502040204020203" pitchFamily="34" charset="0"/>
            </a:endParaRPr>
          </a:p>
        </p:txBody>
      </p:sp>
      <p:sp>
        <p:nvSpPr>
          <p:cNvPr id="4" name="Rectangle 1">
            <a:extLst>
              <a:ext uri="{FF2B5EF4-FFF2-40B4-BE49-F238E27FC236}">
                <a16:creationId xmlns:a16="http://schemas.microsoft.com/office/drawing/2014/main" id="{19B23A8E-57C8-6E3B-7888-EBD229D8614E}"/>
              </a:ext>
            </a:extLst>
          </p:cNvPr>
          <p:cNvSpPr>
            <a:spLocks noGrp="1" noChangeArrowheads="1"/>
          </p:cNvSpPr>
          <p:nvPr>
            <p:ph idx="1"/>
          </p:nvPr>
        </p:nvSpPr>
        <p:spPr bwMode="auto">
          <a:xfrm>
            <a:off x="664464" y="2369735"/>
            <a:ext cx="6525230"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Quảng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bá</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truyền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miệng</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lòng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người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bè</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nguồn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miễn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phí</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Đánh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giá</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tích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cực</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hồi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cũ</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giúp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niềm</a:t>
            </a:r>
            <a:r>
              <a:rPr kumimoji="0" lang="en-US" altLang="en-US" sz="1800" b="0" i="0" u="none" strike="noStrike" cap="none" normalizeH="0" baseline="0" dirty="0">
                <a:ln>
                  <a:noFill/>
                </a:ln>
                <a:solidFill>
                  <a:schemeClr val="tx1"/>
                </a:solidFill>
                <a:effectLst/>
                <a:latin typeface="Arial" panose="020B0604020202020204" pitchFamily="34" charset="0"/>
              </a:rPr>
              <a:t> tin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trường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6" name="Picture 5">
            <a:extLst>
              <a:ext uri="{FF2B5EF4-FFF2-40B4-BE49-F238E27FC236}">
                <a16:creationId xmlns:a16="http://schemas.microsoft.com/office/drawing/2014/main" id="{C288AF14-7E75-7F67-83F4-57C70710CFEF}"/>
              </a:ext>
            </a:extLst>
          </p:cNvPr>
          <p:cNvPicPr>
            <a:picLocks noChangeAspect="1"/>
          </p:cNvPicPr>
          <p:nvPr/>
        </p:nvPicPr>
        <p:blipFill>
          <a:blip r:embed="rId2"/>
          <a:stretch>
            <a:fillRect/>
          </a:stretch>
        </p:blipFill>
        <p:spPr>
          <a:xfrm>
            <a:off x="8466604" y="1828800"/>
            <a:ext cx="3725396" cy="3725396"/>
          </a:xfrm>
          <a:prstGeom prst="rect">
            <a:avLst/>
          </a:prstGeom>
        </p:spPr>
      </p:pic>
    </p:spTree>
    <p:extLst>
      <p:ext uri="{BB962C8B-B14F-4D97-AF65-F5344CB8AC3E}">
        <p14:creationId xmlns:p14="http://schemas.microsoft.com/office/powerpoint/2010/main" val="21150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EE94-9329-1427-945D-4613E51D643C}"/>
              </a:ext>
            </a:extLst>
          </p:cNvPr>
          <p:cNvSpPr>
            <a:spLocks noGrp="1"/>
          </p:cNvSpPr>
          <p:nvPr>
            <p:ph type="title"/>
          </p:nvPr>
        </p:nvSpPr>
        <p:spPr/>
        <p:txBody>
          <a:bodyPr/>
          <a:lstStyle/>
          <a:p>
            <a:r>
              <a:rPr lang="en-US" b="1" dirty="0">
                <a:solidFill>
                  <a:srgbClr val="0070C0"/>
                </a:solidFill>
                <a:latin typeface="Bahnschrift" panose="020B0502040204020203" pitchFamily="34" charset="0"/>
              </a:rPr>
              <a:t>4. </a:t>
            </a:r>
            <a:r>
              <a:rPr lang="vi-VN" b="1" dirty="0">
                <a:solidFill>
                  <a:srgbClr val="0070C0"/>
                </a:solidFill>
                <a:latin typeface="Bahnschrift" panose="020B0502040204020203" pitchFamily="34" charset="0"/>
              </a:rPr>
              <a:t>HIỂU RÕ KHÁCH HÀNG HƠN</a:t>
            </a:r>
            <a:endParaRPr lang="en-US" b="1" dirty="0">
              <a:solidFill>
                <a:srgbClr val="0070C0"/>
              </a:solidFill>
              <a:latin typeface="Bahnschrift" panose="020B0502040204020203" pitchFamily="34" charset="0"/>
            </a:endParaRPr>
          </a:p>
        </p:txBody>
      </p:sp>
      <p:sp>
        <p:nvSpPr>
          <p:cNvPr id="4" name="Rectangle 1">
            <a:extLst>
              <a:ext uri="{FF2B5EF4-FFF2-40B4-BE49-F238E27FC236}">
                <a16:creationId xmlns:a16="http://schemas.microsoft.com/office/drawing/2014/main" id="{E2CF36CA-EE44-D21C-0AE7-48AA0F6658BE}"/>
              </a:ext>
            </a:extLst>
          </p:cNvPr>
          <p:cNvSpPr>
            <a:spLocks noGrp="1" noChangeArrowheads="1"/>
          </p:cNvSpPr>
          <p:nvPr>
            <p:ph idx="1"/>
          </p:nvPr>
        </p:nvSpPr>
        <p:spPr bwMode="auto">
          <a:xfrm>
            <a:off x="2707341" y="2219605"/>
            <a:ext cx="9174432"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Thông</a:t>
            </a:r>
            <a:r>
              <a:rPr kumimoji="0" lang="en-US" altLang="en-US" sz="1800" b="1" i="0" u="none" strike="noStrike" cap="none" normalizeH="0" baseline="0" dirty="0">
                <a:ln>
                  <a:noFill/>
                </a:ln>
                <a:solidFill>
                  <a:schemeClr val="tx1"/>
                </a:solidFill>
                <a:effectLst/>
                <a:latin typeface="Arial" panose="020B0604020202020204" pitchFamily="34" charset="0"/>
              </a:rPr>
              <a:t> tin chi </a:t>
            </a:r>
            <a:r>
              <a:rPr kumimoji="0" lang="en-US" altLang="en-US" sz="1800" b="1" i="0" u="none" strike="noStrike" cap="none" normalizeH="0" baseline="0" dirty="0" err="1">
                <a:ln>
                  <a:noFill/>
                </a:ln>
                <a:solidFill>
                  <a:schemeClr val="tx1"/>
                </a:solidFill>
                <a:effectLst/>
                <a:latin typeface="Arial" panose="020B0604020202020204" pitchFamily="34" charset="0"/>
              </a:rPr>
              <a:t>tiết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Qua </a:t>
            </a:r>
            <a:r>
              <a:rPr kumimoji="0" lang="en-US" altLang="en-US" sz="1800" b="0" i="0" u="none" strike="noStrike" cap="none" normalizeH="0" baseline="0" dirty="0" err="1">
                <a:ln>
                  <a:noFill/>
                </a:ln>
                <a:solidFill>
                  <a:schemeClr val="tx1"/>
                </a:solidFill>
                <a:effectLst/>
                <a:latin typeface="Arial" panose="020B0604020202020204" pitchFamily="34" charset="0"/>
              </a:rPr>
              <a:t>thời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thập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nhiều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dữ</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về</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hành</a:t>
            </a:r>
            <a:r>
              <a:rPr kumimoji="0" lang="en-US" altLang="en-US" sz="1800" b="0" i="0" u="none" strike="noStrike" cap="none" normalizeH="0" baseline="0" dirty="0">
                <a:ln>
                  <a:noFill/>
                </a:ln>
                <a:solidFill>
                  <a:schemeClr val="tx1"/>
                </a:solidFill>
                <a:effectLst/>
                <a:latin typeface="Arial" panose="020B0604020202020204" pitchFamily="34" charset="0"/>
              </a:rPr>
              <a:t> vi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sở</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hóa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Phản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hồi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giá</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trị</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cũ</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thường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cung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cấp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những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góp</a:t>
            </a:r>
            <a:r>
              <a:rPr kumimoji="0" lang="en-US" altLang="en-US" sz="1800" b="0" i="0" u="none" strike="noStrike" cap="none" normalizeH="0" baseline="0" dirty="0">
                <a:ln>
                  <a:noFill/>
                </a:ln>
                <a:solidFill>
                  <a:schemeClr val="tx1"/>
                </a:solidFill>
                <a:effectLst/>
                <a:latin typeface="Arial" panose="020B0604020202020204" pitchFamily="34" charset="0"/>
              </a:rPr>
              <a:t> ý </a:t>
            </a:r>
            <a:r>
              <a:rPr kumimoji="0" lang="en-US" altLang="en-US" sz="1800" b="0" i="0" u="none" strike="noStrike" cap="none" normalizeH="0" baseline="0" dirty="0" err="1">
                <a:ln>
                  <a:noFill/>
                </a:ln>
                <a:solidFill>
                  <a:schemeClr val="tx1"/>
                </a:solidFill>
                <a:effectLst/>
                <a:latin typeface="Arial" panose="020B0604020202020204" pitchFamily="34" charset="0"/>
              </a:rPr>
              <a:t>mang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xây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dựng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giúp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nâng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cao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chất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lượng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4099" name="Picture 3" descr="Customer insight là gì? Tại sao chúng ta cần hiểu customer insight? | Kiến  Thức MMO">
            <a:extLst>
              <a:ext uri="{FF2B5EF4-FFF2-40B4-BE49-F238E27FC236}">
                <a16:creationId xmlns:a16="http://schemas.microsoft.com/office/drawing/2014/main" id="{7EB98E01-9E2D-CD91-7AC9-B991F4E7C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847" y="1890769"/>
            <a:ext cx="2447365" cy="2447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50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C4F4D-CF5D-7FEA-9DFB-33BD1BE8FEA8}"/>
              </a:ext>
            </a:extLst>
          </p:cNvPr>
          <p:cNvSpPr>
            <a:spLocks noGrp="1"/>
          </p:cNvSpPr>
          <p:nvPr>
            <p:ph type="title"/>
          </p:nvPr>
        </p:nvSpPr>
        <p:spPr/>
        <p:txBody>
          <a:bodyPr/>
          <a:lstStyle/>
          <a:p>
            <a:r>
              <a:rPr lang="en-US" b="1" dirty="0">
                <a:solidFill>
                  <a:srgbClr val="0070C0"/>
                </a:solidFill>
                <a:latin typeface="Bahnschrift" panose="020B0502040204020203" pitchFamily="34" charset="0"/>
              </a:rPr>
              <a:t>5. TĂNG TRẢI NGHIỆM KHÁCH HÀNG</a:t>
            </a:r>
          </a:p>
        </p:txBody>
      </p:sp>
      <p:sp>
        <p:nvSpPr>
          <p:cNvPr id="4" name="Rectangle 1">
            <a:extLst>
              <a:ext uri="{FF2B5EF4-FFF2-40B4-BE49-F238E27FC236}">
                <a16:creationId xmlns:a16="http://schemas.microsoft.com/office/drawing/2014/main" id="{E10AD4D4-B372-64FC-357F-9EE7C3C5AAFF}"/>
              </a:ext>
            </a:extLst>
          </p:cNvPr>
          <p:cNvSpPr>
            <a:spLocks noGrp="1" noChangeArrowheads="1"/>
          </p:cNvSpPr>
          <p:nvPr>
            <p:ph idx="1"/>
          </p:nvPr>
        </p:nvSpPr>
        <p:spPr bwMode="auto">
          <a:xfrm>
            <a:off x="838200" y="1519221"/>
            <a:ext cx="9350189"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Chăm</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sóc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cá</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nhân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hóa</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cung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cấp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sóc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riêng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biệt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làm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thấy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trọng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gắn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thương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hiệu</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Tạo</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sự</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hài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lòng</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Khi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thấy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tâm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lòng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ít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có</a:t>
            </a:r>
            <a:r>
              <a:rPr kumimoji="0" lang="en-US" altLang="en-US" sz="1800" b="0" i="0" u="none" strike="noStrike" cap="none" normalizeH="0" baseline="0" dirty="0">
                <a:ln>
                  <a:noFill/>
                </a:ln>
                <a:solidFill>
                  <a:schemeClr val="tx1"/>
                </a:solidFill>
                <a:effectLst/>
                <a:latin typeface="Arial" panose="020B0604020202020204" pitchFamily="34" charset="0"/>
              </a:rPr>
              <a:t> xu </a:t>
            </a:r>
            <a:r>
              <a:rPr kumimoji="0" lang="en-US" altLang="en-US" sz="1800" b="0" i="0" u="none" strike="noStrike" cap="none" normalizeH="0" baseline="0" dirty="0" err="1">
                <a:ln>
                  <a:noFill/>
                </a:ln>
                <a:solidFill>
                  <a:schemeClr val="tx1"/>
                </a:solidFill>
                <a:effectLst/>
                <a:latin typeface="Arial" panose="020B0604020202020204" pitchFamily="34" charset="0"/>
              </a:rPr>
              <a:t>hướng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chuyển</a:t>
            </a:r>
            <a:r>
              <a:rPr kumimoji="0" lang="en-US" altLang="en-US" sz="1800" b="0" i="0" u="none" strike="noStrike" cap="none" normalizeH="0" baseline="0" dirty="0">
                <a:ln>
                  <a:noFill/>
                </a:ln>
                <a:solidFill>
                  <a:schemeClr val="tx1"/>
                </a:solidFill>
                <a:effectLst/>
                <a:latin typeface="Arial" panose="020B0604020202020204" pitchFamily="34" charset="0"/>
              </a:rPr>
              <a:t> sang </a:t>
            </a:r>
            <a:r>
              <a:rPr kumimoji="0" lang="en-US" altLang="en-US" sz="1800" b="0" i="0" u="none" strike="noStrike" cap="none" normalizeH="0" baseline="0" dirty="0" err="1">
                <a:ln>
                  <a:noFill/>
                </a:ln>
                <a:solidFill>
                  <a:schemeClr val="tx1"/>
                </a:solidFill>
                <a:effectLst/>
                <a:latin typeface="Arial" panose="020B0604020202020204" pitchFamily="34" charset="0"/>
              </a:rPr>
              <a:t>đối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thủ</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cạnh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tranh</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123" name="Picture 3" descr="Xây dựng bản đồ hành trình khách hàng B2B - Từ nhận biết đến mua hàng">
            <a:extLst>
              <a:ext uri="{FF2B5EF4-FFF2-40B4-BE49-F238E27FC236}">
                <a16:creationId xmlns:a16="http://schemas.microsoft.com/office/drawing/2014/main" id="{33318273-DCE3-CDA3-C8D5-04065191B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805" y="3222251"/>
            <a:ext cx="9267825"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59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5123"/>
                                        </p:tgtEl>
                                        <p:attrNameLst>
                                          <p:attrName>style.visibility</p:attrName>
                                        </p:attrNameLst>
                                      </p:cBhvr>
                                      <p:to>
                                        <p:strVal val="visible"/>
                                      </p:to>
                                    </p:set>
                                    <p:anim calcmode="lin" valueType="num">
                                      <p:cBhvr>
                                        <p:cTn id="17" dur="1000" fill="hold"/>
                                        <p:tgtEl>
                                          <p:spTgt spid="5123"/>
                                        </p:tgtEl>
                                        <p:attrNameLst>
                                          <p:attrName>ppt_w</p:attrName>
                                        </p:attrNameLst>
                                      </p:cBhvr>
                                      <p:tavLst>
                                        <p:tav tm="0">
                                          <p:val>
                                            <p:fltVal val="0"/>
                                          </p:val>
                                        </p:tav>
                                        <p:tav tm="100000">
                                          <p:val>
                                            <p:strVal val="#ppt_w"/>
                                          </p:val>
                                        </p:tav>
                                      </p:tavLst>
                                    </p:anim>
                                    <p:anim calcmode="lin" valueType="num">
                                      <p:cBhvr>
                                        <p:cTn id="18" dur="1000" fill="hold"/>
                                        <p:tgtEl>
                                          <p:spTgt spid="5123"/>
                                        </p:tgtEl>
                                        <p:attrNameLst>
                                          <p:attrName>ppt_h</p:attrName>
                                        </p:attrNameLst>
                                      </p:cBhvr>
                                      <p:tavLst>
                                        <p:tav tm="0">
                                          <p:val>
                                            <p:fltVal val="0"/>
                                          </p:val>
                                        </p:tav>
                                        <p:tav tm="100000">
                                          <p:val>
                                            <p:strVal val="#ppt_h"/>
                                          </p:val>
                                        </p:tav>
                                      </p:tavLst>
                                    </p:anim>
                                    <p:anim calcmode="lin" valueType="num">
                                      <p:cBhvr>
                                        <p:cTn id="19" dur="1000" fill="hold"/>
                                        <p:tgtEl>
                                          <p:spTgt spid="5123"/>
                                        </p:tgtEl>
                                        <p:attrNameLst>
                                          <p:attrName>style.rotation</p:attrName>
                                        </p:attrNameLst>
                                      </p:cBhvr>
                                      <p:tavLst>
                                        <p:tav tm="0">
                                          <p:val>
                                            <p:fltVal val="90"/>
                                          </p:val>
                                        </p:tav>
                                        <p:tav tm="100000">
                                          <p:val>
                                            <p:fltVal val="0"/>
                                          </p:val>
                                        </p:tav>
                                      </p:tavLst>
                                    </p:anim>
                                    <p:animEffect transition="in" filter="fade">
                                      <p:cBhvr>
                                        <p:cTn id="20" dur="10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25902-10BA-A763-B0F2-3E788A8CCFB2}"/>
              </a:ext>
            </a:extLst>
          </p:cNvPr>
          <p:cNvSpPr>
            <a:spLocks noGrp="1"/>
          </p:cNvSpPr>
          <p:nvPr>
            <p:ph type="title"/>
          </p:nvPr>
        </p:nvSpPr>
        <p:spPr/>
        <p:txBody>
          <a:bodyPr/>
          <a:lstStyle/>
          <a:p>
            <a:r>
              <a:rPr lang="en-US" b="1" dirty="0">
                <a:solidFill>
                  <a:srgbClr val="0070C0"/>
                </a:solidFill>
                <a:latin typeface="Bahnschrift" panose="020B0502040204020203" pitchFamily="34" charset="0"/>
              </a:rPr>
              <a:t>6. TẠO RA LỢI THẾ CẠNH TRANH</a:t>
            </a:r>
          </a:p>
        </p:txBody>
      </p:sp>
      <p:sp>
        <p:nvSpPr>
          <p:cNvPr id="3" name="Content Placeholder 2">
            <a:extLst>
              <a:ext uri="{FF2B5EF4-FFF2-40B4-BE49-F238E27FC236}">
                <a16:creationId xmlns:a16="http://schemas.microsoft.com/office/drawing/2014/main" id="{7DA26A54-D60A-0F44-2687-B1DF2D52126C}"/>
              </a:ext>
            </a:extLst>
          </p:cNvPr>
          <p:cNvSpPr>
            <a:spLocks noGrp="1"/>
          </p:cNvSpPr>
          <p:nvPr>
            <p:ph idx="1"/>
          </p:nvPr>
        </p:nvSpPr>
        <p:spPr>
          <a:xfrm>
            <a:off x="345142" y="1914054"/>
            <a:ext cx="5356412" cy="4351338"/>
          </a:xfrm>
        </p:spPr>
        <p:txBody>
          <a:bodyPr>
            <a:normAutofit/>
          </a:bodyPr>
          <a:lstStyle/>
          <a:p>
            <a:pPr algn="just">
              <a:lnSpc>
                <a:spcPct val="150000"/>
              </a:lnSpc>
            </a:pPr>
            <a:r>
              <a:rPr lang="en-US" sz="2000" b="1" dirty="0" err="1"/>
              <a:t>Khác</a:t>
            </a:r>
            <a:r>
              <a:rPr lang="en-US" sz="2000" b="1" dirty="0"/>
              <a:t> </a:t>
            </a:r>
            <a:r>
              <a:rPr lang="en-US" sz="2000" b="1" dirty="0" err="1"/>
              <a:t>biệt</a:t>
            </a:r>
            <a:r>
              <a:rPr lang="en-US" sz="2000" b="1" dirty="0"/>
              <a:t> </a:t>
            </a:r>
            <a:r>
              <a:rPr lang="en-US" sz="2000" b="1" dirty="0" err="1"/>
              <a:t>hóa</a:t>
            </a:r>
            <a:r>
              <a:rPr lang="en-US" sz="2000" b="1" dirty="0"/>
              <a:t>:</a:t>
            </a:r>
            <a:r>
              <a:rPr lang="en-US" sz="2000" dirty="0"/>
              <a:t> </a:t>
            </a:r>
            <a:r>
              <a:rPr lang="en-US" sz="2000" dirty="0" err="1"/>
              <a:t>Dịch</a:t>
            </a:r>
            <a:r>
              <a:rPr lang="en-US" sz="2000" dirty="0"/>
              <a:t> </a:t>
            </a:r>
            <a:r>
              <a:rPr lang="en-US" sz="2000" dirty="0" err="1"/>
              <a:t>vụ</a:t>
            </a:r>
            <a:r>
              <a:rPr lang="en-US" sz="2000" dirty="0"/>
              <a:t> </a:t>
            </a:r>
            <a:r>
              <a:rPr lang="en-US" sz="2000" dirty="0" err="1"/>
              <a:t>chăm</a:t>
            </a:r>
            <a:r>
              <a:rPr lang="en-US" sz="2000" dirty="0"/>
              <a:t> </a:t>
            </a:r>
            <a:r>
              <a:rPr lang="en-US" sz="2000" dirty="0" err="1"/>
              <a:t>sóc</a:t>
            </a:r>
            <a:r>
              <a:rPr lang="en-US" sz="2000" dirty="0"/>
              <a:t> </a:t>
            </a:r>
            <a:r>
              <a:rPr lang="en-US" sz="2000" dirty="0" err="1"/>
              <a:t>khách</a:t>
            </a:r>
            <a:r>
              <a:rPr lang="en-US" sz="2000" dirty="0"/>
              <a:t> </a:t>
            </a:r>
            <a:r>
              <a:rPr lang="en-US" sz="2000" dirty="0" err="1"/>
              <a:t>hàng</a:t>
            </a:r>
            <a:r>
              <a:rPr lang="en-US" sz="2000" dirty="0"/>
              <a:t> </a:t>
            </a:r>
            <a:r>
              <a:rPr lang="en-US" sz="2000" dirty="0" err="1"/>
              <a:t>tốt</a:t>
            </a:r>
            <a:r>
              <a:rPr lang="en-US" sz="2000" dirty="0"/>
              <a:t> </a:t>
            </a:r>
            <a:r>
              <a:rPr lang="en-US" sz="2000" dirty="0" err="1"/>
              <a:t>là</a:t>
            </a:r>
            <a:r>
              <a:rPr lang="en-US" sz="2000" dirty="0"/>
              <a:t> </a:t>
            </a:r>
            <a:r>
              <a:rPr lang="en-US" sz="2000" dirty="0" err="1"/>
              <a:t>điểm</a:t>
            </a:r>
            <a:r>
              <a:rPr lang="en-US" sz="2000" dirty="0"/>
              <a:t> </a:t>
            </a:r>
            <a:r>
              <a:rPr lang="en-US" sz="2000" dirty="0" err="1"/>
              <a:t>khác</a:t>
            </a:r>
            <a:r>
              <a:rPr lang="en-US" sz="2000" dirty="0"/>
              <a:t> </a:t>
            </a:r>
            <a:r>
              <a:rPr lang="en-US" sz="2000" dirty="0" err="1"/>
              <a:t>biệt</a:t>
            </a:r>
            <a:r>
              <a:rPr lang="en-US" sz="2000" dirty="0"/>
              <a:t> </a:t>
            </a:r>
            <a:r>
              <a:rPr lang="en-US" sz="2000" dirty="0" err="1"/>
              <a:t>giúp</a:t>
            </a:r>
            <a:r>
              <a:rPr lang="en-US" sz="2000" dirty="0"/>
              <a:t> </a:t>
            </a:r>
            <a:r>
              <a:rPr lang="en-US" sz="2000" dirty="0" err="1"/>
              <a:t>doanh</a:t>
            </a:r>
            <a:r>
              <a:rPr lang="en-US" sz="2000" dirty="0"/>
              <a:t> </a:t>
            </a:r>
            <a:r>
              <a:rPr lang="en-US" sz="2000" dirty="0" err="1"/>
              <a:t>nghiệp</a:t>
            </a:r>
            <a:r>
              <a:rPr lang="en-US" sz="2000" dirty="0"/>
              <a:t> </a:t>
            </a:r>
            <a:r>
              <a:rPr lang="en-US" sz="2000" dirty="0" err="1"/>
              <a:t>nổi</a:t>
            </a:r>
            <a:r>
              <a:rPr lang="en-US" sz="2000" dirty="0"/>
              <a:t> </a:t>
            </a:r>
            <a:r>
              <a:rPr lang="en-US" sz="2000" dirty="0" err="1"/>
              <a:t>bật</a:t>
            </a:r>
            <a:r>
              <a:rPr lang="en-US" sz="2000" dirty="0"/>
              <a:t> </a:t>
            </a:r>
            <a:r>
              <a:rPr lang="en-US" sz="2000" dirty="0" err="1"/>
              <a:t>giữa</a:t>
            </a:r>
            <a:r>
              <a:rPr lang="en-US" sz="2000" dirty="0"/>
              <a:t> </a:t>
            </a:r>
            <a:r>
              <a:rPr lang="en-US" sz="2000" dirty="0" err="1"/>
              <a:t>các</a:t>
            </a:r>
            <a:r>
              <a:rPr lang="en-US" sz="2000" dirty="0"/>
              <a:t> </a:t>
            </a:r>
            <a:r>
              <a:rPr lang="en-US" sz="2000" dirty="0" err="1"/>
              <a:t>đối</a:t>
            </a:r>
            <a:r>
              <a:rPr lang="en-US" sz="2000" dirty="0"/>
              <a:t> </a:t>
            </a:r>
            <a:r>
              <a:rPr lang="en-US" sz="2000" dirty="0" err="1"/>
              <a:t>thủ</a:t>
            </a:r>
            <a:r>
              <a:rPr lang="en-US" sz="2000" dirty="0"/>
              <a:t>.</a:t>
            </a:r>
          </a:p>
          <a:p>
            <a:pPr algn="just">
              <a:lnSpc>
                <a:spcPct val="150000"/>
              </a:lnSpc>
            </a:pPr>
            <a:r>
              <a:rPr lang="en-US" sz="2000" b="1" dirty="0" err="1"/>
              <a:t>Xây</a:t>
            </a:r>
            <a:r>
              <a:rPr lang="en-US" sz="2000" b="1" dirty="0"/>
              <a:t> </a:t>
            </a:r>
            <a:r>
              <a:rPr lang="en-US" sz="2000" b="1" dirty="0" err="1"/>
              <a:t>dựng</a:t>
            </a:r>
            <a:r>
              <a:rPr lang="en-US" sz="2000" b="1" dirty="0"/>
              <a:t> </a:t>
            </a:r>
            <a:r>
              <a:rPr lang="en-US" sz="2000" b="1" dirty="0" err="1"/>
              <a:t>lòng</a:t>
            </a:r>
            <a:r>
              <a:rPr lang="en-US" sz="2000" b="1" dirty="0"/>
              <a:t> </a:t>
            </a:r>
            <a:r>
              <a:rPr lang="en-US" sz="2000" b="1" dirty="0" err="1"/>
              <a:t>trung</a:t>
            </a:r>
            <a:r>
              <a:rPr lang="en-US" sz="2000" b="1" dirty="0"/>
              <a:t> </a:t>
            </a:r>
            <a:r>
              <a:rPr lang="en-US" sz="2000" b="1" dirty="0" err="1"/>
              <a:t>thành</a:t>
            </a:r>
            <a:r>
              <a:rPr lang="en-US" sz="2000" dirty="0"/>
              <a:t>: </a:t>
            </a:r>
            <a:r>
              <a:rPr lang="en-US" sz="2000" dirty="0" err="1"/>
              <a:t>Chăm</a:t>
            </a:r>
            <a:r>
              <a:rPr lang="en-US" sz="2000" dirty="0"/>
              <a:t> </a:t>
            </a:r>
            <a:r>
              <a:rPr lang="en-US" sz="2000" dirty="0" err="1"/>
              <a:t>sóc</a:t>
            </a:r>
            <a:r>
              <a:rPr lang="en-US" sz="2000" dirty="0"/>
              <a:t> </a:t>
            </a:r>
            <a:r>
              <a:rPr lang="en-US" sz="2000" dirty="0" err="1"/>
              <a:t>khách</a:t>
            </a:r>
            <a:r>
              <a:rPr lang="en-US" sz="2000" dirty="0"/>
              <a:t> </a:t>
            </a:r>
            <a:r>
              <a:rPr lang="en-US" sz="2000" dirty="0" err="1"/>
              <a:t>hàng</a:t>
            </a:r>
            <a:r>
              <a:rPr lang="en-US" sz="2000" dirty="0"/>
              <a:t> </a:t>
            </a:r>
            <a:r>
              <a:rPr lang="en-US" sz="2000" dirty="0" err="1"/>
              <a:t>cũ</a:t>
            </a:r>
            <a:r>
              <a:rPr lang="en-US" sz="2000" dirty="0"/>
              <a:t> </a:t>
            </a:r>
            <a:r>
              <a:rPr lang="en-US" sz="2000" dirty="0" err="1"/>
              <a:t>không</a:t>
            </a:r>
            <a:r>
              <a:rPr lang="en-US" sz="2000" dirty="0"/>
              <a:t> </a:t>
            </a:r>
            <a:r>
              <a:rPr lang="en-US" sz="2000" dirty="0" err="1"/>
              <a:t>chỉ</a:t>
            </a:r>
            <a:r>
              <a:rPr lang="en-US" sz="2000" dirty="0"/>
              <a:t> </a:t>
            </a:r>
            <a:r>
              <a:rPr lang="en-US" sz="2000" dirty="0" err="1"/>
              <a:t>giúp</a:t>
            </a:r>
            <a:r>
              <a:rPr lang="en-US" sz="2000" dirty="0"/>
              <a:t> </a:t>
            </a:r>
            <a:r>
              <a:rPr lang="en-US" sz="2000" dirty="0" err="1"/>
              <a:t>duy</a:t>
            </a:r>
            <a:r>
              <a:rPr lang="en-US" sz="2000" dirty="0"/>
              <a:t> </a:t>
            </a:r>
            <a:r>
              <a:rPr lang="en-US" sz="2000" dirty="0" err="1"/>
              <a:t>trì</a:t>
            </a:r>
            <a:r>
              <a:rPr lang="en-US" sz="2000" dirty="0"/>
              <a:t> </a:t>
            </a:r>
            <a:r>
              <a:rPr lang="en-US" sz="2000" dirty="0" err="1"/>
              <a:t>mối</a:t>
            </a:r>
            <a:r>
              <a:rPr lang="en-US" sz="2000" dirty="0"/>
              <a:t> </a:t>
            </a:r>
            <a:r>
              <a:rPr lang="en-US" sz="2000" dirty="0" err="1"/>
              <a:t>quan</a:t>
            </a:r>
            <a:r>
              <a:rPr lang="en-US" sz="2000" dirty="0"/>
              <a:t> </a:t>
            </a:r>
            <a:r>
              <a:rPr lang="en-US" sz="2000" dirty="0" err="1"/>
              <a:t>hệ</a:t>
            </a:r>
            <a:r>
              <a:rPr lang="en-US" sz="2000" dirty="0"/>
              <a:t> </a:t>
            </a:r>
            <a:r>
              <a:rPr lang="en-US" sz="2000" dirty="0" err="1"/>
              <a:t>tốt</a:t>
            </a:r>
            <a:r>
              <a:rPr lang="en-US" sz="2000" dirty="0"/>
              <a:t> </a:t>
            </a:r>
            <a:r>
              <a:rPr lang="en-US" sz="2000" dirty="0" err="1"/>
              <a:t>đẹp</a:t>
            </a:r>
            <a:r>
              <a:rPr lang="en-US" sz="2000" dirty="0"/>
              <a:t> </a:t>
            </a:r>
            <a:r>
              <a:rPr lang="en-US" sz="2000" dirty="0" err="1"/>
              <a:t>mà</a:t>
            </a:r>
            <a:r>
              <a:rPr lang="en-US" sz="2000" dirty="0"/>
              <a:t> </a:t>
            </a:r>
            <a:r>
              <a:rPr lang="en-US" sz="2000" dirty="0" err="1"/>
              <a:t>còn</a:t>
            </a:r>
            <a:r>
              <a:rPr lang="en-US" sz="2000" dirty="0"/>
              <a:t> </a:t>
            </a:r>
            <a:r>
              <a:rPr lang="en-US" sz="2000" dirty="0" err="1"/>
              <a:t>là</a:t>
            </a:r>
            <a:r>
              <a:rPr lang="en-US" sz="2000" dirty="0"/>
              <a:t> </a:t>
            </a:r>
            <a:r>
              <a:rPr lang="en-US" sz="2000" dirty="0" err="1"/>
              <a:t>nền</a:t>
            </a:r>
            <a:r>
              <a:rPr lang="en-US" sz="2000" dirty="0"/>
              <a:t> </a:t>
            </a:r>
            <a:r>
              <a:rPr lang="en-US" sz="2000" dirty="0" err="1"/>
              <a:t>tảng</a:t>
            </a:r>
            <a:r>
              <a:rPr lang="en-US" sz="2000" dirty="0"/>
              <a:t> </a:t>
            </a:r>
            <a:r>
              <a:rPr lang="en-US" sz="2000" dirty="0" err="1"/>
              <a:t>cho</a:t>
            </a:r>
            <a:r>
              <a:rPr lang="en-US" sz="2000" dirty="0"/>
              <a:t> </a:t>
            </a:r>
            <a:r>
              <a:rPr lang="en-US" sz="2000" dirty="0" err="1"/>
              <a:t>sự</a:t>
            </a:r>
            <a:r>
              <a:rPr lang="en-US" sz="2000" dirty="0"/>
              <a:t> </a:t>
            </a:r>
            <a:r>
              <a:rPr lang="en-US" sz="2000" dirty="0" err="1"/>
              <a:t>phát</a:t>
            </a:r>
            <a:r>
              <a:rPr lang="en-US" sz="2000" dirty="0"/>
              <a:t> </a:t>
            </a:r>
            <a:r>
              <a:rPr lang="en-US" sz="2000" dirty="0" err="1"/>
              <a:t>triển</a:t>
            </a:r>
            <a:r>
              <a:rPr lang="en-US" sz="2000" dirty="0"/>
              <a:t> </a:t>
            </a:r>
            <a:r>
              <a:rPr lang="en-US" sz="2000" dirty="0" err="1"/>
              <a:t>dài</a:t>
            </a:r>
            <a:r>
              <a:rPr lang="en-US" sz="2000" dirty="0"/>
              <a:t> </a:t>
            </a:r>
            <a:r>
              <a:rPr lang="en-US" sz="2000" dirty="0" err="1"/>
              <a:t>hạn</a:t>
            </a:r>
            <a:r>
              <a:rPr lang="en-US" sz="2000" dirty="0"/>
              <a:t> </a:t>
            </a:r>
            <a:r>
              <a:rPr lang="en-US" sz="2000" dirty="0" err="1"/>
              <a:t>và</a:t>
            </a:r>
            <a:r>
              <a:rPr lang="en-US" sz="2000" dirty="0"/>
              <a:t> </a:t>
            </a:r>
            <a:r>
              <a:rPr lang="en-US" sz="2000" dirty="0" err="1"/>
              <a:t>bền</a:t>
            </a:r>
            <a:r>
              <a:rPr lang="en-US" sz="2000" dirty="0"/>
              <a:t> </a:t>
            </a:r>
            <a:r>
              <a:rPr lang="en-US" sz="2000" dirty="0" err="1"/>
              <a:t>vững</a:t>
            </a:r>
            <a:r>
              <a:rPr lang="en-US" sz="2000" dirty="0"/>
              <a:t> </a:t>
            </a:r>
            <a:r>
              <a:rPr lang="en-US" sz="2000" dirty="0" err="1"/>
              <a:t>của</a:t>
            </a:r>
            <a:r>
              <a:rPr lang="en-US" sz="2000" dirty="0"/>
              <a:t> </a:t>
            </a:r>
            <a:r>
              <a:rPr lang="en-US" sz="2000" dirty="0" err="1"/>
              <a:t>doanh</a:t>
            </a:r>
            <a:r>
              <a:rPr lang="en-US" sz="2000" dirty="0"/>
              <a:t> </a:t>
            </a:r>
            <a:r>
              <a:rPr lang="en-US" sz="2000" dirty="0" err="1"/>
              <a:t>nghiệp</a:t>
            </a:r>
            <a:r>
              <a:rPr lang="en-US" sz="2000" dirty="0"/>
              <a:t>.</a:t>
            </a:r>
          </a:p>
          <a:p>
            <a:pPr algn="just">
              <a:lnSpc>
                <a:spcPct val="150000"/>
              </a:lnSpc>
            </a:pPr>
            <a:endParaRPr lang="en-US" sz="2000" dirty="0"/>
          </a:p>
        </p:txBody>
      </p:sp>
      <p:grpSp>
        <p:nvGrpSpPr>
          <p:cNvPr id="5" name="Group 4">
            <a:extLst>
              <a:ext uri="{FF2B5EF4-FFF2-40B4-BE49-F238E27FC236}">
                <a16:creationId xmlns:a16="http://schemas.microsoft.com/office/drawing/2014/main" id="{C4D357BA-4A40-9BDE-6687-B6F3B6186912}"/>
              </a:ext>
            </a:extLst>
          </p:cNvPr>
          <p:cNvGrpSpPr/>
          <p:nvPr/>
        </p:nvGrpSpPr>
        <p:grpSpPr>
          <a:xfrm>
            <a:off x="5835321" y="1939735"/>
            <a:ext cx="6278370" cy="4185580"/>
            <a:chOff x="5835321" y="1939735"/>
            <a:chExt cx="6278370" cy="4185580"/>
          </a:xfrm>
        </p:grpSpPr>
        <p:pic>
          <p:nvPicPr>
            <p:cNvPr id="7170" name="Picture 2" descr="TOP 10 CÁCH GIÚP DOANH NGHIỆP DUY TRÌ LÒNG TRUNG THÀNH CỦA KHÁCH HÀNG |  GreenHand Group">
              <a:extLst>
                <a:ext uri="{FF2B5EF4-FFF2-40B4-BE49-F238E27FC236}">
                  <a16:creationId xmlns:a16="http://schemas.microsoft.com/office/drawing/2014/main" id="{3E8480C9-077E-0A80-AA18-9345DE843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5321" y="1939735"/>
              <a:ext cx="6278370" cy="41855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AA7D8F2-A473-A81E-8760-9BEFF8610884}"/>
                </a:ext>
              </a:extLst>
            </p:cNvPr>
            <p:cNvSpPr/>
            <p:nvPr/>
          </p:nvSpPr>
          <p:spPr>
            <a:xfrm>
              <a:off x="11152094" y="5495365"/>
              <a:ext cx="961597" cy="466164"/>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0408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6A2999-856F-B422-C996-1DED685D6519}"/>
              </a:ext>
            </a:extLst>
          </p:cNvPr>
          <p:cNvPicPr>
            <a:picLocks noChangeAspect="1"/>
          </p:cNvPicPr>
          <p:nvPr/>
        </p:nvPicPr>
        <p:blipFill>
          <a:blip r:embed="rId2"/>
          <a:stretch>
            <a:fillRect/>
          </a:stretch>
        </p:blipFill>
        <p:spPr>
          <a:xfrm>
            <a:off x="0" y="0"/>
            <a:ext cx="12192000" cy="6864418"/>
          </a:xfrm>
          <a:prstGeom prst="rect">
            <a:avLst/>
          </a:prstGeom>
        </p:spPr>
      </p:pic>
      <p:sp>
        <p:nvSpPr>
          <p:cNvPr id="8" name="Title 1">
            <a:extLst>
              <a:ext uri="{FF2B5EF4-FFF2-40B4-BE49-F238E27FC236}">
                <a16:creationId xmlns:a16="http://schemas.microsoft.com/office/drawing/2014/main" id="{A1C2ED8B-3E47-971E-EA70-A01B86F0A928}"/>
              </a:ext>
            </a:extLst>
          </p:cNvPr>
          <p:cNvSpPr txBox="1">
            <a:spLocks/>
          </p:cNvSpPr>
          <p:nvPr/>
        </p:nvSpPr>
        <p:spPr>
          <a:xfrm>
            <a:off x="0" y="1388175"/>
            <a:ext cx="12192000" cy="7399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bg1"/>
                </a:solidFill>
                <a:latin typeface="Bahnschrift SemiBold Condensed" panose="020B0502040204020203" pitchFamily="34" charset="0"/>
              </a:rPr>
              <a:t>LÀM SAO ĐỂ CHĂM SÓC KHÁCH CŨ TỐT NHẤT</a:t>
            </a:r>
          </a:p>
        </p:txBody>
      </p:sp>
      <p:sp>
        <p:nvSpPr>
          <p:cNvPr id="12" name="Content Placeholder 11">
            <a:extLst>
              <a:ext uri="{FF2B5EF4-FFF2-40B4-BE49-F238E27FC236}">
                <a16:creationId xmlns:a16="http://schemas.microsoft.com/office/drawing/2014/main" id="{05014B62-CE79-6678-C54E-5B51E7501C9E}"/>
              </a:ext>
            </a:extLst>
          </p:cNvPr>
          <p:cNvSpPr>
            <a:spLocks noGrp="1"/>
          </p:cNvSpPr>
          <p:nvPr>
            <p:ph idx="1"/>
          </p:nvPr>
        </p:nvSpPr>
        <p:spPr/>
        <p:txBody>
          <a:bodyPr/>
          <a:lstStyle/>
          <a:p>
            <a:endParaRPr lang="en-US"/>
          </a:p>
        </p:txBody>
      </p:sp>
      <p:pic>
        <p:nvPicPr>
          <p:cNvPr id="13" name="Content Placeholder 9">
            <a:extLst>
              <a:ext uri="{FF2B5EF4-FFF2-40B4-BE49-F238E27FC236}">
                <a16:creationId xmlns:a16="http://schemas.microsoft.com/office/drawing/2014/main" id="{6EFA3721-2A9D-AC56-9FFA-1F68FB19C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3800" y="128231"/>
            <a:ext cx="806373" cy="694146"/>
          </a:xfrm>
          <a:prstGeom prst="rect">
            <a:avLst/>
          </a:prstGeom>
        </p:spPr>
      </p:pic>
    </p:spTree>
    <p:extLst>
      <p:ext uri="{BB962C8B-B14F-4D97-AF65-F5344CB8AC3E}">
        <p14:creationId xmlns:p14="http://schemas.microsoft.com/office/powerpoint/2010/main" val="4264716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B7FAE-1585-7D14-DC66-751FA8EF92F4}"/>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1C0E307F-2F5D-22E5-37F1-10655B59385F}"/>
              </a:ext>
            </a:extLst>
          </p:cNvPr>
          <p:cNvSpPr txBox="1"/>
          <p:nvPr/>
        </p:nvSpPr>
        <p:spPr>
          <a:xfrm>
            <a:off x="4402384" y="2317393"/>
            <a:ext cx="6096000" cy="1709571"/>
          </a:xfrm>
          <a:prstGeom prst="rect">
            <a:avLst/>
          </a:prstGeom>
          <a:noFill/>
        </p:spPr>
        <p:txBody>
          <a:bodyPr wrap="square">
            <a:spAutoFit/>
          </a:bodyPr>
          <a:lstStyle/>
          <a:p>
            <a:pPr>
              <a:lnSpc>
                <a:spcPct val="150000"/>
              </a:lnSpc>
            </a:pPr>
            <a:r>
              <a:rPr lang="vi-VN" dirty="0"/>
              <a:t>Chăm sóc khách hàng cũ một cách tốt nhất đòi hỏi sự tỉ mỉ và chu đáo. Dưới đây là một số chiến lược giúp bạn giữ chân khách hàng cũ và biến họ thành những người ủng hộ trung thành</a:t>
            </a:r>
            <a:r>
              <a:rPr lang="en-US" dirty="0"/>
              <a:t>.</a:t>
            </a:r>
          </a:p>
        </p:txBody>
      </p:sp>
      <p:pic>
        <p:nvPicPr>
          <p:cNvPr id="9218" name="Picture 2" descr="Mẫu tin nhắn chăm sóc khách hàng cũ">
            <a:extLst>
              <a:ext uri="{FF2B5EF4-FFF2-40B4-BE49-F238E27FC236}">
                <a16:creationId xmlns:a16="http://schemas.microsoft.com/office/drawing/2014/main" id="{232B1B7A-0057-E663-808B-9B669516D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032" y="2317393"/>
            <a:ext cx="4251105" cy="2223213"/>
          </a:xfrm>
          <a:prstGeom prst="rect">
            <a:avLst/>
          </a:prstGeom>
          <a:noFill/>
          <a:effectLst>
            <a:glow rad="228600">
              <a:schemeClr val="accent2">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15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EFD7F-B90D-CE26-FDA3-7681D9A55549}"/>
              </a:ext>
            </a:extLst>
          </p:cNvPr>
          <p:cNvSpPr>
            <a:spLocks noGrp="1"/>
          </p:cNvSpPr>
          <p:nvPr>
            <p:ph type="title"/>
          </p:nvPr>
        </p:nvSpPr>
        <p:spPr/>
        <p:txBody>
          <a:bodyPr/>
          <a:lstStyle/>
          <a:p>
            <a:r>
              <a:rPr lang="vi-VN" dirty="0">
                <a:solidFill>
                  <a:srgbClr val="002060"/>
                </a:solidFill>
                <a:latin typeface="Bahnschrift" panose="020B0502040204020203" pitchFamily="34" charset="0"/>
              </a:rPr>
              <a:t>1. GIAO TIẾP THƯỜNG XUYÊN</a:t>
            </a:r>
            <a:endParaRPr lang="en-US" dirty="0">
              <a:solidFill>
                <a:srgbClr val="002060"/>
              </a:solidFill>
              <a:latin typeface="Bahnschrift" panose="020B0502040204020203" pitchFamily="34" charset="0"/>
            </a:endParaRPr>
          </a:p>
        </p:txBody>
      </p:sp>
      <p:sp>
        <p:nvSpPr>
          <p:cNvPr id="4" name="Rectangle 1">
            <a:extLst>
              <a:ext uri="{FF2B5EF4-FFF2-40B4-BE49-F238E27FC236}">
                <a16:creationId xmlns:a16="http://schemas.microsoft.com/office/drawing/2014/main" id="{439992BF-2C91-3F7A-F5DD-96E55883183B}"/>
              </a:ext>
            </a:extLst>
          </p:cNvPr>
          <p:cNvSpPr>
            <a:spLocks noGrp="1" noChangeArrowheads="1"/>
          </p:cNvSpPr>
          <p:nvPr>
            <p:ph idx="1"/>
          </p:nvPr>
        </p:nvSpPr>
        <p:spPr bwMode="auto">
          <a:xfrm>
            <a:off x="703730" y="1585237"/>
            <a:ext cx="6996953"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Gặp</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mặt</a:t>
            </a: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altLang="en-US" sz="1800" dirty="0" err="1">
                <a:latin typeface="Arial" panose="020B0604020202020204" pitchFamily="34" charset="0"/>
              </a:rPr>
              <a:t>Việc</a:t>
            </a:r>
            <a:r>
              <a:rPr lang="en-US" altLang="en-US" sz="1800" dirty="0">
                <a:latin typeface="Arial" panose="020B0604020202020204" pitchFamily="34" charset="0"/>
              </a:rPr>
              <a:t> </a:t>
            </a:r>
            <a:r>
              <a:rPr lang="en-US" altLang="en-US" sz="1800" dirty="0" err="1">
                <a:latin typeface="Arial" panose="020B0604020202020204" pitchFamily="34" charset="0"/>
              </a:rPr>
              <a:t>gặp</a:t>
            </a:r>
            <a:r>
              <a:rPr lang="en-US" altLang="en-US" sz="1800" dirty="0">
                <a:latin typeface="Arial" panose="020B0604020202020204" pitchFamily="34" charset="0"/>
              </a:rPr>
              <a:t> </a:t>
            </a:r>
            <a:r>
              <a:rPr lang="en-US" altLang="en-US" sz="1800" dirty="0" err="1">
                <a:latin typeface="Arial" panose="020B0604020202020204" pitchFamily="34" charset="0"/>
              </a:rPr>
              <a:t>mặt</a:t>
            </a:r>
            <a:r>
              <a:rPr lang="en-US" altLang="en-US" sz="1800" dirty="0">
                <a:latin typeface="Arial" panose="020B0604020202020204" pitchFamily="34" charset="0"/>
              </a:rPr>
              <a:t> </a:t>
            </a:r>
            <a:r>
              <a:rPr lang="en-US" altLang="en-US" sz="1800" dirty="0" err="1">
                <a:latin typeface="Arial" panose="020B0604020202020204" pitchFamily="34" charset="0"/>
              </a:rPr>
              <a:t>giúp</a:t>
            </a:r>
            <a:r>
              <a:rPr lang="en-US" altLang="en-US" sz="1800" dirty="0">
                <a:latin typeface="Arial" panose="020B0604020202020204" pitchFamily="34" charset="0"/>
              </a:rPr>
              <a:t> </a:t>
            </a:r>
            <a:r>
              <a:rPr lang="en-US" altLang="en-US" sz="1800" dirty="0" err="1">
                <a:latin typeface="Arial" panose="020B0604020202020204" pitchFamily="34" charset="0"/>
              </a:rPr>
              <a:t>chúng</a:t>
            </a:r>
            <a:r>
              <a:rPr lang="en-US" altLang="en-US" sz="1800" dirty="0">
                <a:latin typeface="Arial" panose="020B0604020202020204" pitchFamily="34" charset="0"/>
              </a:rPr>
              <a:t> ta </a:t>
            </a:r>
            <a:r>
              <a:rPr lang="en-US" altLang="en-US" sz="1800" dirty="0" err="1">
                <a:latin typeface="Arial" panose="020B0604020202020204" pitchFamily="34" charset="0"/>
              </a:rPr>
              <a:t>thắt</a:t>
            </a:r>
            <a:r>
              <a:rPr lang="en-US" altLang="en-US" sz="1800" dirty="0">
                <a:latin typeface="Arial" panose="020B0604020202020204" pitchFamily="34" charset="0"/>
              </a:rPr>
              <a:t> </a:t>
            </a:r>
            <a:r>
              <a:rPr lang="en-US" altLang="en-US" sz="1800" dirty="0" err="1">
                <a:latin typeface="Arial" panose="020B0604020202020204" pitchFamily="34" charset="0"/>
              </a:rPr>
              <a:t>chặt</a:t>
            </a:r>
            <a:r>
              <a:rPr lang="en-US" altLang="en-US" sz="1800" dirty="0">
                <a:latin typeface="Arial" panose="020B0604020202020204" pitchFamily="34" charset="0"/>
              </a:rPr>
              <a:t> </a:t>
            </a:r>
            <a:r>
              <a:rPr lang="en-US" altLang="en-US" sz="1800" dirty="0" err="1">
                <a:latin typeface="Arial" panose="020B0604020202020204" pitchFamily="34" charset="0"/>
              </a:rPr>
              <a:t>mối</a:t>
            </a:r>
            <a:r>
              <a:rPr lang="en-US" altLang="en-US" sz="1800" dirty="0">
                <a:latin typeface="Arial" panose="020B0604020202020204" pitchFamily="34" charset="0"/>
              </a:rPr>
              <a:t> </a:t>
            </a:r>
            <a:r>
              <a:rPr lang="en-US" altLang="en-US" sz="1800" dirty="0" err="1">
                <a:latin typeface="Arial" panose="020B0604020202020204" pitchFamily="34" charset="0"/>
              </a:rPr>
              <a:t>quan</a:t>
            </a:r>
            <a:r>
              <a:rPr lang="en-US" altLang="en-US" sz="1800" dirty="0">
                <a:latin typeface="Arial" panose="020B0604020202020204" pitchFamily="34" charset="0"/>
              </a:rPr>
              <a:t> </a:t>
            </a:r>
            <a:r>
              <a:rPr lang="en-US" altLang="en-US" sz="1800" dirty="0" err="1">
                <a:latin typeface="Arial" panose="020B0604020202020204" pitchFamily="34" charset="0"/>
              </a:rPr>
              <a:t>hệ</a:t>
            </a:r>
            <a:r>
              <a:rPr lang="en-US" altLang="en-US" sz="1800" dirty="0">
                <a:latin typeface="Arial" panose="020B0604020202020204" pitchFamily="34" charset="0"/>
              </a:rPr>
              <a:t> </a:t>
            </a:r>
            <a:r>
              <a:rPr lang="en-US" altLang="en-US" sz="1800" dirty="0" err="1">
                <a:latin typeface="Arial" panose="020B0604020202020204" pitchFamily="34" charset="0"/>
              </a:rPr>
              <a:t>với</a:t>
            </a:r>
            <a:r>
              <a:rPr lang="en-US" altLang="en-US" sz="1800" dirty="0">
                <a:latin typeface="Arial" panose="020B0604020202020204" pitchFamily="34" charset="0"/>
              </a:rPr>
              <a:t> </a:t>
            </a:r>
            <a:r>
              <a:rPr lang="en-US" altLang="en-US" sz="1800" dirty="0" err="1">
                <a:latin typeface="Arial" panose="020B0604020202020204" pitchFamily="34" charset="0"/>
              </a:rPr>
              <a:t>khách</a:t>
            </a:r>
            <a:r>
              <a:rPr lang="en-US" altLang="en-US" sz="1800" dirty="0">
                <a:latin typeface="Arial" panose="020B0604020202020204" pitchFamily="34" charset="0"/>
              </a:rPr>
              <a:t> </a:t>
            </a:r>
            <a:r>
              <a:rPr lang="en-US" altLang="en-US" sz="1800" dirty="0" err="1">
                <a:latin typeface="Arial" panose="020B0604020202020204" pitchFamily="34" charset="0"/>
              </a:rPr>
              <a:t>hàng</a:t>
            </a:r>
            <a:r>
              <a:rPr lang="en-US" altLang="en-US" sz="1800" dirty="0">
                <a:latin typeface="Arial" panose="020B0604020202020204" pitchFamily="34" charset="0"/>
              </a:rPr>
              <a:t>, </a:t>
            </a:r>
            <a:r>
              <a:rPr lang="en-US" altLang="en-US" sz="1800" dirty="0" err="1">
                <a:latin typeface="Arial" panose="020B0604020202020204" pitchFamily="34" charset="0"/>
              </a:rPr>
              <a:t>dù</a:t>
            </a:r>
            <a:r>
              <a:rPr lang="en-US" altLang="en-US" sz="1800" dirty="0">
                <a:latin typeface="Arial" panose="020B0604020202020204" pitchFamily="34" charset="0"/>
              </a:rPr>
              <a:t> </a:t>
            </a:r>
            <a:r>
              <a:rPr lang="en-US" altLang="en-US" sz="1800" dirty="0" err="1">
                <a:latin typeface="Arial" panose="020B0604020202020204" pitchFamily="34" charset="0"/>
              </a:rPr>
              <a:t>công</a:t>
            </a:r>
            <a:r>
              <a:rPr lang="en-US" altLang="en-US" sz="1800" dirty="0">
                <a:latin typeface="Arial" panose="020B0604020202020204" pitchFamily="34" charset="0"/>
              </a:rPr>
              <a:t> </a:t>
            </a:r>
            <a:r>
              <a:rPr lang="en-US" altLang="en-US" sz="1800" dirty="0" err="1">
                <a:latin typeface="Arial" panose="020B0604020202020204" pitchFamily="34" charset="0"/>
              </a:rPr>
              <a:t>nghệ</a:t>
            </a:r>
            <a:r>
              <a:rPr lang="en-US" altLang="en-US" sz="1800" dirty="0">
                <a:latin typeface="Arial" panose="020B0604020202020204" pitchFamily="34" charset="0"/>
              </a:rPr>
              <a:t> </a:t>
            </a:r>
            <a:r>
              <a:rPr lang="en-US" altLang="en-US" sz="1800" dirty="0" err="1">
                <a:latin typeface="Arial" panose="020B0604020202020204" pitchFamily="34" charset="0"/>
              </a:rPr>
              <a:t>có</a:t>
            </a:r>
            <a:r>
              <a:rPr lang="en-US" altLang="en-US" sz="1800" dirty="0">
                <a:latin typeface="Arial" panose="020B0604020202020204" pitchFamily="34" charset="0"/>
              </a:rPr>
              <a:t> </a:t>
            </a:r>
            <a:r>
              <a:rPr lang="en-US" altLang="en-US" sz="1800" dirty="0" err="1">
                <a:latin typeface="Arial" panose="020B0604020202020204" pitchFamily="34" charset="0"/>
              </a:rPr>
              <a:t>phát</a:t>
            </a:r>
            <a:r>
              <a:rPr lang="en-US" altLang="en-US" sz="1800" dirty="0">
                <a:latin typeface="Arial" panose="020B0604020202020204" pitchFamily="34" charset="0"/>
              </a:rPr>
              <a:t> </a:t>
            </a:r>
            <a:r>
              <a:rPr lang="en-US" altLang="en-US" sz="1800" dirty="0" err="1">
                <a:latin typeface="Arial" panose="020B0604020202020204" pitchFamily="34" charset="0"/>
              </a:rPr>
              <a:t>triển</a:t>
            </a:r>
            <a:r>
              <a:rPr lang="en-US" altLang="en-US" sz="1800" dirty="0">
                <a:latin typeface="Arial" panose="020B0604020202020204" pitchFamily="34" charset="0"/>
              </a:rPr>
              <a:t> </a:t>
            </a:r>
            <a:r>
              <a:rPr lang="en-US" altLang="en-US" sz="1800" dirty="0" err="1">
                <a:latin typeface="Arial" panose="020B0604020202020204" pitchFamily="34" charset="0"/>
              </a:rPr>
              <a:t>tới</a:t>
            </a:r>
            <a:r>
              <a:rPr lang="en-US" altLang="en-US" sz="1800" dirty="0">
                <a:latin typeface="Arial" panose="020B0604020202020204" pitchFamily="34" charset="0"/>
              </a:rPr>
              <a:t> </a:t>
            </a:r>
            <a:r>
              <a:rPr lang="en-US" altLang="en-US" sz="1800" dirty="0" err="1">
                <a:latin typeface="Arial" panose="020B0604020202020204" pitchFamily="34" charset="0"/>
              </a:rPr>
              <a:t>đâu</a:t>
            </a:r>
            <a:r>
              <a:rPr lang="en-US" altLang="en-US" sz="1800" dirty="0">
                <a:latin typeface="Arial" panose="020B0604020202020204" pitchFamily="34" charset="0"/>
              </a:rPr>
              <a:t> </a:t>
            </a:r>
            <a:r>
              <a:rPr lang="en-US" altLang="en-US" sz="1800" dirty="0" err="1">
                <a:latin typeface="Arial" panose="020B0604020202020204" pitchFamily="34" charset="0"/>
              </a:rPr>
              <a:t>thì</a:t>
            </a:r>
            <a:r>
              <a:rPr lang="en-US" altLang="en-US" sz="1800" dirty="0">
                <a:latin typeface="Arial" panose="020B0604020202020204" pitchFamily="34" charset="0"/>
              </a:rPr>
              <a:t> </a:t>
            </a:r>
            <a:r>
              <a:rPr lang="en-US" altLang="en-US" sz="1800" dirty="0" err="1">
                <a:latin typeface="Arial" panose="020B0604020202020204" pitchFamily="34" charset="0"/>
              </a:rPr>
              <a:t>với</a:t>
            </a:r>
            <a:r>
              <a:rPr lang="en-US" altLang="en-US" sz="1800" dirty="0">
                <a:latin typeface="Arial" panose="020B0604020202020204" pitchFamily="34" charset="0"/>
              </a:rPr>
              <a:t> </a:t>
            </a:r>
            <a:r>
              <a:rPr lang="en-US" altLang="en-US" sz="1800" dirty="0" err="1">
                <a:latin typeface="Arial" panose="020B0604020202020204" pitchFamily="34" charset="0"/>
              </a:rPr>
              <a:t>khách</a:t>
            </a:r>
            <a:r>
              <a:rPr lang="en-US" altLang="en-US" sz="1800" dirty="0">
                <a:latin typeface="Arial" panose="020B0604020202020204" pitchFamily="34" charset="0"/>
              </a:rPr>
              <a:t> </a:t>
            </a:r>
            <a:r>
              <a:rPr lang="en-US" altLang="en-US" sz="1800" dirty="0" err="1">
                <a:latin typeface="Arial" panose="020B0604020202020204" pitchFamily="34" charset="0"/>
              </a:rPr>
              <a:t>hàng</a:t>
            </a:r>
            <a:r>
              <a:rPr lang="en-US" altLang="en-US" sz="1800" dirty="0">
                <a:latin typeface="Arial" panose="020B0604020202020204" pitchFamily="34" charset="0"/>
              </a:rPr>
              <a:t> </a:t>
            </a:r>
            <a:r>
              <a:rPr lang="en-US" altLang="en-US" sz="1800" dirty="0" err="1">
                <a:latin typeface="Arial" panose="020B0604020202020204" pitchFamily="34" charset="0"/>
              </a:rPr>
              <a:t>vẫn</a:t>
            </a:r>
            <a:r>
              <a:rPr lang="en-US" altLang="en-US" sz="1800" dirty="0">
                <a:latin typeface="Arial" panose="020B0604020202020204" pitchFamily="34" charset="0"/>
              </a:rPr>
              <a:t> </a:t>
            </a:r>
            <a:r>
              <a:rPr lang="en-US" altLang="en-US" sz="1800" dirty="0" err="1">
                <a:latin typeface="Arial" panose="020B0604020202020204" pitchFamily="34" charset="0"/>
              </a:rPr>
              <a:t>không</a:t>
            </a:r>
            <a:r>
              <a:rPr lang="en-US" altLang="en-US" sz="1800" dirty="0">
                <a:latin typeface="Arial" panose="020B0604020202020204" pitchFamily="34" charset="0"/>
              </a:rPr>
              <a:t> </a:t>
            </a:r>
            <a:r>
              <a:rPr lang="en-US" altLang="en-US" sz="1800" dirty="0" err="1">
                <a:latin typeface="Arial" panose="020B0604020202020204" pitchFamily="34" charset="0"/>
              </a:rPr>
              <a:t>thể</a:t>
            </a:r>
            <a:r>
              <a:rPr lang="en-US" altLang="en-US" sz="1800" dirty="0">
                <a:latin typeface="Arial" panose="020B0604020202020204" pitchFamily="34" charset="0"/>
              </a:rPr>
              <a:t> </a:t>
            </a:r>
            <a:r>
              <a:rPr lang="en-US" altLang="en-US" sz="1800" dirty="0" err="1">
                <a:latin typeface="Arial" panose="020B0604020202020204" pitchFamily="34" charset="0"/>
              </a:rPr>
              <a:t>thay</a:t>
            </a:r>
            <a:r>
              <a:rPr lang="en-US" altLang="en-US" sz="1800" dirty="0">
                <a:latin typeface="Arial" panose="020B0604020202020204" pitchFamily="34" charset="0"/>
              </a:rPr>
              <a:t> </a:t>
            </a:r>
            <a:r>
              <a:rPr lang="en-US" altLang="en-US" sz="1800" dirty="0" err="1">
                <a:latin typeface="Arial" panose="020B0604020202020204" pitchFamily="34" charset="0"/>
              </a:rPr>
              <a:t>thế</a:t>
            </a:r>
            <a:r>
              <a:rPr lang="en-US" altLang="en-US" sz="1800" dirty="0">
                <a:latin typeface="Arial" panose="020B0604020202020204" pitchFamily="34" charset="0"/>
              </a:rPr>
              <a:t> </a:t>
            </a:r>
            <a:r>
              <a:rPr lang="en-US" altLang="en-US" sz="1800" dirty="0" err="1">
                <a:latin typeface="Arial" panose="020B0604020202020204" pitchFamily="34" charset="0"/>
              </a:rPr>
              <a:t>được</a:t>
            </a:r>
            <a:r>
              <a:rPr lang="en-US" altLang="en-US" sz="1800" dirty="0">
                <a:latin typeface="Arial" panose="020B0604020202020204" pitchFamily="34" charset="0"/>
              </a:rPr>
              <a:t> </a:t>
            </a:r>
            <a:r>
              <a:rPr lang="en-US" altLang="en-US" sz="1800" dirty="0" err="1">
                <a:latin typeface="Arial" panose="020B0604020202020204" pitchFamily="34" charset="0"/>
              </a:rPr>
              <a:t>việc</a:t>
            </a:r>
            <a:r>
              <a:rPr lang="en-US" altLang="en-US" sz="1800" dirty="0">
                <a:latin typeface="Arial" panose="020B0604020202020204" pitchFamily="34" charset="0"/>
              </a:rPr>
              <a:t> </a:t>
            </a:r>
            <a:r>
              <a:rPr lang="en-US" altLang="en-US" sz="1800" dirty="0" err="1">
                <a:latin typeface="Arial" panose="020B0604020202020204" pitchFamily="34" charset="0"/>
              </a:rPr>
              <a:t>gặp</a:t>
            </a:r>
            <a:r>
              <a:rPr lang="en-US" altLang="en-US" sz="1800" dirty="0">
                <a:latin typeface="Arial" panose="020B0604020202020204" pitchFamily="34" charset="0"/>
              </a:rPr>
              <a:t> </a:t>
            </a:r>
            <a:r>
              <a:rPr lang="en-US" altLang="en-US" sz="1800" dirty="0" err="1">
                <a:latin typeface="Arial" panose="020B0604020202020204" pitchFamily="34" charset="0"/>
              </a:rPr>
              <a:t>mặt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Email </a:t>
            </a:r>
            <a:r>
              <a:rPr kumimoji="0" lang="en-US" altLang="en-US" sz="1800" b="1" i="0" u="none" strike="noStrike" cap="none" normalizeH="0" baseline="0" dirty="0" err="1">
                <a:ln>
                  <a:noFill/>
                </a:ln>
                <a:solidFill>
                  <a:schemeClr val="tx1"/>
                </a:solidFill>
                <a:effectLst/>
                <a:latin typeface="Arial" panose="020B0604020202020204" pitchFamily="34" charset="0"/>
              </a:rPr>
              <a:t>và</a:t>
            </a:r>
            <a:r>
              <a:rPr kumimoji="0" lang="en-US" altLang="en-US" sz="1800" b="1" i="0" u="none" strike="noStrike" cap="none" normalizeH="0" baseline="0" dirty="0">
                <a:ln>
                  <a:noFill/>
                </a:ln>
                <a:solidFill>
                  <a:schemeClr val="tx1"/>
                </a:solidFill>
                <a:effectLst/>
                <a:latin typeface="Arial" panose="020B0604020202020204" pitchFamily="34" charset="0"/>
              </a:rPr>
              <a:t> tin </a:t>
            </a:r>
            <a:r>
              <a:rPr kumimoji="0" lang="en-US" altLang="en-US" sz="1800" b="1" i="0" u="none" strike="noStrike" cap="none" normalizeH="0" baseline="0" dirty="0" err="1">
                <a:ln>
                  <a:noFill/>
                </a:ln>
                <a:solidFill>
                  <a:schemeClr val="tx1"/>
                </a:solidFill>
                <a:effectLst/>
                <a:latin typeface="Arial" panose="020B0604020202020204" pitchFamily="34" charset="0"/>
              </a:rPr>
              <a:t>nhắn</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Gửi</a:t>
            </a:r>
            <a:r>
              <a:rPr kumimoji="0" lang="en-US" altLang="en-US" sz="1800" b="0" i="0" u="none" strike="noStrike" cap="none" normalizeH="0" baseline="0" dirty="0">
                <a:ln>
                  <a:noFill/>
                </a:ln>
                <a:solidFill>
                  <a:schemeClr val="tx1"/>
                </a:solidFill>
                <a:effectLst/>
                <a:latin typeface="Arial" panose="020B0604020202020204" pitchFamily="34" charset="0"/>
              </a:rPr>
              <a:t> email </a:t>
            </a:r>
            <a:r>
              <a:rPr kumimoji="0" lang="en-US" altLang="en-US" sz="1800" b="0" i="0" u="none" strike="noStrike" cap="none" normalizeH="0" baseline="0" dirty="0" err="1">
                <a:ln>
                  <a:noFill/>
                </a:ln>
                <a:solidFill>
                  <a:schemeClr val="tx1"/>
                </a:solidFill>
                <a:effectLst/>
                <a:latin typeface="Arial" panose="020B0604020202020204" pitchFamily="34" charset="0"/>
              </a:rPr>
              <a:t>cảm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về</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chương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khuyến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mãi</a:t>
            </a:r>
            <a:r>
              <a:rPr kumimoji="0" lang="en-US" altLang="en-US" sz="1800" b="0" i="0" u="none" strike="noStrike" cap="none" normalizeH="0" baseline="0" dirty="0">
                <a:ln>
                  <a:noFill/>
                </a:ln>
                <a:solidFill>
                  <a:schemeClr val="tx1"/>
                </a:solidFill>
                <a:effectLst/>
                <a:latin typeface="Arial" panose="020B0604020202020204" pitchFamily="34" charset="0"/>
              </a:rPr>
              <a:t> hay </a:t>
            </a:r>
            <a:r>
              <a:rPr kumimoji="0" lang="en-US" altLang="en-US" sz="1800" b="0" i="0" u="none" strike="noStrike" cap="none" normalizeH="0" baseline="0" dirty="0" err="1">
                <a:ln>
                  <a:noFill/>
                </a:ln>
                <a:solidFill>
                  <a:schemeClr val="tx1"/>
                </a:solidFill>
                <a:effectLst/>
                <a:latin typeface="Arial" panose="020B0604020202020204" pitchFamily="34" charset="0"/>
              </a:rPr>
              <a:t>lời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chúc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mừng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sinh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nhật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Cuộc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gọi</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Thỉnh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thoảng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gọi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thoại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xem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lòng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lắng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hồi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0243" name="Picture 3" descr="Nguồn gốc các nghi lễ chào hỏi trong giao tiếp - Sở ngoại vụ">
            <a:extLst>
              <a:ext uri="{FF2B5EF4-FFF2-40B4-BE49-F238E27FC236}">
                <a16:creationId xmlns:a16="http://schemas.microsoft.com/office/drawing/2014/main" id="{CCE87BFF-50EE-534E-5ACB-406E12DAE02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4091" b="92121" l="854" r="91341">
                        <a14:foregroundMark x1="4756" y1="13636" x2="4756" y2="13636"/>
                        <a14:foregroundMark x1="5122" y1="18485" x2="5122" y2="18485"/>
                        <a14:foregroundMark x1="854" y1="24091" x2="854" y2="24091"/>
                        <a14:foregroundMark x1="11951" y1="5909" x2="11951" y2="5909"/>
                        <a14:foregroundMark x1="15122" y1="13788" x2="15122" y2="13788"/>
                        <a14:foregroundMark x1="91829" y1="66515" x2="91829" y2="66515"/>
                        <a14:foregroundMark x1="70854" y1="49848" x2="70854" y2="49848"/>
                        <a14:foregroundMark x1="23293" y1="90606" x2="23293" y2="90606"/>
                        <a14:foregroundMark x1="69268" y1="91818" x2="69268" y2="91818"/>
                        <a14:foregroundMark x1="37073" y1="55455" x2="37073" y2="55455"/>
                        <a14:foregroundMark x1="82561" y1="4091" x2="82561" y2="4091"/>
                        <a14:foregroundMark x1="31585" y1="92121" x2="31585" y2="92121"/>
                      </a14:backgroundRemoval>
                    </a14:imgEffect>
                  </a14:imgLayer>
                </a14:imgProps>
              </a:ext>
              <a:ext uri="{28A0092B-C50C-407E-A947-70E740481C1C}">
                <a14:useLocalDpi xmlns:a14="http://schemas.microsoft.com/office/drawing/2010/main" val="0"/>
              </a:ext>
            </a:extLst>
          </a:blip>
          <a:srcRect/>
          <a:stretch>
            <a:fillRect/>
          </a:stretch>
        </p:blipFill>
        <p:spPr bwMode="auto">
          <a:xfrm>
            <a:off x="8654303" y="1876097"/>
            <a:ext cx="2941816" cy="236780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7BFFD4A-ADF9-B8D1-097C-A2479643302E}"/>
              </a:ext>
            </a:extLst>
          </p:cNvPr>
          <p:cNvSpPr/>
          <p:nvPr/>
        </p:nvSpPr>
        <p:spPr>
          <a:xfrm>
            <a:off x="2711823" y="5093469"/>
            <a:ext cx="7319683" cy="954107"/>
          </a:xfrm>
          <a:prstGeom prst="rect">
            <a:avLst/>
          </a:prstGeom>
          <a:noFill/>
        </p:spPr>
        <p:txBody>
          <a:bodyPr wrap="square" lIns="91440" tIns="45720" rIns="91440" bIns="45720">
            <a:spAutoFit/>
          </a:bodyPr>
          <a:lstStyle/>
          <a:p>
            <a:pPr algn="ctr"/>
            <a:r>
              <a:rPr lang="en-US" sz="2800" b="1" i="1" cap="none" spc="0" dirty="0">
                <a:ln w="0"/>
                <a:solidFill>
                  <a:srgbClr val="7030A0"/>
                </a:solidFill>
                <a:effectLst>
                  <a:outerShdw blurRad="38100" dist="19050" dir="2700000" algn="tl" rotWithShape="0">
                    <a:schemeClr val="dk1">
                      <a:alpha val="40000"/>
                    </a:schemeClr>
                  </a:outerShdw>
                </a:effectLst>
              </a:rPr>
              <a:t>“</a:t>
            </a:r>
            <a:r>
              <a:rPr lang="en-US" sz="2800" b="1" i="1" cap="none" spc="0" dirty="0" err="1">
                <a:ln w="0"/>
                <a:solidFill>
                  <a:srgbClr val="7030A0"/>
                </a:solidFill>
                <a:effectLst>
                  <a:outerShdw blurRad="38100" dist="19050" dir="2700000" algn="tl" rotWithShape="0">
                    <a:schemeClr val="dk1">
                      <a:alpha val="40000"/>
                    </a:schemeClr>
                  </a:outerShdw>
                </a:effectLst>
              </a:rPr>
              <a:t>Đường</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không</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đi</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đường</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đầy</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cỏ</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dại</a:t>
            </a:r>
            <a:r>
              <a:rPr lang="en-US" sz="2800" b="1" i="1" cap="none" spc="0" dirty="0">
                <a:ln w="0"/>
                <a:solidFill>
                  <a:srgbClr val="7030A0"/>
                </a:solidFill>
                <a:effectLst>
                  <a:outerShdw blurRad="38100" dist="19050" dir="2700000" algn="tl" rotWithShape="0">
                    <a:schemeClr val="dk1">
                      <a:alpha val="40000"/>
                    </a:schemeClr>
                  </a:outerShdw>
                </a:effectLst>
              </a:rPr>
              <a:t>, </a:t>
            </a:r>
          </a:p>
          <a:p>
            <a:pPr algn="ctr"/>
            <a:r>
              <a:rPr lang="en-US" sz="2800" b="1" i="1" cap="none" spc="0" dirty="0" err="1">
                <a:ln w="0"/>
                <a:solidFill>
                  <a:srgbClr val="7030A0"/>
                </a:solidFill>
                <a:effectLst>
                  <a:outerShdw blurRad="38100" dist="19050" dir="2700000" algn="tl" rotWithShape="0">
                    <a:schemeClr val="dk1">
                      <a:alpha val="40000"/>
                    </a:schemeClr>
                  </a:outerShdw>
                </a:effectLst>
              </a:rPr>
              <a:t>người</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không</a:t>
            </a:r>
            <a:r>
              <a:rPr lang="en-US" sz="2800" b="1" i="1" cap="none" spc="0" dirty="0">
                <a:ln w="0"/>
                <a:solidFill>
                  <a:srgbClr val="7030A0"/>
                </a:solidFill>
                <a:effectLst>
                  <a:outerShdw blurRad="38100" dist="19050" dir="2700000" algn="tl" rotWithShape="0">
                    <a:schemeClr val="dk1">
                      <a:alpha val="40000"/>
                    </a:schemeClr>
                  </a:outerShdw>
                </a:effectLst>
              </a:rPr>
              <a:t> qua </a:t>
            </a:r>
            <a:r>
              <a:rPr lang="en-US" sz="2800" b="1" i="1" cap="none" spc="0" dirty="0" err="1">
                <a:ln w="0"/>
                <a:solidFill>
                  <a:srgbClr val="7030A0"/>
                </a:solidFill>
                <a:effectLst>
                  <a:outerShdw blurRad="38100" dist="19050" dir="2700000" algn="tl" rotWithShape="0">
                    <a:schemeClr val="dk1">
                      <a:alpha val="40000"/>
                    </a:schemeClr>
                  </a:outerShdw>
                </a:effectLst>
              </a:rPr>
              <a:t>lại</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người</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thành</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người</a:t>
            </a:r>
            <a:r>
              <a:rPr lang="en-US" sz="2800" b="1" i="1" cap="none" spc="0" dirty="0">
                <a:ln w="0"/>
                <a:solidFill>
                  <a:srgbClr val="7030A0"/>
                </a:solidFill>
                <a:effectLst>
                  <a:outerShdw blurRad="38100" dist="19050" dir="2700000" algn="tl" rotWithShape="0">
                    <a:schemeClr val="dk1">
                      <a:alpha val="40000"/>
                    </a:schemeClr>
                  </a:outerShdw>
                </a:effectLst>
              </a:rPr>
              <a:t> </a:t>
            </a:r>
            <a:r>
              <a:rPr lang="en-US" sz="2800" b="1" i="1" cap="none" spc="0" dirty="0" err="1">
                <a:ln w="0"/>
                <a:solidFill>
                  <a:srgbClr val="7030A0"/>
                </a:solidFill>
                <a:effectLst>
                  <a:outerShdw blurRad="38100" dist="19050" dir="2700000" algn="tl" rotWithShape="0">
                    <a:schemeClr val="dk1">
                      <a:alpha val="40000"/>
                    </a:schemeClr>
                  </a:outerShdw>
                </a:effectLst>
              </a:rPr>
              <a:t>dưng</a:t>
            </a:r>
            <a:r>
              <a:rPr lang="en-US" sz="2800" b="1" i="1" cap="none" spc="0" dirty="0">
                <a:ln w="0"/>
                <a:solidFill>
                  <a:srgbClr val="7030A0"/>
                </a:solidFill>
                <a:effectLst>
                  <a:outerShdw blurRad="38100" dist="19050" dir="2700000" algn="tl" rotWithShape="0">
                    <a:schemeClr val="dk1">
                      <a:alpha val="40000"/>
                    </a:schemeClr>
                  </a:outerShdw>
                </a:effectLst>
              </a:rPr>
              <a:t>”</a:t>
            </a:r>
          </a:p>
        </p:txBody>
      </p:sp>
    </p:spTree>
    <p:extLst>
      <p:ext uri="{BB962C8B-B14F-4D97-AF65-F5344CB8AC3E}">
        <p14:creationId xmlns:p14="http://schemas.microsoft.com/office/powerpoint/2010/main" val="83076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wipe(down)">
                                      <p:cBhvr>
                                        <p:cTn id="25" dur="580">
                                          <p:stCondLst>
                                            <p:cond delay="0"/>
                                          </p:stCondLst>
                                        </p:cTn>
                                        <p:tgtEl>
                                          <p:spTgt spid="4">
                                            <p:txEl>
                                              <p:pRg st="1" end="1"/>
                                            </p:txEl>
                                          </p:spTgt>
                                        </p:tgtEl>
                                      </p:cBhvr>
                                    </p:animEffect>
                                    <p:anim calcmode="lin" valueType="num">
                                      <p:cBhvr>
                                        <p:cTn id="26"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xEl>
                                              <p:pRg st="1" end="1"/>
                                            </p:txEl>
                                          </p:spTgt>
                                        </p:tgtEl>
                                      </p:cBhvr>
                                      <p:to x="100000" y="60000"/>
                                    </p:animScale>
                                    <p:animScale>
                                      <p:cBhvr>
                                        <p:cTn id="32" dur="166" decel="50000">
                                          <p:stCondLst>
                                            <p:cond delay="676"/>
                                          </p:stCondLst>
                                        </p:cTn>
                                        <p:tgtEl>
                                          <p:spTgt spid="4">
                                            <p:txEl>
                                              <p:pRg st="1" end="1"/>
                                            </p:txEl>
                                          </p:spTgt>
                                        </p:tgtEl>
                                      </p:cBhvr>
                                      <p:to x="100000" y="100000"/>
                                    </p:animScale>
                                    <p:animScale>
                                      <p:cBhvr>
                                        <p:cTn id="33" dur="26">
                                          <p:stCondLst>
                                            <p:cond delay="1312"/>
                                          </p:stCondLst>
                                        </p:cTn>
                                        <p:tgtEl>
                                          <p:spTgt spid="4">
                                            <p:txEl>
                                              <p:pRg st="1" end="1"/>
                                            </p:txEl>
                                          </p:spTgt>
                                        </p:tgtEl>
                                      </p:cBhvr>
                                      <p:to x="100000" y="80000"/>
                                    </p:animScale>
                                    <p:animScale>
                                      <p:cBhvr>
                                        <p:cTn id="34" dur="166" decel="50000">
                                          <p:stCondLst>
                                            <p:cond delay="1338"/>
                                          </p:stCondLst>
                                        </p:cTn>
                                        <p:tgtEl>
                                          <p:spTgt spid="4">
                                            <p:txEl>
                                              <p:pRg st="1" end="1"/>
                                            </p:txEl>
                                          </p:spTgt>
                                        </p:tgtEl>
                                      </p:cBhvr>
                                      <p:to x="100000" y="100000"/>
                                    </p:animScale>
                                    <p:animScale>
                                      <p:cBhvr>
                                        <p:cTn id="35" dur="26">
                                          <p:stCondLst>
                                            <p:cond delay="1642"/>
                                          </p:stCondLst>
                                        </p:cTn>
                                        <p:tgtEl>
                                          <p:spTgt spid="4">
                                            <p:txEl>
                                              <p:pRg st="1" end="1"/>
                                            </p:txEl>
                                          </p:spTgt>
                                        </p:tgtEl>
                                      </p:cBhvr>
                                      <p:to x="100000" y="90000"/>
                                    </p:animScale>
                                    <p:animScale>
                                      <p:cBhvr>
                                        <p:cTn id="36" dur="166" decel="50000">
                                          <p:stCondLst>
                                            <p:cond delay="1668"/>
                                          </p:stCondLst>
                                        </p:cTn>
                                        <p:tgtEl>
                                          <p:spTgt spid="4">
                                            <p:txEl>
                                              <p:pRg st="1" end="1"/>
                                            </p:txEl>
                                          </p:spTgt>
                                        </p:tgtEl>
                                      </p:cBhvr>
                                      <p:to x="100000" y="100000"/>
                                    </p:animScale>
                                    <p:animScale>
                                      <p:cBhvr>
                                        <p:cTn id="37" dur="26">
                                          <p:stCondLst>
                                            <p:cond delay="1808"/>
                                          </p:stCondLst>
                                        </p:cTn>
                                        <p:tgtEl>
                                          <p:spTgt spid="4">
                                            <p:txEl>
                                              <p:pRg st="1" end="1"/>
                                            </p:txEl>
                                          </p:spTgt>
                                        </p:tgtEl>
                                      </p:cBhvr>
                                      <p:to x="100000" y="95000"/>
                                    </p:animScale>
                                    <p:animScale>
                                      <p:cBhvr>
                                        <p:cTn id="38" dur="166" decel="50000">
                                          <p:stCondLst>
                                            <p:cond delay="1834"/>
                                          </p:stCondLst>
                                        </p:cTn>
                                        <p:tgtEl>
                                          <p:spTgt spid="4">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animEffect transition="in" filter="wipe(down)">
                                      <p:cBhvr>
                                        <p:cTn id="43" dur="580">
                                          <p:stCondLst>
                                            <p:cond delay="0"/>
                                          </p:stCondLst>
                                        </p:cTn>
                                        <p:tgtEl>
                                          <p:spTgt spid="4">
                                            <p:txEl>
                                              <p:pRg st="2" end="2"/>
                                            </p:txEl>
                                          </p:spTgt>
                                        </p:tgtEl>
                                      </p:cBhvr>
                                    </p:animEffect>
                                    <p:anim calcmode="lin" valueType="num">
                                      <p:cBhvr>
                                        <p:cTn id="44"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4">
                                            <p:txEl>
                                              <p:pRg st="2" end="2"/>
                                            </p:txEl>
                                          </p:spTgt>
                                        </p:tgtEl>
                                      </p:cBhvr>
                                      <p:to x="100000" y="60000"/>
                                    </p:animScale>
                                    <p:animScale>
                                      <p:cBhvr>
                                        <p:cTn id="50" dur="166" decel="50000">
                                          <p:stCondLst>
                                            <p:cond delay="676"/>
                                          </p:stCondLst>
                                        </p:cTn>
                                        <p:tgtEl>
                                          <p:spTgt spid="4">
                                            <p:txEl>
                                              <p:pRg st="2" end="2"/>
                                            </p:txEl>
                                          </p:spTgt>
                                        </p:tgtEl>
                                      </p:cBhvr>
                                      <p:to x="100000" y="100000"/>
                                    </p:animScale>
                                    <p:animScale>
                                      <p:cBhvr>
                                        <p:cTn id="51" dur="26">
                                          <p:stCondLst>
                                            <p:cond delay="1312"/>
                                          </p:stCondLst>
                                        </p:cTn>
                                        <p:tgtEl>
                                          <p:spTgt spid="4">
                                            <p:txEl>
                                              <p:pRg st="2" end="2"/>
                                            </p:txEl>
                                          </p:spTgt>
                                        </p:tgtEl>
                                      </p:cBhvr>
                                      <p:to x="100000" y="80000"/>
                                    </p:animScale>
                                    <p:animScale>
                                      <p:cBhvr>
                                        <p:cTn id="52" dur="166" decel="50000">
                                          <p:stCondLst>
                                            <p:cond delay="1338"/>
                                          </p:stCondLst>
                                        </p:cTn>
                                        <p:tgtEl>
                                          <p:spTgt spid="4">
                                            <p:txEl>
                                              <p:pRg st="2" end="2"/>
                                            </p:txEl>
                                          </p:spTgt>
                                        </p:tgtEl>
                                      </p:cBhvr>
                                      <p:to x="100000" y="100000"/>
                                    </p:animScale>
                                    <p:animScale>
                                      <p:cBhvr>
                                        <p:cTn id="53" dur="26">
                                          <p:stCondLst>
                                            <p:cond delay="1642"/>
                                          </p:stCondLst>
                                        </p:cTn>
                                        <p:tgtEl>
                                          <p:spTgt spid="4">
                                            <p:txEl>
                                              <p:pRg st="2" end="2"/>
                                            </p:txEl>
                                          </p:spTgt>
                                        </p:tgtEl>
                                      </p:cBhvr>
                                      <p:to x="100000" y="90000"/>
                                    </p:animScale>
                                    <p:animScale>
                                      <p:cBhvr>
                                        <p:cTn id="54" dur="166" decel="50000">
                                          <p:stCondLst>
                                            <p:cond delay="1668"/>
                                          </p:stCondLst>
                                        </p:cTn>
                                        <p:tgtEl>
                                          <p:spTgt spid="4">
                                            <p:txEl>
                                              <p:pRg st="2" end="2"/>
                                            </p:txEl>
                                          </p:spTgt>
                                        </p:tgtEl>
                                      </p:cBhvr>
                                      <p:to x="100000" y="100000"/>
                                    </p:animScale>
                                    <p:animScale>
                                      <p:cBhvr>
                                        <p:cTn id="55" dur="26">
                                          <p:stCondLst>
                                            <p:cond delay="1808"/>
                                          </p:stCondLst>
                                        </p:cTn>
                                        <p:tgtEl>
                                          <p:spTgt spid="4">
                                            <p:txEl>
                                              <p:pRg st="2" end="2"/>
                                            </p:txEl>
                                          </p:spTgt>
                                        </p:tgtEl>
                                      </p:cBhvr>
                                      <p:to x="100000" y="95000"/>
                                    </p:animScale>
                                    <p:animScale>
                                      <p:cBhvr>
                                        <p:cTn id="56" dur="166" decel="50000">
                                          <p:stCondLst>
                                            <p:cond delay="1834"/>
                                          </p:stCondLst>
                                        </p:cTn>
                                        <p:tgtEl>
                                          <p:spTgt spid="4">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p:cTn id="61" dur="1000" fill="hold"/>
                                        <p:tgtEl>
                                          <p:spTgt spid="5"/>
                                        </p:tgtEl>
                                        <p:attrNameLst>
                                          <p:attrName>ppt_w</p:attrName>
                                        </p:attrNameLst>
                                      </p:cBhvr>
                                      <p:tavLst>
                                        <p:tav tm="0">
                                          <p:val>
                                            <p:fltVal val="0"/>
                                          </p:val>
                                        </p:tav>
                                        <p:tav tm="100000">
                                          <p:val>
                                            <p:strVal val="#ppt_w"/>
                                          </p:val>
                                        </p:tav>
                                      </p:tavLst>
                                    </p:anim>
                                    <p:anim calcmode="lin" valueType="num">
                                      <p:cBhvr>
                                        <p:cTn id="62" dur="1000" fill="hold"/>
                                        <p:tgtEl>
                                          <p:spTgt spid="5"/>
                                        </p:tgtEl>
                                        <p:attrNameLst>
                                          <p:attrName>ppt_h</p:attrName>
                                        </p:attrNameLst>
                                      </p:cBhvr>
                                      <p:tavLst>
                                        <p:tav tm="0">
                                          <p:val>
                                            <p:fltVal val="0"/>
                                          </p:val>
                                        </p:tav>
                                        <p:tav tm="100000">
                                          <p:val>
                                            <p:strVal val="#ppt_h"/>
                                          </p:val>
                                        </p:tav>
                                      </p:tavLst>
                                    </p:anim>
                                    <p:anim calcmode="lin" valueType="num">
                                      <p:cBhvr>
                                        <p:cTn id="63" dur="1000" fill="hold"/>
                                        <p:tgtEl>
                                          <p:spTgt spid="5"/>
                                        </p:tgtEl>
                                        <p:attrNameLst>
                                          <p:attrName>style.rotation</p:attrName>
                                        </p:attrNameLst>
                                      </p:cBhvr>
                                      <p:tavLst>
                                        <p:tav tm="0">
                                          <p:val>
                                            <p:fltVal val="90"/>
                                          </p:val>
                                        </p:tav>
                                        <p:tav tm="100000">
                                          <p:val>
                                            <p:fltVal val="0"/>
                                          </p:val>
                                        </p:tav>
                                      </p:tavLst>
                                    </p:anim>
                                    <p:animEffect transition="in" filter="fade">
                                      <p:cBhvr>
                                        <p:cTn id="6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38DA-D2AC-5523-02DD-14D8ACDB3489}"/>
              </a:ext>
            </a:extLst>
          </p:cNvPr>
          <p:cNvSpPr>
            <a:spLocks noGrp="1"/>
          </p:cNvSpPr>
          <p:nvPr>
            <p:ph type="title"/>
          </p:nvPr>
        </p:nvSpPr>
        <p:spPr/>
        <p:txBody>
          <a:bodyPr/>
          <a:lstStyle/>
          <a:p>
            <a:r>
              <a:rPr lang="pt-BR" b="1" dirty="0">
                <a:solidFill>
                  <a:srgbClr val="002060"/>
                </a:solidFill>
                <a:latin typeface="Bahnschrift" panose="020B0502040204020203" pitchFamily="34" charset="0"/>
              </a:rPr>
              <a:t>2. CHĂM SÓC CÁ NHÂN HÓA</a:t>
            </a:r>
            <a:endParaRPr lang="en-US" b="1" dirty="0">
              <a:solidFill>
                <a:srgbClr val="002060"/>
              </a:solidFill>
              <a:latin typeface="Bahnschrift" panose="020B0502040204020203" pitchFamily="34" charset="0"/>
            </a:endParaRPr>
          </a:p>
        </p:txBody>
      </p:sp>
      <p:sp>
        <p:nvSpPr>
          <p:cNvPr id="4" name="Rectangle 1">
            <a:extLst>
              <a:ext uri="{FF2B5EF4-FFF2-40B4-BE49-F238E27FC236}">
                <a16:creationId xmlns:a16="http://schemas.microsoft.com/office/drawing/2014/main" id="{0025CF6B-0727-97C2-9399-7918A41BA154}"/>
              </a:ext>
            </a:extLst>
          </p:cNvPr>
          <p:cNvSpPr>
            <a:spLocks noGrp="1" noChangeArrowheads="1"/>
          </p:cNvSpPr>
          <p:nvPr>
            <p:ph idx="1"/>
          </p:nvPr>
        </p:nvSpPr>
        <p:spPr bwMode="auto">
          <a:xfrm>
            <a:off x="1089211" y="2008140"/>
            <a:ext cx="7194176"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Dịch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vụ</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cá</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nhân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hóa</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Đề</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xuất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hoặc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dựa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mua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sở</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Thư</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tay</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Gửi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tay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hoặc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thiệp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trọng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ủng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hộ</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họ</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800" dirty="0">
                <a:latin typeface="Arial" panose="020B0604020202020204" pitchFamily="34" charset="0"/>
              </a:rPr>
              <a:t> </a:t>
            </a:r>
            <a:r>
              <a:rPr lang="en-US" altLang="en-US" sz="1800" b="1" dirty="0" err="1">
                <a:latin typeface="Arial" panose="020B0604020202020204" pitchFamily="34" charset="0"/>
              </a:rPr>
              <a:t>Dịch</a:t>
            </a:r>
            <a:r>
              <a:rPr lang="en-US" altLang="en-US" sz="1800" b="1" dirty="0">
                <a:latin typeface="Arial" panose="020B0604020202020204" pitchFamily="34" charset="0"/>
              </a:rPr>
              <a:t> </a:t>
            </a:r>
            <a:r>
              <a:rPr lang="en-US" altLang="en-US" sz="1800" b="1" dirty="0" err="1">
                <a:latin typeface="Arial" panose="020B0604020202020204" pitchFamily="34" charset="0"/>
              </a:rPr>
              <a:t>vụ</a:t>
            </a:r>
            <a:r>
              <a:rPr lang="en-US" altLang="en-US" sz="1800" b="1" dirty="0">
                <a:latin typeface="Arial" panose="020B0604020202020204" pitchFamily="34" charset="0"/>
              </a:rPr>
              <a:t> </a:t>
            </a:r>
            <a:r>
              <a:rPr lang="en-US" altLang="en-US" sz="1800" b="1" dirty="0" err="1">
                <a:latin typeface="Arial" panose="020B0604020202020204" pitchFamily="34" charset="0"/>
              </a:rPr>
              <a:t>riêng</a:t>
            </a:r>
            <a:r>
              <a:rPr lang="en-US" altLang="en-US" sz="1800" b="1" dirty="0">
                <a:latin typeface="Arial" panose="020B0604020202020204" pitchFamily="34" charset="0"/>
              </a:rPr>
              <a:t> </a:t>
            </a:r>
            <a:r>
              <a:rPr lang="en-US" altLang="en-US" sz="1800" b="1" dirty="0" err="1">
                <a:latin typeface="Arial" panose="020B0604020202020204" pitchFamily="34" charset="0"/>
              </a:rPr>
              <a:t>biêt</a:t>
            </a:r>
            <a:r>
              <a:rPr lang="en-US" altLang="en-US" sz="1800" b="1" dirty="0">
                <a:latin typeface="Arial" panose="020B0604020202020204" pitchFamily="34" charset="0"/>
              </a:rPr>
              <a:t>: </a:t>
            </a:r>
            <a:r>
              <a:rPr lang="en-US" altLang="en-US" sz="1800" dirty="0" err="1">
                <a:latin typeface="Arial" panose="020B0604020202020204" pitchFamily="34" charset="0"/>
              </a:rPr>
              <a:t>Tạo</a:t>
            </a:r>
            <a:r>
              <a:rPr lang="en-US" altLang="en-US" sz="1800" dirty="0">
                <a:latin typeface="Arial" panose="020B0604020202020204" pitchFamily="34" charset="0"/>
              </a:rPr>
              <a:t> </a:t>
            </a:r>
            <a:r>
              <a:rPr lang="en-US" altLang="en-US" sz="1800" dirty="0" err="1">
                <a:latin typeface="Arial" panose="020B0604020202020204" pitchFamily="34" charset="0"/>
              </a:rPr>
              <a:t>một</a:t>
            </a:r>
            <a:r>
              <a:rPr lang="en-US" altLang="en-US" sz="1800" dirty="0">
                <a:latin typeface="Arial" panose="020B0604020202020204" pitchFamily="34" charset="0"/>
              </a:rPr>
              <a:t> </a:t>
            </a:r>
            <a:r>
              <a:rPr lang="en-US" altLang="en-US" sz="1800" dirty="0" err="1">
                <a:latin typeface="Arial" panose="020B0604020202020204" pitchFamily="34" charset="0"/>
              </a:rPr>
              <a:t>dịch</a:t>
            </a:r>
            <a:r>
              <a:rPr lang="en-US" altLang="en-US" sz="1800" dirty="0">
                <a:latin typeface="Arial" panose="020B0604020202020204" pitchFamily="34" charset="0"/>
              </a:rPr>
              <a:t> </a:t>
            </a:r>
            <a:r>
              <a:rPr lang="en-US" altLang="en-US" sz="1800" dirty="0" err="1">
                <a:latin typeface="Arial" panose="020B0604020202020204" pitchFamily="34" charset="0"/>
              </a:rPr>
              <a:t>vụ</a:t>
            </a:r>
            <a:r>
              <a:rPr lang="en-US" altLang="en-US" sz="1800" dirty="0">
                <a:latin typeface="Arial" panose="020B0604020202020204" pitchFamily="34" charset="0"/>
              </a:rPr>
              <a:t> </a:t>
            </a:r>
            <a:r>
              <a:rPr lang="en-US" altLang="en-US" sz="1800" dirty="0" err="1">
                <a:latin typeface="Arial" panose="020B0604020202020204" pitchFamily="34" charset="0"/>
              </a:rPr>
              <a:t>cá</a:t>
            </a:r>
            <a:r>
              <a:rPr lang="en-US" altLang="en-US" sz="1800" dirty="0">
                <a:latin typeface="Arial" panose="020B0604020202020204" pitchFamily="34" charset="0"/>
              </a:rPr>
              <a:t> </a:t>
            </a:r>
            <a:r>
              <a:rPr lang="en-US" altLang="en-US" sz="1800" dirty="0" err="1">
                <a:latin typeface="Arial" panose="020B0604020202020204" pitchFamily="34" charset="0"/>
              </a:rPr>
              <a:t>nhân</a:t>
            </a:r>
            <a:r>
              <a:rPr lang="en-US" altLang="en-US" sz="1800" dirty="0">
                <a:latin typeface="Arial" panose="020B0604020202020204" pitchFamily="34" charset="0"/>
              </a:rPr>
              <a:t> </a:t>
            </a:r>
            <a:r>
              <a:rPr lang="en-US" altLang="en-US" sz="1800" dirty="0" err="1">
                <a:latin typeface="Arial" panose="020B0604020202020204" pitchFamily="34" charset="0"/>
              </a:rPr>
              <a:t>riêng</a:t>
            </a:r>
            <a:r>
              <a:rPr lang="en-US" altLang="en-US" sz="1800" dirty="0">
                <a:latin typeface="Arial" panose="020B0604020202020204" pitchFamily="34" charset="0"/>
              </a:rPr>
              <a:t> </a:t>
            </a:r>
            <a:r>
              <a:rPr lang="en-US" altLang="en-US" sz="1800" dirty="0" err="1">
                <a:latin typeface="Arial" panose="020B0604020202020204" pitchFamily="34" charset="0"/>
              </a:rPr>
              <a:t>biệt</a:t>
            </a:r>
            <a:r>
              <a:rPr lang="en-US" altLang="en-US" sz="1800" dirty="0">
                <a:latin typeface="Arial" panose="020B0604020202020204" pitchFamily="34" charset="0"/>
              </a:rPr>
              <a:t> </a:t>
            </a:r>
            <a:r>
              <a:rPr lang="en-US" altLang="en-US" sz="1800" dirty="0" err="1">
                <a:latin typeface="Arial" panose="020B0604020202020204" pitchFamily="34" charset="0"/>
              </a:rPr>
              <a:t>chỉ</a:t>
            </a:r>
            <a:r>
              <a:rPr lang="en-US" altLang="en-US" sz="1800" dirty="0">
                <a:latin typeface="Arial" panose="020B0604020202020204" pitchFamily="34" charset="0"/>
              </a:rPr>
              <a:t> </a:t>
            </a:r>
            <a:r>
              <a:rPr lang="en-US" altLang="en-US" sz="1800" dirty="0" err="1">
                <a:latin typeface="Arial" panose="020B0604020202020204" pitchFamily="34" charset="0"/>
              </a:rPr>
              <a:t>dành</a:t>
            </a:r>
            <a:r>
              <a:rPr lang="en-US" altLang="en-US" sz="1800" dirty="0">
                <a:latin typeface="Arial" panose="020B0604020202020204" pitchFamily="34" charset="0"/>
              </a:rPr>
              <a:t> </a:t>
            </a:r>
            <a:r>
              <a:rPr lang="en-US" altLang="en-US" sz="1800" dirty="0" err="1">
                <a:latin typeface="Arial" panose="020B0604020202020204" pitchFamily="34" charset="0"/>
              </a:rPr>
              <a:t>riêng</a:t>
            </a:r>
            <a:r>
              <a:rPr lang="en-US" altLang="en-US" sz="1800" dirty="0">
                <a:latin typeface="Arial" panose="020B0604020202020204" pitchFamily="34" charset="0"/>
              </a:rPr>
              <a:t> </a:t>
            </a:r>
            <a:r>
              <a:rPr lang="en-US" altLang="en-US" sz="1800" dirty="0" err="1">
                <a:latin typeface="Arial" panose="020B0604020202020204" pitchFamily="34" charset="0"/>
              </a:rPr>
              <a:t>cho</a:t>
            </a:r>
            <a:r>
              <a:rPr lang="en-US" altLang="en-US" sz="1800" dirty="0">
                <a:latin typeface="Arial" panose="020B0604020202020204" pitchFamily="34" charset="0"/>
              </a:rPr>
              <a:t> </a:t>
            </a:r>
            <a:r>
              <a:rPr lang="en-US" altLang="en-US" sz="1800" dirty="0" err="1">
                <a:latin typeface="Arial" panose="020B0604020202020204" pitchFamily="34" charset="0"/>
              </a:rPr>
              <a:t>đối</a:t>
            </a:r>
            <a:r>
              <a:rPr lang="en-US" altLang="en-US" sz="1800" dirty="0">
                <a:latin typeface="Arial" panose="020B0604020202020204" pitchFamily="34" charset="0"/>
              </a:rPr>
              <a:t> </a:t>
            </a:r>
            <a:r>
              <a:rPr lang="en-US" altLang="en-US" sz="1800" dirty="0" err="1">
                <a:latin typeface="Arial" panose="020B0604020202020204" pitchFamily="34" charset="0"/>
              </a:rPr>
              <a:t>tượng</a:t>
            </a:r>
            <a:r>
              <a:rPr lang="en-US" altLang="en-US" sz="1800" dirty="0">
                <a:latin typeface="Arial" panose="020B0604020202020204" pitchFamily="34" charset="0"/>
              </a:rPr>
              <a:t> </a:t>
            </a:r>
            <a:r>
              <a:rPr lang="en-US" altLang="en-US" sz="1800" dirty="0" err="1">
                <a:latin typeface="Arial" panose="020B0604020202020204" pitchFamily="34" charset="0"/>
              </a:rPr>
              <a:t>hoặc</a:t>
            </a:r>
            <a:r>
              <a:rPr lang="en-US" altLang="en-US" sz="1800" dirty="0">
                <a:latin typeface="Arial" panose="020B0604020202020204" pitchFamily="34" charset="0"/>
              </a:rPr>
              <a:t> </a:t>
            </a:r>
            <a:r>
              <a:rPr lang="en-US" altLang="en-US" sz="1800" dirty="0" err="1">
                <a:latin typeface="Arial" panose="020B0604020202020204" pitchFamily="34" charset="0"/>
              </a:rPr>
              <a:t>gia</a:t>
            </a:r>
            <a:r>
              <a:rPr lang="en-US" altLang="en-US" sz="1800" dirty="0">
                <a:latin typeface="Arial" panose="020B0604020202020204" pitchFamily="34" charset="0"/>
              </a:rPr>
              <a:t> </a:t>
            </a:r>
            <a:r>
              <a:rPr lang="en-US" altLang="en-US" sz="1800" dirty="0" err="1">
                <a:latin typeface="Arial" panose="020B0604020202020204" pitchFamily="34" charset="0"/>
              </a:rPr>
              <a:t>đình</a:t>
            </a:r>
            <a:r>
              <a:rPr lang="en-US" altLang="en-US" sz="1800" dirty="0">
                <a:latin typeface="Arial" panose="020B0604020202020204" pitchFamily="34" charset="0"/>
              </a:rPr>
              <a:t> </a:t>
            </a:r>
            <a:r>
              <a:rPr lang="en-US" altLang="en-US" sz="1800" dirty="0" err="1">
                <a:latin typeface="Arial" panose="020B0604020202020204" pitchFamily="34" charset="0"/>
              </a:rPr>
              <a:t>của</a:t>
            </a:r>
            <a:r>
              <a:rPr lang="en-US" altLang="en-US" sz="1800" dirty="0">
                <a:latin typeface="Arial" panose="020B0604020202020204" pitchFamily="34" charset="0"/>
              </a:rPr>
              <a:t> </a:t>
            </a:r>
            <a:r>
              <a:rPr lang="en-US" altLang="en-US" sz="1800" dirty="0" err="1">
                <a:latin typeface="Arial" panose="020B0604020202020204" pitchFamily="34" charset="0"/>
              </a:rPr>
              <a:t>khách</a:t>
            </a:r>
            <a:r>
              <a:rPr lang="en-US" altLang="en-US" sz="1800" dirty="0">
                <a:latin typeface="Arial" panose="020B0604020202020204" pitchFamily="34" charset="0"/>
              </a:rPr>
              <a:t> </a:t>
            </a:r>
            <a:r>
              <a:rPr lang="en-US" altLang="en-US" sz="1800" dirty="0" err="1">
                <a:latin typeface="Arial" panose="020B0604020202020204" pitchFamily="34" charset="0"/>
              </a:rPr>
              <a:t>hàng</a:t>
            </a:r>
            <a:r>
              <a:rPr lang="en-US" altLang="en-US" sz="1800" dirty="0">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19F0BE05-F7D0-836D-2BC9-ACA3EC8E1284}"/>
              </a:ext>
            </a:extLst>
          </p:cNvPr>
          <p:cNvSpPr/>
          <p:nvPr/>
        </p:nvSpPr>
        <p:spPr>
          <a:xfrm>
            <a:off x="2326341" y="5127828"/>
            <a:ext cx="8610600" cy="1077218"/>
          </a:xfrm>
          <a:prstGeom prst="rect">
            <a:avLst/>
          </a:prstGeom>
          <a:noFill/>
        </p:spPr>
        <p:txBody>
          <a:bodyPr wrap="square" lIns="91440" tIns="45720" rIns="91440" bIns="45720">
            <a:spAutoFit/>
          </a:bodyPr>
          <a:lstStyle/>
          <a:p>
            <a:pPr algn="ctr"/>
            <a:r>
              <a:rPr lang="en-US" sz="3200" b="0" i="1" cap="none" spc="0" dirty="0">
                <a:ln w="0"/>
                <a:solidFill>
                  <a:srgbClr val="7030A0"/>
                </a:solidFill>
                <a:effectLst>
                  <a:outerShdw blurRad="38100" dist="19050" dir="2700000" algn="tl" rotWithShape="0">
                    <a:schemeClr val="dk1">
                      <a:alpha val="40000"/>
                    </a:schemeClr>
                  </a:outerShdw>
                </a:effectLst>
              </a:rPr>
              <a:t>“</a:t>
            </a:r>
            <a:r>
              <a:rPr lang="en-US" sz="3200" b="0" i="1" cap="none" spc="0" dirty="0" err="1">
                <a:ln w="0"/>
                <a:solidFill>
                  <a:srgbClr val="7030A0"/>
                </a:solidFill>
                <a:effectLst>
                  <a:outerShdw blurRad="38100" dist="19050" dir="2700000" algn="tl" rotWithShape="0">
                    <a:schemeClr val="dk1">
                      <a:alpha val="40000"/>
                    </a:schemeClr>
                  </a:outerShdw>
                </a:effectLst>
              </a:rPr>
              <a:t>Tâm</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lý</a:t>
            </a:r>
            <a:r>
              <a:rPr lang="en-US" sz="3200" b="0" i="1" cap="none" spc="0" dirty="0">
                <a:ln w="0"/>
                <a:solidFill>
                  <a:srgbClr val="7030A0"/>
                </a:solidFill>
                <a:effectLst>
                  <a:outerShdw blurRad="38100" dist="19050" dir="2700000" algn="tl" rotWithShape="0">
                    <a:schemeClr val="dk1">
                      <a:alpha val="40000"/>
                    </a:schemeClr>
                  </a:outerShdw>
                </a:effectLst>
              </a:rPr>
              <a:t> con </a:t>
            </a:r>
            <a:r>
              <a:rPr lang="en-US" sz="3200" b="0" i="1" cap="none" spc="0" dirty="0" err="1">
                <a:ln w="0"/>
                <a:solidFill>
                  <a:srgbClr val="7030A0"/>
                </a:solidFill>
                <a:effectLst>
                  <a:outerShdw blurRad="38100" dist="19050" dir="2700000" algn="tl" rotWithShape="0">
                    <a:schemeClr val="dk1">
                      <a:alpha val="40000"/>
                    </a:schemeClr>
                  </a:outerShdw>
                </a:effectLst>
              </a:rPr>
              <a:t>người</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là</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ái</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kỹ</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bản</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thân</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nên</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luôn</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muốn</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mình</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được</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hạnh</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phúc</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hơn</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kẻ</a:t>
            </a:r>
            <a:r>
              <a:rPr lang="en-US" sz="3200" b="0" i="1" cap="none" spc="0" dirty="0">
                <a:ln w="0"/>
                <a:solidFill>
                  <a:srgbClr val="7030A0"/>
                </a:solidFill>
                <a:effectLst>
                  <a:outerShdw blurRad="38100" dist="19050" dir="2700000" algn="tl" rotWithShape="0">
                    <a:schemeClr val="dk1">
                      <a:alpha val="40000"/>
                    </a:schemeClr>
                  </a:outerShdw>
                </a:effectLst>
              </a:rPr>
              <a:t> </a:t>
            </a:r>
            <a:r>
              <a:rPr lang="en-US" sz="3200" b="0" i="1" cap="none" spc="0" dirty="0" err="1">
                <a:ln w="0"/>
                <a:solidFill>
                  <a:srgbClr val="7030A0"/>
                </a:solidFill>
                <a:effectLst>
                  <a:outerShdw blurRad="38100" dist="19050" dir="2700000" algn="tl" rotWithShape="0">
                    <a:schemeClr val="dk1">
                      <a:alpha val="40000"/>
                    </a:schemeClr>
                  </a:outerShdw>
                </a:effectLst>
              </a:rPr>
              <a:t>khác</a:t>
            </a:r>
            <a:r>
              <a:rPr lang="en-US" sz="3200" b="0" i="1" cap="none" spc="0" dirty="0">
                <a:ln w="0"/>
                <a:solidFill>
                  <a:srgbClr val="7030A0"/>
                </a:solidFill>
                <a:effectLst>
                  <a:outerShdw blurRad="38100" dist="19050" dir="2700000" algn="tl" rotWithShape="0">
                    <a:schemeClr val="dk1">
                      <a:alpha val="40000"/>
                    </a:schemeClr>
                  </a:outerShdw>
                </a:effectLst>
              </a:rPr>
              <a:t>”</a:t>
            </a:r>
          </a:p>
        </p:txBody>
      </p:sp>
      <p:pic>
        <p:nvPicPr>
          <p:cNvPr id="7" name="Picture 6">
            <a:extLst>
              <a:ext uri="{FF2B5EF4-FFF2-40B4-BE49-F238E27FC236}">
                <a16:creationId xmlns:a16="http://schemas.microsoft.com/office/drawing/2014/main" id="{32693C6F-38BD-E90C-D9A2-9CEEF277ED92}"/>
              </a:ext>
            </a:extLst>
          </p:cNvPr>
          <p:cNvPicPr>
            <a:picLocks noChangeAspect="1"/>
          </p:cNvPicPr>
          <p:nvPr/>
        </p:nvPicPr>
        <p:blipFill>
          <a:blip r:embed="rId2"/>
          <a:stretch>
            <a:fillRect/>
          </a:stretch>
        </p:blipFill>
        <p:spPr>
          <a:xfrm>
            <a:off x="8715935" y="2178423"/>
            <a:ext cx="3112571" cy="1945357"/>
          </a:xfrm>
          <a:prstGeom prst="rect">
            <a:avLst/>
          </a:prstGeom>
          <a:effectLst>
            <a:glow rad="228600">
              <a:schemeClr val="accent4">
                <a:satMod val="175000"/>
                <a:alpha val="40000"/>
              </a:schemeClr>
            </a:glow>
          </a:effectLst>
        </p:spPr>
      </p:pic>
    </p:spTree>
    <p:extLst>
      <p:ext uri="{BB962C8B-B14F-4D97-AF65-F5344CB8AC3E}">
        <p14:creationId xmlns:p14="http://schemas.microsoft.com/office/powerpoint/2010/main" val="357870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E3A3-5144-F7C4-88B6-0D7210C1A505}"/>
              </a:ext>
            </a:extLst>
          </p:cNvPr>
          <p:cNvSpPr>
            <a:spLocks noGrp="1"/>
          </p:cNvSpPr>
          <p:nvPr>
            <p:ph type="title"/>
          </p:nvPr>
        </p:nvSpPr>
        <p:spPr/>
        <p:txBody>
          <a:bodyPr>
            <a:normAutofit/>
          </a:bodyPr>
          <a:lstStyle/>
          <a:p>
            <a:r>
              <a:rPr lang="vi-VN" sz="3600" b="1" dirty="0">
                <a:solidFill>
                  <a:srgbClr val="002060"/>
                </a:solidFill>
                <a:latin typeface="Bahnschrift" panose="020B0502040204020203" pitchFamily="34" charset="0"/>
              </a:rPr>
              <a:t>3. CHƯƠNG TRÌNH KHÁCH HÀNG THÂN THIẾT</a:t>
            </a:r>
            <a:endParaRPr lang="en-US" sz="3600" b="1" dirty="0">
              <a:solidFill>
                <a:srgbClr val="002060"/>
              </a:solidFill>
              <a:latin typeface="Bahnschrift" panose="020B0502040204020203" pitchFamily="34" charset="0"/>
            </a:endParaRPr>
          </a:p>
        </p:txBody>
      </p:sp>
      <p:sp>
        <p:nvSpPr>
          <p:cNvPr id="4" name="Rectangle 1">
            <a:extLst>
              <a:ext uri="{FF2B5EF4-FFF2-40B4-BE49-F238E27FC236}">
                <a16:creationId xmlns:a16="http://schemas.microsoft.com/office/drawing/2014/main" id="{4FA5B9BC-BB35-A4C1-AB2D-4E6E246B05E5}"/>
              </a:ext>
            </a:extLst>
          </p:cNvPr>
          <p:cNvSpPr>
            <a:spLocks noGrp="1" noChangeArrowheads="1"/>
          </p:cNvSpPr>
          <p:nvPr>
            <p:ph idx="1"/>
          </p:nvPr>
        </p:nvSpPr>
        <p:spPr bwMode="auto">
          <a:xfrm>
            <a:off x="4899212" y="2369850"/>
            <a:ext cx="6961094"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Tích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điểm</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thưởng</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Xây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dựng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chương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điểm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mỗi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lần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mua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đổi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điểm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lấy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tặng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hoặc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giá</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Ưu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đãi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đặc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biệt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ưu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độc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quyền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dành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tặng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hoặc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miễn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phí</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2291" name="Picture 3" descr="Cá nhân hóa nội dung là gì? Lợi ích và các case study">
            <a:extLst>
              <a:ext uri="{FF2B5EF4-FFF2-40B4-BE49-F238E27FC236}">
                <a16:creationId xmlns:a16="http://schemas.microsoft.com/office/drawing/2014/main" id="{AEC74598-80EA-2FE5-418D-FEE1D1A0A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148" y="2382530"/>
            <a:ext cx="3994161" cy="2092940"/>
          </a:xfrm>
          <a:prstGeom prst="rect">
            <a:avLst/>
          </a:prstGeom>
          <a:noFill/>
          <a:effectLst>
            <a:glow rad="228600">
              <a:schemeClr val="accent6">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24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A54B-004B-DD11-5A14-45EC2F972CC2}"/>
              </a:ext>
            </a:extLst>
          </p:cNvPr>
          <p:cNvSpPr>
            <a:spLocks noGrp="1"/>
          </p:cNvSpPr>
          <p:nvPr>
            <p:ph type="title"/>
          </p:nvPr>
        </p:nvSpPr>
        <p:spPr/>
        <p:txBody>
          <a:bodyPr/>
          <a:lstStyle/>
          <a:p>
            <a:r>
              <a:rPr lang="en-US" b="1" dirty="0">
                <a:solidFill>
                  <a:srgbClr val="002060"/>
                </a:solidFill>
                <a:latin typeface="Bahnschrift" panose="020B0502040204020203" pitchFamily="34" charset="0"/>
              </a:rPr>
              <a:t>4. HỖ TRỢ CHUYÊN NGHIỆP</a:t>
            </a:r>
          </a:p>
        </p:txBody>
      </p:sp>
      <p:sp>
        <p:nvSpPr>
          <p:cNvPr id="4" name="Rectangle 1">
            <a:extLst>
              <a:ext uri="{FF2B5EF4-FFF2-40B4-BE49-F238E27FC236}">
                <a16:creationId xmlns:a16="http://schemas.microsoft.com/office/drawing/2014/main" id="{1E155590-40D4-4A14-4EA1-95267894C358}"/>
              </a:ext>
            </a:extLst>
          </p:cNvPr>
          <p:cNvSpPr>
            <a:spLocks noGrp="1" noChangeArrowheads="1"/>
          </p:cNvSpPr>
          <p:nvPr>
            <p:ph idx="1"/>
          </p:nvPr>
        </p:nvSpPr>
        <p:spPr bwMode="auto">
          <a:xfrm>
            <a:off x="927847" y="2146793"/>
            <a:ext cx="6243918"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Dịch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vụ</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hỗ</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trợ</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tận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tình</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rằng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luôn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nhận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kịp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chuyên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cần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Giải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quyết</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khiếu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nại</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khiếu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một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chóng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thỏa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đáng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giữ</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vững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niềm</a:t>
            </a:r>
            <a:r>
              <a:rPr kumimoji="0" lang="en-US" altLang="en-US" sz="1800" b="0" i="0" u="none" strike="noStrike" cap="none" normalizeH="0" baseline="0" dirty="0">
                <a:ln>
                  <a:noFill/>
                </a:ln>
                <a:solidFill>
                  <a:schemeClr val="tx1"/>
                </a:solidFill>
                <a:effectLst/>
                <a:latin typeface="Arial" panose="020B0604020202020204" pitchFamily="34" charset="0"/>
              </a:rPr>
              <a:t> tin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800" dirty="0">
                <a:latin typeface="Arial" panose="020B0604020202020204" pitchFamily="34" charset="0"/>
              </a:rPr>
              <a:t> </a:t>
            </a:r>
            <a:r>
              <a:rPr lang="en-US" altLang="en-US" sz="1800" b="1" dirty="0" err="1">
                <a:latin typeface="Arial" panose="020B0604020202020204" pitchFamily="34" charset="0"/>
              </a:rPr>
              <a:t>Hơn</a:t>
            </a:r>
            <a:r>
              <a:rPr lang="en-US" altLang="en-US" sz="1800" b="1" dirty="0">
                <a:latin typeface="Arial" panose="020B0604020202020204" pitchFamily="34" charset="0"/>
              </a:rPr>
              <a:t> </a:t>
            </a:r>
            <a:r>
              <a:rPr lang="en-US" altLang="en-US" sz="1800" b="1" dirty="0" err="1">
                <a:latin typeface="Arial" panose="020B0604020202020204" pitchFamily="34" charset="0"/>
              </a:rPr>
              <a:t>sự</a:t>
            </a:r>
            <a:r>
              <a:rPr lang="en-US" altLang="en-US" sz="1800" b="1" dirty="0">
                <a:latin typeface="Arial" panose="020B0604020202020204" pitchFamily="34" charset="0"/>
              </a:rPr>
              <a:t> </a:t>
            </a:r>
            <a:r>
              <a:rPr lang="en-US" altLang="en-US" sz="1800" b="1" dirty="0" err="1">
                <a:latin typeface="Arial" panose="020B0604020202020204" pitchFamily="34" charset="0"/>
              </a:rPr>
              <a:t>mong</a:t>
            </a:r>
            <a:r>
              <a:rPr lang="en-US" altLang="en-US" sz="1800" b="1" dirty="0">
                <a:latin typeface="Arial" panose="020B0604020202020204" pitchFamily="34" charset="0"/>
              </a:rPr>
              <a:t> </a:t>
            </a:r>
            <a:r>
              <a:rPr lang="en-US" altLang="en-US" sz="1800" b="1" dirty="0" err="1">
                <a:latin typeface="Arial" panose="020B0604020202020204" pitchFamily="34" charset="0"/>
              </a:rPr>
              <a:t>đợi</a:t>
            </a:r>
            <a:r>
              <a:rPr lang="en-US" altLang="en-US" sz="1800" b="1" dirty="0">
                <a:latin typeface="Arial" panose="020B0604020202020204" pitchFamily="34" charset="0"/>
              </a:rPr>
              <a:t>: </a:t>
            </a:r>
            <a:r>
              <a:rPr lang="en-US" altLang="en-US" sz="1800" dirty="0" err="1">
                <a:latin typeface="Arial" panose="020B0604020202020204" pitchFamily="34" charset="0"/>
              </a:rPr>
              <a:t>Hãy</a:t>
            </a:r>
            <a:r>
              <a:rPr lang="en-US" altLang="en-US" sz="1800" dirty="0">
                <a:latin typeface="Arial" panose="020B0604020202020204" pitchFamily="34" charset="0"/>
              </a:rPr>
              <a:t> </a:t>
            </a:r>
            <a:r>
              <a:rPr lang="en-US" altLang="en-US" sz="1800" dirty="0" err="1">
                <a:latin typeface="Arial" panose="020B0604020202020204" pitchFamily="34" charset="0"/>
              </a:rPr>
              <a:t>tạo</a:t>
            </a:r>
            <a:r>
              <a:rPr lang="en-US" altLang="en-US" sz="1800" dirty="0">
                <a:latin typeface="Arial" panose="020B0604020202020204" pitchFamily="34" charset="0"/>
              </a:rPr>
              <a:t> </a:t>
            </a:r>
            <a:r>
              <a:rPr lang="en-US" altLang="en-US" sz="1800" dirty="0" err="1">
                <a:latin typeface="Arial" panose="020B0604020202020204" pitchFamily="34" charset="0"/>
              </a:rPr>
              <a:t>ra</a:t>
            </a:r>
            <a:r>
              <a:rPr lang="en-US" altLang="en-US" sz="1800" dirty="0">
                <a:latin typeface="Arial" panose="020B0604020202020204" pitchFamily="34" charset="0"/>
              </a:rPr>
              <a:t> </a:t>
            </a:r>
            <a:r>
              <a:rPr lang="en-US" altLang="en-US" sz="1800" dirty="0" err="1">
                <a:latin typeface="Arial" panose="020B0604020202020204" pitchFamily="34" charset="0"/>
              </a:rPr>
              <a:t>sự</a:t>
            </a:r>
            <a:r>
              <a:rPr lang="en-US" altLang="en-US" sz="1800" dirty="0">
                <a:latin typeface="Arial" panose="020B0604020202020204" pitchFamily="34" charset="0"/>
              </a:rPr>
              <a:t> </a:t>
            </a:r>
            <a:r>
              <a:rPr lang="en-US" altLang="en-US" sz="1800" dirty="0" err="1">
                <a:latin typeface="Arial" panose="020B0604020202020204" pitchFamily="34" charset="0"/>
              </a:rPr>
              <a:t>hỗ</a:t>
            </a:r>
            <a:r>
              <a:rPr lang="en-US" altLang="en-US" sz="1800" dirty="0">
                <a:latin typeface="Arial" panose="020B0604020202020204" pitchFamily="34" charset="0"/>
              </a:rPr>
              <a:t> </a:t>
            </a:r>
            <a:r>
              <a:rPr lang="en-US" altLang="en-US" sz="1800" dirty="0" err="1">
                <a:latin typeface="Arial" panose="020B0604020202020204" pitchFamily="34" charset="0"/>
              </a:rPr>
              <a:t>không</a:t>
            </a:r>
            <a:r>
              <a:rPr lang="en-US" altLang="en-US" sz="1800" dirty="0">
                <a:latin typeface="Arial" panose="020B0604020202020204" pitchFamily="34" charset="0"/>
              </a:rPr>
              <a:t> </a:t>
            </a:r>
            <a:r>
              <a:rPr lang="en-US" altLang="en-US" sz="1800" dirty="0" err="1">
                <a:latin typeface="Arial" panose="020B0604020202020204" pitchFamily="34" charset="0"/>
              </a:rPr>
              <a:t>chỉ</a:t>
            </a:r>
            <a:r>
              <a:rPr lang="en-US" altLang="en-US" sz="1800" dirty="0">
                <a:latin typeface="Arial" panose="020B0604020202020204" pitchFamily="34" charset="0"/>
              </a:rPr>
              <a:t> </a:t>
            </a:r>
            <a:r>
              <a:rPr lang="en-US" altLang="en-US" sz="1800" dirty="0" err="1">
                <a:latin typeface="Arial" panose="020B0604020202020204" pitchFamily="34" charset="0"/>
              </a:rPr>
              <a:t>riêng</a:t>
            </a:r>
            <a:r>
              <a:rPr lang="en-US" altLang="en-US" sz="1800" dirty="0">
                <a:latin typeface="Arial" panose="020B0604020202020204" pitchFamily="34" charset="0"/>
              </a:rPr>
              <a:t> </a:t>
            </a:r>
            <a:r>
              <a:rPr lang="en-US" altLang="en-US" sz="1800" dirty="0" err="1">
                <a:latin typeface="Arial" panose="020B0604020202020204" pitchFamily="34" charset="0"/>
              </a:rPr>
              <a:t>trong</a:t>
            </a:r>
            <a:r>
              <a:rPr lang="en-US" altLang="en-US" sz="1800" dirty="0">
                <a:latin typeface="Arial" panose="020B0604020202020204" pitchFamily="34" charset="0"/>
              </a:rPr>
              <a:t> </a:t>
            </a:r>
            <a:r>
              <a:rPr lang="en-US" altLang="en-US" sz="1800" dirty="0" err="1">
                <a:latin typeface="Arial" panose="020B0604020202020204" pitchFamily="34" charset="0"/>
              </a:rPr>
              <a:t>lĩnh</a:t>
            </a:r>
            <a:r>
              <a:rPr lang="en-US" altLang="en-US" sz="1800" dirty="0">
                <a:latin typeface="Arial" panose="020B0604020202020204" pitchFamily="34" charset="0"/>
              </a:rPr>
              <a:t> </a:t>
            </a:r>
            <a:r>
              <a:rPr lang="en-US" altLang="en-US" sz="1800" dirty="0" err="1">
                <a:latin typeface="Arial" panose="020B0604020202020204" pitchFamily="34" charset="0"/>
              </a:rPr>
              <a:t>vực</a:t>
            </a:r>
            <a:r>
              <a:rPr lang="en-US" altLang="en-US" sz="1800" dirty="0">
                <a:latin typeface="Arial" panose="020B0604020202020204" pitchFamily="34" charset="0"/>
              </a:rPr>
              <a:t> </a:t>
            </a:r>
            <a:r>
              <a:rPr lang="en-US" altLang="en-US" sz="1800" dirty="0" err="1">
                <a:latin typeface="Arial" panose="020B0604020202020204" pitchFamily="34" charset="0"/>
              </a:rPr>
              <a:t>bạn</a:t>
            </a:r>
            <a:r>
              <a:rPr lang="en-US" altLang="en-US" sz="1800" dirty="0">
                <a:latin typeface="Arial" panose="020B0604020202020204" pitchFamily="34" charset="0"/>
              </a:rPr>
              <a:t> </a:t>
            </a:r>
            <a:r>
              <a:rPr lang="en-US" altLang="en-US" sz="1800" dirty="0" err="1">
                <a:latin typeface="Arial" panose="020B0604020202020204" pitchFamily="34" charset="0"/>
              </a:rPr>
              <a:t>kinh</a:t>
            </a:r>
            <a:r>
              <a:rPr lang="en-US" altLang="en-US" sz="1800" dirty="0">
                <a:latin typeface="Arial" panose="020B0604020202020204" pitchFamily="34" charset="0"/>
              </a:rPr>
              <a:t> </a:t>
            </a:r>
            <a:r>
              <a:rPr lang="en-US" altLang="en-US" sz="1800" dirty="0" err="1">
                <a:latin typeface="Arial" panose="020B0604020202020204" pitchFamily="34" charset="0"/>
              </a:rPr>
              <a:t>doanh</a:t>
            </a:r>
            <a:r>
              <a:rPr lang="en-US" altLang="en-US" sz="1800" dirty="0">
                <a:latin typeface="Arial" panose="020B0604020202020204" pitchFamily="34" charset="0"/>
              </a:rPr>
              <a:t> </a:t>
            </a:r>
            <a:r>
              <a:rPr lang="en-US" altLang="en-US" sz="1800" dirty="0" err="1">
                <a:latin typeface="Arial" panose="020B0604020202020204" pitchFamily="34" charset="0"/>
              </a:rPr>
              <a:t>mà</a:t>
            </a:r>
            <a:r>
              <a:rPr lang="en-US" altLang="en-US" sz="1800" dirty="0">
                <a:latin typeface="Arial" panose="020B0604020202020204" pitchFamily="34" charset="0"/>
              </a:rPr>
              <a:t> </a:t>
            </a:r>
            <a:r>
              <a:rPr lang="en-US" altLang="en-US" sz="1800" dirty="0" err="1">
                <a:latin typeface="Arial" panose="020B0604020202020204" pitchFamily="34" charset="0"/>
              </a:rPr>
              <a:t>hãy</a:t>
            </a:r>
            <a:r>
              <a:rPr lang="en-US" altLang="en-US" sz="1800" dirty="0">
                <a:latin typeface="Arial" panose="020B0604020202020204" pitchFamily="34" charset="0"/>
              </a:rPr>
              <a:t> </a:t>
            </a:r>
            <a:r>
              <a:rPr lang="en-US" altLang="en-US" sz="1800" dirty="0" err="1">
                <a:latin typeface="Arial" panose="020B0604020202020204" pitchFamily="34" charset="0"/>
              </a:rPr>
              <a:t>tạo</a:t>
            </a:r>
            <a:r>
              <a:rPr lang="en-US" altLang="en-US" sz="1800" dirty="0">
                <a:latin typeface="Arial" panose="020B0604020202020204" pitchFamily="34" charset="0"/>
              </a:rPr>
              <a:t> </a:t>
            </a:r>
            <a:r>
              <a:rPr lang="en-US" altLang="en-US" sz="1800" dirty="0" err="1">
                <a:latin typeface="Arial" panose="020B0604020202020204" pitchFamily="34" charset="0"/>
              </a:rPr>
              <a:t>thêm</a:t>
            </a:r>
            <a:r>
              <a:rPr lang="en-US" altLang="en-US" sz="1800" dirty="0">
                <a:latin typeface="Arial" panose="020B0604020202020204" pitchFamily="34" charset="0"/>
              </a:rPr>
              <a:t> </a:t>
            </a:r>
            <a:r>
              <a:rPr lang="en-US" altLang="en-US" sz="1800" dirty="0" err="1">
                <a:latin typeface="Arial" panose="020B0604020202020204" pitchFamily="34" charset="0"/>
              </a:rPr>
              <a:t>dịch</a:t>
            </a:r>
            <a:r>
              <a:rPr lang="en-US" altLang="en-US" sz="1800" dirty="0">
                <a:latin typeface="Arial" panose="020B0604020202020204" pitchFamily="34" charset="0"/>
              </a:rPr>
              <a:t> </a:t>
            </a:r>
            <a:r>
              <a:rPr lang="en-US" altLang="en-US" sz="1800" dirty="0" err="1">
                <a:latin typeface="Arial" panose="020B0604020202020204" pitchFamily="34" charset="0"/>
              </a:rPr>
              <a:t>vụ</a:t>
            </a:r>
            <a:r>
              <a:rPr lang="en-US" altLang="en-US" sz="1800" dirty="0">
                <a:latin typeface="Arial" panose="020B0604020202020204" pitchFamily="34" charset="0"/>
              </a:rPr>
              <a:t> </a:t>
            </a:r>
            <a:r>
              <a:rPr lang="en-US" altLang="en-US" sz="1800" dirty="0" err="1">
                <a:latin typeface="Arial" panose="020B0604020202020204" pitchFamily="34" charset="0"/>
              </a:rPr>
              <a:t>hỗ</a:t>
            </a:r>
            <a:r>
              <a:rPr lang="en-US" altLang="en-US" sz="1800" dirty="0">
                <a:latin typeface="Arial" panose="020B0604020202020204" pitchFamily="34" charset="0"/>
              </a:rPr>
              <a:t> </a:t>
            </a:r>
            <a:r>
              <a:rPr lang="en-US" altLang="en-US" sz="1800" dirty="0" err="1">
                <a:latin typeface="Arial" panose="020B0604020202020204" pitchFamily="34" charset="0"/>
              </a:rPr>
              <a:t>trợ</a:t>
            </a:r>
            <a:r>
              <a:rPr lang="en-US" altLang="en-US" sz="1800" dirty="0">
                <a:latin typeface="Arial" panose="020B0604020202020204" pitchFamily="34" charset="0"/>
              </a:rPr>
              <a:t> </a:t>
            </a:r>
            <a:r>
              <a:rPr lang="en-US" altLang="en-US" sz="1800" dirty="0" err="1">
                <a:latin typeface="Arial" panose="020B0604020202020204" pitchFamily="34" charset="0"/>
              </a:rPr>
              <a:t>ngoài</a:t>
            </a:r>
            <a:r>
              <a:rPr lang="en-US" altLang="en-US" sz="1800" dirty="0">
                <a:latin typeface="Arial" panose="020B0604020202020204" pitchFamily="34" charset="0"/>
              </a:rPr>
              <a:t> </a:t>
            </a:r>
            <a:r>
              <a:rPr lang="en-US" altLang="en-US" sz="1800" dirty="0" err="1">
                <a:latin typeface="Arial" panose="020B0604020202020204" pitchFamily="34" charset="0"/>
              </a:rPr>
              <a:t>kinh</a:t>
            </a:r>
            <a:r>
              <a:rPr lang="en-US" altLang="en-US" sz="1800" dirty="0">
                <a:latin typeface="Arial" panose="020B0604020202020204" pitchFamily="34" charset="0"/>
              </a:rPr>
              <a:t> </a:t>
            </a:r>
            <a:r>
              <a:rPr lang="en-US" altLang="en-US" sz="1800" dirty="0" err="1">
                <a:latin typeface="Arial" panose="020B0604020202020204" pitchFamily="34" charset="0"/>
              </a:rPr>
              <a:t>doanh</a:t>
            </a:r>
            <a:r>
              <a:rPr lang="en-US" altLang="en-US" sz="1800" dirty="0">
                <a:latin typeface="Arial" panose="020B0604020202020204" pitchFamily="34" charset="0"/>
              </a:rPr>
              <a:t> </a:t>
            </a:r>
            <a:r>
              <a:rPr lang="en-US" altLang="en-US" sz="1800" dirty="0" err="1">
                <a:latin typeface="Arial" panose="020B0604020202020204" pitchFamily="34" charset="0"/>
              </a:rPr>
              <a:t>của</a:t>
            </a:r>
            <a:r>
              <a:rPr lang="en-US" altLang="en-US" sz="1800" dirty="0">
                <a:latin typeface="Arial" panose="020B0604020202020204" pitchFamily="34" charset="0"/>
              </a:rPr>
              <a:t> </a:t>
            </a:r>
            <a:r>
              <a:rPr lang="en-US" altLang="en-US" sz="1800" dirty="0" err="1">
                <a:latin typeface="Arial" panose="020B0604020202020204" pitchFamily="34" charset="0"/>
              </a:rPr>
              <a:t>bạn</a:t>
            </a:r>
            <a:r>
              <a:rPr lang="en-US" altLang="en-US" sz="1800" dirty="0">
                <a:latin typeface="Arial" panose="020B0604020202020204" pitchFamily="34" charset="0"/>
              </a:rPr>
              <a:t> </a:t>
            </a:r>
            <a:r>
              <a:rPr lang="en-US" altLang="en-US" sz="1800" dirty="0" err="1">
                <a:latin typeface="Arial" panose="020B0604020202020204" pitchFamily="34" charset="0"/>
              </a:rPr>
              <a:t>tới</a:t>
            </a:r>
            <a:r>
              <a:rPr lang="en-US" altLang="en-US" sz="1800" dirty="0">
                <a:latin typeface="Arial" panose="020B0604020202020204" pitchFamily="34" charset="0"/>
              </a:rPr>
              <a:t> </a:t>
            </a:r>
            <a:r>
              <a:rPr lang="en-US" altLang="en-US" sz="1800" dirty="0" err="1">
                <a:latin typeface="Arial" panose="020B0604020202020204" pitchFamily="34" charset="0"/>
              </a:rPr>
              <a:t>khách</a:t>
            </a:r>
            <a:r>
              <a:rPr lang="en-US" altLang="en-US" sz="1800" dirty="0">
                <a:latin typeface="Arial" panose="020B0604020202020204" pitchFamily="34" charset="0"/>
              </a:rPr>
              <a:t> </a:t>
            </a:r>
            <a:r>
              <a:rPr lang="en-US" altLang="en-US" sz="1800" dirty="0" err="1">
                <a:latin typeface="Arial" panose="020B0604020202020204" pitchFamily="34" charset="0"/>
              </a:rPr>
              <a:t>hàng</a:t>
            </a:r>
            <a:r>
              <a:rPr lang="en-US" altLang="en-US" sz="1800" dirty="0">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3" descr="Cá nhân hóa trải nghiệm khách hàng - Xu hướng mới ngành dịch vụ CSKH">
            <a:extLst>
              <a:ext uri="{FF2B5EF4-FFF2-40B4-BE49-F238E27FC236}">
                <a16:creationId xmlns:a16="http://schemas.microsoft.com/office/drawing/2014/main" id="{3F33F354-E4B7-2EF8-53CD-A96D89D24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521" y="2345531"/>
            <a:ext cx="3537952" cy="2166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45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015E5-E485-EA29-2932-E200C9D90404}"/>
              </a:ext>
            </a:extLst>
          </p:cNvPr>
          <p:cNvSpPr>
            <a:spLocks noGrp="1"/>
          </p:cNvSpPr>
          <p:nvPr>
            <p:ph type="title"/>
          </p:nvPr>
        </p:nvSpPr>
        <p:spPr/>
        <p:txBody>
          <a:bodyPr/>
          <a:lstStyle/>
          <a:p>
            <a:r>
              <a:rPr lang="vi-VN" b="1" dirty="0">
                <a:solidFill>
                  <a:srgbClr val="002060"/>
                </a:solidFill>
                <a:latin typeface="Bahnschrift" panose="020B0502040204020203" pitchFamily="34" charset="0"/>
              </a:rPr>
              <a:t>5. TẠO RA CÁC CƠ HỘI TƯƠNG TÁC</a:t>
            </a:r>
            <a:endParaRPr lang="en-US" b="1" dirty="0">
              <a:solidFill>
                <a:srgbClr val="002060"/>
              </a:solidFill>
              <a:latin typeface="Bahnschrift" panose="020B0502040204020203" pitchFamily="34" charset="0"/>
            </a:endParaRPr>
          </a:p>
        </p:txBody>
      </p:sp>
      <p:sp>
        <p:nvSpPr>
          <p:cNvPr id="4" name="Rectangle 1">
            <a:extLst>
              <a:ext uri="{FF2B5EF4-FFF2-40B4-BE49-F238E27FC236}">
                <a16:creationId xmlns:a16="http://schemas.microsoft.com/office/drawing/2014/main" id="{C218822B-150F-E667-3EBC-70EB01F404CE}"/>
              </a:ext>
            </a:extLst>
          </p:cNvPr>
          <p:cNvSpPr>
            <a:spLocks noGrp="1" noChangeArrowheads="1"/>
          </p:cNvSpPr>
          <p:nvPr>
            <p:ph idx="1"/>
          </p:nvPr>
        </p:nvSpPr>
        <p:spPr bwMode="auto">
          <a:xfrm>
            <a:off x="6163236" y="1854179"/>
            <a:ext cx="5679141"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Sự</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kiện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khách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hàng</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Tổ</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chức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buổi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gặp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hội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thảo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hoặc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tuyến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hội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tương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Khảo</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sát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khảo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sát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ngắn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thập</a:t>
            </a:r>
            <a:r>
              <a:rPr kumimoji="0" lang="en-US" altLang="en-US" sz="1800" b="0" i="0" u="none" strike="noStrike" cap="none" normalizeH="0" baseline="0" dirty="0">
                <a:ln>
                  <a:noFill/>
                </a:ln>
                <a:solidFill>
                  <a:schemeClr val="tx1"/>
                </a:solidFill>
                <a:effectLst/>
                <a:latin typeface="Arial" panose="020B0604020202020204" pitchFamily="34" charset="0"/>
              </a:rPr>
              <a:t> ý </a:t>
            </a:r>
            <a:r>
              <a:rPr kumimoji="0" lang="en-US" altLang="en-US" sz="1800" b="0" i="0" u="none" strike="noStrike" cap="none" normalizeH="0" baseline="0" dirty="0" err="1">
                <a:ln>
                  <a:noFill/>
                </a:ln>
                <a:solidFill>
                  <a:schemeClr val="tx1"/>
                </a:solidFill>
                <a:effectLst/>
                <a:latin typeface="Arial" panose="020B0604020202020204" pitchFamily="34" charset="0"/>
              </a:rPr>
              <a:t>kiến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800" b="1" dirty="0">
                <a:latin typeface="Arial" panose="020B0604020202020204" pitchFamily="34" charset="0"/>
              </a:rPr>
              <a:t> </a:t>
            </a:r>
            <a:r>
              <a:rPr lang="en-US" altLang="en-US" sz="1800" b="1" dirty="0" err="1">
                <a:latin typeface="Arial" panose="020B0604020202020204" pitchFamily="34" charset="0"/>
              </a:rPr>
              <a:t>Xã</a:t>
            </a:r>
            <a:r>
              <a:rPr lang="en-US" altLang="en-US" sz="1800" b="1" dirty="0">
                <a:latin typeface="Arial" panose="020B0604020202020204" pitchFamily="34" charset="0"/>
              </a:rPr>
              <a:t> </a:t>
            </a:r>
            <a:r>
              <a:rPr lang="en-US" altLang="en-US" sz="1800" b="1" dirty="0" err="1">
                <a:latin typeface="Arial" panose="020B0604020202020204" pitchFamily="34" charset="0"/>
              </a:rPr>
              <a:t>hội</a:t>
            </a:r>
            <a:r>
              <a:rPr lang="en-US" altLang="en-US" sz="1800" b="1" dirty="0">
                <a:latin typeface="Arial" panose="020B0604020202020204" pitchFamily="34" charset="0"/>
              </a:rPr>
              <a:t>: </a:t>
            </a:r>
            <a:r>
              <a:rPr lang="en-US" altLang="en-US" sz="1800" dirty="0" err="1">
                <a:latin typeface="Arial" panose="020B0604020202020204" pitchFamily="34" charset="0"/>
              </a:rPr>
              <a:t>Hãy</a:t>
            </a:r>
            <a:r>
              <a:rPr lang="en-US" altLang="en-US" sz="1800" dirty="0">
                <a:latin typeface="Arial" panose="020B0604020202020204" pitchFamily="34" charset="0"/>
              </a:rPr>
              <a:t> </a:t>
            </a:r>
            <a:r>
              <a:rPr lang="en-US" altLang="en-US" sz="1800" dirty="0" err="1">
                <a:latin typeface="Arial" panose="020B0604020202020204" pitchFamily="34" charset="0"/>
              </a:rPr>
              <a:t>tận</a:t>
            </a:r>
            <a:r>
              <a:rPr lang="en-US" altLang="en-US" sz="1800" dirty="0">
                <a:latin typeface="Arial" panose="020B0604020202020204" pitchFamily="34" charset="0"/>
              </a:rPr>
              <a:t> </a:t>
            </a:r>
            <a:r>
              <a:rPr lang="en-US" altLang="en-US" sz="1800" dirty="0" err="1">
                <a:latin typeface="Arial" panose="020B0604020202020204" pitchFamily="34" charset="0"/>
              </a:rPr>
              <a:t>dụng</a:t>
            </a:r>
            <a:r>
              <a:rPr lang="en-US" altLang="en-US" sz="1800" dirty="0">
                <a:latin typeface="Arial" panose="020B0604020202020204" pitchFamily="34" charset="0"/>
              </a:rPr>
              <a:t> </a:t>
            </a:r>
            <a:r>
              <a:rPr lang="en-US" altLang="en-US" sz="1800" dirty="0" err="1">
                <a:latin typeface="Arial" panose="020B0604020202020204" pitchFamily="34" charset="0"/>
              </a:rPr>
              <a:t>những</a:t>
            </a:r>
            <a:r>
              <a:rPr lang="en-US" altLang="en-US" sz="1800" dirty="0">
                <a:latin typeface="Arial" panose="020B0604020202020204" pitchFamily="34" charset="0"/>
              </a:rPr>
              <a:t> </a:t>
            </a:r>
            <a:r>
              <a:rPr lang="en-US" altLang="en-US" sz="1800" dirty="0" err="1">
                <a:latin typeface="Arial" panose="020B0604020202020204" pitchFamily="34" charset="0"/>
              </a:rPr>
              <a:t>sự</a:t>
            </a:r>
            <a:r>
              <a:rPr lang="en-US" altLang="en-US" sz="1800" dirty="0">
                <a:latin typeface="Arial" panose="020B0604020202020204" pitchFamily="34" charset="0"/>
              </a:rPr>
              <a:t> </a:t>
            </a:r>
            <a:r>
              <a:rPr lang="en-US" altLang="en-US" sz="1800" dirty="0" err="1">
                <a:latin typeface="Arial" panose="020B0604020202020204" pitchFamily="34" charset="0"/>
              </a:rPr>
              <a:t>kiện</a:t>
            </a:r>
            <a:r>
              <a:rPr lang="en-US" altLang="en-US" sz="1800" dirty="0">
                <a:latin typeface="Arial" panose="020B0604020202020204" pitchFamily="34" charset="0"/>
              </a:rPr>
              <a:t> </a:t>
            </a:r>
            <a:r>
              <a:rPr lang="en-US" altLang="en-US" sz="1800" dirty="0" err="1">
                <a:latin typeface="Arial" panose="020B0604020202020204" pitchFamily="34" charset="0"/>
              </a:rPr>
              <a:t>ngoài</a:t>
            </a:r>
            <a:r>
              <a:rPr lang="en-US" altLang="en-US" sz="1800" dirty="0">
                <a:latin typeface="Arial" panose="020B0604020202020204" pitchFamily="34" charset="0"/>
              </a:rPr>
              <a:t> </a:t>
            </a:r>
            <a:r>
              <a:rPr lang="en-US" altLang="en-US" sz="1800" dirty="0" err="1">
                <a:latin typeface="Arial" panose="020B0604020202020204" pitchFamily="34" charset="0"/>
              </a:rPr>
              <a:t>kinh</a:t>
            </a:r>
            <a:r>
              <a:rPr lang="en-US" altLang="en-US" sz="1800" dirty="0">
                <a:latin typeface="Arial" panose="020B0604020202020204" pitchFamily="34" charset="0"/>
              </a:rPr>
              <a:t> </a:t>
            </a:r>
            <a:r>
              <a:rPr lang="en-US" altLang="en-US" sz="1800" dirty="0" err="1">
                <a:latin typeface="Arial" panose="020B0604020202020204" pitchFamily="34" charset="0"/>
              </a:rPr>
              <a:t>doanh</a:t>
            </a:r>
            <a:r>
              <a:rPr lang="en-US" altLang="en-US" sz="1800" dirty="0">
                <a:latin typeface="Arial" panose="020B0604020202020204" pitchFamily="34" charset="0"/>
              </a:rPr>
              <a:t> </a:t>
            </a:r>
            <a:r>
              <a:rPr lang="en-US" altLang="en-US" sz="1800" dirty="0" err="1">
                <a:latin typeface="Arial" panose="020B0604020202020204" pitchFamily="34" charset="0"/>
              </a:rPr>
              <a:t>để</a:t>
            </a:r>
            <a:r>
              <a:rPr lang="en-US" altLang="en-US" sz="1800" dirty="0">
                <a:latin typeface="Arial" panose="020B0604020202020204" pitchFamily="34" charset="0"/>
              </a:rPr>
              <a:t> </a:t>
            </a:r>
            <a:r>
              <a:rPr lang="en-US" altLang="en-US" sz="1800" dirty="0" err="1">
                <a:latin typeface="Arial" panose="020B0604020202020204" pitchFamily="34" charset="0"/>
              </a:rPr>
              <a:t>có</a:t>
            </a:r>
            <a:r>
              <a:rPr lang="en-US" altLang="en-US" sz="1800" dirty="0">
                <a:latin typeface="Arial" panose="020B0604020202020204" pitchFamily="34" charset="0"/>
              </a:rPr>
              <a:t> </a:t>
            </a:r>
            <a:r>
              <a:rPr lang="en-US" altLang="en-US" sz="1800" dirty="0" err="1">
                <a:latin typeface="Arial" panose="020B0604020202020204" pitchFamily="34" charset="0"/>
              </a:rPr>
              <a:t>cơ</a:t>
            </a:r>
            <a:r>
              <a:rPr lang="en-US" altLang="en-US" sz="1800" dirty="0">
                <a:latin typeface="Arial" panose="020B0604020202020204" pitchFamily="34" charset="0"/>
              </a:rPr>
              <a:t> </a:t>
            </a:r>
            <a:r>
              <a:rPr lang="en-US" altLang="en-US" sz="1800" dirty="0" err="1">
                <a:latin typeface="Arial" panose="020B0604020202020204" pitchFamily="34" charset="0"/>
              </a:rPr>
              <a:t>hội</a:t>
            </a:r>
            <a:r>
              <a:rPr lang="en-US" altLang="en-US" sz="1800" dirty="0">
                <a:latin typeface="Arial" panose="020B0604020202020204" pitchFamily="34" charset="0"/>
              </a:rPr>
              <a:t> </a:t>
            </a:r>
            <a:r>
              <a:rPr lang="en-US" altLang="en-US" sz="1800" dirty="0" err="1">
                <a:latin typeface="Arial" panose="020B0604020202020204" pitchFamily="34" charset="0"/>
              </a:rPr>
              <a:t>gặp</a:t>
            </a:r>
            <a:r>
              <a:rPr lang="en-US" altLang="en-US" sz="1800" dirty="0">
                <a:latin typeface="Arial" panose="020B0604020202020204" pitchFamily="34" charset="0"/>
              </a:rPr>
              <a:t> </a:t>
            </a:r>
            <a:r>
              <a:rPr lang="en-US" altLang="en-US" sz="1800" dirty="0" err="1">
                <a:latin typeface="Arial" panose="020B0604020202020204" pitchFamily="34" charset="0"/>
              </a:rPr>
              <a:t>khách</a:t>
            </a:r>
            <a:r>
              <a:rPr lang="en-US" altLang="en-US" sz="1800" dirty="0">
                <a:latin typeface="Arial" panose="020B0604020202020204" pitchFamily="34" charset="0"/>
              </a:rPr>
              <a:t> </a:t>
            </a:r>
            <a:r>
              <a:rPr lang="en-US" altLang="en-US" sz="1800" dirty="0" err="1">
                <a:latin typeface="Arial" panose="020B0604020202020204" pitchFamily="34" charset="0"/>
              </a:rPr>
              <a:t>càng</a:t>
            </a:r>
            <a:r>
              <a:rPr lang="en-US" altLang="en-US" sz="1800" dirty="0">
                <a:latin typeface="Arial" panose="020B0604020202020204" pitchFamily="34" charset="0"/>
              </a:rPr>
              <a:t> </a:t>
            </a:r>
            <a:r>
              <a:rPr lang="en-US" altLang="en-US" sz="1800" dirty="0" err="1">
                <a:latin typeface="Arial" panose="020B0604020202020204" pitchFamily="34" charset="0"/>
              </a:rPr>
              <a:t>nhiều</a:t>
            </a:r>
            <a:r>
              <a:rPr lang="en-US" altLang="en-US" sz="1800" dirty="0">
                <a:latin typeface="Arial" panose="020B0604020202020204" pitchFamily="34" charset="0"/>
              </a:rPr>
              <a:t> </a:t>
            </a:r>
            <a:r>
              <a:rPr lang="en-US" altLang="en-US" sz="1800" dirty="0" err="1">
                <a:latin typeface="Arial" panose="020B0604020202020204" pitchFamily="34" charset="0"/>
              </a:rPr>
              <a:t>càng</a:t>
            </a:r>
            <a:r>
              <a:rPr lang="en-US" altLang="en-US" sz="1800" dirty="0">
                <a:latin typeface="Arial" panose="020B0604020202020204" pitchFamily="34" charset="0"/>
              </a:rPr>
              <a:t> </a:t>
            </a:r>
            <a:r>
              <a:rPr lang="en-US" altLang="en-US" sz="1800" dirty="0" err="1">
                <a:latin typeface="Arial" panose="020B0604020202020204" pitchFamily="34" charset="0"/>
              </a:rPr>
              <a:t>tốt</a:t>
            </a:r>
            <a:r>
              <a:rPr lang="en-US" altLang="en-US" sz="1800" dirty="0">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630078F9-637A-15A9-7278-4E3C245D163C}"/>
              </a:ext>
            </a:extLst>
          </p:cNvPr>
          <p:cNvPicPr>
            <a:picLocks noChangeAspect="1"/>
          </p:cNvPicPr>
          <p:nvPr/>
        </p:nvPicPr>
        <p:blipFill>
          <a:blip r:embed="rId2"/>
          <a:stretch>
            <a:fillRect/>
          </a:stretch>
        </p:blipFill>
        <p:spPr>
          <a:xfrm>
            <a:off x="449355" y="2040908"/>
            <a:ext cx="5015795" cy="2776184"/>
          </a:xfrm>
          <a:prstGeom prst="rect">
            <a:avLst/>
          </a:prstGeom>
          <a:effectLst>
            <a:glow rad="228600">
              <a:schemeClr val="accent1">
                <a:satMod val="175000"/>
                <a:alpha val="40000"/>
              </a:schemeClr>
            </a:glow>
          </a:effectLst>
        </p:spPr>
      </p:pic>
      <p:sp>
        <p:nvSpPr>
          <p:cNvPr id="7" name="Rectangle 6">
            <a:extLst>
              <a:ext uri="{FF2B5EF4-FFF2-40B4-BE49-F238E27FC236}">
                <a16:creationId xmlns:a16="http://schemas.microsoft.com/office/drawing/2014/main" id="{B15A7B19-7697-DBF2-3718-1374A09DD194}"/>
              </a:ext>
            </a:extLst>
          </p:cNvPr>
          <p:cNvSpPr/>
          <p:nvPr/>
        </p:nvSpPr>
        <p:spPr>
          <a:xfrm>
            <a:off x="1878106" y="5167312"/>
            <a:ext cx="8435788" cy="1446550"/>
          </a:xfrm>
          <a:prstGeom prst="rect">
            <a:avLst/>
          </a:prstGeom>
          <a:noFill/>
        </p:spPr>
        <p:txBody>
          <a:bodyPr wrap="square" lIns="91440" tIns="45720" rIns="91440" bIns="45720">
            <a:spAutoFit/>
          </a:bodyPr>
          <a:lstStyle/>
          <a:p>
            <a:pPr algn="ctr"/>
            <a:r>
              <a:rPr lang="en-US" sz="4400" i="1" dirty="0">
                <a:ln w="0"/>
                <a:solidFill>
                  <a:srgbClr val="7030A0"/>
                </a:solidFill>
                <a:effectLst>
                  <a:outerShdw blurRad="38100" dist="19050" dir="2700000" algn="tl" rotWithShape="0">
                    <a:schemeClr val="dk1">
                      <a:alpha val="40000"/>
                    </a:schemeClr>
                  </a:outerShdw>
                </a:effectLst>
              </a:rPr>
              <a:t>“Con </a:t>
            </a:r>
            <a:r>
              <a:rPr lang="en-US" sz="4400" i="1" dirty="0" err="1">
                <a:ln w="0"/>
                <a:solidFill>
                  <a:srgbClr val="7030A0"/>
                </a:solidFill>
                <a:effectLst>
                  <a:outerShdw blurRad="38100" dist="19050" dir="2700000" algn="tl" rotWithShape="0">
                    <a:schemeClr val="dk1">
                      <a:alpha val="40000"/>
                    </a:schemeClr>
                  </a:outerShdw>
                </a:effectLst>
              </a:rPr>
              <a:t>người</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sợ</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mất</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tình</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yêu</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thương</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nên</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đừng</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bỏ</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rơi</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khách</a:t>
            </a:r>
            <a:r>
              <a:rPr lang="en-US" sz="4400" i="1" dirty="0">
                <a:ln w="0"/>
                <a:solidFill>
                  <a:srgbClr val="7030A0"/>
                </a:solidFill>
                <a:effectLst>
                  <a:outerShdw blurRad="38100" dist="19050" dir="2700000" algn="tl" rotWithShape="0">
                    <a:schemeClr val="dk1">
                      <a:alpha val="40000"/>
                    </a:schemeClr>
                  </a:outerShdw>
                </a:effectLst>
              </a:rPr>
              <a:t> </a:t>
            </a:r>
            <a:r>
              <a:rPr lang="en-US" sz="4400" i="1" dirty="0" err="1">
                <a:ln w="0"/>
                <a:solidFill>
                  <a:srgbClr val="7030A0"/>
                </a:solidFill>
                <a:effectLst>
                  <a:outerShdw blurRad="38100" dist="19050" dir="2700000" algn="tl" rotWithShape="0">
                    <a:schemeClr val="dk1">
                      <a:alpha val="40000"/>
                    </a:schemeClr>
                  </a:outerShdw>
                </a:effectLst>
              </a:rPr>
              <a:t>hàng</a:t>
            </a:r>
            <a:r>
              <a:rPr lang="en-US" sz="4400" i="1" dirty="0">
                <a:ln w="0"/>
                <a:solidFill>
                  <a:srgbClr val="7030A0"/>
                </a:solidFill>
                <a:effectLst>
                  <a:outerShdw blurRad="38100" dist="19050" dir="2700000" algn="tl" rotWithShape="0">
                    <a:schemeClr val="dk1">
                      <a:alpha val="40000"/>
                    </a:schemeClr>
                  </a:outerShdw>
                </a:effectLst>
              </a:rPr>
              <a:t>”</a:t>
            </a:r>
            <a:endParaRPr lang="en-US" sz="4400" b="0" i="1" cap="none" spc="0" dirty="0">
              <a:ln w="0"/>
              <a:solidFill>
                <a:srgbClr val="7030A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8709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99870-E834-E650-299F-BCE7725C8CFA}"/>
              </a:ext>
            </a:extLst>
          </p:cNvPr>
          <p:cNvSpPr>
            <a:spLocks noGrp="1"/>
          </p:cNvSpPr>
          <p:nvPr>
            <p:ph type="title"/>
          </p:nvPr>
        </p:nvSpPr>
        <p:spPr>
          <a:xfrm>
            <a:off x="838200" y="589242"/>
            <a:ext cx="10515600" cy="1325563"/>
          </a:xfrm>
        </p:spPr>
        <p:txBody>
          <a:bodyPr>
            <a:normAutofit fontScale="90000"/>
          </a:bodyPr>
          <a:lstStyle/>
          <a:p>
            <a:r>
              <a:rPr lang="en-US" b="1" dirty="0">
                <a:solidFill>
                  <a:srgbClr val="002060"/>
                </a:solidFill>
                <a:latin typeface="Bahnschrift" panose="020B0502040204020203" pitchFamily="34" charset="0"/>
              </a:rPr>
              <a:t>6. </a:t>
            </a:r>
            <a:r>
              <a:rPr lang="vi-VN" b="1" dirty="0">
                <a:solidFill>
                  <a:srgbClr val="002060"/>
                </a:solidFill>
                <a:latin typeface="Bahnschrift" panose="020B0502040204020203" pitchFamily="34" charset="0"/>
              </a:rPr>
              <a:t>THƯỜNG XUYÊN NHẮC VỀ SẢN PHẨM/DỊCH VỤ VỚI KHÁCH HÀNG CŨ</a:t>
            </a:r>
            <a:br>
              <a:rPr lang="vi-VN" b="1" dirty="0">
                <a:solidFill>
                  <a:srgbClr val="002060"/>
                </a:solidFill>
                <a:latin typeface="Bahnschrift" panose="020B0502040204020203" pitchFamily="34" charset="0"/>
              </a:rPr>
            </a:br>
            <a:endParaRPr lang="en-US" b="1" dirty="0">
              <a:solidFill>
                <a:srgbClr val="002060"/>
              </a:solidFill>
              <a:latin typeface="Bahnschrift" panose="020B0502040204020203" pitchFamily="34" charset="0"/>
            </a:endParaRPr>
          </a:p>
        </p:txBody>
      </p:sp>
      <p:sp>
        <p:nvSpPr>
          <p:cNvPr id="3" name="Content Placeholder 2">
            <a:extLst>
              <a:ext uri="{FF2B5EF4-FFF2-40B4-BE49-F238E27FC236}">
                <a16:creationId xmlns:a16="http://schemas.microsoft.com/office/drawing/2014/main" id="{6D2BC019-D377-7E41-A045-B4521C4E0053}"/>
              </a:ext>
            </a:extLst>
          </p:cNvPr>
          <p:cNvSpPr>
            <a:spLocks noGrp="1"/>
          </p:cNvSpPr>
          <p:nvPr>
            <p:ph idx="1"/>
          </p:nvPr>
        </p:nvSpPr>
        <p:spPr>
          <a:xfrm>
            <a:off x="838200" y="1825625"/>
            <a:ext cx="5921188" cy="4351338"/>
          </a:xfrm>
        </p:spPr>
        <p:txBody>
          <a:bodyPr>
            <a:normAutofit/>
          </a:bodyPr>
          <a:lstStyle/>
          <a:p>
            <a:pPr algn="just">
              <a:lnSpc>
                <a:spcPct val="150000"/>
              </a:lnSpc>
            </a:pPr>
            <a:r>
              <a:rPr lang="vi-VN" sz="1800" dirty="0"/>
              <a:t>Mỗi khách hàng cũ đều từng đến vì một sản phẩm/dịch vụ nhất định. Họ thường không nhớ hết những sản phẩm thương hiệu đang kinh doanh. </a:t>
            </a:r>
            <a:endParaRPr lang="en-US" sz="1800" dirty="0"/>
          </a:p>
          <a:p>
            <a:pPr algn="just">
              <a:lnSpc>
                <a:spcPct val="150000"/>
              </a:lnSpc>
            </a:pPr>
            <a:r>
              <a:rPr lang="vi-VN" sz="1800" dirty="0"/>
              <a:t>Do đó, hãy luôn khéo léo lồng ghép sản phẩm cũ, sản phẩm có liên quan hoặc sản phẩm mới trong các cuộc trò chuyện. Điều đó sẽ kích thích nhu cầu mua hàng của khách cũng như giúp họ có thêm nhiều lựa chọn cho những lần mua sắm sau. </a:t>
            </a:r>
            <a:endParaRPr lang="en-US" sz="1800" dirty="0"/>
          </a:p>
        </p:txBody>
      </p:sp>
      <p:pic>
        <p:nvPicPr>
          <p:cNvPr id="15362" name="Picture 2" descr="Phân biệt dịch vụ khách hàng và trải nghiệm khách hàng">
            <a:extLst>
              <a:ext uri="{FF2B5EF4-FFF2-40B4-BE49-F238E27FC236}">
                <a16:creationId xmlns:a16="http://schemas.microsoft.com/office/drawing/2014/main" id="{F884268B-C8B4-11F7-4ACC-A1D8A8565B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17" y="1914805"/>
            <a:ext cx="5029183" cy="325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5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1EAD-8E30-9203-156C-ABB0BAE99D36}"/>
              </a:ext>
            </a:extLst>
          </p:cNvPr>
          <p:cNvSpPr>
            <a:spLocks noGrp="1"/>
          </p:cNvSpPr>
          <p:nvPr>
            <p:ph type="title"/>
          </p:nvPr>
        </p:nvSpPr>
        <p:spPr/>
        <p:txBody>
          <a:bodyPr>
            <a:normAutofit/>
          </a:bodyPr>
          <a:lstStyle/>
          <a:p>
            <a:r>
              <a:rPr lang="en-US" i="0" dirty="0">
                <a:solidFill>
                  <a:srgbClr val="002060"/>
                </a:solidFill>
                <a:effectLst/>
                <a:latin typeface="Bahnschrift" panose="020B0502040204020203" pitchFamily="34" charset="0"/>
              </a:rPr>
              <a:t>7. NGHIÊN CỨU "NỖI ĐAU" KHÁCH HÀNG</a:t>
            </a:r>
            <a:endParaRPr lang="en-US" dirty="0">
              <a:solidFill>
                <a:srgbClr val="002060"/>
              </a:solidFill>
              <a:latin typeface="Bahnschrift" panose="020B0502040204020203" pitchFamily="34" charset="0"/>
            </a:endParaRPr>
          </a:p>
        </p:txBody>
      </p:sp>
      <p:sp>
        <p:nvSpPr>
          <p:cNvPr id="3" name="Content Placeholder 2">
            <a:extLst>
              <a:ext uri="{FF2B5EF4-FFF2-40B4-BE49-F238E27FC236}">
                <a16:creationId xmlns:a16="http://schemas.microsoft.com/office/drawing/2014/main" id="{430BC2C6-BCFD-64F0-9035-CEF99145FB37}"/>
              </a:ext>
            </a:extLst>
          </p:cNvPr>
          <p:cNvSpPr>
            <a:spLocks noGrp="1"/>
          </p:cNvSpPr>
          <p:nvPr>
            <p:ph idx="1"/>
          </p:nvPr>
        </p:nvSpPr>
        <p:spPr>
          <a:xfrm>
            <a:off x="6687670" y="1690688"/>
            <a:ext cx="5100918" cy="4351338"/>
          </a:xfrm>
        </p:spPr>
        <p:txBody>
          <a:bodyPr>
            <a:normAutofit fontScale="85000" lnSpcReduction="10000"/>
          </a:bodyPr>
          <a:lstStyle/>
          <a:p>
            <a:pPr algn="just">
              <a:lnSpc>
                <a:spcPct val="150000"/>
              </a:lnSpc>
            </a:pPr>
            <a:r>
              <a:rPr lang="vi-VN" sz="2000" b="0" i="0" dirty="0">
                <a:solidFill>
                  <a:srgbClr val="2D2D2D"/>
                </a:solidFill>
                <a:effectLst/>
                <a:latin typeface="Roboto" panose="02000000000000000000" pitchFamily="2" charset="0"/>
              </a:rPr>
              <a:t>Khách hàng tìm đến doanh nghiệp vì mục đích giải quyết nhu cầu, hay còn gọi là “nỗi đau” của họ. Doanh nghiệp cần thông qua đó để tìm hiểu nỗi đau hay vấn đề khách hàng đang vướng mắc. Từ đó gợi ý khách đến những sản phẩm, dịch vụ phù hợp.</a:t>
            </a:r>
            <a:endParaRPr lang="en-US" sz="2000" b="0" i="0" dirty="0">
              <a:solidFill>
                <a:srgbClr val="2D2D2D"/>
              </a:solidFill>
              <a:effectLst/>
              <a:latin typeface="Roboto" panose="02000000000000000000" pitchFamily="2" charset="0"/>
            </a:endParaRPr>
          </a:p>
          <a:p>
            <a:pPr algn="just">
              <a:lnSpc>
                <a:spcPct val="150000"/>
              </a:lnSpc>
            </a:pPr>
            <a:r>
              <a:rPr lang="en-US" sz="2000" dirty="0" err="1">
                <a:solidFill>
                  <a:srgbClr val="2D2D2D"/>
                </a:solidFill>
                <a:latin typeface="Roboto" panose="02000000000000000000" pitchFamily="2" charset="0"/>
              </a:rPr>
              <a:t>Quá</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trình</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sử</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dụng</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họ</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hài</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lòng</a:t>
            </a:r>
            <a:r>
              <a:rPr lang="en-US" sz="2000" dirty="0">
                <a:solidFill>
                  <a:srgbClr val="2D2D2D"/>
                </a:solidFill>
                <a:latin typeface="Roboto" panose="02000000000000000000" pitchFamily="2" charset="0"/>
              </a:rPr>
              <a:t> hay </a:t>
            </a:r>
            <a:r>
              <a:rPr lang="en-US" sz="2000" dirty="0" err="1">
                <a:solidFill>
                  <a:srgbClr val="2D2D2D"/>
                </a:solidFill>
                <a:latin typeface="Roboto" panose="02000000000000000000" pitchFamily="2" charset="0"/>
              </a:rPr>
              <a:t>không</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rất</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cần</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chúng</a:t>
            </a:r>
            <a:r>
              <a:rPr lang="en-US" sz="2000" dirty="0">
                <a:solidFill>
                  <a:srgbClr val="2D2D2D"/>
                </a:solidFill>
                <a:latin typeface="Roboto" panose="02000000000000000000" pitchFamily="2" charset="0"/>
              </a:rPr>
              <a:t> ta </a:t>
            </a:r>
            <a:r>
              <a:rPr lang="en-US" sz="2000" dirty="0" err="1">
                <a:solidFill>
                  <a:srgbClr val="2D2D2D"/>
                </a:solidFill>
                <a:latin typeface="Roboto" panose="02000000000000000000" pitchFamily="2" charset="0"/>
              </a:rPr>
              <a:t>thấu</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hiều</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để</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giúp</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giải</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đáp</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khúc</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mắc</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của</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họ</a:t>
            </a:r>
            <a:r>
              <a:rPr lang="en-US" sz="2000" dirty="0">
                <a:solidFill>
                  <a:srgbClr val="2D2D2D"/>
                </a:solidFill>
                <a:latin typeface="Roboto" panose="02000000000000000000" pitchFamily="2" charset="0"/>
              </a:rPr>
              <a:t>. </a:t>
            </a:r>
          </a:p>
          <a:p>
            <a:pPr algn="just">
              <a:lnSpc>
                <a:spcPct val="150000"/>
              </a:lnSpc>
            </a:pPr>
            <a:r>
              <a:rPr lang="en-US" sz="2000" dirty="0" err="1">
                <a:solidFill>
                  <a:srgbClr val="2D2D2D"/>
                </a:solidFill>
                <a:latin typeface="Roboto" panose="02000000000000000000" pitchFamily="2" charset="0"/>
              </a:rPr>
              <a:t>Khách</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cũ</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không</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mua</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lại</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không</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phải</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vì</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sản</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phẩm</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mà</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phần</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lớn</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chính</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là</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dịch</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vụ</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chăm</a:t>
            </a:r>
            <a:r>
              <a:rPr lang="en-US" sz="2000" dirty="0">
                <a:solidFill>
                  <a:srgbClr val="2D2D2D"/>
                </a:solidFill>
                <a:latin typeface="Roboto" panose="02000000000000000000" pitchFamily="2" charset="0"/>
              </a:rPr>
              <a:t> </a:t>
            </a:r>
            <a:r>
              <a:rPr lang="en-US" sz="2000" dirty="0" err="1">
                <a:solidFill>
                  <a:srgbClr val="2D2D2D"/>
                </a:solidFill>
                <a:latin typeface="Roboto" panose="02000000000000000000" pitchFamily="2" charset="0"/>
              </a:rPr>
              <a:t>sóc</a:t>
            </a:r>
            <a:r>
              <a:rPr lang="en-US" sz="2000" dirty="0">
                <a:solidFill>
                  <a:srgbClr val="2D2D2D"/>
                </a:solidFill>
                <a:latin typeface="Roboto" panose="02000000000000000000" pitchFamily="2" charset="0"/>
              </a:rPr>
              <a:t>.</a:t>
            </a:r>
            <a:endParaRPr lang="en-US" sz="2000" dirty="0"/>
          </a:p>
        </p:txBody>
      </p:sp>
      <p:pic>
        <p:nvPicPr>
          <p:cNvPr id="16388" name="Picture 4" descr="Bước sang tuổi 11, Sakuko hướng tới Omotenashi – Đỉnh cao trong dịch v">
            <a:extLst>
              <a:ext uri="{FF2B5EF4-FFF2-40B4-BE49-F238E27FC236}">
                <a16:creationId xmlns:a16="http://schemas.microsoft.com/office/drawing/2014/main" id="{4BF5DF07-65A5-05B6-C56E-8E0029D19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2729"/>
            <a:ext cx="6578114" cy="3967256"/>
          </a:xfrm>
          <a:prstGeom prst="rect">
            <a:avLst/>
          </a:prstGeom>
          <a:noFill/>
          <a:effectLst>
            <a:glow rad="1397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5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7FC9DD-B4B8-083E-9110-1B7D650166C5}"/>
              </a:ext>
            </a:extLst>
          </p:cNvPr>
          <p:cNvSpPr>
            <a:spLocks noGrp="1"/>
          </p:cNvSpPr>
          <p:nvPr/>
        </p:nvSpPr>
        <p:spPr>
          <a:xfrm>
            <a:off x="932329" y="323848"/>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Bahnschrift" panose="020B0502040204020203" pitchFamily="34" charset="0"/>
                <a:ea typeface="+mj-ea"/>
                <a:cs typeface="+mj-cs"/>
              </a:rPr>
              <a:t>15 NGUYÊN TẮC VÀNG </a:t>
            </a:r>
            <a:br>
              <a:rPr kumimoji="0" lang="en-US" sz="2800" b="1" i="0" u="none" strike="noStrike" kern="1200" cap="none" spc="0" normalizeH="0" baseline="0" noProof="0" dirty="0">
                <a:ln>
                  <a:noFill/>
                </a:ln>
                <a:solidFill>
                  <a:srgbClr val="FF0000"/>
                </a:solidFill>
                <a:effectLst/>
                <a:uLnTx/>
                <a:uFillTx/>
                <a:latin typeface="Bahnschrift" panose="020B0502040204020203" pitchFamily="34" charset="0"/>
                <a:ea typeface="+mj-ea"/>
                <a:cs typeface="+mj-cs"/>
              </a:rPr>
            </a:br>
            <a:r>
              <a:rPr kumimoji="0" lang="en-US" sz="2800" b="1" i="0" u="none" strike="noStrike" kern="1200" cap="none" spc="0" normalizeH="0" baseline="0" noProof="0" dirty="0">
                <a:ln>
                  <a:noFill/>
                </a:ln>
                <a:solidFill>
                  <a:srgbClr val="FF0000"/>
                </a:solidFill>
                <a:effectLst/>
                <a:uLnTx/>
                <a:uFillTx/>
                <a:latin typeface="Bahnschrift" panose="020B0502040204020203" pitchFamily="34" charset="0"/>
                <a:ea typeface="+mj-ea"/>
                <a:cs typeface="+mj-cs"/>
              </a:rPr>
              <a:t>TRONG BÁN HÀNG CỦA JACKMA</a:t>
            </a:r>
          </a:p>
        </p:txBody>
      </p:sp>
      <p:sp>
        <p:nvSpPr>
          <p:cNvPr id="5" name="Content Placeholder 2">
            <a:extLst>
              <a:ext uri="{FF2B5EF4-FFF2-40B4-BE49-F238E27FC236}">
                <a16:creationId xmlns:a16="http://schemas.microsoft.com/office/drawing/2014/main" id="{22640C1B-A398-E2ED-4CC7-C2CCD31FE735}"/>
              </a:ext>
            </a:extLst>
          </p:cNvPr>
          <p:cNvSpPr>
            <a:spLocks noGrp="1"/>
          </p:cNvSpPr>
          <p:nvPr/>
        </p:nvSpPr>
        <p:spPr>
          <a:xfrm>
            <a:off x="448235" y="1540294"/>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LẠ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LỄ PHÉP</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QUEN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NHIỆT TÌNH</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ĐANG GẤP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PHẢI NHANH</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MUA TỪ </a:t>
            </a:r>
            <a:r>
              <a:rPr kumimoji="0" lang="en-US" sz="1800" b="1" i="0" u="none" strike="noStrike" kern="1200" cap="none" spc="0" normalizeH="0" baseline="0" noProof="0" dirty="0" err="1">
                <a:ln>
                  <a:noFill/>
                </a:ln>
                <a:solidFill>
                  <a:srgbClr val="ED7D31">
                    <a:lumMod val="75000"/>
                  </a:srgbClr>
                </a:solidFill>
                <a:effectLst/>
                <a:uLnTx/>
                <a:uFillTx/>
                <a:latin typeface="Calibri" panose="020F0502020204030204"/>
                <a:ea typeface="+mn-ea"/>
                <a:cs typeface="+mn-cs"/>
              </a:rPr>
              <a:t>TỪ</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KIÊN NHẪN</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CÓ TIỀN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CHO HỌ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SỰ CAO QUÝ</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ÍT TIỀN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CẦN CHO HỌ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SỰ THỰC TẾ</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THEO MỐT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THỜI THƯỢNG</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CHUYÊN NGHIỆP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CHUYÊN NGHIỆP</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HÀO PHÓNG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TRƯỢNG NGHĨA</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KEO KIỆT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LỢI ÍCH</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HƯỞNG THỤ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PHỤC VỤ</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HƯ VINH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HỌ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VINH DỰ</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HAY BẮT BẺ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TỶ MỈ</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HIỀN LÀNH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ĐỒNG CẢM</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Bán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srgbClr val="002060"/>
                </a:solidFill>
                <a:effectLst/>
                <a:uLnTx/>
                <a:uFillTx/>
                <a:latin typeface="Calibri" panose="020F0502020204030204"/>
                <a:ea typeface="+mn-ea"/>
                <a:cs typeface="+mn-cs"/>
              </a:rPr>
              <a:t>cho</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KHÁCH DO DỰ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 BÁN CHO SỰ </a:t>
            </a:r>
            <a:r>
              <a:rPr kumimoji="0" lang="en-US" sz="18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BẢO ĐẢM</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18434" name="Picture 2" descr="Tiết lộ 15 nguyên tắc bán hàng đắt giá của Jack Ma">
            <a:extLst>
              <a:ext uri="{FF2B5EF4-FFF2-40B4-BE49-F238E27FC236}">
                <a16:creationId xmlns:a16="http://schemas.microsoft.com/office/drawing/2014/main" id="{FB6538AB-1CFC-6F6C-8A05-6B5D169149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941"/>
          <a:stretch/>
        </p:blipFill>
        <p:spPr bwMode="auto">
          <a:xfrm>
            <a:off x="7595222" y="2857498"/>
            <a:ext cx="4148543" cy="1891553"/>
          </a:xfrm>
          <a:prstGeom prst="rect">
            <a:avLst/>
          </a:prstGeom>
          <a:noFill/>
          <a:effectLst>
            <a:glow rad="228600">
              <a:schemeClr val="accent4">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368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20CE-C332-A9B0-F857-03CB967D1B00}"/>
              </a:ext>
            </a:extLst>
          </p:cNvPr>
          <p:cNvSpPr>
            <a:spLocks noGrp="1"/>
          </p:cNvSpPr>
          <p:nvPr>
            <p:ph type="title"/>
          </p:nvPr>
        </p:nvSpPr>
        <p:spPr/>
        <p:txBody>
          <a:bodyPr/>
          <a:lstStyle/>
          <a:p>
            <a:r>
              <a:rPr lang="en-US" b="1" dirty="0">
                <a:solidFill>
                  <a:srgbClr val="002060"/>
                </a:solidFill>
              </a:rPr>
              <a:t>THANKS!</a:t>
            </a:r>
          </a:p>
        </p:txBody>
      </p:sp>
      <p:sp>
        <p:nvSpPr>
          <p:cNvPr id="3" name="Content Placeholder 2">
            <a:extLst>
              <a:ext uri="{FF2B5EF4-FFF2-40B4-BE49-F238E27FC236}">
                <a16:creationId xmlns:a16="http://schemas.microsoft.com/office/drawing/2014/main" id="{8DD61043-31CE-D063-63E6-76D9935BB58A}"/>
              </a:ext>
            </a:extLst>
          </p:cNvPr>
          <p:cNvSpPr>
            <a:spLocks noGrp="1"/>
          </p:cNvSpPr>
          <p:nvPr>
            <p:ph idx="1"/>
          </p:nvPr>
        </p:nvSpPr>
        <p:spPr>
          <a:xfrm>
            <a:off x="3195917" y="4948518"/>
            <a:ext cx="6252882" cy="1554069"/>
          </a:xfrm>
        </p:spPr>
        <p:txBody>
          <a:bodyPr/>
          <a:lstStyle/>
          <a:p>
            <a:pPr marL="0" indent="0" algn="just">
              <a:buNone/>
            </a:pPr>
            <a:r>
              <a:rPr lang="en-US" i="1" dirty="0">
                <a:solidFill>
                  <a:srgbClr val="7030A0"/>
                </a:solidFill>
              </a:rPr>
              <a:t>“</a:t>
            </a:r>
            <a:r>
              <a:rPr lang="en-US" i="1" dirty="0" err="1">
                <a:solidFill>
                  <a:srgbClr val="7030A0"/>
                </a:solidFill>
              </a:rPr>
              <a:t>Khách</a:t>
            </a:r>
            <a:r>
              <a:rPr lang="en-US" i="1" dirty="0">
                <a:solidFill>
                  <a:srgbClr val="7030A0"/>
                </a:solidFill>
              </a:rPr>
              <a:t> </a:t>
            </a:r>
            <a:r>
              <a:rPr lang="en-US" i="1" dirty="0" err="1">
                <a:solidFill>
                  <a:srgbClr val="7030A0"/>
                </a:solidFill>
              </a:rPr>
              <a:t>hàng</a:t>
            </a:r>
            <a:r>
              <a:rPr lang="en-US" i="1" dirty="0">
                <a:solidFill>
                  <a:srgbClr val="7030A0"/>
                </a:solidFill>
              </a:rPr>
              <a:t> </a:t>
            </a:r>
            <a:r>
              <a:rPr lang="en-US" i="1" dirty="0" err="1">
                <a:solidFill>
                  <a:srgbClr val="7030A0"/>
                </a:solidFill>
              </a:rPr>
              <a:t>mua</a:t>
            </a:r>
            <a:r>
              <a:rPr lang="en-US" i="1" dirty="0">
                <a:solidFill>
                  <a:srgbClr val="7030A0"/>
                </a:solidFill>
              </a:rPr>
              <a:t> </a:t>
            </a:r>
            <a:r>
              <a:rPr lang="en-US" i="1" dirty="0" err="1">
                <a:solidFill>
                  <a:srgbClr val="7030A0"/>
                </a:solidFill>
              </a:rPr>
              <a:t>mối</a:t>
            </a:r>
            <a:r>
              <a:rPr lang="en-US" i="1" dirty="0">
                <a:solidFill>
                  <a:srgbClr val="7030A0"/>
                </a:solidFill>
              </a:rPr>
              <a:t> </a:t>
            </a:r>
            <a:r>
              <a:rPr lang="en-US" i="1" dirty="0" err="1">
                <a:solidFill>
                  <a:srgbClr val="7030A0"/>
                </a:solidFill>
              </a:rPr>
              <a:t>quan</a:t>
            </a:r>
            <a:r>
              <a:rPr lang="en-US" i="1" dirty="0">
                <a:solidFill>
                  <a:srgbClr val="7030A0"/>
                </a:solidFill>
              </a:rPr>
              <a:t> </a:t>
            </a:r>
            <a:r>
              <a:rPr lang="en-US" i="1" dirty="0" err="1">
                <a:solidFill>
                  <a:srgbClr val="7030A0"/>
                </a:solidFill>
              </a:rPr>
              <a:t>hệ</a:t>
            </a:r>
            <a:r>
              <a:rPr lang="en-US" i="1" dirty="0">
                <a:solidFill>
                  <a:srgbClr val="7030A0"/>
                </a:solidFill>
              </a:rPr>
              <a:t> </a:t>
            </a:r>
            <a:r>
              <a:rPr lang="en-US" i="1" dirty="0" err="1">
                <a:solidFill>
                  <a:srgbClr val="7030A0"/>
                </a:solidFill>
              </a:rPr>
              <a:t>của</a:t>
            </a:r>
            <a:r>
              <a:rPr lang="en-US" i="1" dirty="0">
                <a:solidFill>
                  <a:srgbClr val="7030A0"/>
                </a:solidFill>
              </a:rPr>
              <a:t> </a:t>
            </a:r>
            <a:r>
              <a:rPr lang="en-US" i="1" dirty="0" err="1">
                <a:solidFill>
                  <a:srgbClr val="7030A0"/>
                </a:solidFill>
              </a:rPr>
              <a:t>bạn</a:t>
            </a:r>
            <a:r>
              <a:rPr lang="en-US" i="1" dirty="0">
                <a:solidFill>
                  <a:srgbClr val="7030A0"/>
                </a:solidFill>
              </a:rPr>
              <a:t> </a:t>
            </a:r>
            <a:r>
              <a:rPr lang="en-US" i="1" dirty="0" err="1">
                <a:solidFill>
                  <a:srgbClr val="7030A0"/>
                </a:solidFill>
              </a:rPr>
              <a:t>trước</a:t>
            </a:r>
            <a:r>
              <a:rPr lang="en-US" i="1" dirty="0">
                <a:solidFill>
                  <a:srgbClr val="7030A0"/>
                </a:solidFill>
              </a:rPr>
              <a:t> </a:t>
            </a:r>
            <a:r>
              <a:rPr lang="en-US" i="1" dirty="0" err="1">
                <a:solidFill>
                  <a:srgbClr val="7030A0"/>
                </a:solidFill>
              </a:rPr>
              <a:t>khi</a:t>
            </a:r>
            <a:r>
              <a:rPr lang="en-US" i="1" dirty="0">
                <a:solidFill>
                  <a:srgbClr val="7030A0"/>
                </a:solidFill>
              </a:rPr>
              <a:t> </a:t>
            </a:r>
            <a:r>
              <a:rPr lang="en-US" i="1" dirty="0" err="1">
                <a:solidFill>
                  <a:srgbClr val="7030A0"/>
                </a:solidFill>
              </a:rPr>
              <a:t>mua</a:t>
            </a:r>
            <a:r>
              <a:rPr lang="en-US" i="1" dirty="0">
                <a:solidFill>
                  <a:srgbClr val="7030A0"/>
                </a:solidFill>
              </a:rPr>
              <a:t> </a:t>
            </a:r>
            <a:r>
              <a:rPr lang="en-US" i="1" dirty="0" err="1">
                <a:solidFill>
                  <a:srgbClr val="7030A0"/>
                </a:solidFill>
              </a:rPr>
              <a:t>hàng</a:t>
            </a:r>
            <a:r>
              <a:rPr lang="en-US" i="1" dirty="0">
                <a:solidFill>
                  <a:srgbClr val="7030A0"/>
                </a:solidFill>
              </a:rPr>
              <a:t> </a:t>
            </a:r>
            <a:r>
              <a:rPr lang="en-US" i="1" dirty="0" err="1">
                <a:solidFill>
                  <a:srgbClr val="C00000"/>
                </a:solidFill>
              </a:rPr>
              <a:t>và</a:t>
            </a:r>
            <a:r>
              <a:rPr lang="en-US" i="1" dirty="0">
                <a:solidFill>
                  <a:srgbClr val="C00000"/>
                </a:solidFill>
              </a:rPr>
              <a:t> </a:t>
            </a:r>
            <a:r>
              <a:rPr lang="en-US" i="1" dirty="0" err="1">
                <a:solidFill>
                  <a:srgbClr val="C00000"/>
                </a:solidFill>
              </a:rPr>
              <a:t>từ</a:t>
            </a:r>
            <a:r>
              <a:rPr lang="en-US" i="1" dirty="0">
                <a:solidFill>
                  <a:srgbClr val="C00000"/>
                </a:solidFill>
              </a:rPr>
              <a:t> </a:t>
            </a:r>
            <a:r>
              <a:rPr lang="en-US" i="1" dirty="0" err="1">
                <a:solidFill>
                  <a:srgbClr val="C00000"/>
                </a:solidFill>
              </a:rPr>
              <a:t>chối</a:t>
            </a:r>
            <a:r>
              <a:rPr lang="en-US" i="1" dirty="0">
                <a:solidFill>
                  <a:srgbClr val="C00000"/>
                </a:solidFill>
              </a:rPr>
              <a:t> </a:t>
            </a:r>
            <a:r>
              <a:rPr lang="en-US" i="1" dirty="0" err="1">
                <a:solidFill>
                  <a:srgbClr val="C00000"/>
                </a:solidFill>
              </a:rPr>
              <a:t>bạn</a:t>
            </a:r>
            <a:r>
              <a:rPr lang="en-US" i="1" dirty="0">
                <a:solidFill>
                  <a:srgbClr val="C00000"/>
                </a:solidFill>
              </a:rPr>
              <a:t> </a:t>
            </a:r>
            <a:r>
              <a:rPr lang="en-US" i="1" dirty="0" err="1">
                <a:solidFill>
                  <a:srgbClr val="C00000"/>
                </a:solidFill>
              </a:rPr>
              <a:t>trước</a:t>
            </a:r>
            <a:r>
              <a:rPr lang="en-US" i="1" dirty="0">
                <a:solidFill>
                  <a:srgbClr val="C00000"/>
                </a:solidFill>
              </a:rPr>
              <a:t> </a:t>
            </a:r>
            <a:r>
              <a:rPr lang="en-US" i="1" dirty="0" err="1">
                <a:solidFill>
                  <a:srgbClr val="C00000"/>
                </a:solidFill>
              </a:rPr>
              <a:t>khi</a:t>
            </a:r>
            <a:r>
              <a:rPr lang="en-US" i="1" dirty="0">
                <a:solidFill>
                  <a:srgbClr val="C00000"/>
                </a:solidFill>
              </a:rPr>
              <a:t> </a:t>
            </a:r>
            <a:r>
              <a:rPr lang="en-US" i="1" dirty="0" err="1">
                <a:solidFill>
                  <a:srgbClr val="C00000"/>
                </a:solidFill>
              </a:rPr>
              <a:t>từ</a:t>
            </a:r>
            <a:r>
              <a:rPr lang="en-US" i="1" dirty="0">
                <a:solidFill>
                  <a:srgbClr val="C00000"/>
                </a:solidFill>
              </a:rPr>
              <a:t> </a:t>
            </a:r>
            <a:r>
              <a:rPr lang="en-US" i="1" dirty="0" err="1">
                <a:solidFill>
                  <a:srgbClr val="C00000"/>
                </a:solidFill>
              </a:rPr>
              <a:t>chối</a:t>
            </a:r>
            <a:r>
              <a:rPr lang="en-US" i="1" dirty="0">
                <a:solidFill>
                  <a:srgbClr val="C00000"/>
                </a:solidFill>
              </a:rPr>
              <a:t> </a:t>
            </a:r>
            <a:r>
              <a:rPr lang="en-US" i="1" dirty="0" err="1">
                <a:solidFill>
                  <a:srgbClr val="C00000"/>
                </a:solidFill>
              </a:rPr>
              <a:t>công</a:t>
            </a:r>
            <a:r>
              <a:rPr lang="en-US" i="1" dirty="0">
                <a:solidFill>
                  <a:srgbClr val="C00000"/>
                </a:solidFill>
              </a:rPr>
              <a:t> ty”</a:t>
            </a:r>
          </a:p>
        </p:txBody>
      </p:sp>
      <p:pic>
        <p:nvPicPr>
          <p:cNvPr id="17410" name="Picture 2" descr="Những câu nó hay truyền động lực - Vũ Ngọc Thọ">
            <a:extLst>
              <a:ext uri="{FF2B5EF4-FFF2-40B4-BE49-F238E27FC236}">
                <a16:creationId xmlns:a16="http://schemas.microsoft.com/office/drawing/2014/main" id="{DC5DEE2B-888D-DB00-9648-F7AA596EF7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103"/>
          <a:stretch/>
        </p:blipFill>
        <p:spPr bwMode="auto">
          <a:xfrm>
            <a:off x="2557929" y="1609165"/>
            <a:ext cx="7076142" cy="3339353"/>
          </a:xfrm>
          <a:prstGeom prst="rect">
            <a:avLst/>
          </a:prstGeom>
          <a:noFill/>
          <a:effectLst>
            <a:glow rad="228600">
              <a:schemeClr val="accent2">
                <a:satMod val="175000"/>
                <a:alpha val="40000"/>
              </a:schemeClr>
            </a:glow>
          </a:effectLst>
          <a:scene3d>
            <a:camera prst="perspectiveRelaxed"/>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733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1458</Words>
  <Application>Microsoft Office PowerPoint</Application>
  <PresentationFormat>Widescreen</PresentationFormat>
  <Paragraphs>83</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Bahnschrift</vt:lpstr>
      <vt:lpstr>Bahnschrift SemiBold Condensed</vt:lpstr>
      <vt:lpstr>Calibri</vt:lpstr>
      <vt:lpstr>Calibri Light</vt:lpstr>
      <vt:lpstr>Roboto</vt:lpstr>
      <vt:lpstr>Office Theme</vt:lpstr>
      <vt:lpstr>TẠI SAO PHẢI CHĂM SÓC KHÁCH HÀNG CŨ</vt:lpstr>
      <vt:lpstr>KHÁCH HÀNG CŨ</vt:lpstr>
      <vt:lpstr>1. TĂNG DOANH THU</vt:lpstr>
      <vt:lpstr>2. GIẢM CHI PHÍ</vt:lpstr>
      <vt:lpstr>3. XÂY DỰNG UY TÍN VÀ THƯƠNG HIỆU</vt:lpstr>
      <vt:lpstr>4. HIỂU RÕ KHÁCH HÀNG HƠN</vt:lpstr>
      <vt:lpstr>5. TĂNG TRẢI NGHIỆM KHÁCH HÀNG</vt:lpstr>
      <vt:lpstr>6. TẠO RA LỢI THẾ CẠNH TRANH</vt:lpstr>
      <vt:lpstr>PowerPoint Presentation</vt:lpstr>
      <vt:lpstr>PowerPoint Presentation</vt:lpstr>
      <vt:lpstr>1. GIAO TIẾP THƯỜNG XUYÊN</vt:lpstr>
      <vt:lpstr>2. CHĂM SÓC CÁ NHÂN HÓA</vt:lpstr>
      <vt:lpstr>3. CHƯƠNG TRÌNH KHÁCH HÀNG THÂN THIẾT</vt:lpstr>
      <vt:lpstr>4. HỖ TRỢ CHUYÊN NGHIỆP</vt:lpstr>
      <vt:lpstr>5. TẠO RA CÁC CƠ HỘI TƯƠNG TÁC</vt:lpstr>
      <vt:lpstr>6. THƯỜNG XUYÊN NHẮC VỀ SẢN PHẨM/DỊCH VỤ VỚI KHÁCH HÀNG CŨ </vt:lpstr>
      <vt:lpstr>7. NGHIÊN CỨU "NỖI ĐAU" KHÁCH HÀNG</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TẠI SAO PHẢI CHĂM SÓC KHÁCH HÀNG CŨ</dc:title>
  <dc:creator>Administrator</dc:creator>
  <cp:lastModifiedBy>Administrator</cp:lastModifiedBy>
  <cp:revision>2</cp:revision>
  <dcterms:created xsi:type="dcterms:W3CDTF">2024-12-29T07:12:28Z</dcterms:created>
  <dcterms:modified xsi:type="dcterms:W3CDTF">2025-01-16T11:30:54Z</dcterms:modified>
</cp:coreProperties>
</file>