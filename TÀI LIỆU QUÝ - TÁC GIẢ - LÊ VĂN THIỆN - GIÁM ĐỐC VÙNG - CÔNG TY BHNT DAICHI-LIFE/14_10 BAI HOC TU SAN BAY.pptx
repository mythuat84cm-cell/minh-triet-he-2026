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12/12/2024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12/12/2024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12/12/2024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12/12/2024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12/12/2024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12/12/2024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12/12/2024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12/12/2024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12/12/2024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E6D5D-8F50-4B21-8700-84033A6B5CEE}"/>
              </a:ext>
            </a:extLst>
          </p:cNvPr>
          <p:cNvSpPr>
            <a:spLocks noGrp="1"/>
          </p:cNvSpPr>
          <p:nvPr>
            <p:ph type="ctrTitle"/>
          </p:nvPr>
        </p:nvSpPr>
        <p:spPr>
          <a:xfrm>
            <a:off x="4993889" y="1752192"/>
            <a:ext cx="5332960" cy="2098226"/>
          </a:xfrm>
        </p:spPr>
        <p:txBody>
          <a:bodyPr/>
          <a:lstStyle/>
          <a:p>
            <a:r>
              <a:rPr lang="en-US">
                <a:solidFill>
                  <a:srgbClr val="00B050"/>
                </a:solidFill>
              </a:rPr>
              <a:t>10 BÀI HỌC </a:t>
            </a:r>
            <a:br>
              <a:rPr lang="en-US">
                <a:solidFill>
                  <a:srgbClr val="00B050"/>
                </a:solidFill>
              </a:rPr>
            </a:br>
            <a:r>
              <a:rPr lang="en-US">
                <a:solidFill>
                  <a:srgbClr val="00B050"/>
                </a:solidFill>
              </a:rPr>
              <a:t>TỪ SÂN BAY</a:t>
            </a:r>
          </a:p>
        </p:txBody>
      </p:sp>
      <p:sp>
        <p:nvSpPr>
          <p:cNvPr id="3" name="Subtitle 2">
            <a:extLst>
              <a:ext uri="{FF2B5EF4-FFF2-40B4-BE49-F238E27FC236}">
                <a16:creationId xmlns:a16="http://schemas.microsoft.com/office/drawing/2014/main" id="{8F17D72D-CBC9-42E3-B414-7B7F01BE41BD}"/>
              </a:ext>
            </a:extLst>
          </p:cNvPr>
          <p:cNvSpPr>
            <a:spLocks noGrp="1"/>
          </p:cNvSpPr>
          <p:nvPr>
            <p:ph type="subTitle" idx="1"/>
          </p:nvPr>
        </p:nvSpPr>
        <p:spPr/>
        <p:txBody>
          <a:bodyPr/>
          <a:lstStyle/>
          <a:p>
            <a:endParaRPr lang="en-US"/>
          </a:p>
        </p:txBody>
      </p:sp>
      <p:pic>
        <p:nvPicPr>
          <p:cNvPr id="1026" name="Picture 2" descr="Long Thành sẽ là thành phố sân bay | DAS">
            <a:extLst>
              <a:ext uri="{FF2B5EF4-FFF2-40B4-BE49-F238E27FC236}">
                <a16:creationId xmlns:a16="http://schemas.microsoft.com/office/drawing/2014/main" id="{5574DFD4-3C03-4967-862C-C063097908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261" y="1646330"/>
            <a:ext cx="3441948" cy="238247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768FB78-C27E-4394-9762-313E3F37B175}"/>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2548269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4F01-598B-41A4-8B02-84C6CD0FC0A1}"/>
              </a:ext>
            </a:extLst>
          </p:cNvPr>
          <p:cNvSpPr>
            <a:spLocks noGrp="1"/>
          </p:cNvSpPr>
          <p:nvPr>
            <p:ph type="title"/>
          </p:nvPr>
        </p:nvSpPr>
        <p:spPr>
          <a:xfrm>
            <a:off x="1371599" y="685800"/>
            <a:ext cx="10305875" cy="1485900"/>
          </a:xfrm>
        </p:spPr>
        <p:txBody>
          <a:bodyPr>
            <a:normAutofit/>
          </a:bodyPr>
          <a:lstStyle/>
          <a:p>
            <a:r>
              <a:rPr lang="en-US" sz="3600" b="1">
                <a:solidFill>
                  <a:srgbClr val="002060"/>
                </a:solidFill>
              </a:rPr>
              <a:t>1. TẦM QUAN TRỌN CỦA KẾ HOẠCH VÀ TỔ CHỨC</a:t>
            </a:r>
          </a:p>
        </p:txBody>
      </p:sp>
      <p:sp>
        <p:nvSpPr>
          <p:cNvPr id="3" name="Content Placeholder 2">
            <a:extLst>
              <a:ext uri="{FF2B5EF4-FFF2-40B4-BE49-F238E27FC236}">
                <a16:creationId xmlns:a16="http://schemas.microsoft.com/office/drawing/2014/main" id="{9B3B6A2F-EC46-4F79-A3C3-146F733C7CC7}"/>
              </a:ext>
            </a:extLst>
          </p:cNvPr>
          <p:cNvSpPr>
            <a:spLocks noGrp="1"/>
          </p:cNvSpPr>
          <p:nvPr>
            <p:ph idx="1"/>
          </p:nvPr>
        </p:nvSpPr>
        <p:spPr>
          <a:xfrm>
            <a:off x="1371600" y="2286000"/>
            <a:ext cx="5842932" cy="3581400"/>
          </a:xfrm>
        </p:spPr>
        <p:txBody>
          <a:bodyPr/>
          <a:lstStyle/>
          <a:p>
            <a:pPr algn="just"/>
            <a:r>
              <a:rPr lang="vi-VN"/>
              <a:t>Quan sát: Sân bay vận hành trơn tru nhờ vào lịch trình chi tiết, sự phối hợp giữa nhiều bộ phận và hệ thống quản lý hiệu quả.</a:t>
            </a:r>
            <a:endParaRPr lang="en-US"/>
          </a:p>
          <a:p>
            <a:pPr algn="just"/>
            <a:r>
              <a:rPr lang="vi-VN"/>
              <a:t>Bài học: Mọi việc trong cuộc sống, từ nhỏ đến lớn, đều cần được chuẩn bị kỹ lưỡng. Một kế hoạch tốt sẽ giảm thiểu rủi ro và tăng khả năng thành công.</a:t>
            </a:r>
            <a:endParaRPr lang="en-US"/>
          </a:p>
        </p:txBody>
      </p:sp>
      <p:pic>
        <p:nvPicPr>
          <p:cNvPr id="5" name="Picture 4">
            <a:extLst>
              <a:ext uri="{FF2B5EF4-FFF2-40B4-BE49-F238E27FC236}">
                <a16:creationId xmlns:a16="http://schemas.microsoft.com/office/drawing/2014/main" id="{8359217C-C4BD-468E-97B3-47A19CD08261}"/>
              </a:ext>
            </a:extLst>
          </p:cNvPr>
          <p:cNvPicPr>
            <a:picLocks noChangeAspect="1"/>
          </p:cNvPicPr>
          <p:nvPr/>
        </p:nvPicPr>
        <p:blipFill>
          <a:blip r:embed="rId2"/>
          <a:stretch>
            <a:fillRect/>
          </a:stretch>
        </p:blipFill>
        <p:spPr>
          <a:xfrm>
            <a:off x="7853893" y="2286000"/>
            <a:ext cx="3932639" cy="2064636"/>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a16="http://schemas.microsoft.com/office/drawing/2014/main" id="{FAA93170-3750-4749-994F-AC77BC683050}"/>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1906730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1A21-91DA-4108-90CF-2C6FE42679CE}"/>
              </a:ext>
            </a:extLst>
          </p:cNvPr>
          <p:cNvSpPr>
            <a:spLocks noGrp="1"/>
          </p:cNvSpPr>
          <p:nvPr>
            <p:ph type="title"/>
          </p:nvPr>
        </p:nvSpPr>
        <p:spPr/>
        <p:txBody>
          <a:bodyPr>
            <a:normAutofit/>
          </a:bodyPr>
          <a:lstStyle/>
          <a:p>
            <a:r>
              <a:rPr lang="en-US" sz="4000" b="1">
                <a:solidFill>
                  <a:srgbClr val="002060"/>
                </a:solidFill>
              </a:rPr>
              <a:t>2. THỜI GIAN LÀ TÀI SẢN QUÝ GIÁ NHẤT</a:t>
            </a:r>
          </a:p>
        </p:txBody>
      </p:sp>
      <p:sp>
        <p:nvSpPr>
          <p:cNvPr id="3" name="Content Placeholder 2">
            <a:extLst>
              <a:ext uri="{FF2B5EF4-FFF2-40B4-BE49-F238E27FC236}">
                <a16:creationId xmlns:a16="http://schemas.microsoft.com/office/drawing/2014/main" id="{2D8B928D-9D9D-49FA-9C75-51D7181B6F84}"/>
              </a:ext>
            </a:extLst>
          </p:cNvPr>
          <p:cNvSpPr>
            <a:spLocks noGrp="1"/>
          </p:cNvSpPr>
          <p:nvPr>
            <p:ph idx="1"/>
          </p:nvPr>
        </p:nvSpPr>
        <p:spPr>
          <a:xfrm>
            <a:off x="5788404" y="2286000"/>
            <a:ext cx="5184396" cy="3581400"/>
          </a:xfrm>
        </p:spPr>
        <p:txBody>
          <a:bodyPr/>
          <a:lstStyle/>
          <a:p>
            <a:pPr algn="just"/>
            <a:r>
              <a:rPr lang="vi-VN"/>
              <a:t>Quan sát: Trễ một chuyến bay có thể làm thay đổi toàn bộ lịch trình của hành khách. Thời gian là yếu tố không thể thương lượng.</a:t>
            </a:r>
            <a:endParaRPr lang="en-US"/>
          </a:p>
          <a:p>
            <a:pPr algn="just"/>
            <a:r>
              <a:rPr lang="vi-VN"/>
              <a:t>Bài học: Hãy trân trọng và quản lý thời gian của mình, vì một phút giây lãng phí có thể dẫn đến những hậu quả khó lường.</a:t>
            </a:r>
            <a:endParaRPr lang="en-US"/>
          </a:p>
        </p:txBody>
      </p:sp>
      <p:pic>
        <p:nvPicPr>
          <p:cNvPr id="3074" name="Picture 2" descr="Danh ngôn Thời gian trang 2">
            <a:extLst>
              <a:ext uri="{FF2B5EF4-FFF2-40B4-BE49-F238E27FC236}">
                <a16:creationId xmlns:a16="http://schemas.microsoft.com/office/drawing/2014/main" id="{1C9AF033-C1BB-4997-876D-1D2697EFAE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410"/>
          <a:stretch/>
        </p:blipFill>
        <p:spPr bwMode="auto">
          <a:xfrm>
            <a:off x="1301954" y="2171700"/>
            <a:ext cx="4286250" cy="259101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9D088A4-CB94-4067-9CE6-F3176A5EF04C}"/>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176827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729EE-382A-4DC6-A77B-0491E0510E3E}"/>
              </a:ext>
            </a:extLst>
          </p:cNvPr>
          <p:cNvSpPr>
            <a:spLocks noGrp="1"/>
          </p:cNvSpPr>
          <p:nvPr>
            <p:ph type="title"/>
          </p:nvPr>
        </p:nvSpPr>
        <p:spPr/>
        <p:txBody>
          <a:bodyPr>
            <a:normAutofit/>
          </a:bodyPr>
          <a:lstStyle/>
          <a:p>
            <a:r>
              <a:rPr lang="en-US" sz="3600" b="1">
                <a:solidFill>
                  <a:srgbClr val="002060"/>
                </a:solidFill>
              </a:rPr>
              <a:t>3. THÁI ĐỘ LINH HOẠT TRONG MỌI TÌNH HUỐNG</a:t>
            </a:r>
          </a:p>
        </p:txBody>
      </p:sp>
      <p:sp>
        <p:nvSpPr>
          <p:cNvPr id="3" name="Content Placeholder 2">
            <a:extLst>
              <a:ext uri="{FF2B5EF4-FFF2-40B4-BE49-F238E27FC236}">
                <a16:creationId xmlns:a16="http://schemas.microsoft.com/office/drawing/2014/main" id="{8FC8601C-65DF-4ECC-ACD2-4E1E99E6846E}"/>
              </a:ext>
            </a:extLst>
          </p:cNvPr>
          <p:cNvSpPr>
            <a:spLocks noGrp="1"/>
          </p:cNvSpPr>
          <p:nvPr>
            <p:ph idx="1"/>
          </p:nvPr>
        </p:nvSpPr>
        <p:spPr>
          <a:xfrm>
            <a:off x="1371600" y="1858161"/>
            <a:ext cx="9601200" cy="3581400"/>
          </a:xfrm>
        </p:spPr>
        <p:txBody>
          <a:bodyPr/>
          <a:lstStyle/>
          <a:p>
            <a:r>
              <a:rPr lang="vi-VN"/>
              <a:t>Quan sát: Các chuyến bay có thể bị hoãn, hủy, hoặc thay đổi. Hành khách thường phải thích nghi và điều chỉnh kế hoạch.</a:t>
            </a:r>
            <a:endParaRPr lang="en-US"/>
          </a:p>
          <a:p>
            <a:r>
              <a:rPr lang="vi-VN"/>
              <a:t>Bài học: Linh hoạt và sẵn sàng thích nghi là kỹ năng sống còn. Không phải lúc nào mọi việc cũng diễn ra như mong đợi.</a:t>
            </a:r>
            <a:endParaRPr lang="en-US"/>
          </a:p>
        </p:txBody>
      </p:sp>
      <p:pic>
        <p:nvPicPr>
          <p:cNvPr id="4098" name="Picture 2" descr="Phần mềm ERP có linh hoạt không? Linh hoạt ở điểm nào?">
            <a:extLst>
              <a:ext uri="{FF2B5EF4-FFF2-40B4-BE49-F238E27FC236}">
                <a16:creationId xmlns:a16="http://schemas.microsoft.com/office/drawing/2014/main" id="{2E7DA9E3-45B1-4132-96BC-3A5FFCF3A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4700" y="3723663"/>
            <a:ext cx="5715000" cy="28575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145F444-EC04-4D6F-950B-415558B3C97F}"/>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2719608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6D081-E1EC-4248-8151-47B07D23985F}"/>
              </a:ext>
            </a:extLst>
          </p:cNvPr>
          <p:cNvSpPr>
            <a:spLocks noGrp="1"/>
          </p:cNvSpPr>
          <p:nvPr>
            <p:ph type="title"/>
          </p:nvPr>
        </p:nvSpPr>
        <p:spPr/>
        <p:txBody>
          <a:bodyPr/>
          <a:lstStyle/>
          <a:p>
            <a:r>
              <a:rPr lang="en-US" b="1">
                <a:solidFill>
                  <a:srgbClr val="002060"/>
                </a:solidFill>
              </a:rPr>
              <a:t>4. KIÊN NHẪN LÀ CHÌA KHÓA</a:t>
            </a:r>
          </a:p>
        </p:txBody>
      </p:sp>
      <p:sp>
        <p:nvSpPr>
          <p:cNvPr id="3" name="Content Placeholder 2">
            <a:extLst>
              <a:ext uri="{FF2B5EF4-FFF2-40B4-BE49-F238E27FC236}">
                <a16:creationId xmlns:a16="http://schemas.microsoft.com/office/drawing/2014/main" id="{0F7ED649-9A1D-496A-9E44-451BB5279A44}"/>
              </a:ext>
            </a:extLst>
          </p:cNvPr>
          <p:cNvSpPr>
            <a:spLocks noGrp="1"/>
          </p:cNvSpPr>
          <p:nvPr>
            <p:ph idx="1"/>
          </p:nvPr>
        </p:nvSpPr>
        <p:spPr>
          <a:xfrm>
            <a:off x="1371599" y="2286000"/>
            <a:ext cx="5272481" cy="3581400"/>
          </a:xfrm>
        </p:spPr>
        <p:txBody>
          <a:bodyPr/>
          <a:lstStyle/>
          <a:p>
            <a:pPr algn="just"/>
            <a:r>
              <a:rPr lang="vi-VN"/>
              <a:t>Quan sát: Hàng dài tại khu vực kiểm tra an ninh hoặc nhận hành lý có thể kiểm tra giới hạn kiên nhẫn của bất kỳ ai.</a:t>
            </a:r>
            <a:endParaRPr lang="en-US"/>
          </a:p>
          <a:p>
            <a:pPr algn="just"/>
            <a:r>
              <a:rPr lang="vi-VN"/>
              <a:t>Bài học: Kiên nhẫn giúp bạn kiểm soát cảm xúc và giữ bình tĩnh, từ đó đưa ra những quyết định sáng suốt hơn.</a:t>
            </a:r>
            <a:endParaRPr lang="en-US"/>
          </a:p>
        </p:txBody>
      </p:sp>
      <p:pic>
        <p:nvPicPr>
          <p:cNvPr id="5122" name="Picture 2" descr="LÒNG KIÊN NHẪN">
            <a:extLst>
              <a:ext uri="{FF2B5EF4-FFF2-40B4-BE49-F238E27FC236}">
                <a16:creationId xmlns:a16="http://schemas.microsoft.com/office/drawing/2014/main" id="{6AA729C4-F220-4715-B108-6E36A56F3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6072" y="2286000"/>
            <a:ext cx="4591050" cy="24384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2EC9A26-D5A1-438D-99A7-0C8478D689A5}"/>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2043697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21097-D4AB-4326-8A36-28F7DCDEBD72}"/>
              </a:ext>
            </a:extLst>
          </p:cNvPr>
          <p:cNvSpPr>
            <a:spLocks noGrp="1"/>
          </p:cNvSpPr>
          <p:nvPr>
            <p:ph type="title"/>
          </p:nvPr>
        </p:nvSpPr>
        <p:spPr/>
        <p:txBody>
          <a:bodyPr/>
          <a:lstStyle/>
          <a:p>
            <a:r>
              <a:rPr lang="en-US"/>
              <a:t>5. ĐA DẠNG LÀ NÉT ĐẸP CỦA THẾ GIỚI</a:t>
            </a:r>
          </a:p>
        </p:txBody>
      </p:sp>
      <p:sp>
        <p:nvSpPr>
          <p:cNvPr id="3" name="Content Placeholder 2">
            <a:extLst>
              <a:ext uri="{FF2B5EF4-FFF2-40B4-BE49-F238E27FC236}">
                <a16:creationId xmlns:a16="http://schemas.microsoft.com/office/drawing/2014/main" id="{4812A7AF-79CB-493C-9E37-7CDA59C22CD0}"/>
              </a:ext>
            </a:extLst>
          </p:cNvPr>
          <p:cNvSpPr>
            <a:spLocks noGrp="1"/>
          </p:cNvSpPr>
          <p:nvPr>
            <p:ph idx="1"/>
          </p:nvPr>
        </p:nvSpPr>
        <p:spPr>
          <a:xfrm>
            <a:off x="6096000" y="2286000"/>
            <a:ext cx="4876800" cy="3581400"/>
          </a:xfrm>
        </p:spPr>
        <p:txBody>
          <a:bodyPr/>
          <a:lstStyle/>
          <a:p>
            <a:pPr algn="just"/>
            <a:r>
              <a:rPr lang="vi-VN"/>
              <a:t>Quan sát: Ở sân bay, bạn sẽ gặp gỡ những con người đến từ khắp nơi trên thế giới, mang theo ngôn ngữ, văn hóa và câu chuyện của riêng họ.</a:t>
            </a:r>
            <a:endParaRPr lang="en-US"/>
          </a:p>
          <a:p>
            <a:pPr algn="just"/>
            <a:r>
              <a:rPr lang="vi-VN"/>
              <a:t>Bài học: Tôn trọng sự khác biệt và học hỏi từ người khác giúp bạn trở nên cởi mở và bao dung hơn.</a:t>
            </a:r>
            <a:endParaRPr lang="en-US"/>
          </a:p>
        </p:txBody>
      </p:sp>
      <p:pic>
        <p:nvPicPr>
          <p:cNvPr id="6146" name="Picture 2" descr="17.900+ Grafiken, lizenzfreie Vektorgrafiken und Clipart zu International  Students - iStock | Study abroad, University students, Students university">
            <a:extLst>
              <a:ext uri="{FF2B5EF4-FFF2-40B4-BE49-F238E27FC236}">
                <a16:creationId xmlns:a16="http://schemas.microsoft.com/office/drawing/2014/main" id="{4FD78FEE-09A5-4D96-AF3A-AB76BADA1B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4485" y="1761388"/>
            <a:ext cx="4737857" cy="359984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B30F493-8012-4D6A-81CA-89403FFCFA1E}"/>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2562509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B4CFD-6717-4802-A587-59D1A4F963BD}"/>
              </a:ext>
            </a:extLst>
          </p:cNvPr>
          <p:cNvSpPr>
            <a:spLocks noGrp="1"/>
          </p:cNvSpPr>
          <p:nvPr>
            <p:ph type="title"/>
          </p:nvPr>
        </p:nvSpPr>
        <p:spPr/>
        <p:txBody>
          <a:bodyPr/>
          <a:lstStyle/>
          <a:p>
            <a:r>
              <a:rPr lang="en-US" b="1">
                <a:solidFill>
                  <a:srgbClr val="002060"/>
                </a:solidFill>
              </a:rPr>
              <a:t>6. AN TOÀN LUÔN </a:t>
            </a:r>
            <a:r>
              <a:rPr lang="vi-VN" b="1">
                <a:solidFill>
                  <a:srgbClr val="002060"/>
                </a:solidFill>
              </a:rPr>
              <a:t>Ư</a:t>
            </a:r>
            <a:r>
              <a:rPr lang="en-US" b="1">
                <a:solidFill>
                  <a:srgbClr val="002060"/>
                </a:solidFill>
              </a:rPr>
              <a:t>U TIÊN HÀNG ĐẦU</a:t>
            </a:r>
          </a:p>
        </p:txBody>
      </p:sp>
      <p:sp>
        <p:nvSpPr>
          <p:cNvPr id="3" name="Content Placeholder 2">
            <a:extLst>
              <a:ext uri="{FF2B5EF4-FFF2-40B4-BE49-F238E27FC236}">
                <a16:creationId xmlns:a16="http://schemas.microsoft.com/office/drawing/2014/main" id="{5A8A5022-1948-4539-B5F0-DE131814C1AD}"/>
              </a:ext>
            </a:extLst>
          </p:cNvPr>
          <p:cNvSpPr>
            <a:spLocks noGrp="1"/>
          </p:cNvSpPr>
          <p:nvPr>
            <p:ph idx="1"/>
          </p:nvPr>
        </p:nvSpPr>
        <p:spPr>
          <a:xfrm>
            <a:off x="1371600" y="2286000"/>
            <a:ext cx="5423483" cy="3581400"/>
          </a:xfrm>
        </p:spPr>
        <p:txBody>
          <a:bodyPr/>
          <a:lstStyle/>
          <a:p>
            <a:pPr algn="just"/>
            <a:r>
              <a:rPr lang="vi-VN"/>
              <a:t>Quan sát: Quy trình kiểm tra an ninh nghiêm ngặt nhằm bảo vệ mọi người.</a:t>
            </a:r>
            <a:endParaRPr lang="en-US"/>
          </a:p>
          <a:p>
            <a:pPr algn="just"/>
            <a:r>
              <a:rPr lang="vi-VN"/>
              <a:t>Bài học: Đừng bao giờ đánh đổi sự an toàn vì sự tiện lợi. Trong bất kỳ lĩnh vực nào, phòng ngừa rủi ro luôn quan trọng hơn sửa chữa sai lầm.</a:t>
            </a:r>
            <a:endParaRPr lang="en-US"/>
          </a:p>
        </p:txBody>
      </p:sp>
      <p:pic>
        <p:nvPicPr>
          <p:cNvPr id="7170" name="Picture 2" descr="Cuộc đời tẻ nhạt của những &quot;xác sống&quot; vật vờ bên trong &quot;vùng an toàn&quot;:  Ngoài kia bao la thế giới, cứ cố chấp đứng im bạn sẽ mãi chỉ là kẻ">
            <a:extLst>
              <a:ext uri="{FF2B5EF4-FFF2-40B4-BE49-F238E27FC236}">
                <a16:creationId xmlns:a16="http://schemas.microsoft.com/office/drawing/2014/main" id="{C761CDEF-EA7A-4E89-90B2-7C2DCA7F75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590"/>
          <a:stretch/>
        </p:blipFill>
        <p:spPr bwMode="auto">
          <a:xfrm>
            <a:off x="6940491" y="2080469"/>
            <a:ext cx="4792698" cy="26970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CFDD63D-8DB6-4AC6-8955-FB93C2102C1B}"/>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477386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BD29E-DB50-4715-912B-FA2F9D2FE049}"/>
              </a:ext>
            </a:extLst>
          </p:cNvPr>
          <p:cNvSpPr>
            <a:spLocks noGrp="1"/>
          </p:cNvSpPr>
          <p:nvPr>
            <p:ph type="title"/>
          </p:nvPr>
        </p:nvSpPr>
        <p:spPr/>
        <p:txBody>
          <a:bodyPr>
            <a:normAutofit/>
          </a:bodyPr>
          <a:lstStyle/>
          <a:p>
            <a:r>
              <a:rPr lang="en-US" sz="4000" b="1">
                <a:solidFill>
                  <a:srgbClr val="002060"/>
                </a:solidFill>
              </a:rPr>
              <a:t>7. KHÔNG NGỪNG HỌC HỎI VÀ THÍCH NGHI </a:t>
            </a:r>
          </a:p>
        </p:txBody>
      </p:sp>
      <p:sp>
        <p:nvSpPr>
          <p:cNvPr id="3" name="Content Placeholder 2">
            <a:extLst>
              <a:ext uri="{FF2B5EF4-FFF2-40B4-BE49-F238E27FC236}">
                <a16:creationId xmlns:a16="http://schemas.microsoft.com/office/drawing/2014/main" id="{A27FDFF5-3D2A-4950-93EE-0DA168BED6A0}"/>
              </a:ext>
            </a:extLst>
          </p:cNvPr>
          <p:cNvSpPr>
            <a:spLocks noGrp="1"/>
          </p:cNvSpPr>
          <p:nvPr>
            <p:ph idx="1"/>
          </p:nvPr>
        </p:nvSpPr>
        <p:spPr>
          <a:xfrm>
            <a:off x="5931017" y="2344722"/>
            <a:ext cx="5041783" cy="3581400"/>
          </a:xfrm>
        </p:spPr>
        <p:txBody>
          <a:bodyPr/>
          <a:lstStyle/>
          <a:p>
            <a:pPr algn="just"/>
            <a:r>
              <a:rPr lang="vi-VN"/>
              <a:t>Quan sát: Công nghệ hiện đại như check-in tự động, quét mã QR, và hệ thống theo dõi hành lý giúp cải thiện trải nghiệm của hành khách.</a:t>
            </a:r>
            <a:endParaRPr lang="en-US"/>
          </a:p>
          <a:p>
            <a:pPr algn="just"/>
            <a:r>
              <a:rPr lang="vi-VN"/>
              <a:t>Bài học: Luôn sẵn sàng tiếp cận và học hỏi </a:t>
            </a:r>
            <a:r>
              <a:rPr lang="en-US"/>
              <a:t>sự đổi </a:t>
            </a:r>
            <a:r>
              <a:rPr lang="vi-VN"/>
              <a:t>mới để không bị tụt hậu.</a:t>
            </a:r>
            <a:endParaRPr lang="en-US"/>
          </a:p>
        </p:txBody>
      </p:sp>
      <p:pic>
        <p:nvPicPr>
          <p:cNvPr id="8194" name="Picture 2" descr="Chấp nhận 10 sự thật phũ phàng này, bạn sẽ thấy cuộc sống thoải mái hơn rất  nhiều">
            <a:extLst>
              <a:ext uri="{FF2B5EF4-FFF2-40B4-BE49-F238E27FC236}">
                <a16:creationId xmlns:a16="http://schemas.microsoft.com/office/drawing/2014/main" id="{D578497F-5FD5-4F83-9A94-6ADEEAEE97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972"/>
          <a:stretch/>
        </p:blipFill>
        <p:spPr bwMode="auto">
          <a:xfrm>
            <a:off x="1076587" y="1937857"/>
            <a:ext cx="4694033" cy="313748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079C574-69E2-477A-8129-37533AB0F7C9}"/>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244200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333B-A3E4-4CB9-96E5-9CC69CE34E74}"/>
              </a:ext>
            </a:extLst>
          </p:cNvPr>
          <p:cNvSpPr>
            <a:spLocks noGrp="1"/>
          </p:cNvSpPr>
          <p:nvPr>
            <p:ph type="title"/>
          </p:nvPr>
        </p:nvSpPr>
        <p:spPr/>
        <p:txBody>
          <a:bodyPr/>
          <a:lstStyle/>
          <a:p>
            <a:r>
              <a:rPr lang="en-US" b="1">
                <a:solidFill>
                  <a:srgbClr val="002060"/>
                </a:solidFill>
              </a:rPr>
              <a:t>8. CHUẨN BỊ ĐỂ GIẢM CĂNG THẲNG</a:t>
            </a:r>
          </a:p>
        </p:txBody>
      </p:sp>
      <p:sp>
        <p:nvSpPr>
          <p:cNvPr id="3" name="Content Placeholder 2">
            <a:extLst>
              <a:ext uri="{FF2B5EF4-FFF2-40B4-BE49-F238E27FC236}">
                <a16:creationId xmlns:a16="http://schemas.microsoft.com/office/drawing/2014/main" id="{ACBB055A-499E-4D6F-AC77-F0FE87A549D7}"/>
              </a:ext>
            </a:extLst>
          </p:cNvPr>
          <p:cNvSpPr>
            <a:spLocks noGrp="1"/>
          </p:cNvSpPr>
          <p:nvPr>
            <p:ph idx="1"/>
          </p:nvPr>
        </p:nvSpPr>
        <p:spPr>
          <a:xfrm>
            <a:off x="1371600" y="2286000"/>
            <a:ext cx="4794308" cy="3581400"/>
          </a:xfrm>
        </p:spPr>
        <p:txBody>
          <a:bodyPr/>
          <a:lstStyle/>
          <a:p>
            <a:pPr algn="just"/>
            <a:r>
              <a:rPr lang="vi-VN"/>
              <a:t>Quan sát: Những hành khách đến sớm, chuẩn bị đầy đủ giấy tờ và tuân thủ quy trình ít khi cảm thấy căng thẳng hơn những người vội vã hoặc thiếu giấy tờ.</a:t>
            </a:r>
            <a:endParaRPr lang="en-US"/>
          </a:p>
          <a:p>
            <a:pPr algn="just"/>
            <a:r>
              <a:rPr lang="vi-VN"/>
              <a:t>Bài học: Chuẩn bị kỹ lưỡng giúp bạn đối mặt với những tình huống khó khăn một cách bình tĩnh hơn.</a:t>
            </a:r>
            <a:endParaRPr lang="en-US"/>
          </a:p>
        </p:txBody>
      </p:sp>
      <p:pic>
        <p:nvPicPr>
          <p:cNvPr id="9218" name="Picture 2" descr="Danh ngôn Chuẩn bị">
            <a:extLst>
              <a:ext uri="{FF2B5EF4-FFF2-40B4-BE49-F238E27FC236}">
                <a16:creationId xmlns:a16="http://schemas.microsoft.com/office/drawing/2014/main" id="{F47FA5CE-57B1-49CA-B01E-3DD9D0FF04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6943" y="2104588"/>
            <a:ext cx="4286250" cy="282892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9F08B82-5581-4A33-B494-D38617312FA1}"/>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1745236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0591C-BAAC-4E7B-90BC-75928F89FB7B}"/>
              </a:ext>
            </a:extLst>
          </p:cNvPr>
          <p:cNvSpPr>
            <a:spLocks noGrp="1"/>
          </p:cNvSpPr>
          <p:nvPr>
            <p:ph type="title"/>
          </p:nvPr>
        </p:nvSpPr>
        <p:spPr/>
        <p:txBody>
          <a:bodyPr>
            <a:normAutofit/>
          </a:bodyPr>
          <a:lstStyle/>
          <a:p>
            <a:r>
              <a:rPr lang="en-US" sz="2800" b="1">
                <a:solidFill>
                  <a:srgbClr val="002060"/>
                </a:solidFill>
              </a:rPr>
              <a:t>9. TẬP TRUNG VÀO HÀNH TRÌNH KHÔNG PHẢI ĐÍCH ĐẾN</a:t>
            </a:r>
          </a:p>
        </p:txBody>
      </p:sp>
      <p:sp>
        <p:nvSpPr>
          <p:cNvPr id="3" name="Content Placeholder 2">
            <a:extLst>
              <a:ext uri="{FF2B5EF4-FFF2-40B4-BE49-F238E27FC236}">
                <a16:creationId xmlns:a16="http://schemas.microsoft.com/office/drawing/2014/main" id="{3F933CE7-35A7-4F08-8213-F6AA71980A90}"/>
              </a:ext>
            </a:extLst>
          </p:cNvPr>
          <p:cNvSpPr>
            <a:spLocks noGrp="1"/>
          </p:cNvSpPr>
          <p:nvPr>
            <p:ph idx="1"/>
          </p:nvPr>
        </p:nvSpPr>
        <p:spPr>
          <a:xfrm>
            <a:off x="5729681" y="2028039"/>
            <a:ext cx="5318620" cy="3581400"/>
          </a:xfrm>
        </p:spPr>
        <p:txBody>
          <a:bodyPr/>
          <a:lstStyle/>
          <a:p>
            <a:pPr algn="just"/>
            <a:r>
              <a:rPr lang="vi-VN"/>
              <a:t>Quan sát: Sân bay là nơi bắt đầu và kết thúc nhiều hành trình. Mỗi người đều mang trong mình kỳ vọng, lo âu, hoặc háo hức.</a:t>
            </a:r>
            <a:endParaRPr lang="en-US"/>
          </a:p>
          <a:p>
            <a:pPr algn="just"/>
            <a:r>
              <a:rPr lang="vi-VN"/>
              <a:t>Bài học: Cuộc sống cũng là một hành trình. Hãy tận hưởng từng khoảnh khắc thay vì chỉ chăm chăm đến mục tiêu cuối cùng.</a:t>
            </a:r>
            <a:endParaRPr lang="en-US"/>
          </a:p>
        </p:txBody>
      </p:sp>
      <p:pic>
        <p:nvPicPr>
          <p:cNvPr id="10242" name="Picture 2" descr="Tranh động lực thành công không phải là đích đến mà là một cuộc hành trình">
            <a:extLst>
              <a:ext uri="{FF2B5EF4-FFF2-40B4-BE49-F238E27FC236}">
                <a16:creationId xmlns:a16="http://schemas.microsoft.com/office/drawing/2014/main" id="{6E335E39-C03C-4F75-8082-0E5952D27D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5101" y="1428750"/>
            <a:ext cx="3711080" cy="371108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10281EA-08DC-416F-A43E-CD2EAE48D7C7}"/>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404098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224A3-E8E2-4C65-AF0F-0CC8858D2AFE}"/>
              </a:ext>
            </a:extLst>
          </p:cNvPr>
          <p:cNvSpPr>
            <a:spLocks noGrp="1"/>
          </p:cNvSpPr>
          <p:nvPr>
            <p:ph type="title"/>
          </p:nvPr>
        </p:nvSpPr>
        <p:spPr>
          <a:xfrm>
            <a:off x="1295400" y="677411"/>
            <a:ext cx="9601200" cy="1485900"/>
          </a:xfrm>
        </p:spPr>
        <p:txBody>
          <a:bodyPr/>
          <a:lstStyle/>
          <a:p>
            <a:r>
              <a:rPr lang="en-US" b="1">
                <a:solidFill>
                  <a:srgbClr val="002060"/>
                </a:solidFill>
              </a:rPr>
              <a:t>10. MỖI NGƯỜI CÓ HÀNH RIÊNG</a:t>
            </a:r>
          </a:p>
        </p:txBody>
      </p:sp>
      <p:sp>
        <p:nvSpPr>
          <p:cNvPr id="3" name="Content Placeholder 2">
            <a:extLst>
              <a:ext uri="{FF2B5EF4-FFF2-40B4-BE49-F238E27FC236}">
                <a16:creationId xmlns:a16="http://schemas.microsoft.com/office/drawing/2014/main" id="{46D84FB2-C8D4-4983-8780-0A42586C2875}"/>
              </a:ext>
            </a:extLst>
          </p:cNvPr>
          <p:cNvSpPr>
            <a:spLocks noGrp="1"/>
          </p:cNvSpPr>
          <p:nvPr>
            <p:ph idx="1"/>
          </p:nvPr>
        </p:nvSpPr>
        <p:spPr>
          <a:xfrm>
            <a:off x="1371600" y="2286000"/>
            <a:ext cx="5364760" cy="3581400"/>
          </a:xfrm>
        </p:spPr>
        <p:txBody>
          <a:bodyPr/>
          <a:lstStyle/>
          <a:p>
            <a:pPr algn="just"/>
            <a:r>
              <a:rPr lang="vi-VN"/>
              <a:t>Quan sát: Một số người đang trên đường du lịch, một số đi làm, hoặc một số đang trở về nhà. Mỗi hành trình là duy nhất.</a:t>
            </a:r>
            <a:endParaRPr lang="en-US"/>
          </a:p>
          <a:p>
            <a:pPr algn="just"/>
            <a:r>
              <a:rPr lang="vi-VN"/>
              <a:t>Bài học: Đừng so sánh hành trình của mình với người khác. Hãy tập trung vào con đường của riêng bạn và làm nó trở nên ý nghĩa.</a:t>
            </a:r>
            <a:endParaRPr lang="en-US"/>
          </a:p>
        </p:txBody>
      </p:sp>
      <p:pic>
        <p:nvPicPr>
          <p:cNvPr id="12290" name="Picture 2" descr="Sống trong đời mà gặp được 4 kiểu người này, nhất định phải nâng niu trân  trọng bởi họ chính là quý nhân của bạn">
            <a:extLst>
              <a:ext uri="{FF2B5EF4-FFF2-40B4-BE49-F238E27FC236}">
                <a16:creationId xmlns:a16="http://schemas.microsoft.com/office/drawing/2014/main" id="{DB1D9977-CBB6-4071-A0EA-247359824B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17"/>
          <a:stretch/>
        </p:blipFill>
        <p:spPr bwMode="auto">
          <a:xfrm>
            <a:off x="7273080" y="1887523"/>
            <a:ext cx="4505554" cy="369744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CBABAF1-18E2-438F-B484-DA177ECAF607}"/>
              </a:ext>
            </a:extLst>
          </p:cNvPr>
          <p:cNvPicPr>
            <a:picLocks noChangeAspect="1"/>
          </p:cNvPicPr>
          <p:nvPr/>
        </p:nvPicPr>
        <p:blipFill>
          <a:blip r:embed="rId3"/>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366767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BF970-2836-435C-B6C8-B23AFB50215D}"/>
              </a:ext>
            </a:extLst>
          </p:cNvPr>
          <p:cNvSpPr>
            <a:spLocks noGrp="1"/>
          </p:cNvSpPr>
          <p:nvPr>
            <p:ph type="title"/>
          </p:nvPr>
        </p:nvSpPr>
        <p:spPr/>
        <p:txBody>
          <a:bodyPr/>
          <a:lstStyle/>
          <a:p>
            <a:r>
              <a:rPr lang="en-US" b="1">
                <a:solidFill>
                  <a:srgbClr val="00B050"/>
                </a:solidFill>
              </a:rPr>
              <a:t>THANKS!</a:t>
            </a:r>
          </a:p>
        </p:txBody>
      </p:sp>
      <p:pic>
        <p:nvPicPr>
          <p:cNvPr id="5" name="Content Placeholder 4">
            <a:extLst>
              <a:ext uri="{FF2B5EF4-FFF2-40B4-BE49-F238E27FC236}">
                <a16:creationId xmlns:a16="http://schemas.microsoft.com/office/drawing/2014/main" id="{D57C1516-6C73-4D0D-AC75-A807C851A63D}"/>
              </a:ext>
            </a:extLst>
          </p:cNvPr>
          <p:cNvPicPr>
            <a:picLocks noGrp="1" noChangeAspect="1"/>
          </p:cNvPicPr>
          <p:nvPr>
            <p:ph idx="1"/>
          </p:nvPr>
        </p:nvPicPr>
        <p:blipFill>
          <a:blip r:embed="rId2"/>
          <a:stretch>
            <a:fillRect/>
          </a:stretch>
        </p:blipFill>
        <p:spPr>
          <a:xfrm>
            <a:off x="5766781" y="3729198"/>
            <a:ext cx="810838" cy="695004"/>
          </a:xfrm>
        </p:spPr>
      </p:pic>
      <p:pic>
        <p:nvPicPr>
          <p:cNvPr id="11266" name="Picture 2" descr="Mỗi Người Xuất Hiện Trong Cuộc Đời Bạn Đều Có Lý Do, Khoa Học Tâm Linh">
            <a:extLst>
              <a:ext uri="{FF2B5EF4-FFF2-40B4-BE49-F238E27FC236}">
                <a16:creationId xmlns:a16="http://schemas.microsoft.com/office/drawing/2014/main" id="{F65C83B9-D8AC-45D0-8EDA-0D99B6FA5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5075" y="1558911"/>
            <a:ext cx="7334250" cy="385762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8DBF266-D56B-4071-85E7-AE14A82E9CAF}"/>
              </a:ext>
            </a:extLst>
          </p:cNvPr>
          <p:cNvPicPr>
            <a:picLocks noChangeAspect="1"/>
          </p:cNvPicPr>
          <p:nvPr/>
        </p:nvPicPr>
        <p:blipFill>
          <a:blip r:embed="rId2"/>
          <a:stretch>
            <a:fillRect/>
          </a:stretch>
        </p:blipFill>
        <p:spPr>
          <a:xfrm>
            <a:off x="11269260" y="153741"/>
            <a:ext cx="810838" cy="695004"/>
          </a:xfrm>
          <a:prstGeom prst="rect">
            <a:avLst/>
          </a:prstGeom>
        </p:spPr>
      </p:pic>
    </p:spTree>
    <p:extLst>
      <p:ext uri="{BB962C8B-B14F-4D97-AF65-F5344CB8AC3E}">
        <p14:creationId xmlns:p14="http://schemas.microsoft.com/office/powerpoint/2010/main" val="3580729800"/>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{2D9A21F0-286F-4D04-B6E6-B5BC2FD5AA35}tf10001105</Template>
  <TotalTime>31</TotalTime>
  <Words>693</Words>
  <Application>Microsoft Office PowerPoint</Application>
  <PresentationFormat>Widescreen</PresentationFormat>
  <Paragraphs>32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Franklin Gothic Book</vt:lpstr>
      <vt:lpstr>Tahoma</vt:lpstr>
      <vt:lpstr>Crop</vt:lpstr>
      <vt:lpstr>10 BÀI HỌC  TỪ SÂN BAY</vt:lpstr>
      <vt:lpstr>1. TẦM QUAN TRỌN CỦA KẾ HOẠCH VÀ TỔ CHỨC</vt:lpstr>
      <vt:lpstr>2. THỜI GIAN LÀ TÀI SẢN QUÝ GIÁ NHẤT</vt:lpstr>
      <vt:lpstr>3. THÁI ĐỘ LINH HOẠT TRONG MỌI TÌNH HUỐNG</vt:lpstr>
      <vt:lpstr>4. KIÊN NHẪN LÀ CHÌA KHÓA</vt:lpstr>
      <vt:lpstr>5. ĐA DẠNG LÀ NÉT ĐẸP CỦA THẾ GIỚI</vt:lpstr>
      <vt:lpstr>6. AN TOÀN LUÔN ƯU TIÊN HÀNG ĐẦU</vt:lpstr>
      <vt:lpstr>7. KHÔNG NGỪNG HỌC HỎI VÀ THÍCH NGHI </vt:lpstr>
      <vt:lpstr>8. CHUẨN BỊ ĐỂ GIẢM CĂNG THẲNG</vt:lpstr>
      <vt:lpstr>9. TẬP TRUNG VÀO HÀNH TRÌNH KHÔNG PHẢI ĐÍCH ĐẾN</vt:lpstr>
      <vt:lpstr>10. MỖI NGƯỜI CÓ HÀNH RIÊNG</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BÀI HỌC  TỪ SÂN BAY</dc:title>
  <dc:creator>Thien Le</dc:creator>
  <cp:lastModifiedBy>Thien Le</cp:lastModifiedBy>
  <cp:revision>1</cp:revision>
  <dcterms:created xsi:type="dcterms:W3CDTF">2024-12-12T08:31:47Z</dcterms:created>
  <dcterms:modified xsi:type="dcterms:W3CDTF">2024-12-12T09:03:31Z</dcterms:modified>
</cp:coreProperties>
</file>