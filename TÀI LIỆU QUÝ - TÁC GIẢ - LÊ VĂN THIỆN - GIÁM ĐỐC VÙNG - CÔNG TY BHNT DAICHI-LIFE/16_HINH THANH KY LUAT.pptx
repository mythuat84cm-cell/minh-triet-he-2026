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12/16/2024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12/16/2024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12/16/2024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12/16/2024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12/16/2024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3FB55-F81A-5C49-4E38-1E406050438B}"/>
              </a:ext>
            </a:extLst>
          </p:cNvPr>
          <p:cNvSpPr>
            <a:spLocks noGrp="1"/>
          </p:cNvSpPr>
          <p:nvPr>
            <p:ph type="ctrTitle"/>
          </p:nvPr>
        </p:nvSpPr>
        <p:spPr>
          <a:xfrm>
            <a:off x="1915127" y="3273305"/>
            <a:ext cx="8361229" cy="2098226"/>
          </a:xfrm>
        </p:spPr>
        <p:txBody>
          <a:bodyPr/>
          <a:lstStyle/>
          <a:p>
            <a:r>
              <a:rPr lang="vi-VN" sz="3200" b="1" i="0" dirty="0">
                <a:solidFill>
                  <a:srgbClr val="00B050"/>
                </a:solidFill>
                <a:effectLst/>
                <a:latin typeface="SegoeuiPc"/>
              </a:rPr>
              <a:t>Sức Mạnh Của Kỷ Luật</a:t>
            </a:r>
            <a:br>
              <a:rPr lang="en-US" sz="3200" b="1" i="0" dirty="0">
                <a:solidFill>
                  <a:srgbClr val="00B050"/>
                </a:solidFill>
                <a:effectLst/>
                <a:latin typeface="SegoeuiPc"/>
              </a:rPr>
            </a:br>
            <a:r>
              <a:rPr lang="vi-VN" sz="3200" b="1" i="0" dirty="0">
                <a:solidFill>
                  <a:srgbClr val="00B050"/>
                </a:solidFill>
                <a:effectLst/>
                <a:latin typeface="SegoeuiPc"/>
              </a:rPr>
              <a:t> Cách Đạt Được Sự Phát Triển Ổn Định Qua Bốn Bước</a:t>
            </a:r>
            <a:endParaRPr lang="en-US" sz="3200" b="1" dirty="0">
              <a:solidFill>
                <a:srgbClr val="00B050"/>
              </a:solidFill>
            </a:endParaRPr>
          </a:p>
        </p:txBody>
      </p:sp>
      <p:pic>
        <p:nvPicPr>
          <p:cNvPr id="1026" name="Picture 2" descr="Muốn Thành Công Phải Biết Kỉ Luật Bản Thân">
            <a:extLst>
              <a:ext uri="{FF2B5EF4-FFF2-40B4-BE49-F238E27FC236}">
                <a16:creationId xmlns:a16="http://schemas.microsoft.com/office/drawing/2014/main" id="{F88437CE-3EE8-4225-C5D6-14724F134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4013" y="1282744"/>
            <a:ext cx="5560748" cy="2662208"/>
          </a:xfrm>
          <a:prstGeom prst="rect">
            <a:avLst/>
          </a:prstGeom>
          <a:noFill/>
          <a:effectLst>
            <a:glow rad="1397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4" name="Content Placeholder 4">
            <a:extLst>
              <a:ext uri="{FF2B5EF4-FFF2-40B4-BE49-F238E27FC236}">
                <a16:creationId xmlns:a16="http://schemas.microsoft.com/office/drawing/2014/main" id="{FB934690-6D60-5ECE-CA94-E3CB973BE2C3}"/>
              </a:ext>
            </a:extLst>
          </p:cNvPr>
          <p:cNvPicPr>
            <a:picLocks noChangeAspect="1"/>
          </p:cNvPicPr>
          <p:nvPr/>
        </p:nvPicPr>
        <p:blipFill>
          <a:blip r:embed="rId3"/>
          <a:stretch>
            <a:fillRect/>
          </a:stretch>
        </p:blipFill>
        <p:spPr>
          <a:xfrm>
            <a:off x="11314136" y="139139"/>
            <a:ext cx="806373" cy="694146"/>
          </a:xfrm>
          <a:prstGeom prst="rect">
            <a:avLst/>
          </a:prstGeom>
        </p:spPr>
      </p:pic>
    </p:spTree>
    <p:extLst>
      <p:ext uri="{BB962C8B-B14F-4D97-AF65-F5344CB8AC3E}">
        <p14:creationId xmlns:p14="http://schemas.microsoft.com/office/powerpoint/2010/main" val="68904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94B3A-6035-54FC-16D3-2233C2D27F57}"/>
              </a:ext>
            </a:extLst>
          </p:cNvPr>
          <p:cNvSpPr>
            <a:spLocks noGrp="1"/>
          </p:cNvSpPr>
          <p:nvPr>
            <p:ph type="title"/>
          </p:nvPr>
        </p:nvSpPr>
        <p:spPr>
          <a:xfrm>
            <a:off x="1296099" y="685800"/>
            <a:ext cx="9601200" cy="1485900"/>
          </a:xfrm>
        </p:spPr>
        <p:txBody>
          <a:bodyPr/>
          <a:lstStyle/>
          <a:p>
            <a:r>
              <a:rPr lang="vi-VN" b="1" i="0" dirty="0">
                <a:solidFill>
                  <a:srgbClr val="002060"/>
                </a:solidFill>
                <a:effectLst/>
                <a:latin typeface="SegoeuiPc"/>
              </a:rPr>
              <a:t>Bước </a:t>
            </a:r>
            <a:r>
              <a:rPr lang="en-US" b="1" i="0" dirty="0">
                <a:solidFill>
                  <a:srgbClr val="002060"/>
                </a:solidFill>
                <a:effectLst/>
                <a:latin typeface="SegoeuiPc"/>
              </a:rPr>
              <a:t>1</a:t>
            </a:r>
            <a:r>
              <a:rPr lang="vi-VN" b="1" i="0" dirty="0">
                <a:solidFill>
                  <a:srgbClr val="002060"/>
                </a:solidFill>
                <a:effectLst/>
                <a:latin typeface="SegoeuiPc"/>
              </a:rPr>
              <a:t>: Thói Quen</a:t>
            </a:r>
            <a:endParaRPr lang="en-US" b="1" dirty="0">
              <a:solidFill>
                <a:srgbClr val="002060"/>
              </a:solidFill>
            </a:endParaRPr>
          </a:p>
        </p:txBody>
      </p:sp>
      <p:sp>
        <p:nvSpPr>
          <p:cNvPr id="3" name="Content Placeholder 2">
            <a:extLst>
              <a:ext uri="{FF2B5EF4-FFF2-40B4-BE49-F238E27FC236}">
                <a16:creationId xmlns:a16="http://schemas.microsoft.com/office/drawing/2014/main" id="{71ACBE4E-2B87-02F5-824C-A4BD5B31AAFF}"/>
              </a:ext>
            </a:extLst>
          </p:cNvPr>
          <p:cNvSpPr>
            <a:spLocks noGrp="1"/>
          </p:cNvSpPr>
          <p:nvPr>
            <p:ph idx="1"/>
          </p:nvPr>
        </p:nvSpPr>
        <p:spPr>
          <a:xfrm>
            <a:off x="4437776" y="2590800"/>
            <a:ext cx="6459523" cy="3581400"/>
          </a:xfrm>
        </p:spPr>
        <p:txBody>
          <a:bodyPr/>
          <a:lstStyle/>
          <a:p>
            <a:pPr marL="0" indent="0" algn="just">
              <a:buNone/>
            </a:pPr>
            <a:r>
              <a:rPr lang="vi-VN" b="0" i="0" dirty="0">
                <a:solidFill>
                  <a:srgbClr val="081C36"/>
                </a:solidFill>
                <a:effectLst/>
                <a:latin typeface="SegoeuiPc"/>
              </a:rPr>
              <a:t>Để đạt được sự ổn định, chúng ta cần thói quen. Gọi đó là lề thói, tiêu chuẩn, hoặc khuôn mẫu, điều quan trọng là chúng ta xây dựng những hành vi được chuẩn hóa, tự động, dẫn đến các kết quả ổn định mà chúng ta mong muốn.</a:t>
            </a:r>
            <a:endParaRPr lang="en-US" dirty="0"/>
          </a:p>
        </p:txBody>
      </p:sp>
      <p:sp>
        <p:nvSpPr>
          <p:cNvPr id="8" name="Frame 7">
            <a:extLst>
              <a:ext uri="{FF2B5EF4-FFF2-40B4-BE49-F238E27FC236}">
                <a16:creationId xmlns:a16="http://schemas.microsoft.com/office/drawing/2014/main" id="{85181EF2-9C2B-39E6-D7FB-862E2EF26BE2}"/>
              </a:ext>
            </a:extLst>
          </p:cNvPr>
          <p:cNvSpPr/>
          <p:nvPr/>
        </p:nvSpPr>
        <p:spPr>
          <a:xfrm>
            <a:off x="303175" y="2258554"/>
            <a:ext cx="3551864" cy="2527546"/>
          </a:xfrm>
          <a:prstGeom prst="frame">
            <a:avLst>
              <a:gd name="adj1" fmla="val 5450"/>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sp>
      <p:sp>
        <p:nvSpPr>
          <p:cNvPr id="9" name="Rectangle 8">
            <a:extLst>
              <a:ext uri="{FF2B5EF4-FFF2-40B4-BE49-F238E27FC236}">
                <a16:creationId xmlns:a16="http://schemas.microsoft.com/office/drawing/2014/main" id="{E2A120A1-0CC6-1F14-1A04-113477FB523C}"/>
              </a:ext>
            </a:extLst>
          </p:cNvPr>
          <p:cNvSpPr/>
          <p:nvPr/>
        </p:nvSpPr>
        <p:spPr>
          <a:xfrm>
            <a:off x="162350" y="2258554"/>
            <a:ext cx="3391107" cy="2328636"/>
          </a:xfrm>
          <a:prstGeom prst="rect">
            <a:avLst/>
          </a:prstGeom>
          <a:blipFill rotWithShape="1">
            <a:blip r:embed="rId2"/>
            <a:srcRect/>
            <a:stretch>
              <a:fillRect l="-17000" r="-17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0" name="Freeform: Shape 9">
            <a:extLst>
              <a:ext uri="{FF2B5EF4-FFF2-40B4-BE49-F238E27FC236}">
                <a16:creationId xmlns:a16="http://schemas.microsoft.com/office/drawing/2014/main" id="{B961119C-33B0-4D6A-F2DB-F9BC45382BFC}"/>
              </a:ext>
            </a:extLst>
          </p:cNvPr>
          <p:cNvSpPr/>
          <p:nvPr/>
        </p:nvSpPr>
        <p:spPr>
          <a:xfrm>
            <a:off x="442036" y="4347388"/>
            <a:ext cx="3276437" cy="300022"/>
          </a:xfrm>
          <a:custGeom>
            <a:avLst/>
            <a:gdLst>
              <a:gd name="connsiteX0" fmla="*/ 0 w 3276437"/>
              <a:gd name="connsiteY0" fmla="*/ 0 h 300022"/>
              <a:gd name="connsiteX1" fmla="*/ 3276437 w 3276437"/>
              <a:gd name="connsiteY1" fmla="*/ 0 h 300022"/>
              <a:gd name="connsiteX2" fmla="*/ 3276437 w 3276437"/>
              <a:gd name="connsiteY2" fmla="*/ 300022 h 300022"/>
              <a:gd name="connsiteX3" fmla="*/ 0 w 3276437"/>
              <a:gd name="connsiteY3" fmla="*/ 300022 h 300022"/>
              <a:gd name="connsiteX4" fmla="*/ 0 w 3276437"/>
              <a:gd name="connsiteY4" fmla="*/ 0 h 300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6437" h="300022">
                <a:moveTo>
                  <a:pt x="0" y="0"/>
                </a:moveTo>
                <a:lnTo>
                  <a:pt x="3276437" y="0"/>
                </a:lnTo>
                <a:lnTo>
                  <a:pt x="3276437" y="300022"/>
                </a:lnTo>
                <a:lnTo>
                  <a:pt x="0" y="3000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53340" rIns="142240" bIns="53340" numCol="1" spcCol="1270" anchor="ctr" anchorCtr="0">
            <a:noAutofit/>
          </a:bodyPr>
          <a:lstStyle/>
          <a:p>
            <a:pPr marL="0" lvl="0" indent="0" algn="l" defTabSz="622300">
              <a:lnSpc>
                <a:spcPct val="90000"/>
              </a:lnSpc>
              <a:spcBef>
                <a:spcPct val="0"/>
              </a:spcBef>
              <a:spcAft>
                <a:spcPct val="35000"/>
              </a:spcAft>
              <a:buNone/>
            </a:pPr>
            <a:endParaRPr lang="en-US" sz="1400" kern="1200"/>
          </a:p>
        </p:txBody>
      </p:sp>
      <p:sp>
        <p:nvSpPr>
          <p:cNvPr id="11" name="Rectangle 10">
            <a:extLst>
              <a:ext uri="{FF2B5EF4-FFF2-40B4-BE49-F238E27FC236}">
                <a16:creationId xmlns:a16="http://schemas.microsoft.com/office/drawing/2014/main" id="{403B4A68-05BF-F0D9-B1DE-78026E86EE84}"/>
              </a:ext>
            </a:extLst>
          </p:cNvPr>
          <p:cNvSpPr/>
          <p:nvPr/>
        </p:nvSpPr>
        <p:spPr>
          <a:xfrm>
            <a:off x="3999639" y="2258554"/>
            <a:ext cx="1623873" cy="252754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pic>
        <p:nvPicPr>
          <p:cNvPr id="12" name="Content Placeholder 4">
            <a:extLst>
              <a:ext uri="{FF2B5EF4-FFF2-40B4-BE49-F238E27FC236}">
                <a16:creationId xmlns:a16="http://schemas.microsoft.com/office/drawing/2014/main" id="{2DE8940D-21B8-D76A-E6B7-AD1334AB8E0C}"/>
              </a:ext>
            </a:extLst>
          </p:cNvPr>
          <p:cNvPicPr>
            <a:picLocks noChangeAspect="1"/>
          </p:cNvPicPr>
          <p:nvPr/>
        </p:nvPicPr>
        <p:blipFill>
          <a:blip r:embed="rId3"/>
          <a:stretch>
            <a:fillRect/>
          </a:stretch>
        </p:blipFill>
        <p:spPr>
          <a:xfrm>
            <a:off x="11314136" y="139139"/>
            <a:ext cx="806373" cy="694146"/>
          </a:xfrm>
          <a:prstGeom prst="rect">
            <a:avLst/>
          </a:prstGeom>
        </p:spPr>
      </p:pic>
    </p:spTree>
    <p:extLst>
      <p:ext uri="{BB962C8B-B14F-4D97-AF65-F5344CB8AC3E}">
        <p14:creationId xmlns:p14="http://schemas.microsoft.com/office/powerpoint/2010/main" val="369908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250F4-3697-E1A5-F6C8-635EC5DB109A}"/>
              </a:ext>
            </a:extLst>
          </p:cNvPr>
          <p:cNvSpPr>
            <a:spLocks noGrp="1"/>
          </p:cNvSpPr>
          <p:nvPr>
            <p:ph type="title"/>
          </p:nvPr>
        </p:nvSpPr>
        <p:spPr/>
        <p:txBody>
          <a:bodyPr/>
          <a:lstStyle/>
          <a:p>
            <a:r>
              <a:rPr lang="vi-VN" b="1" dirty="0">
                <a:solidFill>
                  <a:srgbClr val="002060"/>
                </a:solidFill>
              </a:rPr>
              <a:t>Bước </a:t>
            </a:r>
            <a:r>
              <a:rPr lang="en-US" b="1" dirty="0">
                <a:solidFill>
                  <a:srgbClr val="002060"/>
                </a:solidFill>
              </a:rPr>
              <a:t>2</a:t>
            </a:r>
            <a:r>
              <a:rPr lang="vi-VN" b="1" dirty="0">
                <a:solidFill>
                  <a:srgbClr val="002060"/>
                </a:solidFill>
              </a:rPr>
              <a:t>: Sự Ổn Định</a:t>
            </a:r>
            <a:endParaRPr lang="en-US" b="1" dirty="0">
              <a:solidFill>
                <a:srgbClr val="002060"/>
              </a:solidFill>
            </a:endParaRPr>
          </a:p>
        </p:txBody>
      </p:sp>
      <p:sp>
        <p:nvSpPr>
          <p:cNvPr id="3" name="Content Placeholder 2">
            <a:extLst>
              <a:ext uri="{FF2B5EF4-FFF2-40B4-BE49-F238E27FC236}">
                <a16:creationId xmlns:a16="http://schemas.microsoft.com/office/drawing/2014/main" id="{3382FD90-8A93-606B-35DE-C6D6B1742BCB}"/>
              </a:ext>
            </a:extLst>
          </p:cNvPr>
          <p:cNvSpPr>
            <a:spLocks noGrp="1"/>
          </p:cNvSpPr>
          <p:nvPr>
            <p:ph idx="1"/>
          </p:nvPr>
        </p:nvSpPr>
        <p:spPr>
          <a:xfrm>
            <a:off x="1371600" y="2171700"/>
            <a:ext cx="4724400" cy="3581400"/>
          </a:xfrm>
        </p:spPr>
        <p:txBody>
          <a:bodyPr/>
          <a:lstStyle/>
          <a:p>
            <a:pPr marL="0" indent="0" algn="just">
              <a:buNone/>
            </a:pPr>
            <a:r>
              <a:rPr lang="vi-VN" dirty="0"/>
              <a:t>Để đạt được sự phát triển, chúng ta cần sự ổn định. Sự phát triển có thể dự đoán được đòi hỏi kết quả nhất quán, ổn định. Không phải là kết quả nhất thời, dao động lớn, sự thay đổi giữa các phần trong tổ chức, hay các yếu tố không thể kiểm soát.</a:t>
            </a:r>
            <a:endParaRPr lang="en-US" dirty="0"/>
          </a:p>
        </p:txBody>
      </p:sp>
      <p:pic>
        <p:nvPicPr>
          <p:cNvPr id="3074" name="Picture 2" descr="4 thói quen mà 99% người giàu có nhất thế giới đều thực hiện mỗi ngày:  Thành công đôi khi nó có thể đến từ những việc mà bạn không làm!">
            <a:extLst>
              <a:ext uri="{FF2B5EF4-FFF2-40B4-BE49-F238E27FC236}">
                <a16:creationId xmlns:a16="http://schemas.microsoft.com/office/drawing/2014/main" id="{833091E0-6C02-772C-C7A9-0DF35D815D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00" t="9391" r="10749" b="4644"/>
          <a:stretch/>
        </p:blipFill>
        <p:spPr bwMode="auto">
          <a:xfrm>
            <a:off x="6862195" y="1858161"/>
            <a:ext cx="4724400" cy="3494016"/>
          </a:xfrm>
          <a:prstGeom prst="rect">
            <a:avLst/>
          </a:prstGeom>
          <a:noFill/>
          <a:scene3d>
            <a:camera prst="isometricOffAxis1Right"/>
            <a:lightRig rig="threePt" dir="t"/>
          </a:scene3d>
          <a:extLst>
            <a:ext uri="{909E8E84-426E-40DD-AFC4-6F175D3DCCD1}">
              <a14:hiddenFill xmlns:a14="http://schemas.microsoft.com/office/drawing/2010/main">
                <a:solidFill>
                  <a:srgbClr val="FFFFFF"/>
                </a:solidFill>
              </a14:hiddenFill>
            </a:ext>
          </a:extLst>
        </p:spPr>
      </p:pic>
      <p:pic>
        <p:nvPicPr>
          <p:cNvPr id="4" name="Content Placeholder 4">
            <a:extLst>
              <a:ext uri="{FF2B5EF4-FFF2-40B4-BE49-F238E27FC236}">
                <a16:creationId xmlns:a16="http://schemas.microsoft.com/office/drawing/2014/main" id="{DEEC9305-B97E-1D82-0248-1806B90BB2DB}"/>
              </a:ext>
            </a:extLst>
          </p:cNvPr>
          <p:cNvPicPr>
            <a:picLocks noChangeAspect="1"/>
          </p:cNvPicPr>
          <p:nvPr/>
        </p:nvPicPr>
        <p:blipFill>
          <a:blip r:embed="rId3"/>
          <a:stretch>
            <a:fillRect/>
          </a:stretch>
        </p:blipFill>
        <p:spPr>
          <a:xfrm>
            <a:off x="11314136" y="139139"/>
            <a:ext cx="806373" cy="694146"/>
          </a:xfrm>
          <a:prstGeom prst="rect">
            <a:avLst/>
          </a:prstGeom>
        </p:spPr>
      </p:pic>
    </p:spTree>
    <p:extLst>
      <p:ext uri="{BB962C8B-B14F-4D97-AF65-F5344CB8AC3E}">
        <p14:creationId xmlns:p14="http://schemas.microsoft.com/office/powerpoint/2010/main" val="305587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4862-210C-E62D-395C-0C7166CEC2E3}"/>
              </a:ext>
            </a:extLst>
          </p:cNvPr>
          <p:cNvSpPr>
            <a:spLocks noGrp="1"/>
          </p:cNvSpPr>
          <p:nvPr>
            <p:ph type="title"/>
          </p:nvPr>
        </p:nvSpPr>
        <p:spPr>
          <a:xfrm>
            <a:off x="1371600" y="669022"/>
            <a:ext cx="9601200" cy="1485900"/>
          </a:xfrm>
        </p:spPr>
        <p:txBody>
          <a:bodyPr/>
          <a:lstStyle/>
          <a:p>
            <a:r>
              <a:rPr lang="vi-VN" b="1" dirty="0">
                <a:solidFill>
                  <a:srgbClr val="002060"/>
                </a:solidFill>
              </a:rPr>
              <a:t>Bước </a:t>
            </a:r>
            <a:r>
              <a:rPr lang="en-US" b="1" dirty="0">
                <a:solidFill>
                  <a:srgbClr val="002060"/>
                </a:solidFill>
              </a:rPr>
              <a:t>3</a:t>
            </a:r>
            <a:r>
              <a:rPr lang="vi-VN" b="1" dirty="0">
                <a:solidFill>
                  <a:srgbClr val="002060"/>
                </a:solidFill>
              </a:rPr>
              <a:t>: Kỷ Luật</a:t>
            </a:r>
            <a:endParaRPr lang="en-US" b="1" dirty="0">
              <a:solidFill>
                <a:srgbClr val="002060"/>
              </a:solidFill>
            </a:endParaRPr>
          </a:p>
        </p:txBody>
      </p:sp>
      <p:sp>
        <p:nvSpPr>
          <p:cNvPr id="3" name="Content Placeholder 2">
            <a:extLst>
              <a:ext uri="{FF2B5EF4-FFF2-40B4-BE49-F238E27FC236}">
                <a16:creationId xmlns:a16="http://schemas.microsoft.com/office/drawing/2014/main" id="{0536FFC4-36CD-0F43-47F2-ACE8B1596912}"/>
              </a:ext>
            </a:extLst>
          </p:cNvPr>
          <p:cNvSpPr>
            <a:spLocks noGrp="1"/>
          </p:cNvSpPr>
          <p:nvPr>
            <p:ph idx="1"/>
          </p:nvPr>
        </p:nvSpPr>
        <p:spPr>
          <a:xfrm>
            <a:off x="6309440" y="2154921"/>
            <a:ext cx="5334479" cy="3581400"/>
          </a:xfrm>
        </p:spPr>
        <p:txBody>
          <a:bodyPr/>
          <a:lstStyle/>
          <a:p>
            <a:pPr marL="0" indent="0" algn="just">
              <a:buNone/>
            </a:pPr>
            <a:r>
              <a:rPr lang="vi-VN" dirty="0"/>
              <a:t>Để xây dựng thói quen, chúng ta cần kỷ luật. Thói quen không tự nhiên phát triển ngay lập tức hoặc không cần nỗ lực. Việc xây dựng thói quen cần có sự kiên nhẫn, bền bỉ và đôi khi phải vượt qua khó khăn. Kỷ luật giúp chúng ta tiếp tục duy trì, ngay cả khi chúng ta không cảm thấy thích làm điều đó.</a:t>
            </a:r>
            <a:endParaRPr lang="en-US" dirty="0"/>
          </a:p>
        </p:txBody>
      </p:sp>
      <p:grpSp>
        <p:nvGrpSpPr>
          <p:cNvPr id="5" name="Group 4">
            <a:extLst>
              <a:ext uri="{FF2B5EF4-FFF2-40B4-BE49-F238E27FC236}">
                <a16:creationId xmlns:a16="http://schemas.microsoft.com/office/drawing/2014/main" id="{60C3CE71-7951-9EA0-2C73-C3C064C0698C}"/>
              </a:ext>
            </a:extLst>
          </p:cNvPr>
          <p:cNvGrpSpPr/>
          <p:nvPr/>
        </p:nvGrpSpPr>
        <p:grpSpPr>
          <a:xfrm>
            <a:off x="2147582" y="2154922"/>
            <a:ext cx="3948417" cy="2196519"/>
            <a:chOff x="4285573" y="3136585"/>
            <a:chExt cx="1810426" cy="1214856"/>
          </a:xfrm>
        </p:grpSpPr>
        <p:sp>
          <p:nvSpPr>
            <p:cNvPr id="6" name="Rectangle 5" descr="Rèn Luyện Tính Kỷ Luật Như Thế Nào? - ProperLand">
              <a:extLst>
                <a:ext uri="{FF2B5EF4-FFF2-40B4-BE49-F238E27FC236}">
                  <a16:creationId xmlns:a16="http://schemas.microsoft.com/office/drawing/2014/main" id="{C7777170-58EE-86D7-C197-DF8DAA485CF7}"/>
                </a:ext>
              </a:extLst>
            </p:cNvPr>
            <p:cNvSpPr/>
            <p:nvPr/>
          </p:nvSpPr>
          <p:spPr>
            <a:xfrm>
              <a:off x="4532205" y="3279009"/>
              <a:ext cx="1418176" cy="899417"/>
            </a:xfrm>
            <a:prstGeom prst="rect">
              <a:avLst/>
            </a:prstGeom>
            <a:blipFill>
              <a:blip r:embed="rId2">
                <a:extLst>
                  <a:ext uri="{28A0092B-C50C-407E-A947-70E740481C1C}">
                    <a14:useLocalDpi xmlns:a14="http://schemas.microsoft.com/office/drawing/2010/main" val="0"/>
                  </a:ext>
                </a:extLst>
              </a:blip>
              <a:srcRect/>
              <a:stretch>
                <a:fillRect t="-25000" b="-2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7" name="Freeform: Shape 6">
              <a:extLst>
                <a:ext uri="{FF2B5EF4-FFF2-40B4-BE49-F238E27FC236}">
                  <a16:creationId xmlns:a16="http://schemas.microsoft.com/office/drawing/2014/main" id="{5DD301CE-0240-8158-8878-21AFD7580A2E}"/>
                </a:ext>
              </a:extLst>
            </p:cNvPr>
            <p:cNvSpPr/>
            <p:nvPr/>
          </p:nvSpPr>
          <p:spPr>
            <a:xfrm>
              <a:off x="4420550" y="3271446"/>
              <a:ext cx="1529831" cy="944949"/>
            </a:xfrm>
            <a:custGeom>
              <a:avLst/>
              <a:gdLst>
                <a:gd name="connsiteX0" fmla="*/ 0 w 1529831"/>
                <a:gd name="connsiteY0" fmla="*/ 0 h 944949"/>
                <a:gd name="connsiteX1" fmla="*/ 1529831 w 1529831"/>
                <a:gd name="connsiteY1" fmla="*/ 0 h 944949"/>
                <a:gd name="connsiteX2" fmla="*/ 1529831 w 1529831"/>
                <a:gd name="connsiteY2" fmla="*/ 944949 h 944949"/>
                <a:gd name="connsiteX3" fmla="*/ 0 w 1529831"/>
                <a:gd name="connsiteY3" fmla="*/ 944949 h 944949"/>
                <a:gd name="connsiteX4" fmla="*/ 0 w 1529831"/>
                <a:gd name="connsiteY4" fmla="*/ 0 h 94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9831" h="944949">
                  <a:moveTo>
                    <a:pt x="0" y="0"/>
                  </a:moveTo>
                  <a:lnTo>
                    <a:pt x="1529831" y="0"/>
                  </a:lnTo>
                  <a:lnTo>
                    <a:pt x="1529831" y="944949"/>
                  </a:lnTo>
                  <a:lnTo>
                    <a:pt x="0" y="94494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endParaRPr lang="en-US" sz="4200" kern="1200"/>
            </a:p>
          </p:txBody>
        </p:sp>
        <p:sp>
          <p:nvSpPr>
            <p:cNvPr id="8" name="Half Frame 7">
              <a:extLst>
                <a:ext uri="{FF2B5EF4-FFF2-40B4-BE49-F238E27FC236}">
                  <a16:creationId xmlns:a16="http://schemas.microsoft.com/office/drawing/2014/main" id="{C21BDCA9-6DE6-902B-D5F7-E76478B9FAF9}"/>
                </a:ext>
              </a:extLst>
            </p:cNvPr>
            <p:cNvSpPr/>
            <p:nvPr/>
          </p:nvSpPr>
          <p:spPr>
            <a:xfrm>
              <a:off x="4285573" y="3136585"/>
              <a:ext cx="367405" cy="367500"/>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Half Frame 8">
              <a:extLst>
                <a:ext uri="{FF2B5EF4-FFF2-40B4-BE49-F238E27FC236}">
                  <a16:creationId xmlns:a16="http://schemas.microsoft.com/office/drawing/2014/main" id="{F48B799C-2055-7591-0B88-B1AE41D13E0B}"/>
                </a:ext>
              </a:extLst>
            </p:cNvPr>
            <p:cNvSpPr/>
            <p:nvPr/>
          </p:nvSpPr>
          <p:spPr>
            <a:xfrm rot="5400000">
              <a:off x="5728546" y="3136632"/>
              <a:ext cx="367500" cy="367405"/>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Half Frame 9">
              <a:extLst>
                <a:ext uri="{FF2B5EF4-FFF2-40B4-BE49-F238E27FC236}">
                  <a16:creationId xmlns:a16="http://schemas.microsoft.com/office/drawing/2014/main" id="{83A233C9-F994-84EE-8300-B65C82217A1C}"/>
                </a:ext>
              </a:extLst>
            </p:cNvPr>
            <p:cNvSpPr/>
            <p:nvPr/>
          </p:nvSpPr>
          <p:spPr>
            <a:xfrm rot="16200000">
              <a:off x="4285526" y="3983988"/>
              <a:ext cx="367500" cy="367405"/>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Half Frame 10">
              <a:extLst>
                <a:ext uri="{FF2B5EF4-FFF2-40B4-BE49-F238E27FC236}">
                  <a16:creationId xmlns:a16="http://schemas.microsoft.com/office/drawing/2014/main" id="{9968D1CE-F80B-DA00-45DF-90AFAB9CC10D}"/>
                </a:ext>
              </a:extLst>
            </p:cNvPr>
            <p:cNvSpPr/>
            <p:nvPr/>
          </p:nvSpPr>
          <p:spPr>
            <a:xfrm rot="10800000">
              <a:off x="5728594" y="3983940"/>
              <a:ext cx="367405" cy="367500"/>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pic>
        <p:nvPicPr>
          <p:cNvPr id="12" name="Content Placeholder 4">
            <a:extLst>
              <a:ext uri="{FF2B5EF4-FFF2-40B4-BE49-F238E27FC236}">
                <a16:creationId xmlns:a16="http://schemas.microsoft.com/office/drawing/2014/main" id="{8EAEBB58-ECFA-09EB-4E32-97C27ACE333C}"/>
              </a:ext>
            </a:extLst>
          </p:cNvPr>
          <p:cNvPicPr>
            <a:picLocks noChangeAspect="1"/>
          </p:cNvPicPr>
          <p:nvPr/>
        </p:nvPicPr>
        <p:blipFill>
          <a:blip r:embed="rId3"/>
          <a:stretch>
            <a:fillRect/>
          </a:stretch>
        </p:blipFill>
        <p:spPr>
          <a:xfrm>
            <a:off x="11314136" y="139139"/>
            <a:ext cx="806373" cy="694146"/>
          </a:xfrm>
          <a:prstGeom prst="rect">
            <a:avLst/>
          </a:prstGeom>
        </p:spPr>
      </p:pic>
    </p:spTree>
    <p:extLst>
      <p:ext uri="{BB962C8B-B14F-4D97-AF65-F5344CB8AC3E}">
        <p14:creationId xmlns:p14="http://schemas.microsoft.com/office/powerpoint/2010/main" val="422217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167AE-2DA2-8E4A-E550-C8DA2E766F02}"/>
              </a:ext>
            </a:extLst>
          </p:cNvPr>
          <p:cNvSpPr>
            <a:spLocks noGrp="1"/>
          </p:cNvSpPr>
          <p:nvPr>
            <p:ph type="title"/>
          </p:nvPr>
        </p:nvSpPr>
        <p:spPr/>
        <p:txBody>
          <a:bodyPr/>
          <a:lstStyle/>
          <a:p>
            <a:br>
              <a:rPr lang="vi-VN" b="1" dirty="0">
                <a:solidFill>
                  <a:srgbClr val="002060"/>
                </a:solidFill>
              </a:rPr>
            </a:br>
            <a:r>
              <a:rPr lang="vi-VN" b="1" dirty="0">
                <a:solidFill>
                  <a:srgbClr val="002060"/>
                </a:solidFill>
              </a:rPr>
              <a:t>Bước 4: Sự Phát Triển</a:t>
            </a:r>
            <a:endParaRPr lang="en-US" b="1" dirty="0">
              <a:solidFill>
                <a:srgbClr val="002060"/>
              </a:solidFill>
            </a:endParaRPr>
          </a:p>
        </p:txBody>
      </p:sp>
      <p:sp>
        <p:nvSpPr>
          <p:cNvPr id="3" name="Content Placeholder 2">
            <a:extLst>
              <a:ext uri="{FF2B5EF4-FFF2-40B4-BE49-F238E27FC236}">
                <a16:creationId xmlns:a16="http://schemas.microsoft.com/office/drawing/2014/main" id="{827720C8-E95A-BFC7-F033-697D70B0BE0B}"/>
              </a:ext>
            </a:extLst>
          </p:cNvPr>
          <p:cNvSpPr>
            <a:spLocks noGrp="1"/>
          </p:cNvSpPr>
          <p:nvPr>
            <p:ph idx="1"/>
          </p:nvPr>
        </p:nvSpPr>
        <p:spPr>
          <a:xfrm>
            <a:off x="1430323" y="2495725"/>
            <a:ext cx="5297648" cy="3581400"/>
          </a:xfrm>
        </p:spPr>
        <p:txBody>
          <a:bodyPr/>
          <a:lstStyle/>
          <a:p>
            <a:pPr marL="0" indent="0" algn="just">
              <a:buNone/>
            </a:pPr>
            <a:r>
              <a:rPr lang="vi-VN" dirty="0"/>
              <a:t>Phát triển là điều chúng ta mong muốn. Không chỉ là sự phát triển về số lượng, mà quan trọng hơn là sự phát triển về chất lượng, sự cải thiện, và tiến bộ. Và không phải chỉ vì chúng ta may mắn hay thị trường đang bùng nổ. Không, chúng ta muốn sự phát triển ổn định và có thể dự đoán được.</a:t>
            </a:r>
            <a:endParaRPr lang="en-US" dirty="0"/>
          </a:p>
        </p:txBody>
      </p:sp>
      <p:pic>
        <p:nvPicPr>
          <p:cNvPr id="5122" name="Picture 2" descr="Bí mật: Làm thế nào để rèn luyện tính kỷ luật bản thân">
            <a:extLst>
              <a:ext uri="{FF2B5EF4-FFF2-40B4-BE49-F238E27FC236}">
                <a16:creationId xmlns:a16="http://schemas.microsoft.com/office/drawing/2014/main" id="{0E3D7721-4289-E22D-3187-97154B1EA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3166" y="2373692"/>
            <a:ext cx="4111305" cy="2312609"/>
          </a:xfrm>
          <a:prstGeom prst="rect">
            <a:avLst/>
          </a:prstGeom>
          <a:noFill/>
          <a:effectLst>
            <a:glow rad="1016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4" name="Content Placeholder 4">
            <a:extLst>
              <a:ext uri="{FF2B5EF4-FFF2-40B4-BE49-F238E27FC236}">
                <a16:creationId xmlns:a16="http://schemas.microsoft.com/office/drawing/2014/main" id="{E5BC07D1-E7EF-3C4B-1544-A136DF56A273}"/>
              </a:ext>
            </a:extLst>
          </p:cNvPr>
          <p:cNvPicPr>
            <a:picLocks noChangeAspect="1"/>
          </p:cNvPicPr>
          <p:nvPr/>
        </p:nvPicPr>
        <p:blipFill>
          <a:blip r:embed="rId3"/>
          <a:stretch>
            <a:fillRect/>
          </a:stretch>
        </p:blipFill>
        <p:spPr>
          <a:xfrm>
            <a:off x="11314136" y="139139"/>
            <a:ext cx="806373" cy="694146"/>
          </a:xfrm>
          <a:prstGeom prst="rect">
            <a:avLst/>
          </a:prstGeom>
        </p:spPr>
      </p:pic>
    </p:spTree>
    <p:extLst>
      <p:ext uri="{BB962C8B-B14F-4D97-AF65-F5344CB8AC3E}">
        <p14:creationId xmlns:p14="http://schemas.microsoft.com/office/powerpoint/2010/main" val="37693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EE20-E912-9780-E79A-D63ACE21122B}"/>
              </a:ext>
            </a:extLst>
          </p:cNvPr>
          <p:cNvSpPr>
            <a:spLocks noGrp="1"/>
          </p:cNvSpPr>
          <p:nvPr>
            <p:ph type="title"/>
          </p:nvPr>
        </p:nvSpPr>
        <p:spPr>
          <a:xfrm>
            <a:off x="1371600" y="643855"/>
            <a:ext cx="9601200" cy="1485900"/>
          </a:xfrm>
        </p:spPr>
        <p:txBody>
          <a:bodyPr/>
          <a:lstStyle/>
          <a:p>
            <a:r>
              <a:rPr lang="en-US" b="1" dirty="0">
                <a:solidFill>
                  <a:srgbClr val="7030A0"/>
                </a:solidFill>
              </a:rPr>
              <a:t>THANKS!</a:t>
            </a:r>
          </a:p>
        </p:txBody>
      </p:sp>
      <p:pic>
        <p:nvPicPr>
          <p:cNvPr id="5" name="Content Placeholder 4">
            <a:extLst>
              <a:ext uri="{FF2B5EF4-FFF2-40B4-BE49-F238E27FC236}">
                <a16:creationId xmlns:a16="http://schemas.microsoft.com/office/drawing/2014/main" id="{E14CFF93-B843-11C7-5C7A-D44696C37B45}"/>
              </a:ext>
            </a:extLst>
          </p:cNvPr>
          <p:cNvPicPr>
            <a:picLocks noGrp="1" noChangeAspect="1"/>
          </p:cNvPicPr>
          <p:nvPr>
            <p:ph idx="1"/>
          </p:nvPr>
        </p:nvPicPr>
        <p:blipFill>
          <a:blip r:embed="rId2"/>
          <a:stretch>
            <a:fillRect/>
          </a:stretch>
        </p:blipFill>
        <p:spPr>
          <a:xfrm>
            <a:off x="11314136" y="139139"/>
            <a:ext cx="806373" cy="694146"/>
          </a:xfrm>
        </p:spPr>
      </p:pic>
      <p:pic>
        <p:nvPicPr>
          <p:cNvPr id="6146" name="Picture 2" descr="Kỷ luật bản thân - bệ phóng cho mọi thành công">
            <a:extLst>
              <a:ext uri="{FF2B5EF4-FFF2-40B4-BE49-F238E27FC236}">
                <a16:creationId xmlns:a16="http://schemas.microsoft.com/office/drawing/2014/main" id="{6897E2F2-B3F8-BCA3-C0F3-5E5687605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9249" y="1559478"/>
            <a:ext cx="4762500" cy="4762500"/>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47718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{6CCC79BA-40D4-4AFF-91CC-B2EC0BF42E20}tf10001105</Template>
  <TotalTime>13</TotalTime>
  <Words>308</Words>
  <Application>Microsoft Office PowerPoint</Application>
  <PresentationFormat>Widescreen</PresentationFormat>
  <Paragraphs>10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Franklin Gothic Book</vt:lpstr>
      <vt:lpstr>SegoeuiPc</vt:lpstr>
      <vt:lpstr>Tahoma</vt:lpstr>
      <vt:lpstr>Crop</vt:lpstr>
      <vt:lpstr>Sức Mạnh Của Kỷ Luật  Cách Đạt Được Sự Phát Triển Ổn Định Qua Bốn Bước</vt:lpstr>
      <vt:lpstr>Bước 1: Thói Quen</vt:lpstr>
      <vt:lpstr>Bước 2: Sự Ổn Định</vt:lpstr>
      <vt:lpstr>Bước 3: Kỷ Luật</vt:lpstr>
      <vt:lpstr> Bước 4: Sự Phát Triển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Sức Mạnh Của Kỷ Luật  Cách Đạt Được Sự Phát Triển Ổn Định Qua Bốn Bước</dc:title>
  <dc:creator>Administrator</dc:creator>
  <cp:lastModifiedBy>Administrator</cp:lastModifiedBy>
  <cp:revision>2</cp:revision>
  <dcterms:created xsi:type="dcterms:W3CDTF">2024-12-16T11:38:45Z</dcterms:created>
  <dcterms:modified xsi:type="dcterms:W3CDTF">2024-12-16T11:52:38Z</dcterms:modified>
</cp:coreProperties>
</file>