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102" d="100"/>
          <a:sy n="102" d="100"/>
        </p:scale>
        <p:origin x="120"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image" Target="../media/image6.png"/></Relationships>
</file>

<file path=ppt/diagrams/_rels/data2.xml.rels><?xml version="1.0" encoding="UTF-8" standalone="yes"?>
<Relationships xmlns="http://schemas.openxmlformats.org/package/2006/relationships"><Relationship Id="rId1" Type="http://schemas.openxmlformats.org/officeDocument/2006/relationships/image" Target="../media/image8.png"/></Relationships>
</file>

<file path=ppt/diagrams/_rels/drawing1.xml.rels><?xml version="1.0" encoding="UTF-8" standalone="yes"?>
<Relationships xmlns="http://schemas.openxmlformats.org/package/2006/relationships"><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3C9DCB-F8CA-4D6A-9E67-4D6A6C807492}" type="doc">
      <dgm:prSet loTypeId="urn:microsoft.com/office/officeart/2005/8/layout/hProcess10" loCatId="process" qsTypeId="urn:microsoft.com/office/officeart/2005/8/quickstyle/simple1" qsCatId="simple" csTypeId="urn:microsoft.com/office/officeart/2005/8/colors/colorful2" csCatId="colorful" phldr="1"/>
      <dgm:spPr/>
    </dgm:pt>
    <dgm:pt modelId="{D2DCFA6A-45B9-47A0-AD2D-0D14FBFEEB00}">
      <dgm:prSet phldrT="[Text]" custT="1"/>
      <dgm:spPr/>
      <dgm:t>
        <a:bodyPr/>
        <a:lstStyle/>
        <a:p>
          <a:r>
            <a:rPr lang="en-US" sz="1600" dirty="0"/>
            <a:t>“</a:t>
          </a:r>
          <a:r>
            <a:rPr lang="en-US" sz="1600" dirty="0" err="1"/>
            <a:t>Họ</a:t>
          </a:r>
          <a:r>
            <a:rPr lang="en-US" sz="1600" dirty="0"/>
            <a:t> </a:t>
          </a:r>
          <a:r>
            <a:rPr lang="en-US" sz="1600" dirty="0" err="1"/>
            <a:t>có</a:t>
          </a:r>
          <a:r>
            <a:rPr lang="en-US" sz="1600" dirty="0"/>
            <a:t> </a:t>
          </a:r>
          <a:r>
            <a:rPr lang="en-US" sz="1600" dirty="0" err="1"/>
            <a:t>thể</a:t>
          </a:r>
          <a:r>
            <a:rPr lang="en-US" sz="1600" dirty="0"/>
            <a:t> </a:t>
          </a:r>
          <a:r>
            <a:rPr lang="en-US" sz="1600" dirty="0" err="1"/>
            <a:t>giam</a:t>
          </a:r>
          <a:r>
            <a:rPr lang="en-US" sz="1600" dirty="0"/>
            <a:t> </a:t>
          </a:r>
          <a:r>
            <a:rPr lang="en-US" sz="1600" dirty="0" err="1"/>
            <a:t>cầm</a:t>
          </a:r>
          <a:r>
            <a:rPr lang="en-US" sz="1600" dirty="0"/>
            <a:t> than </a:t>
          </a:r>
          <a:r>
            <a:rPr lang="en-US" sz="1600" dirty="0" err="1"/>
            <a:t>xác</a:t>
          </a:r>
          <a:r>
            <a:rPr lang="en-US" sz="1600" dirty="0"/>
            <a:t> </a:t>
          </a:r>
          <a:r>
            <a:rPr lang="en-US" sz="1600" dirty="0" err="1"/>
            <a:t>bạn</a:t>
          </a:r>
          <a:r>
            <a:rPr lang="en-US" sz="1600" dirty="0"/>
            <a:t> </a:t>
          </a:r>
          <a:r>
            <a:rPr lang="en-US" sz="1600" dirty="0" err="1"/>
            <a:t>nhưng</a:t>
          </a:r>
          <a:r>
            <a:rPr lang="en-US" sz="1600" dirty="0"/>
            <a:t> </a:t>
          </a:r>
          <a:r>
            <a:rPr lang="en-US" sz="1600" dirty="0" err="1"/>
            <a:t>không</a:t>
          </a:r>
          <a:r>
            <a:rPr lang="en-US" sz="1600" dirty="0"/>
            <a:t> </a:t>
          </a:r>
          <a:r>
            <a:rPr lang="en-US" sz="1600" dirty="0" err="1"/>
            <a:t>thể</a:t>
          </a:r>
          <a:r>
            <a:rPr lang="en-US" sz="1600" dirty="0"/>
            <a:t> </a:t>
          </a:r>
          <a:r>
            <a:rPr lang="en-US" sz="1600" dirty="0" err="1"/>
            <a:t>giam</a:t>
          </a:r>
          <a:r>
            <a:rPr lang="en-US" sz="1600" dirty="0"/>
            <a:t> </a:t>
          </a:r>
          <a:r>
            <a:rPr lang="en-US" sz="1600" dirty="0" err="1"/>
            <a:t>cầm</a:t>
          </a:r>
          <a:r>
            <a:rPr lang="en-US" sz="1600" dirty="0"/>
            <a:t> ý </a:t>
          </a:r>
          <a:r>
            <a:rPr lang="en-US" sz="1600" dirty="0" err="1"/>
            <a:t>chí</a:t>
          </a:r>
          <a:r>
            <a:rPr lang="en-US" sz="1600" dirty="0"/>
            <a:t> </a:t>
          </a:r>
          <a:r>
            <a:rPr lang="en-US" sz="1600" dirty="0" err="1"/>
            <a:t>và</a:t>
          </a:r>
          <a:r>
            <a:rPr lang="en-US" sz="1600" dirty="0"/>
            <a:t> </a:t>
          </a:r>
          <a:r>
            <a:rPr lang="en-US" sz="1600" dirty="0" err="1"/>
            <a:t>niềm</a:t>
          </a:r>
          <a:r>
            <a:rPr lang="en-US" sz="1600" dirty="0"/>
            <a:t> tin </a:t>
          </a:r>
          <a:r>
            <a:rPr lang="en-US" sz="1600" dirty="0" err="1"/>
            <a:t>của</a:t>
          </a:r>
          <a:r>
            <a:rPr lang="en-US" sz="1600" dirty="0"/>
            <a:t> </a:t>
          </a:r>
          <a:r>
            <a:rPr lang="en-US" sz="1600" dirty="0" err="1"/>
            <a:t>bạn</a:t>
          </a:r>
          <a:r>
            <a:rPr lang="en-US" sz="1600" dirty="0"/>
            <a:t>”</a:t>
          </a:r>
        </a:p>
      </dgm:t>
    </dgm:pt>
    <dgm:pt modelId="{2CB5F6F2-D3AC-4166-B0B9-4821AE21113A}" type="parTrans" cxnId="{C35A967C-58F6-485D-919C-7DA69182ADC2}">
      <dgm:prSet/>
      <dgm:spPr/>
      <dgm:t>
        <a:bodyPr/>
        <a:lstStyle/>
        <a:p>
          <a:endParaRPr lang="en-US"/>
        </a:p>
      </dgm:t>
    </dgm:pt>
    <dgm:pt modelId="{954023D7-8925-4706-96A5-FEDB660F0477}" type="sibTrans" cxnId="{C35A967C-58F6-485D-919C-7DA69182ADC2}">
      <dgm:prSet/>
      <dgm:spPr/>
      <dgm:t>
        <a:bodyPr/>
        <a:lstStyle/>
        <a:p>
          <a:endParaRPr lang="en-US"/>
        </a:p>
      </dgm:t>
    </dgm:pt>
    <dgm:pt modelId="{1F575479-C3FC-4AB7-8C12-35ACCC087526}" type="pres">
      <dgm:prSet presAssocID="{283C9DCB-F8CA-4D6A-9E67-4D6A6C807492}" presName="Name0" presStyleCnt="0">
        <dgm:presLayoutVars>
          <dgm:dir/>
          <dgm:resizeHandles val="exact"/>
        </dgm:presLayoutVars>
      </dgm:prSet>
      <dgm:spPr/>
    </dgm:pt>
    <dgm:pt modelId="{03EF5BB1-28C9-425B-8811-29F6C6E8EC15}" type="pres">
      <dgm:prSet presAssocID="{D2DCFA6A-45B9-47A0-AD2D-0D14FBFEEB00}" presName="composite" presStyleCnt="0"/>
      <dgm:spPr/>
    </dgm:pt>
    <dgm:pt modelId="{E432BECE-60CE-437E-8054-BEB7836262CF}" type="pres">
      <dgm:prSet presAssocID="{D2DCFA6A-45B9-47A0-AD2D-0D14FBFEEB00}" presName="imagSh" presStyleLbl="bgImgPlace1" presStyleIdx="0" presStyleCnt="1" custScaleX="198119" custLinFactNeighborX="955" custLinFactNeighborY="221"/>
      <dgm:spPr>
        <a:blipFill>
          <a:blip xmlns:r="http://schemas.openxmlformats.org/officeDocument/2006/relationships" r:embed="rId1">
            <a:extLst>
              <a:ext uri="{28A0092B-C50C-407E-A947-70E740481C1C}">
                <a14:useLocalDpi xmlns:a14="http://schemas.microsoft.com/office/drawing/2010/main" val="0"/>
              </a:ext>
            </a:extLst>
          </a:blip>
          <a:srcRect/>
          <a:stretch>
            <a:fillRect t="-19000" b="-19000"/>
          </a:stretch>
        </a:blipFill>
      </dgm:spPr>
      <dgm:extLst>
        <a:ext uri="{E40237B7-FDA0-4F09-8148-C483321AD2D9}">
          <dgm14:cNvPr xmlns:dgm14="http://schemas.microsoft.com/office/drawing/2010/diagram" id="0" name="" descr="Ông Trump quyên góp được 7,1 triệu USD sau bức ảnh lưu hồ sơ nhà tù">
            <a:extLst>
              <a:ext uri="{FF2B5EF4-FFF2-40B4-BE49-F238E27FC236}">
                <a16:creationId xmlns:a16="http://schemas.microsoft.com/office/drawing/2014/main" id="{BBE41264-6693-798B-0D97-80268107C1D9}"/>
              </a:ext>
            </a:extLst>
          </dgm14:cNvPr>
        </a:ext>
      </dgm:extLst>
    </dgm:pt>
    <dgm:pt modelId="{95B5057A-A52D-4894-80C4-2851463960DA}" type="pres">
      <dgm:prSet presAssocID="{D2DCFA6A-45B9-47A0-AD2D-0D14FBFEEB00}" presName="txNode" presStyleLbl="node1" presStyleIdx="0" presStyleCnt="1" custScaleX="165375" custScaleY="46491" custLinFactNeighborX="-3077" custLinFactNeighborY="13439">
        <dgm:presLayoutVars>
          <dgm:bulletEnabled val="1"/>
        </dgm:presLayoutVars>
      </dgm:prSet>
      <dgm:spPr/>
    </dgm:pt>
  </dgm:ptLst>
  <dgm:cxnLst>
    <dgm:cxn modelId="{5EF4D655-DABC-46F5-931C-B5AE1C549581}" type="presOf" srcId="{D2DCFA6A-45B9-47A0-AD2D-0D14FBFEEB00}" destId="{95B5057A-A52D-4894-80C4-2851463960DA}" srcOrd="0" destOrd="0" presId="urn:microsoft.com/office/officeart/2005/8/layout/hProcess10"/>
    <dgm:cxn modelId="{C35A967C-58F6-485D-919C-7DA69182ADC2}" srcId="{283C9DCB-F8CA-4D6A-9E67-4D6A6C807492}" destId="{D2DCFA6A-45B9-47A0-AD2D-0D14FBFEEB00}" srcOrd="0" destOrd="0" parTransId="{2CB5F6F2-D3AC-4166-B0B9-4821AE21113A}" sibTransId="{954023D7-8925-4706-96A5-FEDB660F0477}"/>
    <dgm:cxn modelId="{18E783FA-BF37-4A6C-874E-1228DC7F939A}" type="presOf" srcId="{283C9DCB-F8CA-4D6A-9E67-4D6A6C807492}" destId="{1F575479-C3FC-4AB7-8C12-35ACCC087526}" srcOrd="0" destOrd="0" presId="urn:microsoft.com/office/officeart/2005/8/layout/hProcess10"/>
    <dgm:cxn modelId="{76B49AFB-715D-4371-B2E3-708C488DA642}" type="presParOf" srcId="{1F575479-C3FC-4AB7-8C12-35ACCC087526}" destId="{03EF5BB1-28C9-425B-8811-29F6C6E8EC15}" srcOrd="0" destOrd="0" presId="urn:microsoft.com/office/officeart/2005/8/layout/hProcess10"/>
    <dgm:cxn modelId="{970BD7F0-B06E-463C-8B7C-F044B07278E3}" type="presParOf" srcId="{03EF5BB1-28C9-425B-8811-29F6C6E8EC15}" destId="{E432BECE-60CE-437E-8054-BEB7836262CF}" srcOrd="0" destOrd="0" presId="urn:microsoft.com/office/officeart/2005/8/layout/hProcess10"/>
    <dgm:cxn modelId="{2CE1B0A1-E43B-49A2-8DAE-33F3C99AAA27}" type="presParOf" srcId="{03EF5BB1-28C9-425B-8811-29F6C6E8EC15}" destId="{95B5057A-A52D-4894-80C4-2851463960DA}"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8B8CFE-24DC-4F13-B72A-8C2277FAE23D}" type="doc">
      <dgm:prSet loTypeId="urn:microsoft.com/office/officeart/2008/layout/CaptionedPictures" loCatId="picture" qsTypeId="urn:microsoft.com/office/officeart/2005/8/quickstyle/3d2" qsCatId="3D" csTypeId="urn:microsoft.com/office/officeart/2005/8/colors/colorful3" csCatId="colorful" phldr="1"/>
      <dgm:spPr/>
    </dgm:pt>
    <dgm:pt modelId="{EF28439F-A2F4-46A6-BE0C-5B8C187D61A4}">
      <dgm:prSet phldrT="[Text]"/>
      <dgm:spPr/>
      <dgm:t>
        <a:bodyPr/>
        <a:lstStyle/>
        <a:p>
          <a:r>
            <a:rPr lang="en-US" dirty="0"/>
            <a:t>“</a:t>
          </a:r>
          <a:r>
            <a:rPr lang="en-US" dirty="0" err="1"/>
            <a:t>Tự</a:t>
          </a:r>
          <a:r>
            <a:rPr lang="en-US" dirty="0"/>
            <a:t> tin </a:t>
          </a:r>
          <a:r>
            <a:rPr lang="en-US" dirty="0" err="1"/>
            <a:t>chưa</a:t>
          </a:r>
          <a:r>
            <a:rPr lang="en-US" dirty="0"/>
            <a:t> </a:t>
          </a:r>
          <a:r>
            <a:rPr lang="en-US" dirty="0" err="1"/>
            <a:t>chắc</a:t>
          </a:r>
          <a:r>
            <a:rPr lang="en-US" dirty="0"/>
            <a:t> </a:t>
          </a:r>
          <a:r>
            <a:rPr lang="en-US" dirty="0" err="1"/>
            <a:t>bạn</a:t>
          </a:r>
          <a:r>
            <a:rPr lang="en-US" dirty="0"/>
            <a:t> </a:t>
          </a:r>
          <a:r>
            <a:rPr lang="en-US" dirty="0" err="1"/>
            <a:t>thắng</a:t>
          </a:r>
          <a:r>
            <a:rPr lang="en-US" dirty="0"/>
            <a:t>, </a:t>
          </a:r>
          <a:r>
            <a:rPr lang="en-US" dirty="0" err="1"/>
            <a:t>nhưng</a:t>
          </a:r>
          <a:r>
            <a:rPr lang="en-US" dirty="0"/>
            <a:t> </a:t>
          </a:r>
          <a:r>
            <a:rPr lang="en-US" dirty="0" err="1"/>
            <a:t>không</a:t>
          </a:r>
          <a:r>
            <a:rPr lang="en-US" dirty="0"/>
            <a:t> </a:t>
          </a:r>
          <a:r>
            <a:rPr lang="en-US" dirty="0" err="1"/>
            <a:t>tự</a:t>
          </a:r>
          <a:r>
            <a:rPr lang="en-US" dirty="0"/>
            <a:t> tin </a:t>
          </a:r>
          <a:r>
            <a:rPr lang="en-US" dirty="0" err="1"/>
            <a:t>chắc</a:t>
          </a:r>
          <a:r>
            <a:rPr lang="en-US" dirty="0"/>
            <a:t> </a:t>
          </a:r>
          <a:r>
            <a:rPr lang="en-US" dirty="0" err="1"/>
            <a:t>chắn</a:t>
          </a:r>
          <a:r>
            <a:rPr lang="en-US" dirty="0"/>
            <a:t> </a:t>
          </a:r>
          <a:r>
            <a:rPr lang="en-US" dirty="0" err="1"/>
            <a:t>bạn</a:t>
          </a:r>
          <a:r>
            <a:rPr lang="en-US" dirty="0"/>
            <a:t> </a:t>
          </a:r>
          <a:r>
            <a:rPr lang="en-US" dirty="0" err="1"/>
            <a:t>thua</a:t>
          </a:r>
          <a:r>
            <a:rPr lang="en-US" dirty="0"/>
            <a:t>”</a:t>
          </a:r>
        </a:p>
      </dgm:t>
    </dgm:pt>
    <dgm:pt modelId="{E1B09A1D-D58A-45E4-B054-A4B890F7F483}" type="parTrans" cxnId="{955F64C3-46D0-4093-8E3B-659770625B85}">
      <dgm:prSet/>
      <dgm:spPr/>
      <dgm:t>
        <a:bodyPr/>
        <a:lstStyle/>
        <a:p>
          <a:endParaRPr lang="en-US"/>
        </a:p>
      </dgm:t>
    </dgm:pt>
    <dgm:pt modelId="{30180C44-FBCC-444C-8E66-25D24F401492}" type="sibTrans" cxnId="{955F64C3-46D0-4093-8E3B-659770625B85}">
      <dgm:prSet/>
      <dgm:spPr/>
      <dgm:t>
        <a:bodyPr/>
        <a:lstStyle/>
        <a:p>
          <a:endParaRPr lang="en-US"/>
        </a:p>
      </dgm:t>
    </dgm:pt>
    <dgm:pt modelId="{CBE90C9F-7C18-4594-818A-B992E95CF83F}" type="pres">
      <dgm:prSet presAssocID="{6A8B8CFE-24DC-4F13-B72A-8C2277FAE23D}" presName="Name0" presStyleCnt="0">
        <dgm:presLayoutVars>
          <dgm:chMax/>
          <dgm:chPref/>
          <dgm:dir/>
        </dgm:presLayoutVars>
      </dgm:prSet>
      <dgm:spPr/>
    </dgm:pt>
    <dgm:pt modelId="{B015A588-4422-469A-AEB6-D74DB699F3A7}" type="pres">
      <dgm:prSet presAssocID="{EF28439F-A2F4-46A6-BE0C-5B8C187D61A4}" presName="composite" presStyleCnt="0">
        <dgm:presLayoutVars>
          <dgm:chMax val="1"/>
          <dgm:chPref val="1"/>
        </dgm:presLayoutVars>
      </dgm:prSet>
      <dgm:spPr/>
    </dgm:pt>
    <dgm:pt modelId="{AC8CD8A1-3450-4619-82D1-A5893E5A8334}" type="pres">
      <dgm:prSet presAssocID="{EF28439F-A2F4-46A6-BE0C-5B8C187D61A4}" presName="Accent" presStyleLbl="trAlignAcc1" presStyleIdx="0" presStyleCnt="1">
        <dgm:presLayoutVars>
          <dgm:chMax val="0"/>
          <dgm:chPref val="0"/>
        </dgm:presLayoutVars>
      </dgm:prSet>
      <dgm:spPr/>
    </dgm:pt>
    <dgm:pt modelId="{DCE0739D-F958-474C-BF83-644C6FE3BB56}" type="pres">
      <dgm:prSet presAssocID="{EF28439F-A2F4-46A6-BE0C-5B8C187D61A4}" presName="Image" presStyleLbl="alignImgPlace1" presStyleIdx="0" presStyleCnt="1">
        <dgm:presLayoutVars>
          <dgm:chMax val="0"/>
          <dgm:chPref val="0"/>
        </dgm:presLayoutVars>
      </dgm:prSet>
      <dgm:spPr>
        <a:blipFill>
          <a:blip xmlns:r="http://schemas.openxmlformats.org/officeDocument/2006/relationships" r:embed="rId1"/>
          <a:srcRect/>
          <a:stretch>
            <a:fillRect l="-14000" r="-14000"/>
          </a:stretch>
        </a:blipFill>
      </dgm:spPr>
    </dgm:pt>
    <dgm:pt modelId="{A93ACE07-F4E7-4863-9FCD-A9154431A71C}" type="pres">
      <dgm:prSet presAssocID="{EF28439F-A2F4-46A6-BE0C-5B8C187D61A4}" presName="ChildComposite" presStyleCnt="0"/>
      <dgm:spPr/>
    </dgm:pt>
    <dgm:pt modelId="{7C5C0E66-7BB5-49E0-8246-25670F7AF1BC}" type="pres">
      <dgm:prSet presAssocID="{EF28439F-A2F4-46A6-BE0C-5B8C187D61A4}" presName="Child" presStyleLbl="node1" presStyleIdx="0" presStyleCnt="0">
        <dgm:presLayoutVars>
          <dgm:chMax val="0"/>
          <dgm:chPref val="0"/>
          <dgm:bulletEnabled val="1"/>
        </dgm:presLayoutVars>
      </dgm:prSet>
      <dgm:spPr/>
    </dgm:pt>
    <dgm:pt modelId="{A77D7655-21A1-4254-A980-84433576C0EB}" type="pres">
      <dgm:prSet presAssocID="{EF28439F-A2F4-46A6-BE0C-5B8C187D61A4}" presName="Parent" presStyleLbl="revTx" presStyleIdx="0" presStyleCnt="1">
        <dgm:presLayoutVars>
          <dgm:chMax val="1"/>
          <dgm:chPref val="0"/>
          <dgm:bulletEnabled val="1"/>
        </dgm:presLayoutVars>
      </dgm:prSet>
      <dgm:spPr/>
    </dgm:pt>
  </dgm:ptLst>
  <dgm:cxnLst>
    <dgm:cxn modelId="{D8310D34-83E9-4345-BA38-8F5B58554798}" type="presOf" srcId="{EF28439F-A2F4-46A6-BE0C-5B8C187D61A4}" destId="{A77D7655-21A1-4254-A980-84433576C0EB}" srcOrd="0" destOrd="0" presId="urn:microsoft.com/office/officeart/2008/layout/CaptionedPictures"/>
    <dgm:cxn modelId="{955F64C3-46D0-4093-8E3B-659770625B85}" srcId="{6A8B8CFE-24DC-4F13-B72A-8C2277FAE23D}" destId="{EF28439F-A2F4-46A6-BE0C-5B8C187D61A4}" srcOrd="0" destOrd="0" parTransId="{E1B09A1D-D58A-45E4-B054-A4B890F7F483}" sibTransId="{30180C44-FBCC-444C-8E66-25D24F401492}"/>
    <dgm:cxn modelId="{76F2D3E7-F625-4980-89AC-93360B000A8B}" type="presOf" srcId="{6A8B8CFE-24DC-4F13-B72A-8C2277FAE23D}" destId="{CBE90C9F-7C18-4594-818A-B992E95CF83F}" srcOrd="0" destOrd="0" presId="urn:microsoft.com/office/officeart/2008/layout/CaptionedPictures"/>
    <dgm:cxn modelId="{D6761A35-A40F-41EC-A3D0-0A12B16FBAF0}" type="presParOf" srcId="{CBE90C9F-7C18-4594-818A-B992E95CF83F}" destId="{B015A588-4422-469A-AEB6-D74DB699F3A7}" srcOrd="0" destOrd="0" presId="urn:microsoft.com/office/officeart/2008/layout/CaptionedPictures"/>
    <dgm:cxn modelId="{1F303D94-C794-435E-98E9-DA1FC3DABFC3}" type="presParOf" srcId="{B015A588-4422-469A-AEB6-D74DB699F3A7}" destId="{AC8CD8A1-3450-4619-82D1-A5893E5A8334}" srcOrd="0" destOrd="0" presId="urn:microsoft.com/office/officeart/2008/layout/CaptionedPictures"/>
    <dgm:cxn modelId="{10973EC4-90F7-4F7B-AD27-EADDEA88DA78}" type="presParOf" srcId="{B015A588-4422-469A-AEB6-D74DB699F3A7}" destId="{DCE0739D-F958-474C-BF83-644C6FE3BB56}" srcOrd="1" destOrd="0" presId="urn:microsoft.com/office/officeart/2008/layout/CaptionedPictures"/>
    <dgm:cxn modelId="{F27BD36F-1392-43E0-81F9-A1875A9E3291}" type="presParOf" srcId="{B015A588-4422-469A-AEB6-D74DB699F3A7}" destId="{A93ACE07-F4E7-4863-9FCD-A9154431A71C}" srcOrd="2" destOrd="0" presId="urn:microsoft.com/office/officeart/2008/layout/CaptionedPictures"/>
    <dgm:cxn modelId="{ED23E09C-AF5A-40D9-ACDE-C9DC83EDFBAD}" type="presParOf" srcId="{A93ACE07-F4E7-4863-9FCD-A9154431A71C}" destId="{7C5C0E66-7BB5-49E0-8246-25670F7AF1BC}" srcOrd="0" destOrd="0" presId="urn:microsoft.com/office/officeart/2008/layout/CaptionedPictures"/>
    <dgm:cxn modelId="{975FBA5D-EC68-4972-9157-EE78013C0040}" type="presParOf" srcId="{A93ACE07-F4E7-4863-9FCD-A9154431A71C}" destId="{A77D7655-21A1-4254-A980-84433576C0EB}" srcOrd="1" destOrd="0" presId="urn:microsoft.com/office/officeart/2008/layout/CaptionedPicture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2BECE-60CE-437E-8054-BEB7836262CF}">
      <dsp:nvSpPr>
        <dsp:cNvPr id="0" name=""/>
        <dsp:cNvSpPr/>
      </dsp:nvSpPr>
      <dsp:spPr>
        <a:xfrm>
          <a:off x="9" y="800938"/>
          <a:ext cx="4362439" cy="220192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9000" b="-19000"/>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B5057A-A52D-4894-80C4-2851463960DA}">
      <dsp:nvSpPr>
        <dsp:cNvPr id="0" name=""/>
        <dsp:cNvSpPr/>
      </dsp:nvSpPr>
      <dsp:spPr>
        <a:xfrm>
          <a:off x="651204" y="3002262"/>
          <a:ext cx="3641440" cy="1023698"/>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t>
          </a:r>
          <a:r>
            <a:rPr lang="en-US" sz="1600" kern="1200" dirty="0" err="1"/>
            <a:t>Họ</a:t>
          </a:r>
          <a:r>
            <a:rPr lang="en-US" sz="1600" kern="1200" dirty="0"/>
            <a:t> </a:t>
          </a:r>
          <a:r>
            <a:rPr lang="en-US" sz="1600" kern="1200" dirty="0" err="1"/>
            <a:t>có</a:t>
          </a:r>
          <a:r>
            <a:rPr lang="en-US" sz="1600" kern="1200" dirty="0"/>
            <a:t> </a:t>
          </a:r>
          <a:r>
            <a:rPr lang="en-US" sz="1600" kern="1200" dirty="0" err="1"/>
            <a:t>thể</a:t>
          </a:r>
          <a:r>
            <a:rPr lang="en-US" sz="1600" kern="1200" dirty="0"/>
            <a:t> </a:t>
          </a:r>
          <a:r>
            <a:rPr lang="en-US" sz="1600" kern="1200" dirty="0" err="1"/>
            <a:t>giam</a:t>
          </a:r>
          <a:r>
            <a:rPr lang="en-US" sz="1600" kern="1200" dirty="0"/>
            <a:t> </a:t>
          </a:r>
          <a:r>
            <a:rPr lang="en-US" sz="1600" kern="1200" dirty="0" err="1"/>
            <a:t>cầm</a:t>
          </a:r>
          <a:r>
            <a:rPr lang="en-US" sz="1600" kern="1200" dirty="0"/>
            <a:t> than </a:t>
          </a:r>
          <a:r>
            <a:rPr lang="en-US" sz="1600" kern="1200" dirty="0" err="1"/>
            <a:t>xác</a:t>
          </a:r>
          <a:r>
            <a:rPr lang="en-US" sz="1600" kern="1200" dirty="0"/>
            <a:t> </a:t>
          </a:r>
          <a:r>
            <a:rPr lang="en-US" sz="1600" kern="1200" dirty="0" err="1"/>
            <a:t>bạn</a:t>
          </a:r>
          <a:r>
            <a:rPr lang="en-US" sz="1600" kern="1200" dirty="0"/>
            <a:t> </a:t>
          </a:r>
          <a:r>
            <a:rPr lang="en-US" sz="1600" kern="1200" dirty="0" err="1"/>
            <a:t>nhưng</a:t>
          </a:r>
          <a:r>
            <a:rPr lang="en-US" sz="1600" kern="1200" dirty="0"/>
            <a:t> </a:t>
          </a:r>
          <a:r>
            <a:rPr lang="en-US" sz="1600" kern="1200" dirty="0" err="1"/>
            <a:t>không</a:t>
          </a:r>
          <a:r>
            <a:rPr lang="en-US" sz="1600" kern="1200" dirty="0"/>
            <a:t> </a:t>
          </a:r>
          <a:r>
            <a:rPr lang="en-US" sz="1600" kern="1200" dirty="0" err="1"/>
            <a:t>thể</a:t>
          </a:r>
          <a:r>
            <a:rPr lang="en-US" sz="1600" kern="1200" dirty="0"/>
            <a:t> </a:t>
          </a:r>
          <a:r>
            <a:rPr lang="en-US" sz="1600" kern="1200" dirty="0" err="1"/>
            <a:t>giam</a:t>
          </a:r>
          <a:r>
            <a:rPr lang="en-US" sz="1600" kern="1200" dirty="0"/>
            <a:t> </a:t>
          </a:r>
          <a:r>
            <a:rPr lang="en-US" sz="1600" kern="1200" dirty="0" err="1"/>
            <a:t>cầm</a:t>
          </a:r>
          <a:r>
            <a:rPr lang="en-US" sz="1600" kern="1200" dirty="0"/>
            <a:t> ý </a:t>
          </a:r>
          <a:r>
            <a:rPr lang="en-US" sz="1600" kern="1200" dirty="0" err="1"/>
            <a:t>chí</a:t>
          </a:r>
          <a:r>
            <a:rPr lang="en-US" sz="1600" kern="1200" dirty="0"/>
            <a:t> </a:t>
          </a:r>
          <a:r>
            <a:rPr lang="en-US" sz="1600" kern="1200" dirty="0" err="1"/>
            <a:t>và</a:t>
          </a:r>
          <a:r>
            <a:rPr lang="en-US" sz="1600" kern="1200" dirty="0"/>
            <a:t> </a:t>
          </a:r>
          <a:r>
            <a:rPr lang="en-US" sz="1600" kern="1200" dirty="0" err="1"/>
            <a:t>niềm</a:t>
          </a:r>
          <a:r>
            <a:rPr lang="en-US" sz="1600" kern="1200" dirty="0"/>
            <a:t> tin </a:t>
          </a:r>
          <a:r>
            <a:rPr lang="en-US" sz="1600" kern="1200" dirty="0" err="1"/>
            <a:t>của</a:t>
          </a:r>
          <a:r>
            <a:rPr lang="en-US" sz="1600" kern="1200" dirty="0"/>
            <a:t> </a:t>
          </a:r>
          <a:r>
            <a:rPr lang="en-US" sz="1600" kern="1200" dirty="0" err="1"/>
            <a:t>bạn</a:t>
          </a:r>
          <a:r>
            <a:rPr lang="en-US" sz="1600" kern="1200" dirty="0"/>
            <a:t>”</a:t>
          </a:r>
        </a:p>
      </dsp:txBody>
      <dsp:txXfrm>
        <a:off x="681187" y="3032245"/>
        <a:ext cx="3581474" cy="963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8CD8A1-3450-4619-82D1-A5893E5A8334}">
      <dsp:nvSpPr>
        <dsp:cNvPr id="0" name=""/>
        <dsp:cNvSpPr/>
      </dsp:nvSpPr>
      <dsp:spPr>
        <a:xfrm>
          <a:off x="316394" y="0"/>
          <a:ext cx="4590573" cy="5400675"/>
        </a:xfrm>
        <a:prstGeom prst="rect">
          <a:avLst/>
        </a:prstGeom>
        <a:solidFill>
          <a:schemeClr val="lt1">
            <a:alpha val="40000"/>
            <a:hueOff val="0"/>
            <a:satOff val="0"/>
            <a:lumOff val="0"/>
            <a:alphaOff val="0"/>
          </a:schemeClr>
        </a:solidFill>
        <a:ln w="10000" cap="flat" cmpd="sng" algn="ctr">
          <a:solidFill>
            <a:schemeClr val="accent2">
              <a:hueOff val="0"/>
              <a:satOff val="0"/>
              <a:lumOff val="0"/>
              <a:alphaOff val="0"/>
            </a:schemeClr>
          </a:solidFill>
          <a:prstDash val="solid"/>
        </a:ln>
        <a:effectLst>
          <a:outerShdw blurRad="38100" dist="17779" dir="5400000" rotWithShape="0">
            <a:srgbClr val="000000">
              <a:alpha val="40000"/>
            </a:srgbClr>
          </a:outerShdw>
        </a:effectLst>
        <a:scene3d>
          <a:camera prst="orthographicFront"/>
          <a:lightRig rig="threePt" dir="t">
            <a:rot lat="0" lon="0" rev="7500000"/>
          </a:lightRig>
        </a:scene3d>
        <a:sp3d prstMaterial="plastic">
          <a:bevelT w="127000" h="35400"/>
        </a:sp3d>
      </dsp:spPr>
      <dsp:style>
        <a:lnRef idx="1">
          <a:scrgbClr r="0" g="0" b="0"/>
        </a:lnRef>
        <a:fillRef idx="1">
          <a:scrgbClr r="0" g="0" b="0"/>
        </a:fillRef>
        <a:effectRef idx="2">
          <a:scrgbClr r="0" g="0" b="0"/>
        </a:effectRef>
        <a:fontRef idx="minor">
          <a:schemeClr val="lt1"/>
        </a:fontRef>
      </dsp:style>
    </dsp:sp>
    <dsp:sp modelId="{DCE0739D-F958-474C-BF83-644C6FE3BB56}">
      <dsp:nvSpPr>
        <dsp:cNvPr id="0" name=""/>
        <dsp:cNvSpPr/>
      </dsp:nvSpPr>
      <dsp:spPr>
        <a:xfrm>
          <a:off x="545923" y="216027"/>
          <a:ext cx="4131516" cy="3510438"/>
        </a:xfrm>
        <a:prstGeom prst="rect">
          <a:avLst/>
        </a:prstGeom>
        <a:blipFill>
          <a:blip xmlns:r="http://schemas.openxmlformats.org/officeDocument/2006/relationships" r:embed="rId1"/>
          <a:srcRect/>
          <a:stretch>
            <a:fillRect l="-14000" r="-14000"/>
          </a:stretch>
        </a:blipFill>
        <a:ln>
          <a:noFill/>
        </a:ln>
        <a:effectLst/>
        <a:scene3d>
          <a:camera prst="orthographicFront"/>
          <a:lightRig rig="threePt" dir="t">
            <a:rot lat="0" lon="0" rev="7500000"/>
          </a:lightRig>
        </a:scene3d>
        <a:sp3d z="25400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A77D7655-21A1-4254-A980-84433576C0EB}">
      <dsp:nvSpPr>
        <dsp:cNvPr id="0" name=""/>
        <dsp:cNvSpPr/>
      </dsp:nvSpPr>
      <dsp:spPr>
        <a:xfrm>
          <a:off x="545923" y="3726465"/>
          <a:ext cx="4131516" cy="1458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a:t>
          </a:r>
          <a:r>
            <a:rPr lang="en-US" sz="2900" kern="1200" dirty="0" err="1"/>
            <a:t>Tự</a:t>
          </a:r>
          <a:r>
            <a:rPr lang="en-US" sz="2900" kern="1200" dirty="0"/>
            <a:t> tin </a:t>
          </a:r>
          <a:r>
            <a:rPr lang="en-US" sz="2900" kern="1200" dirty="0" err="1"/>
            <a:t>chưa</a:t>
          </a:r>
          <a:r>
            <a:rPr lang="en-US" sz="2900" kern="1200" dirty="0"/>
            <a:t> </a:t>
          </a:r>
          <a:r>
            <a:rPr lang="en-US" sz="2900" kern="1200" dirty="0" err="1"/>
            <a:t>chắc</a:t>
          </a:r>
          <a:r>
            <a:rPr lang="en-US" sz="2900" kern="1200" dirty="0"/>
            <a:t> </a:t>
          </a:r>
          <a:r>
            <a:rPr lang="en-US" sz="2900" kern="1200" dirty="0" err="1"/>
            <a:t>bạn</a:t>
          </a:r>
          <a:r>
            <a:rPr lang="en-US" sz="2900" kern="1200" dirty="0"/>
            <a:t> </a:t>
          </a:r>
          <a:r>
            <a:rPr lang="en-US" sz="2900" kern="1200" dirty="0" err="1"/>
            <a:t>thắng</a:t>
          </a:r>
          <a:r>
            <a:rPr lang="en-US" sz="2900" kern="1200" dirty="0"/>
            <a:t>, </a:t>
          </a:r>
          <a:r>
            <a:rPr lang="en-US" sz="2900" kern="1200" dirty="0" err="1"/>
            <a:t>nhưng</a:t>
          </a:r>
          <a:r>
            <a:rPr lang="en-US" sz="2900" kern="1200" dirty="0"/>
            <a:t> </a:t>
          </a:r>
          <a:r>
            <a:rPr lang="en-US" sz="2900" kern="1200" dirty="0" err="1"/>
            <a:t>không</a:t>
          </a:r>
          <a:r>
            <a:rPr lang="en-US" sz="2900" kern="1200" dirty="0"/>
            <a:t> </a:t>
          </a:r>
          <a:r>
            <a:rPr lang="en-US" sz="2900" kern="1200" dirty="0" err="1"/>
            <a:t>tự</a:t>
          </a:r>
          <a:r>
            <a:rPr lang="en-US" sz="2900" kern="1200" dirty="0"/>
            <a:t> tin </a:t>
          </a:r>
          <a:r>
            <a:rPr lang="en-US" sz="2900" kern="1200" dirty="0" err="1"/>
            <a:t>chắc</a:t>
          </a:r>
          <a:r>
            <a:rPr lang="en-US" sz="2900" kern="1200" dirty="0"/>
            <a:t> </a:t>
          </a:r>
          <a:r>
            <a:rPr lang="en-US" sz="2900" kern="1200" dirty="0" err="1"/>
            <a:t>chắn</a:t>
          </a:r>
          <a:r>
            <a:rPr lang="en-US" sz="2900" kern="1200" dirty="0"/>
            <a:t> </a:t>
          </a:r>
          <a:r>
            <a:rPr lang="en-US" sz="2900" kern="1200" dirty="0" err="1"/>
            <a:t>bạn</a:t>
          </a:r>
          <a:r>
            <a:rPr lang="en-US" sz="2900" kern="1200" dirty="0"/>
            <a:t> </a:t>
          </a:r>
          <a:r>
            <a:rPr lang="en-US" sz="2900" kern="1200" dirty="0" err="1"/>
            <a:t>thua</a:t>
          </a:r>
          <a:r>
            <a:rPr lang="en-US" sz="2900" kern="1200" dirty="0"/>
            <a:t>”</a:t>
          </a:r>
        </a:p>
      </dsp:txBody>
      <dsp:txXfrm>
        <a:off x="545923" y="3726465"/>
        <a:ext cx="4131516" cy="145818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881E-3F56-0064-F8EF-DBD52D2587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970FFD-145F-752C-3426-36B3AE07B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25D2BC-DA08-A1BC-9B51-9B2CBF3859FF}"/>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3ECDC8DE-21AE-AF6C-2A7A-4B71C25E7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2FC6A-45C2-C3F2-DD4F-7CDDFCBDD13E}"/>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475485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4057-6027-460B-059A-E5A8C7273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754B79-64C4-9959-E8CD-4818DDC56C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B0B68-5E67-03C2-1361-AF9532F20780}"/>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8E193E48-7394-E255-02F0-FD44395C0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3E780-61E4-85D2-37C8-E19BA7D1C52B}"/>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2551477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87309-B369-8CA3-2E4D-AF1295ADA7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384D03-D02A-183D-E6D0-6DF4B4AE2D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905EE1-A862-D082-6427-56227A8ED426}"/>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0771A5B8-3C47-ADD9-E299-92A64F547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82B340-7118-92B1-DBDD-66B50AFE095E}"/>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378571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1316-3F03-AB33-7C57-D45F0661D4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88CB5-3AD1-C4D2-63AD-EA39DB958E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74E2B8-A356-8F73-8306-377CE26CA1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73D134-9B7B-04D8-2B2B-A97EFF19268A}"/>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6" name="Footer Placeholder 5">
            <a:extLst>
              <a:ext uri="{FF2B5EF4-FFF2-40B4-BE49-F238E27FC236}">
                <a16:creationId xmlns:a16="http://schemas.microsoft.com/office/drawing/2014/main" id="{12AFCAEB-4BE3-A14E-460B-EB83ADB2B2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4E273F-12C5-2168-2945-551F2FA923EA}"/>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1038166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671F-5A9A-91CB-B34D-088336EE48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CBA20E-6B65-8F51-B04E-9BB7A505D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7AFA48-E992-454A-22BF-79A2F2C3B4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3CA031-65EF-AD94-1F60-9407AB7ADF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9D832A-DFA0-7526-78AE-F88D29D76D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DDA8FD-F9D6-894B-7B8B-07BE4D21EC95}"/>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8" name="Footer Placeholder 7">
            <a:extLst>
              <a:ext uri="{FF2B5EF4-FFF2-40B4-BE49-F238E27FC236}">
                <a16:creationId xmlns:a16="http://schemas.microsoft.com/office/drawing/2014/main" id="{13DB63B6-339C-7847-FBAB-1D6566780B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B1EE3A-7A21-B1A7-7095-4A2FD7793C5F}"/>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3035485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A6427-3FF3-5891-F797-2B816887F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8335A3-E490-D2A5-814A-E9952ACE6EE7}"/>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4" name="Footer Placeholder 3">
            <a:extLst>
              <a:ext uri="{FF2B5EF4-FFF2-40B4-BE49-F238E27FC236}">
                <a16:creationId xmlns:a16="http://schemas.microsoft.com/office/drawing/2014/main" id="{128D4E2C-8747-708F-1BFC-04E5FE350D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EAF8EB-F6E1-E15E-1010-32A3A3044920}"/>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104478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CDE4E9-3640-6C9C-368E-FF80B287B87D}"/>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3" name="Footer Placeholder 2">
            <a:extLst>
              <a:ext uri="{FF2B5EF4-FFF2-40B4-BE49-F238E27FC236}">
                <a16:creationId xmlns:a16="http://schemas.microsoft.com/office/drawing/2014/main" id="{F4F2446B-B3C1-5AAB-8700-1C1CC362E1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E51CE9-1B26-02A4-9AF0-75908EEA290F}"/>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376507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FBE0-0400-A49C-FAF5-8E4FE7CF2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D041FA-DE8F-7F88-08F1-96CD9CA74F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B5A207-259C-A688-ADB5-D658FD606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EC46F7-E227-E8E9-0516-88C95DA22BE8}"/>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6" name="Footer Placeholder 5">
            <a:extLst>
              <a:ext uri="{FF2B5EF4-FFF2-40B4-BE49-F238E27FC236}">
                <a16:creationId xmlns:a16="http://schemas.microsoft.com/office/drawing/2014/main" id="{BCE3640E-ECB7-BF7E-FD35-ABF6DAAB64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1B8FA-AF73-45B8-8F87-CD3E09DEA0CC}"/>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4111981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D042-A914-612B-ACE4-EEFED2F03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070DF5-E0E4-F55F-1300-68413F642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B2DB41-FE5D-75B8-C03B-590A8F1BF0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D2FA7C-DF22-2AAE-E4EE-70F934003A99}"/>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6" name="Footer Placeholder 5">
            <a:extLst>
              <a:ext uri="{FF2B5EF4-FFF2-40B4-BE49-F238E27FC236}">
                <a16:creationId xmlns:a16="http://schemas.microsoft.com/office/drawing/2014/main" id="{F947F4E0-249D-42DC-E99E-F6404849FE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5F29BF-09C2-C55D-F9DA-62A4D98B0E3E}"/>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3265938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E01BE-3E7E-6C9C-F011-6ADBBC1B96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2001AE-DE6D-D07A-0A08-E431D28F0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3C4E2-C51B-3CBF-062B-34E6EEA0BC5F}"/>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4BF87F94-DE17-5D96-899F-BF357FADE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8E8FFD-8C15-56EF-EC0B-E7436FF0C5DF}"/>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421335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282FDC-B267-49FE-403E-887D8DDB52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BAD4C3-D6AF-64C7-7054-7EE3A0330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CE743-DB6C-03BC-7FB6-A88D729DCD60}"/>
              </a:ext>
            </a:extLst>
          </p:cNvPr>
          <p:cNvSpPr>
            <a:spLocks noGrp="1"/>
          </p:cNvSpPr>
          <p:nvPr>
            <p:ph type="dt" sz="half" idx="10"/>
          </p:nvPr>
        </p:nvSpPr>
        <p:spPr/>
        <p:txBody>
          <a:body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933D22E7-BDD1-89F7-6AF1-F74920BB7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D93C94-0321-26A2-E75A-666F5E13B24D}"/>
              </a:ext>
            </a:extLst>
          </p:cNvPr>
          <p:cNvSpPr>
            <a:spLocks noGrp="1"/>
          </p:cNvSpPr>
          <p:nvPr>
            <p:ph type="sldNum" sz="quarter" idx="12"/>
          </p:nvPr>
        </p:nvSpPr>
        <p:spPr/>
        <p:txBody>
          <a:bodyPr/>
          <a:lstStyle/>
          <a:p>
            <a:fld id="{DC2A3CBC-EB01-4AD6-B2E5-E746A45F5984}" type="slidenum">
              <a:rPr lang="en-US" smtClean="0"/>
              <a:t>‹#›</a:t>
            </a:fld>
            <a:endParaRPr lang="en-US"/>
          </a:p>
        </p:txBody>
      </p:sp>
    </p:spTree>
    <p:extLst>
      <p:ext uri="{BB962C8B-B14F-4D97-AF65-F5344CB8AC3E}">
        <p14:creationId xmlns:p14="http://schemas.microsoft.com/office/powerpoint/2010/main" val="3337745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02CA16-6B7C-D381-0AB5-735522584C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C9721E-0891-140C-CCC5-B8CB1E5A8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56AC0B-845D-4FA9-31B8-AC2C29B457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737E9-9510-4B20-993A-5B6E5413BC05}" type="datetimeFigureOut">
              <a:rPr lang="en-US" smtClean="0"/>
              <a:t>12/16/2024</a:t>
            </a:fld>
            <a:endParaRPr lang="en-US"/>
          </a:p>
        </p:txBody>
      </p:sp>
      <p:sp>
        <p:nvSpPr>
          <p:cNvPr id="5" name="Footer Placeholder 4">
            <a:extLst>
              <a:ext uri="{FF2B5EF4-FFF2-40B4-BE49-F238E27FC236}">
                <a16:creationId xmlns:a16="http://schemas.microsoft.com/office/drawing/2014/main" id="{D8E5A867-6576-6F68-09F0-04F0AA801A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71B4C1-1DB6-25D7-8DCA-B9492CA9D5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3CBC-EB01-4AD6-B2E5-E746A45F5984}" type="slidenum">
              <a:rPr lang="en-US" smtClean="0"/>
              <a:t>‹#›</a:t>
            </a:fld>
            <a:endParaRPr lang="en-US"/>
          </a:p>
        </p:txBody>
      </p:sp>
    </p:spTree>
    <p:extLst>
      <p:ext uri="{BB962C8B-B14F-4D97-AF65-F5344CB8AC3E}">
        <p14:creationId xmlns:p14="http://schemas.microsoft.com/office/powerpoint/2010/main" val="3457872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C883-2BFD-155B-B53E-EF5AAF7C8325}"/>
              </a:ext>
            </a:extLst>
          </p:cNvPr>
          <p:cNvSpPr>
            <a:spLocks noGrp="1"/>
          </p:cNvSpPr>
          <p:nvPr>
            <p:ph type="ctrTitle"/>
          </p:nvPr>
        </p:nvSpPr>
        <p:spPr>
          <a:xfrm>
            <a:off x="1456888" y="3355698"/>
            <a:ext cx="9144000" cy="2387600"/>
          </a:xfrm>
        </p:spPr>
        <p:txBody>
          <a:bodyPr>
            <a:normAutofit fontScale="90000"/>
          </a:bodyPr>
          <a:lstStyle/>
          <a:p>
            <a:br>
              <a:rPr lang="en-US" sz="4000" dirty="0"/>
            </a:br>
            <a:r>
              <a:rPr lang="en-US" sz="4800" b="1" dirty="0">
                <a:solidFill>
                  <a:srgbClr val="7030A0"/>
                </a:solidFill>
              </a:rPr>
              <a:t>DONALD TRUMP</a:t>
            </a:r>
            <a:br>
              <a:rPr lang="en-US" sz="4000" dirty="0"/>
            </a:br>
            <a:r>
              <a:rPr lang="en-US" sz="4000" b="1" dirty="0">
                <a:solidFill>
                  <a:srgbClr val="002060"/>
                </a:solidFill>
              </a:rPr>
              <a:t>YẾU TỐ THÀNH CÔNG VÀ Ý NGHĨA THẮNG LỜI CỦA VỊ TỔNG THỐNG 47 HOA KỲ</a:t>
            </a:r>
          </a:p>
        </p:txBody>
      </p:sp>
      <p:pic>
        <p:nvPicPr>
          <p:cNvPr id="2052" name="Picture 4" descr="40+ câu nói hay về kinh doanh, khởi nghiệp đầy ý nghĩa">
            <a:extLst>
              <a:ext uri="{FF2B5EF4-FFF2-40B4-BE49-F238E27FC236}">
                <a16:creationId xmlns:a16="http://schemas.microsoft.com/office/drawing/2014/main" id="{E8F54D88-AA7E-0045-2BBC-0582A21486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153" y="509953"/>
            <a:ext cx="5802924" cy="3264145"/>
          </a:xfrm>
          <a:prstGeom prst="rect">
            <a:avLst/>
          </a:prstGeom>
          <a:noFill/>
          <a:effectLst>
            <a:glow rad="1397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082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A7981-2C64-AAFE-B187-38BA44930DCA}"/>
              </a:ext>
            </a:extLst>
          </p:cNvPr>
          <p:cNvSpPr>
            <a:spLocks noGrp="1"/>
          </p:cNvSpPr>
          <p:nvPr>
            <p:ph type="title"/>
          </p:nvPr>
        </p:nvSpPr>
        <p:spPr/>
        <p:txBody>
          <a:bodyPr>
            <a:normAutofit/>
          </a:bodyPr>
          <a:lstStyle/>
          <a:p>
            <a:r>
              <a:rPr lang="en-US" sz="3600" b="1" i="0" dirty="0">
                <a:solidFill>
                  <a:srgbClr val="7030A0"/>
                </a:solidFill>
                <a:effectLst/>
                <a:latin typeface="SegoeuiPc"/>
              </a:rPr>
              <a:t>1. </a:t>
            </a:r>
            <a:r>
              <a:rPr lang="en-US" sz="3600" b="1" i="0" dirty="0" err="1">
                <a:solidFill>
                  <a:srgbClr val="7030A0"/>
                </a:solidFill>
                <a:effectLst/>
                <a:latin typeface="SegoeuiPc"/>
              </a:rPr>
              <a:t>Động</a:t>
            </a:r>
            <a:r>
              <a:rPr lang="en-US" sz="3600" b="1" i="0" dirty="0">
                <a:solidFill>
                  <a:srgbClr val="7030A0"/>
                </a:solidFill>
                <a:effectLst/>
                <a:latin typeface="SegoeuiPc"/>
              </a:rPr>
              <a:t> </a:t>
            </a:r>
            <a:r>
              <a:rPr lang="en-US" sz="3600" b="1" i="0" dirty="0" err="1">
                <a:solidFill>
                  <a:srgbClr val="7030A0"/>
                </a:solidFill>
                <a:effectLst/>
                <a:latin typeface="SegoeuiPc"/>
              </a:rPr>
              <a:t>lực</a:t>
            </a:r>
            <a:r>
              <a:rPr lang="en-US" sz="3600" b="1" i="0" dirty="0">
                <a:solidFill>
                  <a:srgbClr val="7030A0"/>
                </a:solidFill>
                <a:effectLst/>
                <a:latin typeface="SegoeuiPc"/>
              </a:rPr>
              <a:t> </a:t>
            </a:r>
            <a:r>
              <a:rPr lang="en-US" sz="3600" b="1" i="0" dirty="0" err="1">
                <a:solidFill>
                  <a:srgbClr val="7030A0"/>
                </a:solidFill>
                <a:effectLst/>
                <a:latin typeface="SegoeuiPc"/>
              </a:rPr>
              <a:t>cống</a:t>
            </a:r>
            <a:r>
              <a:rPr lang="en-US" sz="3600" b="1" i="0" dirty="0">
                <a:solidFill>
                  <a:srgbClr val="7030A0"/>
                </a:solidFill>
                <a:effectLst/>
                <a:latin typeface="SegoeuiPc"/>
              </a:rPr>
              <a:t> </a:t>
            </a:r>
            <a:r>
              <a:rPr lang="en-US" sz="3600" b="1" i="0" dirty="0" err="1">
                <a:solidFill>
                  <a:srgbClr val="7030A0"/>
                </a:solidFill>
                <a:effectLst/>
                <a:latin typeface="SegoeuiPc"/>
              </a:rPr>
              <a:t>hiến</a:t>
            </a:r>
            <a:r>
              <a:rPr lang="en-US" sz="3600" b="1" i="0" dirty="0">
                <a:solidFill>
                  <a:srgbClr val="7030A0"/>
                </a:solidFill>
                <a:effectLst/>
                <a:latin typeface="SegoeuiPc"/>
              </a:rPr>
              <a:t> </a:t>
            </a:r>
            <a:r>
              <a:rPr lang="en-US" sz="3600" b="1" i="0" dirty="0" err="1">
                <a:solidFill>
                  <a:srgbClr val="7030A0"/>
                </a:solidFill>
                <a:effectLst/>
                <a:latin typeface="SegoeuiPc"/>
              </a:rPr>
              <a:t>và</a:t>
            </a:r>
            <a:r>
              <a:rPr lang="en-US" sz="3600" b="1" i="0" dirty="0">
                <a:solidFill>
                  <a:srgbClr val="7030A0"/>
                </a:solidFill>
                <a:effectLst/>
                <a:latin typeface="SegoeuiPc"/>
              </a:rPr>
              <a:t> </a:t>
            </a:r>
            <a:r>
              <a:rPr lang="en-US" sz="3600" b="1" i="0" dirty="0" err="1">
                <a:solidFill>
                  <a:srgbClr val="7030A0"/>
                </a:solidFill>
                <a:effectLst/>
                <a:latin typeface="SegoeuiPc"/>
              </a:rPr>
              <a:t>giá</a:t>
            </a:r>
            <a:r>
              <a:rPr lang="en-US" sz="3600" b="1" i="0" dirty="0">
                <a:solidFill>
                  <a:srgbClr val="7030A0"/>
                </a:solidFill>
                <a:effectLst/>
                <a:latin typeface="SegoeuiPc"/>
              </a:rPr>
              <a:t> </a:t>
            </a:r>
            <a:r>
              <a:rPr lang="en-US" sz="3600" b="1" i="0" dirty="0" err="1">
                <a:solidFill>
                  <a:srgbClr val="7030A0"/>
                </a:solidFill>
                <a:effectLst/>
                <a:latin typeface="SegoeuiPc"/>
              </a:rPr>
              <a:t>trị</a:t>
            </a:r>
            <a:r>
              <a:rPr lang="en-US" sz="3600" b="1" i="0" dirty="0">
                <a:solidFill>
                  <a:srgbClr val="7030A0"/>
                </a:solidFill>
                <a:effectLst/>
                <a:latin typeface="SegoeuiPc"/>
              </a:rPr>
              <a:t> </a:t>
            </a:r>
            <a:r>
              <a:rPr lang="en-US" sz="3600" b="1" i="0" dirty="0" err="1">
                <a:solidFill>
                  <a:srgbClr val="7030A0"/>
                </a:solidFill>
                <a:effectLst/>
                <a:latin typeface="SegoeuiPc"/>
              </a:rPr>
              <a:t>cá</a:t>
            </a:r>
            <a:r>
              <a:rPr lang="en-US" sz="3600" b="1" i="0" dirty="0">
                <a:solidFill>
                  <a:srgbClr val="7030A0"/>
                </a:solidFill>
                <a:effectLst/>
                <a:latin typeface="SegoeuiPc"/>
              </a:rPr>
              <a:t> </a:t>
            </a:r>
            <a:r>
              <a:rPr lang="en-US" sz="3600" b="1" i="0" dirty="0" err="1">
                <a:solidFill>
                  <a:srgbClr val="7030A0"/>
                </a:solidFill>
                <a:effectLst/>
                <a:latin typeface="SegoeuiPc"/>
              </a:rPr>
              <a:t>nhân</a:t>
            </a:r>
            <a:endParaRPr lang="en-US" sz="3600" b="1" dirty="0">
              <a:solidFill>
                <a:srgbClr val="7030A0"/>
              </a:solidFill>
            </a:endParaRPr>
          </a:p>
        </p:txBody>
      </p:sp>
      <p:sp>
        <p:nvSpPr>
          <p:cNvPr id="3" name="Content Placeholder 2">
            <a:extLst>
              <a:ext uri="{FF2B5EF4-FFF2-40B4-BE49-F238E27FC236}">
                <a16:creationId xmlns:a16="http://schemas.microsoft.com/office/drawing/2014/main" id="{789D3801-C2F2-2E68-FF5E-917E87403EC0}"/>
              </a:ext>
            </a:extLst>
          </p:cNvPr>
          <p:cNvSpPr>
            <a:spLocks noGrp="1"/>
          </p:cNvSpPr>
          <p:nvPr>
            <p:ph idx="1"/>
          </p:nvPr>
        </p:nvSpPr>
        <p:spPr>
          <a:xfrm>
            <a:off x="838200" y="1825625"/>
            <a:ext cx="6082717" cy="4351338"/>
          </a:xfrm>
        </p:spPr>
        <p:txBody>
          <a:bodyPr>
            <a:normAutofit/>
          </a:bodyPr>
          <a:lstStyle/>
          <a:p>
            <a:pPr algn="just"/>
            <a:r>
              <a:rPr lang="vi-VN" sz="1800" b="1" dirty="0">
                <a:solidFill>
                  <a:srgbClr val="00B050"/>
                </a:solidFill>
              </a:rPr>
              <a:t> Phân tích: </a:t>
            </a:r>
            <a:r>
              <a:rPr lang="vi-VN" sz="1800" dirty="0"/>
              <a:t>Mặc dù Trump là một tỷ phú và đã nổi tiếng từ lâu, động lực cống hiến của ông không hoàn toàn vì tiền bạc hay danh tiếng. Việc ông trở lại chính trường và giữ vững lập trường “làm nước Mỹ vĩ đại trở lại” cho thấy một mục tiêu lớn hơn: để lại di sản và tạo ra những thay đổi thực sự. Điều này cho thấy, ở một mức độ nhất định, ông coi trọng giá trị cá nhân của mình trong việc tác động đến quốc gia. </a:t>
            </a:r>
            <a:endParaRPr lang="en-US" sz="1800" dirty="0"/>
          </a:p>
          <a:p>
            <a:pPr algn="just"/>
            <a:r>
              <a:rPr lang="vi-VN" sz="1800" b="1" dirty="0">
                <a:solidFill>
                  <a:srgbClr val="00B050"/>
                </a:solidFill>
              </a:rPr>
              <a:t>Ý nghĩa: </a:t>
            </a:r>
            <a:r>
              <a:rPr lang="vi-VN" sz="1800" dirty="0"/>
              <a:t>Đây là một bài học về việc tìm kiếm động lực từ những mục tiêu lớn và ý nghĩa hơn vật chất. Cống hiến cho cộng đồng hay một lý tưởng lớn sẽ tạo nên một sức mạnh tinh thần, giúp con người vượt qua mọi thách thức.</a:t>
            </a:r>
            <a:endParaRPr lang="en-US" sz="1800" dirty="0"/>
          </a:p>
        </p:txBody>
      </p:sp>
      <p:pic>
        <p:nvPicPr>
          <p:cNvPr id="1030" name="Picture 6" descr="Tổng thống Mỹ 2016 Donald Trump và những câu nói truyền cảm hứng">
            <a:extLst>
              <a:ext uri="{FF2B5EF4-FFF2-40B4-BE49-F238E27FC236}">
                <a16:creationId xmlns:a16="http://schemas.microsoft.com/office/drawing/2014/main" id="{BFC9D4B7-37FE-5BE9-6DD3-E5ADE15A3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0385" y="2071687"/>
            <a:ext cx="4596190" cy="2714625"/>
          </a:xfrm>
          <a:prstGeom prst="rect">
            <a:avLst/>
          </a:prstGeom>
          <a:noFill/>
          <a:effectLst>
            <a:glow rad="101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13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4227-0818-69EA-1B87-672670CC8390}"/>
              </a:ext>
            </a:extLst>
          </p:cNvPr>
          <p:cNvSpPr>
            <a:spLocks noGrp="1"/>
          </p:cNvSpPr>
          <p:nvPr>
            <p:ph type="title"/>
          </p:nvPr>
        </p:nvSpPr>
        <p:spPr/>
        <p:txBody>
          <a:bodyPr/>
          <a:lstStyle/>
          <a:p>
            <a:r>
              <a:rPr lang="vi-VN" b="1" dirty="0">
                <a:solidFill>
                  <a:srgbClr val="7030A0"/>
                </a:solidFill>
              </a:rPr>
              <a:t>2. Hiệu ứng lãnh đạo mạnh mẽ và khả năng ảnh hưởng đến xã hội</a:t>
            </a:r>
            <a:endParaRPr lang="en-US" b="1" dirty="0">
              <a:solidFill>
                <a:srgbClr val="7030A0"/>
              </a:solidFill>
            </a:endParaRPr>
          </a:p>
        </p:txBody>
      </p:sp>
      <p:sp>
        <p:nvSpPr>
          <p:cNvPr id="3" name="Content Placeholder 2">
            <a:extLst>
              <a:ext uri="{FF2B5EF4-FFF2-40B4-BE49-F238E27FC236}">
                <a16:creationId xmlns:a16="http://schemas.microsoft.com/office/drawing/2014/main" id="{537B950B-2D5A-9F58-B396-716A73670820}"/>
              </a:ext>
            </a:extLst>
          </p:cNvPr>
          <p:cNvSpPr>
            <a:spLocks noGrp="1"/>
          </p:cNvSpPr>
          <p:nvPr>
            <p:ph idx="1"/>
          </p:nvPr>
        </p:nvSpPr>
        <p:spPr>
          <a:xfrm>
            <a:off x="5050172" y="1825625"/>
            <a:ext cx="6303628" cy="4351338"/>
          </a:xfrm>
        </p:spPr>
        <p:txBody>
          <a:bodyPr>
            <a:normAutofit/>
          </a:bodyPr>
          <a:lstStyle/>
          <a:p>
            <a:pPr marL="0" indent="0" algn="just">
              <a:buNone/>
            </a:pPr>
            <a:r>
              <a:rPr lang="vi-VN" sz="1800" b="1" dirty="0">
                <a:solidFill>
                  <a:srgbClr val="00B050"/>
                </a:solidFill>
              </a:rPr>
              <a:t>• Phân tích: </a:t>
            </a:r>
            <a:r>
              <a:rPr lang="vi-VN" sz="1800" dirty="0"/>
              <a:t>Trump biết cách truyền cảm hứng và khơi gợi cảm xúc từ cử tri của mình. Với hình ảnh mạnh mẽ và quyết đoán, ông đã truyền tải thông điệp đến một bộ phận lớn người dân Mỹ rằng ông là người đứng về phía họ. Việc tạo ra cảm giác rằng ông đại diện cho họ đã giúp ông kết nối sâu sắc và gắn kết với cử tri. </a:t>
            </a:r>
            <a:endParaRPr lang="en-US" sz="1800" dirty="0"/>
          </a:p>
          <a:p>
            <a:pPr marL="0" indent="0" algn="just">
              <a:buNone/>
            </a:pPr>
            <a:r>
              <a:rPr lang="vi-VN" sz="1800" dirty="0">
                <a:solidFill>
                  <a:srgbClr val="00B050"/>
                </a:solidFill>
              </a:rPr>
              <a:t>•</a:t>
            </a:r>
            <a:r>
              <a:rPr lang="vi-VN" sz="1800" dirty="0"/>
              <a:t> </a:t>
            </a:r>
            <a:r>
              <a:rPr lang="vi-VN" sz="1800" b="1" dirty="0">
                <a:solidFill>
                  <a:srgbClr val="00B050"/>
                </a:solidFill>
              </a:rPr>
              <a:t>Ý nghĩa: </a:t>
            </a:r>
            <a:r>
              <a:rPr lang="vi-VN" sz="1800" dirty="0"/>
              <a:t>Một nhà lãnh đạo có khả năng truyền đạt thông điệp rõ ràng và cảm xúc có thể thu hút và giữ chân sự ủng hộ từ công chúng. Việc xây dựng niềm tin và tạo ra ảnh hưởng xã hội mạnh mẽ là yếu tố quan trọng trong vai trò lãnh đạo, dù là trong chính trị hay kinh doanh.</a:t>
            </a:r>
            <a:endParaRPr lang="en-US" sz="1800" dirty="0"/>
          </a:p>
        </p:txBody>
      </p:sp>
      <p:grpSp>
        <p:nvGrpSpPr>
          <p:cNvPr id="5" name="Group 4">
            <a:extLst>
              <a:ext uri="{FF2B5EF4-FFF2-40B4-BE49-F238E27FC236}">
                <a16:creationId xmlns:a16="http://schemas.microsoft.com/office/drawing/2014/main" id="{56BCC85C-E4D9-898F-8EFB-E6D9B65FF892}"/>
              </a:ext>
            </a:extLst>
          </p:cNvPr>
          <p:cNvGrpSpPr/>
          <p:nvPr/>
        </p:nvGrpSpPr>
        <p:grpSpPr>
          <a:xfrm>
            <a:off x="-3495" y="2076191"/>
            <a:ext cx="4160393" cy="3151814"/>
            <a:chOff x="-3495" y="2076191"/>
            <a:chExt cx="4160393" cy="3151814"/>
          </a:xfrm>
        </p:grpSpPr>
        <p:sp>
          <p:nvSpPr>
            <p:cNvPr id="6" name="Oval 5" descr="Bầu cử tổng thống Mỹ 2024: Ông Donald Trump tuyên bố chiến thắng">
              <a:extLst>
                <a:ext uri="{FF2B5EF4-FFF2-40B4-BE49-F238E27FC236}">
                  <a16:creationId xmlns:a16="http://schemas.microsoft.com/office/drawing/2014/main" id="{6471123D-EF5F-B7EA-B372-FAC48B5A2C03}"/>
                </a:ext>
              </a:extLst>
            </p:cNvPr>
            <p:cNvSpPr/>
            <p:nvPr/>
          </p:nvSpPr>
          <p:spPr>
            <a:xfrm>
              <a:off x="-3495" y="2076191"/>
              <a:ext cx="3151814" cy="3151814"/>
            </a:xfrm>
            <a:prstGeom prst="ellipse">
              <a:avLst/>
            </a:prstGeom>
            <a:blipFill>
              <a:blip r:embed="rId2">
                <a:extLst>
                  <a:ext uri="{28A0092B-C50C-407E-A947-70E740481C1C}">
                    <a14:useLocalDpi xmlns:a14="http://schemas.microsoft.com/office/drawing/2010/main" val="0"/>
                  </a:ext>
                </a:extLst>
              </a:blip>
              <a:srcRect/>
              <a:stretch>
                <a:fillRect l="-39000" r="-39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7" name="Freeform: Shape 6">
              <a:extLst>
                <a:ext uri="{FF2B5EF4-FFF2-40B4-BE49-F238E27FC236}">
                  <a16:creationId xmlns:a16="http://schemas.microsoft.com/office/drawing/2014/main" id="{DBB50957-76A4-EE27-DFC0-DD3E75C6DEC3}"/>
                </a:ext>
              </a:extLst>
            </p:cNvPr>
            <p:cNvSpPr/>
            <p:nvPr/>
          </p:nvSpPr>
          <p:spPr>
            <a:xfrm>
              <a:off x="2139738" y="3665430"/>
              <a:ext cx="2017160" cy="1040098"/>
            </a:xfrm>
            <a:custGeom>
              <a:avLst/>
              <a:gdLst>
                <a:gd name="connsiteX0" fmla="*/ 0 w 2017160"/>
                <a:gd name="connsiteY0" fmla="*/ 0 h 1040098"/>
                <a:gd name="connsiteX1" fmla="*/ 2017160 w 2017160"/>
                <a:gd name="connsiteY1" fmla="*/ 0 h 1040098"/>
                <a:gd name="connsiteX2" fmla="*/ 2017160 w 2017160"/>
                <a:gd name="connsiteY2" fmla="*/ 1040098 h 1040098"/>
                <a:gd name="connsiteX3" fmla="*/ 0 w 2017160"/>
                <a:gd name="connsiteY3" fmla="*/ 1040098 h 1040098"/>
                <a:gd name="connsiteX4" fmla="*/ 0 w 2017160"/>
                <a:gd name="connsiteY4" fmla="*/ 0 h 1040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160" h="1040098">
                  <a:moveTo>
                    <a:pt x="0" y="0"/>
                  </a:moveTo>
                  <a:lnTo>
                    <a:pt x="2017160" y="0"/>
                  </a:lnTo>
                  <a:lnTo>
                    <a:pt x="2017160" y="1040098"/>
                  </a:lnTo>
                  <a:lnTo>
                    <a:pt x="0" y="1040098"/>
                  </a:lnTo>
                  <a:lnTo>
                    <a:pt x="0" y="0"/>
                  </a:lnTo>
                  <a:close/>
                </a:path>
              </a:pathLst>
            </a:custGeom>
            <a:ln/>
          </p:spPr>
          <p:style>
            <a:lnRef idx="0">
              <a:schemeClr val="accent2"/>
            </a:lnRef>
            <a:fillRef idx="3">
              <a:schemeClr val="accent2"/>
            </a:fillRef>
            <a:effectRef idx="3">
              <a:schemeClr val="accent2"/>
            </a:effectRef>
            <a:fontRef idx="minor">
              <a:schemeClr val="lt1"/>
            </a:fontRef>
          </p:style>
          <p:txBody>
            <a:bodyPr spcFirstLastPara="0" vert="horz" wrap="square" lIns="0" tIns="0" rIns="0" bIns="0" numCol="1" spcCol="1270" anchor="b" anchorCtr="0">
              <a:noAutofit/>
            </a:bodyPr>
            <a:lstStyle/>
            <a:p>
              <a:pPr marL="0" lvl="0" indent="0" algn="ctr" defTabSz="2311400">
                <a:lnSpc>
                  <a:spcPct val="90000"/>
                </a:lnSpc>
                <a:spcBef>
                  <a:spcPct val="0"/>
                </a:spcBef>
                <a:spcAft>
                  <a:spcPct val="35000"/>
                </a:spcAft>
                <a:buNone/>
              </a:pPr>
              <a:r>
                <a:rPr lang="en-US" sz="4800" kern="1200" dirty="0">
                  <a:solidFill>
                    <a:srgbClr val="FFC000"/>
                  </a:solidFill>
                </a:rPr>
                <a:t>TRUMP</a:t>
              </a:r>
            </a:p>
          </p:txBody>
        </p:sp>
      </p:grpSp>
    </p:spTree>
    <p:extLst>
      <p:ext uri="{BB962C8B-B14F-4D97-AF65-F5344CB8AC3E}">
        <p14:creationId xmlns:p14="http://schemas.microsoft.com/office/powerpoint/2010/main" val="2770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5AE5F-C49E-AD9E-DC72-CFA48FBD83D5}"/>
              </a:ext>
            </a:extLst>
          </p:cNvPr>
          <p:cNvSpPr>
            <a:spLocks noGrp="1"/>
          </p:cNvSpPr>
          <p:nvPr>
            <p:ph type="title"/>
          </p:nvPr>
        </p:nvSpPr>
        <p:spPr/>
        <p:txBody>
          <a:bodyPr>
            <a:normAutofit/>
          </a:bodyPr>
          <a:lstStyle/>
          <a:p>
            <a:r>
              <a:rPr lang="en-US" sz="3600" b="1" i="0" dirty="0">
                <a:solidFill>
                  <a:srgbClr val="7030A0"/>
                </a:solidFill>
                <a:effectLst/>
                <a:latin typeface="SegoeuiPc"/>
              </a:rPr>
              <a:t>3. </a:t>
            </a:r>
            <a:r>
              <a:rPr lang="en-US" sz="3600" b="1" i="0" dirty="0" err="1">
                <a:solidFill>
                  <a:srgbClr val="7030A0"/>
                </a:solidFill>
                <a:effectLst/>
                <a:latin typeface="SegoeuiPc"/>
              </a:rPr>
              <a:t>Tâm</a:t>
            </a:r>
            <a:r>
              <a:rPr lang="en-US" sz="3600" b="1" i="0" dirty="0">
                <a:solidFill>
                  <a:srgbClr val="7030A0"/>
                </a:solidFill>
                <a:effectLst/>
                <a:latin typeface="SegoeuiPc"/>
              </a:rPr>
              <a:t> </a:t>
            </a:r>
            <a:r>
              <a:rPr lang="en-US" sz="3600" b="1" i="0" dirty="0" err="1">
                <a:solidFill>
                  <a:srgbClr val="7030A0"/>
                </a:solidFill>
                <a:effectLst/>
                <a:latin typeface="SegoeuiPc"/>
              </a:rPr>
              <a:t>lý</a:t>
            </a:r>
            <a:r>
              <a:rPr lang="en-US" sz="3600" b="1" i="0" dirty="0">
                <a:solidFill>
                  <a:srgbClr val="7030A0"/>
                </a:solidFill>
                <a:effectLst/>
                <a:latin typeface="SegoeuiPc"/>
              </a:rPr>
              <a:t> </a:t>
            </a:r>
            <a:r>
              <a:rPr lang="en-US" sz="3600" b="1" i="0" dirty="0" err="1">
                <a:solidFill>
                  <a:srgbClr val="7030A0"/>
                </a:solidFill>
                <a:effectLst/>
                <a:latin typeface="SegoeuiPc"/>
              </a:rPr>
              <a:t>phân</a:t>
            </a:r>
            <a:r>
              <a:rPr lang="en-US" sz="3600" b="1" i="0" dirty="0">
                <a:solidFill>
                  <a:srgbClr val="7030A0"/>
                </a:solidFill>
                <a:effectLst/>
                <a:latin typeface="SegoeuiPc"/>
              </a:rPr>
              <a:t> </a:t>
            </a:r>
            <a:r>
              <a:rPr lang="en-US" sz="3600" b="1" i="0" dirty="0" err="1">
                <a:solidFill>
                  <a:srgbClr val="7030A0"/>
                </a:solidFill>
                <a:effectLst/>
                <a:latin typeface="SegoeuiPc"/>
              </a:rPr>
              <a:t>cực</a:t>
            </a:r>
            <a:r>
              <a:rPr lang="en-US" sz="3600" b="1" i="0" dirty="0">
                <a:solidFill>
                  <a:srgbClr val="7030A0"/>
                </a:solidFill>
                <a:effectLst/>
                <a:latin typeface="SegoeuiPc"/>
              </a:rPr>
              <a:t> </a:t>
            </a:r>
            <a:r>
              <a:rPr lang="en-US" sz="3600" b="1" i="0" dirty="0" err="1">
                <a:solidFill>
                  <a:srgbClr val="7030A0"/>
                </a:solidFill>
                <a:effectLst/>
                <a:latin typeface="SegoeuiPc"/>
              </a:rPr>
              <a:t>và</a:t>
            </a:r>
            <a:r>
              <a:rPr lang="en-US" sz="3600" b="1" i="0" dirty="0">
                <a:solidFill>
                  <a:srgbClr val="7030A0"/>
                </a:solidFill>
                <a:effectLst/>
                <a:latin typeface="SegoeuiPc"/>
              </a:rPr>
              <a:t> </a:t>
            </a:r>
            <a:r>
              <a:rPr lang="en-US" sz="3600" b="1" i="0" dirty="0" err="1">
                <a:solidFill>
                  <a:srgbClr val="7030A0"/>
                </a:solidFill>
                <a:effectLst/>
                <a:latin typeface="SegoeuiPc"/>
              </a:rPr>
              <a:t>niềm</a:t>
            </a:r>
            <a:r>
              <a:rPr lang="en-US" sz="3600" b="1" i="0" dirty="0">
                <a:solidFill>
                  <a:srgbClr val="7030A0"/>
                </a:solidFill>
                <a:effectLst/>
                <a:latin typeface="SegoeuiPc"/>
              </a:rPr>
              <a:t> tin </a:t>
            </a:r>
            <a:r>
              <a:rPr lang="en-US" sz="3600" b="1" i="0" dirty="0" err="1">
                <a:solidFill>
                  <a:srgbClr val="7030A0"/>
                </a:solidFill>
                <a:effectLst/>
                <a:latin typeface="SegoeuiPc"/>
              </a:rPr>
              <a:t>vào</a:t>
            </a:r>
            <a:r>
              <a:rPr lang="en-US" sz="3600" b="1" i="0" dirty="0">
                <a:solidFill>
                  <a:srgbClr val="7030A0"/>
                </a:solidFill>
                <a:effectLst/>
                <a:latin typeface="SegoeuiPc"/>
              </a:rPr>
              <a:t> </a:t>
            </a:r>
            <a:r>
              <a:rPr lang="en-US" sz="3600" b="1" i="0" dirty="0" err="1">
                <a:solidFill>
                  <a:srgbClr val="7030A0"/>
                </a:solidFill>
                <a:effectLst/>
                <a:latin typeface="SegoeuiPc"/>
              </a:rPr>
              <a:t>sự</a:t>
            </a:r>
            <a:r>
              <a:rPr lang="en-US" sz="3600" b="1" i="0" dirty="0">
                <a:solidFill>
                  <a:srgbClr val="7030A0"/>
                </a:solidFill>
                <a:effectLst/>
                <a:latin typeface="SegoeuiPc"/>
              </a:rPr>
              <a:t> </a:t>
            </a:r>
            <a:r>
              <a:rPr lang="en-US" sz="3600" b="1" i="0" dirty="0" err="1">
                <a:solidFill>
                  <a:srgbClr val="7030A0"/>
                </a:solidFill>
                <a:effectLst/>
                <a:latin typeface="SegoeuiPc"/>
              </a:rPr>
              <a:t>thay</a:t>
            </a:r>
            <a:r>
              <a:rPr lang="en-US" sz="3600" b="1" i="0" dirty="0">
                <a:solidFill>
                  <a:srgbClr val="7030A0"/>
                </a:solidFill>
                <a:effectLst/>
                <a:latin typeface="SegoeuiPc"/>
              </a:rPr>
              <a:t> </a:t>
            </a:r>
            <a:r>
              <a:rPr lang="en-US" sz="3600" b="1" i="0" dirty="0" err="1">
                <a:solidFill>
                  <a:srgbClr val="7030A0"/>
                </a:solidFill>
                <a:effectLst/>
                <a:latin typeface="SegoeuiPc"/>
              </a:rPr>
              <a:t>đổi</a:t>
            </a:r>
            <a:endParaRPr lang="en-US" sz="3600" b="1" dirty="0">
              <a:solidFill>
                <a:srgbClr val="7030A0"/>
              </a:solidFill>
            </a:endParaRPr>
          </a:p>
        </p:txBody>
      </p:sp>
      <p:sp>
        <p:nvSpPr>
          <p:cNvPr id="3" name="Content Placeholder 2">
            <a:extLst>
              <a:ext uri="{FF2B5EF4-FFF2-40B4-BE49-F238E27FC236}">
                <a16:creationId xmlns:a16="http://schemas.microsoft.com/office/drawing/2014/main" id="{B92E0037-3A7D-2F17-F22A-4BE74144A6FC}"/>
              </a:ext>
            </a:extLst>
          </p:cNvPr>
          <p:cNvSpPr>
            <a:spLocks noGrp="1"/>
          </p:cNvSpPr>
          <p:nvPr>
            <p:ph idx="1"/>
          </p:nvPr>
        </p:nvSpPr>
        <p:spPr>
          <a:xfrm>
            <a:off x="3951214" y="1909515"/>
            <a:ext cx="8023371" cy="4885568"/>
          </a:xfrm>
        </p:spPr>
        <p:txBody>
          <a:bodyPr>
            <a:normAutofit fontScale="92500" lnSpcReduction="10000"/>
          </a:bodyPr>
          <a:lstStyle/>
          <a:p>
            <a:pPr marL="0" indent="0" algn="just">
              <a:buNone/>
            </a:pPr>
            <a:r>
              <a:rPr lang="vi-VN" sz="2000" b="1" i="0" dirty="0">
                <a:solidFill>
                  <a:srgbClr val="00B050"/>
                </a:solidFill>
                <a:effectLst/>
                <a:latin typeface="SegoeuiPc"/>
              </a:rPr>
              <a:t>• Phân tích: </a:t>
            </a:r>
            <a:r>
              <a:rPr lang="vi-VN" sz="2000" b="0" i="0" dirty="0">
                <a:solidFill>
                  <a:srgbClr val="081C36"/>
                </a:solidFill>
                <a:effectLst/>
                <a:latin typeface="SegoeuiPc"/>
              </a:rPr>
              <a:t>Tâm lý phân cực hiện diện rõ ràng trong xã hội Mỹ, khi người dân có xu hướng chia thành hai nhóm: ủng hộ mạnh mẽ hoặc phản đối quyết liệt. Trump đã thành công trong việc khai thác sự phân cực này để củng cố vị thế của mình, đặc biệt với những người cảm thấy không hài lòng với chính sách truyền thống. </a:t>
            </a:r>
            <a:endParaRPr lang="en-US" sz="2000" b="0" i="0" dirty="0">
              <a:solidFill>
                <a:srgbClr val="081C36"/>
              </a:solidFill>
              <a:effectLst/>
              <a:latin typeface="SegoeuiPc"/>
            </a:endParaRPr>
          </a:p>
          <a:p>
            <a:pPr marL="0" indent="0" algn="just">
              <a:buNone/>
            </a:pPr>
            <a:endParaRPr lang="en-US" sz="2000" b="0" i="0" dirty="0">
              <a:solidFill>
                <a:srgbClr val="081C36"/>
              </a:solidFill>
              <a:effectLst/>
              <a:latin typeface="SegoeuiPc"/>
            </a:endParaRPr>
          </a:p>
          <a:p>
            <a:pPr marL="0" indent="0" algn="just">
              <a:buNone/>
            </a:pPr>
            <a:endParaRPr lang="en-US" sz="2000" dirty="0">
              <a:solidFill>
                <a:srgbClr val="081C36"/>
              </a:solidFill>
              <a:latin typeface="SegoeuiPc"/>
            </a:endParaRPr>
          </a:p>
          <a:p>
            <a:pPr marL="0" indent="0" algn="just">
              <a:buNone/>
            </a:pPr>
            <a:endParaRPr lang="en-US" sz="2000" b="0" i="0" dirty="0">
              <a:solidFill>
                <a:srgbClr val="081C36"/>
              </a:solidFill>
              <a:effectLst/>
              <a:latin typeface="SegoeuiPc"/>
            </a:endParaRPr>
          </a:p>
          <a:p>
            <a:pPr marL="0" indent="0" algn="just">
              <a:buNone/>
            </a:pPr>
            <a:endParaRPr lang="en-US" sz="2000" b="0" i="0" dirty="0">
              <a:solidFill>
                <a:srgbClr val="081C36"/>
              </a:solidFill>
              <a:effectLst/>
              <a:latin typeface="SegoeuiPc"/>
            </a:endParaRPr>
          </a:p>
          <a:p>
            <a:pPr marL="0" indent="0" algn="just">
              <a:buNone/>
            </a:pPr>
            <a:endParaRPr lang="en-US" sz="2000" b="0" i="0" dirty="0">
              <a:solidFill>
                <a:srgbClr val="081C36"/>
              </a:solidFill>
              <a:effectLst/>
              <a:latin typeface="SegoeuiPc"/>
            </a:endParaRPr>
          </a:p>
          <a:p>
            <a:pPr marL="0" indent="0" algn="just">
              <a:buNone/>
            </a:pPr>
            <a:endParaRPr lang="en-US" sz="2000" b="0" i="0" dirty="0">
              <a:solidFill>
                <a:srgbClr val="081C36"/>
              </a:solidFill>
              <a:effectLst/>
              <a:latin typeface="SegoeuiPc"/>
            </a:endParaRPr>
          </a:p>
          <a:p>
            <a:pPr marL="0" indent="0" algn="just">
              <a:buNone/>
            </a:pPr>
            <a:r>
              <a:rPr lang="vi-VN" sz="2000" b="1" i="0" dirty="0">
                <a:solidFill>
                  <a:srgbClr val="00B050"/>
                </a:solidFill>
                <a:effectLst/>
                <a:latin typeface="SegoeuiPc"/>
              </a:rPr>
              <a:t>• Ý nghĩa: </a:t>
            </a:r>
            <a:r>
              <a:rPr lang="vi-VN" sz="2000" b="0" i="0" dirty="0">
                <a:solidFill>
                  <a:srgbClr val="081C36"/>
                </a:solidFill>
                <a:effectLst/>
                <a:latin typeface="SegoeuiPc"/>
              </a:rPr>
              <a:t>Việc hiểu và chấp nhận sự đa dạng quan điểm trong xã hội giúp các nhà lãnh đạo và doanh nghiệp điều chỉnh thông điệp của mình. Phân cực có thể là một công cụ nếu biết tận dụng, nhưng cần được cân nhắc và điều chỉnh để tránh gây chia rẽ sâu sắc trong xã hội.</a:t>
            </a:r>
            <a:endParaRPr lang="en-US" sz="2000" dirty="0"/>
          </a:p>
        </p:txBody>
      </p:sp>
      <p:grpSp>
        <p:nvGrpSpPr>
          <p:cNvPr id="5" name="Group 4">
            <a:extLst>
              <a:ext uri="{FF2B5EF4-FFF2-40B4-BE49-F238E27FC236}">
                <a16:creationId xmlns:a16="http://schemas.microsoft.com/office/drawing/2014/main" id="{FF655004-0EFF-F807-C7CB-9238466EE9F7}"/>
              </a:ext>
            </a:extLst>
          </p:cNvPr>
          <p:cNvGrpSpPr/>
          <p:nvPr/>
        </p:nvGrpSpPr>
        <p:grpSpPr>
          <a:xfrm>
            <a:off x="1284101" y="1847162"/>
            <a:ext cx="6905763" cy="3163674"/>
            <a:chOff x="1284101" y="1847162"/>
            <a:chExt cx="6905763" cy="3163674"/>
          </a:xfrm>
        </p:grpSpPr>
        <p:sp>
          <p:nvSpPr>
            <p:cNvPr id="6" name="Freeform: Shape 5">
              <a:extLst>
                <a:ext uri="{FF2B5EF4-FFF2-40B4-BE49-F238E27FC236}">
                  <a16:creationId xmlns:a16="http://schemas.microsoft.com/office/drawing/2014/main" id="{600217BE-F755-867A-4641-6A485582B254}"/>
                </a:ext>
              </a:extLst>
            </p:cNvPr>
            <p:cNvSpPr/>
            <p:nvPr/>
          </p:nvSpPr>
          <p:spPr>
            <a:xfrm>
              <a:off x="2936065" y="3413151"/>
              <a:ext cx="5253799" cy="1597685"/>
            </a:xfrm>
            <a:custGeom>
              <a:avLst/>
              <a:gdLst>
                <a:gd name="connsiteX0" fmla="*/ 0 w 5253799"/>
                <a:gd name="connsiteY0" fmla="*/ 266286 h 1597685"/>
                <a:gd name="connsiteX1" fmla="*/ 266286 w 5253799"/>
                <a:gd name="connsiteY1" fmla="*/ 0 h 1597685"/>
                <a:gd name="connsiteX2" fmla="*/ 4987513 w 5253799"/>
                <a:gd name="connsiteY2" fmla="*/ 0 h 1597685"/>
                <a:gd name="connsiteX3" fmla="*/ 5253799 w 5253799"/>
                <a:gd name="connsiteY3" fmla="*/ 266286 h 1597685"/>
                <a:gd name="connsiteX4" fmla="*/ 5253799 w 5253799"/>
                <a:gd name="connsiteY4" fmla="*/ 1331399 h 1597685"/>
                <a:gd name="connsiteX5" fmla="*/ 4987513 w 5253799"/>
                <a:gd name="connsiteY5" fmla="*/ 1597685 h 1597685"/>
                <a:gd name="connsiteX6" fmla="*/ 266286 w 5253799"/>
                <a:gd name="connsiteY6" fmla="*/ 1597685 h 1597685"/>
                <a:gd name="connsiteX7" fmla="*/ 0 w 5253799"/>
                <a:gd name="connsiteY7" fmla="*/ 1331399 h 1597685"/>
                <a:gd name="connsiteX8" fmla="*/ 0 w 5253799"/>
                <a:gd name="connsiteY8" fmla="*/ 266286 h 1597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53799" h="1597685">
                  <a:moveTo>
                    <a:pt x="0" y="266286"/>
                  </a:moveTo>
                  <a:cubicBezTo>
                    <a:pt x="0" y="119220"/>
                    <a:pt x="119220" y="0"/>
                    <a:pt x="266286" y="0"/>
                  </a:cubicBezTo>
                  <a:lnTo>
                    <a:pt x="4987513" y="0"/>
                  </a:lnTo>
                  <a:cubicBezTo>
                    <a:pt x="5134579" y="0"/>
                    <a:pt x="5253799" y="119220"/>
                    <a:pt x="5253799" y="266286"/>
                  </a:cubicBezTo>
                  <a:lnTo>
                    <a:pt x="5253799" y="1331399"/>
                  </a:lnTo>
                  <a:cubicBezTo>
                    <a:pt x="5253799" y="1478465"/>
                    <a:pt x="5134579" y="1597685"/>
                    <a:pt x="4987513" y="1597685"/>
                  </a:cubicBezTo>
                  <a:lnTo>
                    <a:pt x="266286" y="1597685"/>
                  </a:lnTo>
                  <a:cubicBezTo>
                    <a:pt x="119220" y="1597685"/>
                    <a:pt x="0" y="1478465"/>
                    <a:pt x="0" y="1331399"/>
                  </a:cubicBezTo>
                  <a:lnTo>
                    <a:pt x="0" y="26628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38964" tIns="199913" rIns="199913" bIns="199913" numCol="1" spcCol="1270" anchor="ctr" anchorCtr="0">
              <a:noAutofit/>
            </a:bodyPr>
            <a:lstStyle/>
            <a:p>
              <a:pPr marL="0" lvl="0" indent="0" algn="l" defTabSz="1422400">
                <a:lnSpc>
                  <a:spcPct val="90000"/>
                </a:lnSpc>
                <a:spcBef>
                  <a:spcPct val="0"/>
                </a:spcBef>
                <a:spcAft>
                  <a:spcPct val="35000"/>
                </a:spcAft>
                <a:buNone/>
              </a:pPr>
              <a:r>
                <a:rPr lang="en-US" sz="3200" kern="1200" dirty="0" err="1"/>
                <a:t>Niềm</a:t>
              </a:r>
              <a:r>
                <a:rPr lang="en-US" sz="3200" kern="1200" dirty="0"/>
                <a:t> tin </a:t>
              </a:r>
              <a:r>
                <a:rPr lang="en-US" sz="3200" kern="1200" dirty="0" err="1"/>
                <a:t>đúng</a:t>
              </a:r>
              <a:r>
                <a:rPr lang="en-US" sz="3200" kern="1200" dirty="0"/>
                <a:t> </a:t>
              </a:r>
              <a:r>
                <a:rPr lang="en-US" sz="3200" kern="1200" dirty="0" err="1"/>
                <a:t>đắn</a:t>
              </a:r>
              <a:r>
                <a:rPr lang="en-US" sz="3200" kern="1200" dirty="0"/>
                <a:t> &amp; </a:t>
              </a:r>
              <a:r>
                <a:rPr lang="en-US" sz="3200" kern="1200" dirty="0" err="1"/>
                <a:t>hành</a:t>
              </a:r>
              <a:r>
                <a:rPr lang="en-US" sz="3200" kern="1200" dirty="0"/>
                <a:t> </a:t>
              </a:r>
              <a:r>
                <a:rPr lang="en-US" sz="3200" kern="1200" dirty="0" err="1"/>
                <a:t>động</a:t>
              </a:r>
              <a:r>
                <a:rPr lang="en-US" sz="3200" kern="1200" dirty="0"/>
                <a:t> </a:t>
              </a:r>
              <a:r>
                <a:rPr lang="en-US" sz="3200" kern="1200" dirty="0" err="1"/>
                <a:t>quyết</a:t>
              </a:r>
              <a:r>
                <a:rPr lang="en-US" sz="3200" kern="1200" dirty="0"/>
                <a:t> </a:t>
              </a:r>
              <a:r>
                <a:rPr lang="en-US" sz="3200" kern="1200" dirty="0" err="1"/>
                <a:t>liệt</a:t>
              </a:r>
              <a:r>
                <a:rPr lang="en-US" sz="3200" kern="1200" dirty="0"/>
                <a:t> </a:t>
              </a:r>
              <a:r>
                <a:rPr lang="en-US" sz="3200" kern="1200" dirty="0" err="1"/>
                <a:t>tạo</a:t>
              </a:r>
              <a:r>
                <a:rPr lang="en-US" sz="3200" kern="1200" dirty="0"/>
                <a:t> </a:t>
              </a:r>
              <a:r>
                <a:rPr lang="en-US" sz="3200" kern="1200" dirty="0" err="1"/>
                <a:t>nên</a:t>
              </a:r>
              <a:r>
                <a:rPr lang="en-US" sz="3200" kern="1200" dirty="0"/>
                <a:t> </a:t>
              </a:r>
              <a:r>
                <a:rPr lang="en-US" sz="3200" kern="1200" dirty="0" err="1"/>
                <a:t>thắng</a:t>
              </a:r>
              <a:r>
                <a:rPr lang="en-US" sz="3200" kern="1200" dirty="0"/>
                <a:t> </a:t>
              </a:r>
              <a:r>
                <a:rPr lang="en-US" sz="3200" kern="1200" dirty="0" err="1"/>
                <a:t>lợi</a:t>
              </a:r>
              <a:endParaRPr lang="en-US" sz="3200" kern="1200" dirty="0"/>
            </a:p>
          </p:txBody>
        </p:sp>
        <p:sp>
          <p:nvSpPr>
            <p:cNvPr id="7" name="Oval 6" descr="Truyền thông Mỹ đưa tin ông Donald Trump đắc cử Tổng thống Mỹ 2024">
              <a:extLst>
                <a:ext uri="{FF2B5EF4-FFF2-40B4-BE49-F238E27FC236}">
                  <a16:creationId xmlns:a16="http://schemas.microsoft.com/office/drawing/2014/main" id="{B75EE21A-2EDD-9DB3-CC03-4A93B3F70032}"/>
                </a:ext>
              </a:extLst>
            </p:cNvPr>
            <p:cNvSpPr/>
            <p:nvPr/>
          </p:nvSpPr>
          <p:spPr>
            <a:xfrm>
              <a:off x="1284101" y="1847162"/>
              <a:ext cx="2761973" cy="2762388"/>
            </a:xfrm>
            <a:prstGeom prst="ellipse">
              <a:avLst/>
            </a:prstGeom>
            <a:blipFill>
              <a:blip r:embed="rId2">
                <a:extLst>
                  <a:ext uri="{28A0092B-C50C-407E-A947-70E740481C1C}">
                    <a14:useLocalDpi xmlns:a14="http://schemas.microsoft.com/office/drawing/2010/main" val="0"/>
                  </a:ext>
                </a:extLst>
              </a:blip>
              <a:srcRect/>
              <a:stretch>
                <a:fillRect l="-24000" r="-2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spTree>
    <p:extLst>
      <p:ext uri="{BB962C8B-B14F-4D97-AF65-F5344CB8AC3E}">
        <p14:creationId xmlns:p14="http://schemas.microsoft.com/office/powerpoint/2010/main" val="292872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8DDC5-34B9-1D65-CA77-A4BC7CCF33CA}"/>
              </a:ext>
            </a:extLst>
          </p:cNvPr>
          <p:cNvSpPr>
            <a:spLocks noGrp="1"/>
          </p:cNvSpPr>
          <p:nvPr>
            <p:ph type="title"/>
          </p:nvPr>
        </p:nvSpPr>
        <p:spPr/>
        <p:txBody>
          <a:bodyPr/>
          <a:lstStyle/>
          <a:p>
            <a:r>
              <a:rPr lang="en-US" b="1" dirty="0">
                <a:solidFill>
                  <a:srgbClr val="7030A0"/>
                </a:solidFill>
              </a:rPr>
              <a:t>4. </a:t>
            </a:r>
            <a:r>
              <a:rPr lang="en-US" b="1" dirty="0" err="1">
                <a:solidFill>
                  <a:srgbClr val="7030A0"/>
                </a:solidFill>
              </a:rPr>
              <a:t>Sự</a:t>
            </a:r>
            <a:r>
              <a:rPr lang="en-US" b="1" dirty="0">
                <a:solidFill>
                  <a:srgbClr val="7030A0"/>
                </a:solidFill>
              </a:rPr>
              <a:t> </a:t>
            </a:r>
            <a:r>
              <a:rPr lang="en-US" b="1" dirty="0" err="1">
                <a:solidFill>
                  <a:srgbClr val="7030A0"/>
                </a:solidFill>
              </a:rPr>
              <a:t>kiên</a:t>
            </a:r>
            <a:r>
              <a:rPr lang="en-US" b="1" dirty="0">
                <a:solidFill>
                  <a:srgbClr val="7030A0"/>
                </a:solidFill>
              </a:rPr>
              <a:t> </a:t>
            </a:r>
            <a:r>
              <a:rPr lang="en-US" b="1" dirty="0" err="1">
                <a:solidFill>
                  <a:srgbClr val="7030A0"/>
                </a:solidFill>
              </a:rPr>
              <a:t>trì</a:t>
            </a:r>
            <a:r>
              <a:rPr lang="en-US" b="1" dirty="0">
                <a:solidFill>
                  <a:srgbClr val="7030A0"/>
                </a:solidFill>
              </a:rPr>
              <a:t> </a:t>
            </a:r>
            <a:r>
              <a:rPr lang="en-US" b="1" dirty="0" err="1">
                <a:solidFill>
                  <a:srgbClr val="7030A0"/>
                </a:solidFill>
              </a:rPr>
              <a:t>và</a:t>
            </a:r>
            <a:r>
              <a:rPr lang="en-US" b="1" dirty="0">
                <a:solidFill>
                  <a:srgbClr val="7030A0"/>
                </a:solidFill>
              </a:rPr>
              <a:t> </a:t>
            </a:r>
            <a:r>
              <a:rPr lang="en-US" b="1" dirty="0" err="1">
                <a:solidFill>
                  <a:srgbClr val="7030A0"/>
                </a:solidFill>
              </a:rPr>
              <a:t>khả</a:t>
            </a:r>
            <a:r>
              <a:rPr lang="en-US" b="1" dirty="0">
                <a:solidFill>
                  <a:srgbClr val="7030A0"/>
                </a:solidFill>
              </a:rPr>
              <a:t> </a:t>
            </a:r>
            <a:r>
              <a:rPr lang="en-US" b="1" dirty="0" err="1">
                <a:solidFill>
                  <a:srgbClr val="7030A0"/>
                </a:solidFill>
              </a:rPr>
              <a:t>năng</a:t>
            </a:r>
            <a:r>
              <a:rPr lang="en-US" b="1" dirty="0">
                <a:solidFill>
                  <a:srgbClr val="7030A0"/>
                </a:solidFill>
              </a:rPr>
              <a:t> </a:t>
            </a:r>
            <a:r>
              <a:rPr lang="en-US" b="1" dirty="0" err="1">
                <a:solidFill>
                  <a:srgbClr val="7030A0"/>
                </a:solidFill>
              </a:rPr>
              <a:t>chịu</a:t>
            </a:r>
            <a:r>
              <a:rPr lang="en-US" b="1" dirty="0">
                <a:solidFill>
                  <a:srgbClr val="7030A0"/>
                </a:solidFill>
              </a:rPr>
              <a:t> </a:t>
            </a:r>
            <a:r>
              <a:rPr lang="en-US" b="1" dirty="0" err="1">
                <a:solidFill>
                  <a:srgbClr val="7030A0"/>
                </a:solidFill>
              </a:rPr>
              <a:t>đựng</a:t>
            </a:r>
            <a:r>
              <a:rPr lang="en-US" b="1" dirty="0">
                <a:solidFill>
                  <a:srgbClr val="7030A0"/>
                </a:solidFill>
              </a:rPr>
              <a:t> </a:t>
            </a:r>
            <a:r>
              <a:rPr lang="en-US" b="1" dirty="0" err="1">
                <a:solidFill>
                  <a:srgbClr val="7030A0"/>
                </a:solidFill>
              </a:rPr>
              <a:t>áp</a:t>
            </a:r>
            <a:r>
              <a:rPr lang="en-US" b="1" dirty="0">
                <a:solidFill>
                  <a:srgbClr val="7030A0"/>
                </a:solidFill>
              </a:rPr>
              <a:t> </a:t>
            </a:r>
            <a:r>
              <a:rPr lang="en-US" b="1" dirty="0" err="1">
                <a:solidFill>
                  <a:srgbClr val="7030A0"/>
                </a:solidFill>
              </a:rPr>
              <a:t>lực</a:t>
            </a:r>
            <a:endParaRPr lang="en-US" b="1" dirty="0">
              <a:solidFill>
                <a:srgbClr val="7030A0"/>
              </a:solidFill>
            </a:endParaRPr>
          </a:p>
        </p:txBody>
      </p:sp>
      <p:sp>
        <p:nvSpPr>
          <p:cNvPr id="3" name="Content Placeholder 2">
            <a:extLst>
              <a:ext uri="{FF2B5EF4-FFF2-40B4-BE49-F238E27FC236}">
                <a16:creationId xmlns:a16="http://schemas.microsoft.com/office/drawing/2014/main" id="{F481B8AE-A5C3-A290-7A93-50B91A30C3A8}"/>
              </a:ext>
            </a:extLst>
          </p:cNvPr>
          <p:cNvSpPr>
            <a:spLocks noGrp="1"/>
          </p:cNvSpPr>
          <p:nvPr>
            <p:ph idx="1"/>
          </p:nvPr>
        </p:nvSpPr>
        <p:spPr>
          <a:xfrm>
            <a:off x="838200" y="1825625"/>
            <a:ext cx="5369653" cy="4351338"/>
          </a:xfrm>
        </p:spPr>
        <p:txBody>
          <a:bodyPr>
            <a:normAutofit/>
          </a:bodyPr>
          <a:lstStyle/>
          <a:p>
            <a:pPr marL="0" indent="0" algn="just">
              <a:buNone/>
            </a:pPr>
            <a:r>
              <a:rPr lang="vi-VN" sz="1800" dirty="0">
                <a:solidFill>
                  <a:srgbClr val="00B050"/>
                </a:solidFill>
              </a:rPr>
              <a:t>• Phân tích: </a:t>
            </a:r>
            <a:r>
              <a:rPr lang="vi-VN" sz="1800" dirty="0"/>
              <a:t>Trump đã đối mặt với nhiều thách thức, từ các cuộc điều tra đến chỉ trích từ truyền thông, nhưng vẫn kiên trì theo đuổi mục tiêu chính trị. Điều này cho thấy ông có khả năng chịu đựng áp lực lớn và giữ vững lập trường của mình, ngay cả khi bị phản đối từ nhiều phía. </a:t>
            </a:r>
            <a:endParaRPr lang="en-US" sz="1800" dirty="0"/>
          </a:p>
          <a:p>
            <a:pPr marL="0" indent="0" algn="just">
              <a:buNone/>
            </a:pPr>
            <a:r>
              <a:rPr lang="vi-VN" sz="1800" b="1" dirty="0">
                <a:solidFill>
                  <a:srgbClr val="00B050"/>
                </a:solidFill>
              </a:rPr>
              <a:t>• Ý nghĩa: </a:t>
            </a:r>
            <a:r>
              <a:rPr lang="vi-VN" sz="1800" dirty="0"/>
              <a:t>Sự kiên trì là yếu tố quan trọng trong mọi thành công. Việc đối diện với áp lực và vượt qua thử thách giúp củng cố lòng tin của mọi người vào người lãnh đạo và xây dựng sự kính trọng từ công chúng.</a:t>
            </a:r>
            <a:endParaRPr lang="en-US" sz="1800" dirty="0"/>
          </a:p>
        </p:txBody>
      </p:sp>
      <p:graphicFrame>
        <p:nvGraphicFramePr>
          <p:cNvPr id="4" name="Diagram 3">
            <a:extLst>
              <a:ext uri="{FF2B5EF4-FFF2-40B4-BE49-F238E27FC236}">
                <a16:creationId xmlns:a16="http://schemas.microsoft.com/office/drawing/2014/main" id="{5E9A22C9-EF1C-C0A4-451A-D854FB140BDC}"/>
              </a:ext>
            </a:extLst>
          </p:cNvPr>
          <p:cNvGraphicFramePr/>
          <p:nvPr>
            <p:extLst>
              <p:ext uri="{D42A27DB-BD31-4B8C-83A1-F6EECF244321}">
                <p14:modId xmlns:p14="http://schemas.microsoft.com/office/powerpoint/2010/main" val="4184500175"/>
              </p:ext>
            </p:extLst>
          </p:nvPr>
        </p:nvGraphicFramePr>
        <p:xfrm>
          <a:off x="6726835" y="1715293"/>
          <a:ext cx="4362449" cy="4526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155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3C1E9-FF68-AAD3-3A6D-8BE4629B7442}"/>
              </a:ext>
            </a:extLst>
          </p:cNvPr>
          <p:cNvSpPr>
            <a:spLocks noGrp="1"/>
          </p:cNvSpPr>
          <p:nvPr>
            <p:ph type="title"/>
          </p:nvPr>
        </p:nvSpPr>
        <p:spPr/>
        <p:txBody>
          <a:bodyPr>
            <a:normAutofit/>
          </a:bodyPr>
          <a:lstStyle/>
          <a:p>
            <a:r>
              <a:rPr lang="en-US" sz="3600" b="1" dirty="0">
                <a:solidFill>
                  <a:srgbClr val="7030A0"/>
                </a:solidFill>
              </a:rPr>
              <a:t>5. </a:t>
            </a:r>
            <a:r>
              <a:rPr lang="en-US" sz="3600" b="1" dirty="0" err="1">
                <a:solidFill>
                  <a:srgbClr val="7030A0"/>
                </a:solidFill>
              </a:rPr>
              <a:t>Kỹ</a:t>
            </a:r>
            <a:r>
              <a:rPr lang="en-US" sz="3600" b="1" dirty="0">
                <a:solidFill>
                  <a:srgbClr val="7030A0"/>
                </a:solidFill>
              </a:rPr>
              <a:t> </a:t>
            </a:r>
            <a:r>
              <a:rPr lang="en-US" sz="3600" b="1" dirty="0" err="1">
                <a:solidFill>
                  <a:srgbClr val="7030A0"/>
                </a:solidFill>
              </a:rPr>
              <a:t>năng</a:t>
            </a:r>
            <a:r>
              <a:rPr lang="en-US" sz="3600" b="1" dirty="0">
                <a:solidFill>
                  <a:srgbClr val="7030A0"/>
                </a:solidFill>
              </a:rPr>
              <a:t> </a:t>
            </a:r>
            <a:r>
              <a:rPr lang="en-US" sz="3600" b="1" dirty="0" err="1">
                <a:solidFill>
                  <a:srgbClr val="7030A0"/>
                </a:solidFill>
              </a:rPr>
              <a:t>tạo</a:t>
            </a:r>
            <a:r>
              <a:rPr lang="en-US" sz="3600" b="1" dirty="0">
                <a:solidFill>
                  <a:srgbClr val="7030A0"/>
                </a:solidFill>
              </a:rPr>
              <a:t> </a:t>
            </a:r>
            <a:r>
              <a:rPr lang="en-US" sz="3600" b="1" dirty="0" err="1">
                <a:solidFill>
                  <a:srgbClr val="7030A0"/>
                </a:solidFill>
              </a:rPr>
              <a:t>dựng</a:t>
            </a:r>
            <a:r>
              <a:rPr lang="en-US" sz="3600" b="1" dirty="0">
                <a:solidFill>
                  <a:srgbClr val="7030A0"/>
                </a:solidFill>
              </a:rPr>
              <a:t> </a:t>
            </a:r>
            <a:r>
              <a:rPr lang="en-US" sz="3600" b="1" dirty="0" err="1">
                <a:solidFill>
                  <a:srgbClr val="7030A0"/>
                </a:solidFill>
              </a:rPr>
              <a:t>cộng</a:t>
            </a:r>
            <a:r>
              <a:rPr lang="en-US" sz="3600" b="1" dirty="0">
                <a:solidFill>
                  <a:srgbClr val="7030A0"/>
                </a:solidFill>
              </a:rPr>
              <a:t> </a:t>
            </a:r>
            <a:r>
              <a:rPr lang="en-US" sz="3600" b="1" dirty="0" err="1">
                <a:solidFill>
                  <a:srgbClr val="7030A0"/>
                </a:solidFill>
              </a:rPr>
              <a:t>đồng</a:t>
            </a:r>
            <a:r>
              <a:rPr lang="en-US" sz="3600" b="1" dirty="0">
                <a:solidFill>
                  <a:srgbClr val="7030A0"/>
                </a:solidFill>
              </a:rPr>
              <a:t> </a:t>
            </a:r>
            <a:r>
              <a:rPr lang="en-US" sz="3600" b="1" dirty="0" err="1">
                <a:solidFill>
                  <a:srgbClr val="7030A0"/>
                </a:solidFill>
              </a:rPr>
              <a:t>và</a:t>
            </a:r>
            <a:r>
              <a:rPr lang="en-US" sz="3600" b="1" dirty="0">
                <a:solidFill>
                  <a:srgbClr val="7030A0"/>
                </a:solidFill>
              </a:rPr>
              <a:t> </a:t>
            </a:r>
            <a:r>
              <a:rPr lang="en-US" sz="3600" b="1" dirty="0" err="1">
                <a:solidFill>
                  <a:srgbClr val="7030A0"/>
                </a:solidFill>
              </a:rPr>
              <a:t>sự</a:t>
            </a:r>
            <a:r>
              <a:rPr lang="en-US" sz="3600" b="1" dirty="0">
                <a:solidFill>
                  <a:srgbClr val="7030A0"/>
                </a:solidFill>
              </a:rPr>
              <a:t> </a:t>
            </a:r>
            <a:r>
              <a:rPr lang="en-US" sz="3600" b="1" dirty="0" err="1">
                <a:solidFill>
                  <a:srgbClr val="7030A0"/>
                </a:solidFill>
              </a:rPr>
              <a:t>trung</a:t>
            </a:r>
            <a:r>
              <a:rPr lang="en-US" sz="3600" b="1" dirty="0">
                <a:solidFill>
                  <a:srgbClr val="7030A0"/>
                </a:solidFill>
              </a:rPr>
              <a:t> </a:t>
            </a:r>
            <a:r>
              <a:rPr lang="en-US" sz="3600" b="1" dirty="0" err="1">
                <a:solidFill>
                  <a:srgbClr val="7030A0"/>
                </a:solidFill>
              </a:rPr>
              <a:t>thành</a:t>
            </a:r>
            <a:endParaRPr lang="en-US" sz="3600" b="1" dirty="0">
              <a:solidFill>
                <a:srgbClr val="7030A0"/>
              </a:solidFill>
            </a:endParaRPr>
          </a:p>
        </p:txBody>
      </p:sp>
      <p:sp>
        <p:nvSpPr>
          <p:cNvPr id="3" name="Content Placeholder 2">
            <a:extLst>
              <a:ext uri="{FF2B5EF4-FFF2-40B4-BE49-F238E27FC236}">
                <a16:creationId xmlns:a16="http://schemas.microsoft.com/office/drawing/2014/main" id="{3A56C173-A531-EF26-CDAD-4BEFBC372E01}"/>
              </a:ext>
            </a:extLst>
          </p:cNvPr>
          <p:cNvSpPr>
            <a:spLocks noGrp="1"/>
          </p:cNvSpPr>
          <p:nvPr>
            <p:ph idx="1"/>
          </p:nvPr>
        </p:nvSpPr>
        <p:spPr>
          <a:xfrm>
            <a:off x="4815280" y="1825625"/>
            <a:ext cx="6538519" cy="4351338"/>
          </a:xfrm>
        </p:spPr>
        <p:txBody>
          <a:bodyPr>
            <a:normAutofit/>
          </a:bodyPr>
          <a:lstStyle/>
          <a:p>
            <a:pPr marL="0" indent="0" algn="just">
              <a:buNone/>
            </a:pPr>
            <a:r>
              <a:rPr lang="vi-VN" sz="2000" b="1" dirty="0">
                <a:solidFill>
                  <a:srgbClr val="00B050"/>
                </a:solidFill>
              </a:rPr>
              <a:t>• Phân tích: </a:t>
            </a:r>
            <a:r>
              <a:rPr lang="vi-VN" sz="2000" dirty="0"/>
              <a:t>Ông đã xây dựng một cộng đồng trung thành, bao gồm những người tin tưởng vào tầm nhìn của ông về một nước Mỹ mạnh mẽ. Trump không chỉ là một tổng thống; ông là một biểu tượng cho những giá trị mà cộng đồng ủng hộ ông theo đuổi. </a:t>
            </a:r>
            <a:endParaRPr lang="en-US" sz="2000" dirty="0"/>
          </a:p>
          <a:p>
            <a:pPr marL="0" indent="0" algn="just">
              <a:buNone/>
            </a:pPr>
            <a:endParaRPr lang="en-US" sz="2000" dirty="0"/>
          </a:p>
          <a:p>
            <a:pPr marL="0" indent="0" algn="just">
              <a:buNone/>
            </a:pPr>
            <a:r>
              <a:rPr lang="vi-VN" sz="2000" b="1" dirty="0">
                <a:solidFill>
                  <a:srgbClr val="00B050"/>
                </a:solidFill>
              </a:rPr>
              <a:t>• Ý nghĩa: </a:t>
            </a:r>
            <a:r>
              <a:rPr lang="vi-VN" sz="2000" dirty="0"/>
              <a:t>Trong kinh doanh và lãnh đạo, việc xây dựng một cộng đồng trung thành và giữ vững sự kết nối với cộng đồng này là vô cùng quan trọng. Khách hàng hoặc người ủng hộ sẽ trung thành với những ai chia sẻ giá trị và tôn trọng họ.</a:t>
            </a:r>
            <a:endParaRPr lang="en-US" sz="2000" dirty="0"/>
          </a:p>
        </p:txBody>
      </p:sp>
      <p:pic>
        <p:nvPicPr>
          <p:cNvPr id="6148" name="Picture 4" descr="10 câu quote cho thấy phong cách của Tổng thống Donald Trump - Tin tức xuất  bản">
            <a:extLst>
              <a:ext uri="{FF2B5EF4-FFF2-40B4-BE49-F238E27FC236}">
                <a16:creationId xmlns:a16="http://schemas.microsoft.com/office/drawing/2014/main" id="{3D9C5BD9-5E30-D94E-46E7-97E219282D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19893"/>
            <a:ext cx="4583874" cy="2576693"/>
          </a:xfrm>
          <a:prstGeom prst="rect">
            <a:avLst/>
          </a:prstGeom>
          <a:noFill/>
          <a:scene3d>
            <a:camera prst="isometricOffAxis2Lef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69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2427-6D99-DB41-494F-C691F3CFA602}"/>
              </a:ext>
            </a:extLst>
          </p:cNvPr>
          <p:cNvSpPr>
            <a:spLocks noGrp="1"/>
          </p:cNvSpPr>
          <p:nvPr>
            <p:ph type="title"/>
          </p:nvPr>
        </p:nvSpPr>
        <p:spPr/>
        <p:txBody>
          <a:bodyPr>
            <a:normAutofit/>
          </a:bodyPr>
          <a:lstStyle/>
          <a:p>
            <a:r>
              <a:rPr lang="en-US" sz="4000" b="1" dirty="0">
                <a:solidFill>
                  <a:srgbClr val="7030A0"/>
                </a:solidFill>
              </a:rPr>
              <a:t>6. </a:t>
            </a:r>
            <a:r>
              <a:rPr lang="en-US" sz="4000" b="1" dirty="0" err="1">
                <a:solidFill>
                  <a:srgbClr val="7030A0"/>
                </a:solidFill>
              </a:rPr>
              <a:t>Sự</a:t>
            </a:r>
            <a:r>
              <a:rPr lang="en-US" sz="4000" b="1" dirty="0">
                <a:solidFill>
                  <a:srgbClr val="7030A0"/>
                </a:solidFill>
              </a:rPr>
              <a:t> </a:t>
            </a:r>
            <a:r>
              <a:rPr lang="en-US" sz="4000" b="1" dirty="0" err="1">
                <a:solidFill>
                  <a:srgbClr val="7030A0"/>
                </a:solidFill>
              </a:rPr>
              <a:t>tự</a:t>
            </a:r>
            <a:r>
              <a:rPr lang="en-US" sz="4000" b="1" dirty="0">
                <a:solidFill>
                  <a:srgbClr val="7030A0"/>
                </a:solidFill>
              </a:rPr>
              <a:t> tin </a:t>
            </a:r>
            <a:r>
              <a:rPr lang="en-US" sz="4000" b="1" dirty="0" err="1">
                <a:solidFill>
                  <a:srgbClr val="7030A0"/>
                </a:solidFill>
              </a:rPr>
              <a:t>và</a:t>
            </a:r>
            <a:r>
              <a:rPr lang="en-US" sz="4000" b="1" dirty="0">
                <a:solidFill>
                  <a:srgbClr val="7030A0"/>
                </a:solidFill>
              </a:rPr>
              <a:t> </a:t>
            </a:r>
            <a:r>
              <a:rPr lang="en-US" sz="4000" b="1" dirty="0" err="1">
                <a:solidFill>
                  <a:srgbClr val="7030A0"/>
                </a:solidFill>
              </a:rPr>
              <a:t>phong</a:t>
            </a:r>
            <a:r>
              <a:rPr lang="en-US" sz="4000" b="1" dirty="0">
                <a:solidFill>
                  <a:srgbClr val="7030A0"/>
                </a:solidFill>
              </a:rPr>
              <a:t> </a:t>
            </a:r>
            <a:r>
              <a:rPr lang="en-US" sz="4000" b="1" dirty="0" err="1">
                <a:solidFill>
                  <a:srgbClr val="7030A0"/>
                </a:solidFill>
              </a:rPr>
              <a:t>cách</a:t>
            </a:r>
            <a:r>
              <a:rPr lang="en-US" sz="4000" b="1" dirty="0">
                <a:solidFill>
                  <a:srgbClr val="7030A0"/>
                </a:solidFill>
              </a:rPr>
              <a:t> </a:t>
            </a:r>
            <a:r>
              <a:rPr lang="en-US" sz="4000" b="1" dirty="0" err="1">
                <a:solidFill>
                  <a:srgbClr val="7030A0"/>
                </a:solidFill>
              </a:rPr>
              <a:t>lãnh</a:t>
            </a:r>
            <a:r>
              <a:rPr lang="en-US" sz="4000" b="1" dirty="0">
                <a:solidFill>
                  <a:srgbClr val="7030A0"/>
                </a:solidFill>
              </a:rPr>
              <a:t> </a:t>
            </a:r>
            <a:r>
              <a:rPr lang="en-US" sz="4000" b="1" dirty="0" err="1">
                <a:solidFill>
                  <a:srgbClr val="7030A0"/>
                </a:solidFill>
              </a:rPr>
              <a:t>đạo</a:t>
            </a:r>
            <a:r>
              <a:rPr lang="en-US" sz="4000" b="1" dirty="0">
                <a:solidFill>
                  <a:srgbClr val="7030A0"/>
                </a:solidFill>
              </a:rPr>
              <a:t> </a:t>
            </a:r>
            <a:r>
              <a:rPr lang="en-US" sz="4000" b="1" dirty="0" err="1">
                <a:solidFill>
                  <a:srgbClr val="7030A0"/>
                </a:solidFill>
              </a:rPr>
              <a:t>quyết</a:t>
            </a:r>
            <a:r>
              <a:rPr lang="en-US" sz="4000" b="1" dirty="0">
                <a:solidFill>
                  <a:srgbClr val="7030A0"/>
                </a:solidFill>
              </a:rPr>
              <a:t> </a:t>
            </a:r>
            <a:r>
              <a:rPr lang="en-US" sz="4000" b="1" dirty="0" err="1">
                <a:solidFill>
                  <a:srgbClr val="7030A0"/>
                </a:solidFill>
              </a:rPr>
              <a:t>đoán</a:t>
            </a:r>
            <a:endParaRPr lang="en-US" sz="4000" b="1" dirty="0">
              <a:solidFill>
                <a:srgbClr val="7030A0"/>
              </a:solidFill>
            </a:endParaRPr>
          </a:p>
        </p:txBody>
      </p:sp>
      <p:sp>
        <p:nvSpPr>
          <p:cNvPr id="3" name="Content Placeholder 2">
            <a:extLst>
              <a:ext uri="{FF2B5EF4-FFF2-40B4-BE49-F238E27FC236}">
                <a16:creationId xmlns:a16="http://schemas.microsoft.com/office/drawing/2014/main" id="{6E0FAEED-8932-9CB0-C99E-AD21BC2D37BC}"/>
              </a:ext>
            </a:extLst>
          </p:cNvPr>
          <p:cNvSpPr>
            <a:spLocks noGrp="1"/>
          </p:cNvSpPr>
          <p:nvPr>
            <p:ph idx="1"/>
          </p:nvPr>
        </p:nvSpPr>
        <p:spPr>
          <a:xfrm>
            <a:off x="838200" y="1825625"/>
            <a:ext cx="5949462" cy="4351338"/>
          </a:xfrm>
        </p:spPr>
        <p:txBody>
          <a:bodyPr>
            <a:normAutofit/>
          </a:bodyPr>
          <a:lstStyle/>
          <a:p>
            <a:pPr marL="0" indent="0" algn="just">
              <a:buNone/>
            </a:pPr>
            <a:r>
              <a:rPr lang="vi-VN" sz="2000" b="1" dirty="0">
                <a:solidFill>
                  <a:srgbClr val="00B050"/>
                </a:solidFill>
              </a:rPr>
              <a:t>• Phân tích: </a:t>
            </a:r>
            <a:r>
              <a:rPr lang="vi-VN" sz="2000" dirty="0"/>
              <a:t>Trump nổi tiếng với phong cách lãnh đạo quyết đoán và tự tin. Ông không ngần ngại bày tỏ quan điểm mạnh mẽ, kể cả khi chúng gây tranh cãi. Sự tự tin này không chỉ là phong cách cá nhân mà còn là cách ông chứng minh sự kiên định và ý chí mạnh mẽ. </a:t>
            </a:r>
            <a:endParaRPr lang="en-US" sz="2000" dirty="0"/>
          </a:p>
          <a:p>
            <a:pPr marL="0" indent="0" algn="just">
              <a:buNone/>
            </a:pPr>
            <a:r>
              <a:rPr lang="vi-VN" sz="2000" b="1" dirty="0">
                <a:solidFill>
                  <a:srgbClr val="00B050"/>
                </a:solidFill>
              </a:rPr>
              <a:t>• Ý nghĩa: </a:t>
            </a:r>
            <a:r>
              <a:rPr lang="vi-VN" sz="2000" dirty="0"/>
              <a:t>Sự tự tin và quyết đoán trong lãnh đạo có thể giúp thuyết phục người khác và tạo ra ảnh hưởng tích cực. Đôi khi, phong cách này có thể khiến người khác cảm thấy bất an, nhưng nếu biết cân nhắc, nó có thể là động lực tạo niềm tin và thuyết phục mạnh mẽ.</a:t>
            </a:r>
            <a:endParaRPr lang="en-US" sz="2000" dirty="0"/>
          </a:p>
        </p:txBody>
      </p:sp>
      <p:graphicFrame>
        <p:nvGraphicFramePr>
          <p:cNvPr id="6" name="Diagram 5">
            <a:extLst>
              <a:ext uri="{FF2B5EF4-FFF2-40B4-BE49-F238E27FC236}">
                <a16:creationId xmlns:a16="http://schemas.microsoft.com/office/drawing/2014/main" id="{8E6791CC-C3CF-6A61-8ACA-391B11729835}"/>
              </a:ext>
            </a:extLst>
          </p:cNvPr>
          <p:cNvGraphicFramePr/>
          <p:nvPr>
            <p:extLst>
              <p:ext uri="{D42A27DB-BD31-4B8C-83A1-F6EECF244321}">
                <p14:modId xmlns:p14="http://schemas.microsoft.com/office/powerpoint/2010/main" val="3780607910"/>
              </p:ext>
            </p:extLst>
          </p:nvPr>
        </p:nvGraphicFramePr>
        <p:xfrm>
          <a:off x="6787662" y="1300956"/>
          <a:ext cx="5223363" cy="5400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733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2F7E8-5798-219E-3BF8-A0A9BB9FA7D9}"/>
              </a:ext>
            </a:extLst>
          </p:cNvPr>
          <p:cNvSpPr>
            <a:spLocks noGrp="1"/>
          </p:cNvSpPr>
          <p:nvPr>
            <p:ph type="title"/>
          </p:nvPr>
        </p:nvSpPr>
        <p:spPr/>
        <p:txBody>
          <a:bodyPr>
            <a:normAutofit/>
          </a:bodyPr>
          <a:lstStyle/>
          <a:p>
            <a:r>
              <a:rPr lang="vi-VN" sz="4000" b="1" dirty="0">
                <a:solidFill>
                  <a:srgbClr val="7030A0"/>
                </a:solidFill>
              </a:rPr>
              <a:t>7. Tư duy dài hạn và ý thức về di sản cá nhân</a:t>
            </a:r>
            <a:endParaRPr lang="en-US" sz="4000" b="1" dirty="0">
              <a:solidFill>
                <a:srgbClr val="7030A0"/>
              </a:solidFill>
            </a:endParaRPr>
          </a:p>
        </p:txBody>
      </p:sp>
      <p:sp>
        <p:nvSpPr>
          <p:cNvPr id="3" name="Content Placeholder 2">
            <a:extLst>
              <a:ext uri="{FF2B5EF4-FFF2-40B4-BE49-F238E27FC236}">
                <a16:creationId xmlns:a16="http://schemas.microsoft.com/office/drawing/2014/main" id="{0C7B4FF8-3F38-35E2-AF11-E8D28B54E132}"/>
              </a:ext>
            </a:extLst>
          </p:cNvPr>
          <p:cNvSpPr>
            <a:spLocks noGrp="1"/>
          </p:cNvSpPr>
          <p:nvPr>
            <p:ph idx="1"/>
          </p:nvPr>
        </p:nvSpPr>
        <p:spPr>
          <a:xfrm>
            <a:off x="1380392" y="1843209"/>
            <a:ext cx="8745416" cy="4351338"/>
          </a:xfrm>
        </p:spPr>
        <p:txBody>
          <a:bodyPr>
            <a:normAutofit/>
          </a:bodyPr>
          <a:lstStyle/>
          <a:p>
            <a:pPr marL="0" indent="0" algn="just">
              <a:buNone/>
            </a:pPr>
            <a:r>
              <a:rPr lang="vi-VN" sz="2000" b="1" dirty="0">
                <a:solidFill>
                  <a:srgbClr val="00B050"/>
                </a:solidFill>
              </a:rPr>
              <a:t>• Phân tích: </a:t>
            </a:r>
            <a:r>
              <a:rPr lang="vi-VN" sz="2000" dirty="0"/>
              <a:t>Một trong những động lực lớn của Trump là mong muốn để lại di sản lâu dài. Việc ông kiên trì theo đuổi mục tiêu chính trị cho thấy ông muốn tác động lâu dài đến nước Mỹ, không chỉ để đạt thành tựu cá nhân ngắn hạn. </a:t>
            </a:r>
            <a:endParaRPr lang="en-US" sz="2000" dirty="0"/>
          </a:p>
          <a:p>
            <a:pPr marL="0" indent="0" algn="just">
              <a:buNone/>
            </a:pPr>
            <a:endParaRPr lang="en-US" sz="2000" dirty="0"/>
          </a:p>
          <a:p>
            <a:pPr marL="0" indent="0" algn="just">
              <a:buNone/>
            </a:pPr>
            <a:r>
              <a:rPr lang="vi-VN" sz="2000" b="1" dirty="0">
                <a:solidFill>
                  <a:srgbClr val="00B050"/>
                </a:solidFill>
              </a:rPr>
              <a:t>• Ý nghĩa: </a:t>
            </a:r>
            <a:r>
              <a:rPr lang="vi-VN" sz="2000" dirty="0"/>
              <a:t>Tư duy dài hạn giúp các nhà lãnh đạo và doanh nghiệp đạt được các mục tiêu bền vững. Hướng tới việc để lại di sản cũng thúc đẩy các hành động có trách nhiệm hơn, tạo ra giá trị lâu dài thay vì chỉ tập trung vào lợi ích tạm thời.</a:t>
            </a:r>
            <a:endParaRPr lang="en-US" sz="2000" dirty="0"/>
          </a:p>
        </p:txBody>
      </p:sp>
      <p:pic>
        <p:nvPicPr>
          <p:cNvPr id="8194" name="Picture 2" descr="Những bí mật bên trong đế chế kinh doanh của Donald Trump | Báo Dân trí">
            <a:extLst>
              <a:ext uri="{FF2B5EF4-FFF2-40B4-BE49-F238E27FC236}">
                <a16:creationId xmlns:a16="http://schemas.microsoft.com/office/drawing/2014/main" id="{86F04EF2-CA33-38D9-521F-CB5CDA02C69A}"/>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2066192" y="1256545"/>
            <a:ext cx="9653954" cy="4826977"/>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06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heel(1)">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DB3A-94A3-6BBF-2376-EB44C465C2DA}"/>
              </a:ext>
            </a:extLst>
          </p:cNvPr>
          <p:cNvSpPr>
            <a:spLocks noGrp="1"/>
          </p:cNvSpPr>
          <p:nvPr>
            <p:ph type="title"/>
          </p:nvPr>
        </p:nvSpPr>
        <p:spPr/>
        <p:txBody>
          <a:bodyPr/>
          <a:lstStyle/>
          <a:p>
            <a:r>
              <a:rPr lang="vi-VN" b="1" dirty="0">
                <a:solidFill>
                  <a:srgbClr val="7030A0"/>
                </a:solidFill>
              </a:rPr>
              <a:t>8. Tạo ra niềm tin rằng mọi người có thể đóng góp vào thay đổi xã hội</a:t>
            </a:r>
            <a:endParaRPr lang="en-US" b="1" dirty="0">
              <a:solidFill>
                <a:srgbClr val="7030A0"/>
              </a:solidFill>
            </a:endParaRPr>
          </a:p>
        </p:txBody>
      </p:sp>
      <p:sp>
        <p:nvSpPr>
          <p:cNvPr id="3" name="Content Placeholder 2">
            <a:extLst>
              <a:ext uri="{FF2B5EF4-FFF2-40B4-BE49-F238E27FC236}">
                <a16:creationId xmlns:a16="http://schemas.microsoft.com/office/drawing/2014/main" id="{F227CAF1-F0EF-2664-3C6F-E21DF384BD3A}"/>
              </a:ext>
            </a:extLst>
          </p:cNvPr>
          <p:cNvSpPr>
            <a:spLocks noGrp="1"/>
          </p:cNvSpPr>
          <p:nvPr>
            <p:ph idx="1"/>
          </p:nvPr>
        </p:nvSpPr>
        <p:spPr>
          <a:xfrm>
            <a:off x="838200" y="1825625"/>
            <a:ext cx="6556131" cy="4351338"/>
          </a:xfrm>
        </p:spPr>
        <p:txBody>
          <a:bodyPr>
            <a:normAutofit/>
          </a:bodyPr>
          <a:lstStyle/>
          <a:p>
            <a:pPr algn="just"/>
            <a:endParaRPr lang="en-US" sz="1600" dirty="0"/>
          </a:p>
          <a:p>
            <a:pPr algn="just"/>
            <a:r>
              <a:rPr lang="vi-VN" sz="1600" b="1" dirty="0">
                <a:solidFill>
                  <a:srgbClr val="00B050"/>
                </a:solidFill>
              </a:rPr>
              <a:t> Phân tích: </a:t>
            </a:r>
            <a:r>
              <a:rPr lang="vi-VN" sz="1600" dirty="0"/>
              <a:t>Trump đã truyền cảm hứng cho nhiều người tin rằng họ có thể thay đổi nước Mỹ theo hướng mà họ mong muốn. Ông không chỉ là người đưa ra quyết định mà còn khiến người dân cảm thấy họ có thể đóng góp vào quá trình này. </a:t>
            </a:r>
            <a:endParaRPr lang="en-US" sz="1600" dirty="0"/>
          </a:p>
          <a:p>
            <a:pPr algn="just"/>
            <a:endParaRPr lang="en-US" sz="1600" dirty="0"/>
          </a:p>
          <a:p>
            <a:pPr algn="just"/>
            <a:r>
              <a:rPr lang="vi-VN" sz="1600" b="1" dirty="0">
                <a:solidFill>
                  <a:srgbClr val="00B050"/>
                </a:solidFill>
              </a:rPr>
              <a:t>Ý nghĩa: </a:t>
            </a:r>
            <a:r>
              <a:rPr lang="vi-VN" sz="1600" dirty="0"/>
              <a:t>Việc tạo cho cộng đồng cảm giác có vai trò trong thay đổi xã hội là một yếu tố thúc đẩy sự gắn bó. Khi người lãnh đạo khuyến khích và trao cơ hội cho cộng đồng đóng góp, nó không chỉ nâng cao uy tín mà còn tạo nên một môi trường mà mọi người đều có thể tham gia xây dựng.</a:t>
            </a:r>
            <a:endParaRPr lang="en-US" sz="1600" dirty="0"/>
          </a:p>
        </p:txBody>
      </p:sp>
      <p:grpSp>
        <p:nvGrpSpPr>
          <p:cNvPr id="5" name="Group 4">
            <a:extLst>
              <a:ext uri="{FF2B5EF4-FFF2-40B4-BE49-F238E27FC236}">
                <a16:creationId xmlns:a16="http://schemas.microsoft.com/office/drawing/2014/main" id="{87621919-04F9-E111-06BB-3D799D1CA0EE}"/>
              </a:ext>
            </a:extLst>
          </p:cNvPr>
          <p:cNvGrpSpPr/>
          <p:nvPr/>
        </p:nvGrpSpPr>
        <p:grpSpPr>
          <a:xfrm>
            <a:off x="7886016" y="2141052"/>
            <a:ext cx="3838700" cy="2575895"/>
            <a:chOff x="5600016" y="3209296"/>
            <a:chExt cx="3838700" cy="2575895"/>
          </a:xfrm>
        </p:grpSpPr>
        <p:sp>
          <p:nvSpPr>
            <p:cNvPr id="6" name="Rectangle 5" descr="Ông Donald Trump đắc cử Tổng thống Mỹ - Tạp chí Kinh tế Sài Gòn">
              <a:extLst>
                <a:ext uri="{FF2B5EF4-FFF2-40B4-BE49-F238E27FC236}">
                  <a16:creationId xmlns:a16="http://schemas.microsoft.com/office/drawing/2014/main" id="{59571AD3-1C5D-5D22-4D65-1F809EDFC637}"/>
                </a:ext>
              </a:extLst>
            </p:cNvPr>
            <p:cNvSpPr/>
            <p:nvPr/>
          </p:nvSpPr>
          <p:spPr>
            <a:xfrm>
              <a:off x="5847409" y="3552077"/>
              <a:ext cx="3242913" cy="1889355"/>
            </a:xfrm>
            <a:prstGeom prst="rect">
              <a:avLst/>
            </a:prstGeom>
            <a:blipFill>
              <a:blip r:embed="rId2">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7" name="Freeform: Shape 6">
              <a:extLst>
                <a:ext uri="{FF2B5EF4-FFF2-40B4-BE49-F238E27FC236}">
                  <a16:creationId xmlns:a16="http://schemas.microsoft.com/office/drawing/2014/main" id="{A38E0193-7764-A886-D973-4A8D3AB0A2BC}"/>
                </a:ext>
              </a:extLst>
            </p:cNvPr>
            <p:cNvSpPr/>
            <p:nvPr/>
          </p:nvSpPr>
          <p:spPr>
            <a:xfrm>
              <a:off x="5886213" y="3495246"/>
              <a:ext cx="3243744" cy="2003604"/>
            </a:xfrm>
            <a:custGeom>
              <a:avLst/>
              <a:gdLst>
                <a:gd name="connsiteX0" fmla="*/ 0 w 3243744"/>
                <a:gd name="connsiteY0" fmla="*/ 0 h 2003604"/>
                <a:gd name="connsiteX1" fmla="*/ 3243744 w 3243744"/>
                <a:gd name="connsiteY1" fmla="*/ 0 h 2003604"/>
                <a:gd name="connsiteX2" fmla="*/ 3243744 w 3243744"/>
                <a:gd name="connsiteY2" fmla="*/ 2003604 h 2003604"/>
                <a:gd name="connsiteX3" fmla="*/ 0 w 3243744"/>
                <a:gd name="connsiteY3" fmla="*/ 2003604 h 2003604"/>
                <a:gd name="connsiteX4" fmla="*/ 0 w 3243744"/>
                <a:gd name="connsiteY4" fmla="*/ 0 h 200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3744" h="2003604">
                  <a:moveTo>
                    <a:pt x="0" y="0"/>
                  </a:moveTo>
                  <a:lnTo>
                    <a:pt x="3243744" y="0"/>
                  </a:lnTo>
                  <a:lnTo>
                    <a:pt x="3243744" y="2003604"/>
                  </a:lnTo>
                  <a:lnTo>
                    <a:pt x="0" y="20036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sp>
          <p:nvSpPr>
            <p:cNvPr id="8" name="Half Frame 7">
              <a:extLst>
                <a:ext uri="{FF2B5EF4-FFF2-40B4-BE49-F238E27FC236}">
                  <a16:creationId xmlns:a16="http://schemas.microsoft.com/office/drawing/2014/main" id="{A7FEF203-2630-93E4-FFCF-9A3CB0B134F0}"/>
                </a:ext>
              </a:extLst>
            </p:cNvPr>
            <p:cNvSpPr/>
            <p:nvPr/>
          </p:nvSpPr>
          <p:spPr>
            <a:xfrm>
              <a:off x="5600017" y="3209296"/>
              <a:ext cx="779021" cy="779222"/>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Half Frame 8">
              <a:extLst>
                <a:ext uri="{FF2B5EF4-FFF2-40B4-BE49-F238E27FC236}">
                  <a16:creationId xmlns:a16="http://schemas.microsoft.com/office/drawing/2014/main" id="{C260C7A8-EB0E-E6A8-662B-07A79C84FB52}"/>
                </a:ext>
              </a:extLst>
            </p:cNvPr>
            <p:cNvSpPr/>
            <p:nvPr/>
          </p:nvSpPr>
          <p:spPr>
            <a:xfrm rot="5400000">
              <a:off x="8659594" y="3209397"/>
              <a:ext cx="779222" cy="779021"/>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Half Frame 9">
              <a:extLst>
                <a:ext uri="{FF2B5EF4-FFF2-40B4-BE49-F238E27FC236}">
                  <a16:creationId xmlns:a16="http://schemas.microsoft.com/office/drawing/2014/main" id="{DE97B90C-CF6A-9337-FFF4-D64BFBC6AB6B}"/>
                </a:ext>
              </a:extLst>
            </p:cNvPr>
            <p:cNvSpPr/>
            <p:nvPr/>
          </p:nvSpPr>
          <p:spPr>
            <a:xfrm rot="16200000">
              <a:off x="5599916" y="5006069"/>
              <a:ext cx="779222" cy="779021"/>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Half Frame 10">
              <a:extLst>
                <a:ext uri="{FF2B5EF4-FFF2-40B4-BE49-F238E27FC236}">
                  <a16:creationId xmlns:a16="http://schemas.microsoft.com/office/drawing/2014/main" id="{AFB30E69-F6A3-6F7E-40D3-BB870384C948}"/>
                </a:ext>
              </a:extLst>
            </p:cNvPr>
            <p:cNvSpPr/>
            <p:nvPr/>
          </p:nvSpPr>
          <p:spPr>
            <a:xfrm rot="10800000">
              <a:off x="8659695" y="5005968"/>
              <a:ext cx="779021" cy="779222"/>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spTree>
    <p:extLst>
      <p:ext uri="{BB962C8B-B14F-4D97-AF65-F5344CB8AC3E}">
        <p14:creationId xmlns:p14="http://schemas.microsoft.com/office/powerpoint/2010/main" val="3314303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7EF91-6C3F-DAFA-028C-3439EC5CCBC0}"/>
              </a:ext>
            </a:extLst>
          </p:cNvPr>
          <p:cNvSpPr>
            <a:spLocks noGrp="1"/>
          </p:cNvSpPr>
          <p:nvPr>
            <p:ph type="title"/>
          </p:nvPr>
        </p:nvSpPr>
        <p:spPr/>
        <p:txBody>
          <a:bodyPr/>
          <a:lstStyle/>
          <a:p>
            <a:r>
              <a:rPr lang="en-US" b="1" dirty="0">
                <a:solidFill>
                  <a:srgbClr val="00B050"/>
                </a:solidFill>
              </a:rPr>
              <a:t>THANKS!</a:t>
            </a:r>
          </a:p>
        </p:txBody>
      </p:sp>
      <p:sp>
        <p:nvSpPr>
          <p:cNvPr id="3" name="Content Placeholder 2">
            <a:extLst>
              <a:ext uri="{FF2B5EF4-FFF2-40B4-BE49-F238E27FC236}">
                <a16:creationId xmlns:a16="http://schemas.microsoft.com/office/drawing/2014/main" id="{98B1A337-2392-52F3-9567-2639400DBCF6}"/>
              </a:ext>
            </a:extLst>
          </p:cNvPr>
          <p:cNvSpPr>
            <a:spLocks noGrp="1"/>
          </p:cNvSpPr>
          <p:nvPr>
            <p:ph idx="1"/>
          </p:nvPr>
        </p:nvSpPr>
        <p:spPr/>
        <p:txBody>
          <a:bodyPr/>
          <a:lstStyle/>
          <a:p>
            <a:endParaRPr lang="en-US"/>
          </a:p>
        </p:txBody>
      </p:sp>
      <p:pic>
        <p:nvPicPr>
          <p:cNvPr id="10242" name="Picture 2" descr="Tổng thống Mỹ 2016 Donald Trump và những câu nói truyền cảm hứng">
            <a:extLst>
              <a:ext uri="{FF2B5EF4-FFF2-40B4-BE49-F238E27FC236}">
                <a16:creationId xmlns:a16="http://schemas.microsoft.com/office/drawing/2014/main" id="{98A8F9D0-4EB4-312A-F3B1-15CE32E8B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628775"/>
            <a:ext cx="6096000" cy="3600450"/>
          </a:xfrm>
          <a:prstGeom prst="rect">
            <a:avLst/>
          </a:prstGeom>
          <a:noFill/>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491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1222</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SegoeuiPc</vt:lpstr>
      <vt:lpstr>Times New Roman</vt:lpstr>
      <vt:lpstr>Office Theme</vt:lpstr>
      <vt:lpstr> DONALD TRUMP YẾU TỐ THÀNH CÔNG VÀ Ý NGHĨA THẮNG LỜI CỦA VỊ TỔNG THỐNG 47 HOA KỲ</vt:lpstr>
      <vt:lpstr>1. Động lực cống hiến và giá trị cá nhân</vt:lpstr>
      <vt:lpstr>2. Hiệu ứng lãnh đạo mạnh mẽ và khả năng ảnh hưởng đến xã hội</vt:lpstr>
      <vt:lpstr>3. Tâm lý phân cực và niềm tin vào sự thay đổi</vt:lpstr>
      <vt:lpstr>4. Sự kiên trì và khả năng chịu đựng áp lực</vt:lpstr>
      <vt:lpstr>5. Kỹ năng tạo dựng cộng đồng và sự trung thành</vt:lpstr>
      <vt:lpstr>6. Sự tự tin và phong cách lãnh đạo quyết đoán</vt:lpstr>
      <vt:lpstr>7. Tư duy dài hạn và ý thức về di sản cá nhân</vt:lpstr>
      <vt:lpstr>8. Tạo ra niềm tin rằng mọi người có thể đóng góp vào thay đổi xã hội</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DONALD TRUMP YẾU TỐ THÀNH CÔNG VÀ Ý NGHĨA THẮNG LỜI CỦA VỊ TỔNG THỐNG 47 HOA KỲ</dc:title>
  <dc:creator>Administrator</dc:creator>
  <cp:lastModifiedBy>Administrator</cp:lastModifiedBy>
  <cp:revision>1</cp:revision>
  <dcterms:created xsi:type="dcterms:W3CDTF">2024-12-16T11:20:04Z</dcterms:created>
  <dcterms:modified xsi:type="dcterms:W3CDTF">2024-12-16T12:34:43Z</dcterms:modified>
</cp:coreProperties>
</file>