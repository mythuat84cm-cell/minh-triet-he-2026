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8BA0D-36F0-6B72-F996-83A5CD2FAC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47FA423-3D8E-B936-39DF-4E589732FF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2130B9-A47E-0A99-E85B-ADF650FC6F29}"/>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5" name="Footer Placeholder 4">
            <a:extLst>
              <a:ext uri="{FF2B5EF4-FFF2-40B4-BE49-F238E27FC236}">
                <a16:creationId xmlns:a16="http://schemas.microsoft.com/office/drawing/2014/main" id="{7F6670F3-AEB6-2B4A-27DB-2F204BE3A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EABCE5-EA3D-C7CA-2E86-FE88D11EA943}"/>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1892398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8724F-2750-2FAD-DFC9-F02A7E4216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A42176-829C-4DB0-1157-20F7A3A1CA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B71912-F32D-1A7E-1E66-413B01C84A7E}"/>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5" name="Footer Placeholder 4">
            <a:extLst>
              <a:ext uri="{FF2B5EF4-FFF2-40B4-BE49-F238E27FC236}">
                <a16:creationId xmlns:a16="http://schemas.microsoft.com/office/drawing/2014/main" id="{E653FDF4-AC78-EC77-0F96-E8B500490B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04D7E2-6B05-AD8A-72FB-44262B055390}"/>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415581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DC5F1-C5D0-3A78-7B2D-45DF23BB1C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FEE95E-C6A8-8D50-F079-EE9DED811C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11C06D-FB05-F125-1FA8-F701A0FAA9ED}"/>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5" name="Footer Placeholder 4">
            <a:extLst>
              <a:ext uri="{FF2B5EF4-FFF2-40B4-BE49-F238E27FC236}">
                <a16:creationId xmlns:a16="http://schemas.microsoft.com/office/drawing/2014/main" id="{2E8894BB-4A6B-1340-22B8-7BA875E7B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7C799-F4BD-B80C-92C4-F0C5148E58A4}"/>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3271249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85A33-B232-AC2D-CF07-A666D4B2F3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307BF0-21BE-F9C7-FCE0-ACE32E96D9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A12FC5-B0C9-EB26-F249-4A7E9B6628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09911F-95FE-C770-34FE-EC26B2DE7AD5}"/>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6" name="Footer Placeholder 5">
            <a:extLst>
              <a:ext uri="{FF2B5EF4-FFF2-40B4-BE49-F238E27FC236}">
                <a16:creationId xmlns:a16="http://schemas.microsoft.com/office/drawing/2014/main" id="{C62B28A0-372A-9E14-EA7A-673B5713DF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3D64F0-462C-11FC-C4B8-BE05AE97C4ED}"/>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3431632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87BCB-B35A-8C56-BC0B-8126951F92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8BFB65-94BE-1C48-FF79-882DD6DA03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3F229E-EE68-0B52-2E2D-4E41180637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E65438-213B-21C7-472C-2F74915026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AB5612-F3CD-91BB-0D11-31212B629C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98FAE9-8C4D-DB69-763A-802CFCCAFEC7}"/>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8" name="Footer Placeholder 7">
            <a:extLst>
              <a:ext uri="{FF2B5EF4-FFF2-40B4-BE49-F238E27FC236}">
                <a16:creationId xmlns:a16="http://schemas.microsoft.com/office/drawing/2014/main" id="{090D9250-5B6B-1A92-8D34-61AEACA8AF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9912E6-C5DE-7AFF-D027-A17FCFF5DDBC}"/>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2572550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627E2-4BED-B62D-E072-6726A1F094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8996D4-A1D1-F87C-3EC3-E0842E42A67A}"/>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4" name="Footer Placeholder 3">
            <a:extLst>
              <a:ext uri="{FF2B5EF4-FFF2-40B4-BE49-F238E27FC236}">
                <a16:creationId xmlns:a16="http://schemas.microsoft.com/office/drawing/2014/main" id="{1E57A305-1330-4E9D-5F45-5CBA3B58C4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1892E9-ECE4-5D0D-2382-F7F93F8980AC}"/>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2844562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2D77D2-7342-4641-AD3E-0DA78E236F55}"/>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3" name="Footer Placeholder 2">
            <a:extLst>
              <a:ext uri="{FF2B5EF4-FFF2-40B4-BE49-F238E27FC236}">
                <a16:creationId xmlns:a16="http://schemas.microsoft.com/office/drawing/2014/main" id="{C336B1D3-608B-FA33-8579-0B476ABABA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B153D9-BF7F-71B5-416E-CBC7659BA404}"/>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2160286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0FC29-A897-D9E1-80BE-B21A58FA6D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4D33AC-5EF9-4EBF-A226-4B9502542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399C3B-599D-0FB6-0611-89E1A979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AE72D8-4E83-83ED-B257-2A5B155EB776}"/>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6" name="Footer Placeholder 5">
            <a:extLst>
              <a:ext uri="{FF2B5EF4-FFF2-40B4-BE49-F238E27FC236}">
                <a16:creationId xmlns:a16="http://schemas.microsoft.com/office/drawing/2014/main" id="{343B1D21-95B7-B79B-9FC3-428EF2396F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C8DB5C-534C-F529-A0B9-9EF3D83DCC2C}"/>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3441709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D6ED8-B33E-80A9-6402-A02FF9DAF5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E9DDC6-2424-7FF4-13DC-CA12194E3F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212334-2C6C-0F18-44B2-C57C86D534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2A94FA-821A-B47B-B88E-A8B8131ACC16}"/>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6" name="Footer Placeholder 5">
            <a:extLst>
              <a:ext uri="{FF2B5EF4-FFF2-40B4-BE49-F238E27FC236}">
                <a16:creationId xmlns:a16="http://schemas.microsoft.com/office/drawing/2014/main" id="{21D6DD30-AB02-DA6D-EB25-ED4D0514BB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C52102-80B3-F704-22BF-E0F4CAAC8B89}"/>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2696354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D2850-9478-2632-8FDA-C329783E0B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DA2C2A-C5AB-82F5-EAF5-C5CC939008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BDA8E6-845A-583A-36CD-8E5921E5FBB4}"/>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5" name="Footer Placeholder 4">
            <a:extLst>
              <a:ext uri="{FF2B5EF4-FFF2-40B4-BE49-F238E27FC236}">
                <a16:creationId xmlns:a16="http://schemas.microsoft.com/office/drawing/2014/main" id="{33FA9913-908F-091D-5FB3-4385943439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7ACF8-F476-A20A-5AED-802503F901A3}"/>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2319230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1EE02B-3BF9-D8AD-AFAD-4FA7EA95B4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A4BC8E-9BF0-7016-3838-8CDC717EAB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8F7BCF-6DDA-976C-6E2C-E311977D004B}"/>
              </a:ext>
            </a:extLst>
          </p:cNvPr>
          <p:cNvSpPr>
            <a:spLocks noGrp="1"/>
          </p:cNvSpPr>
          <p:nvPr>
            <p:ph type="dt" sz="half" idx="10"/>
          </p:nvPr>
        </p:nvSpPr>
        <p:spPr/>
        <p:txBody>
          <a:bodyPr/>
          <a:lstStyle/>
          <a:p>
            <a:fld id="{7253233A-C2CF-487D-896D-A15935DB48E8}" type="datetimeFigureOut">
              <a:rPr lang="en-US" smtClean="0"/>
              <a:t>12/17/2024</a:t>
            </a:fld>
            <a:endParaRPr lang="en-US"/>
          </a:p>
        </p:txBody>
      </p:sp>
      <p:sp>
        <p:nvSpPr>
          <p:cNvPr id="5" name="Footer Placeholder 4">
            <a:extLst>
              <a:ext uri="{FF2B5EF4-FFF2-40B4-BE49-F238E27FC236}">
                <a16:creationId xmlns:a16="http://schemas.microsoft.com/office/drawing/2014/main" id="{9CD54FD5-B2ED-3D31-ECF4-7A268A0375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305AB4-7F76-506F-B180-937A56E760F2}"/>
              </a:ext>
            </a:extLst>
          </p:cNvPr>
          <p:cNvSpPr>
            <a:spLocks noGrp="1"/>
          </p:cNvSpPr>
          <p:nvPr>
            <p:ph type="sldNum" sz="quarter" idx="12"/>
          </p:nvPr>
        </p:nvSpPr>
        <p:spPr/>
        <p:txBody>
          <a:bodyPr/>
          <a:lstStyle/>
          <a:p>
            <a:fld id="{0BF2608C-98B6-4E23-A181-2D37752C94A8}" type="slidenum">
              <a:rPr lang="en-US" smtClean="0"/>
              <a:t>‹#›</a:t>
            </a:fld>
            <a:endParaRPr lang="en-US"/>
          </a:p>
        </p:txBody>
      </p:sp>
    </p:spTree>
    <p:extLst>
      <p:ext uri="{BB962C8B-B14F-4D97-AF65-F5344CB8AC3E}">
        <p14:creationId xmlns:p14="http://schemas.microsoft.com/office/powerpoint/2010/main" val="2963739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19706B-F9FD-9543-C698-F992F0DA3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C3DD06-531C-DE08-6878-266EAA5F98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4B925A-A7E8-7BD4-12F6-5A77BFC8B4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53233A-C2CF-487D-896D-A15935DB48E8}" type="datetimeFigureOut">
              <a:rPr lang="en-US" smtClean="0"/>
              <a:t>12/17/2024</a:t>
            </a:fld>
            <a:endParaRPr lang="en-US"/>
          </a:p>
        </p:txBody>
      </p:sp>
      <p:sp>
        <p:nvSpPr>
          <p:cNvPr id="5" name="Footer Placeholder 4">
            <a:extLst>
              <a:ext uri="{FF2B5EF4-FFF2-40B4-BE49-F238E27FC236}">
                <a16:creationId xmlns:a16="http://schemas.microsoft.com/office/drawing/2014/main" id="{3943C563-3FA7-4598-5B3A-076D3E5638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D79062-ECE7-E55E-5579-0BEFF806C3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F2608C-98B6-4E23-A181-2D37752C94A8}" type="slidenum">
              <a:rPr lang="en-US" smtClean="0"/>
              <a:t>‹#›</a:t>
            </a:fld>
            <a:endParaRPr lang="en-US"/>
          </a:p>
        </p:txBody>
      </p:sp>
    </p:spTree>
    <p:extLst>
      <p:ext uri="{BB962C8B-B14F-4D97-AF65-F5344CB8AC3E}">
        <p14:creationId xmlns:p14="http://schemas.microsoft.com/office/powerpoint/2010/main" val="3733701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8291B-B127-13A6-0E1C-0D036E168B29}"/>
              </a:ext>
            </a:extLst>
          </p:cNvPr>
          <p:cNvSpPr>
            <a:spLocks noGrp="1"/>
          </p:cNvSpPr>
          <p:nvPr>
            <p:ph type="ctrTitle"/>
          </p:nvPr>
        </p:nvSpPr>
        <p:spPr>
          <a:xfrm>
            <a:off x="1524000" y="816878"/>
            <a:ext cx="9144000" cy="1514679"/>
          </a:xfrm>
        </p:spPr>
        <p:txBody>
          <a:bodyPr>
            <a:normAutofit fontScale="90000"/>
          </a:bodyPr>
          <a:lstStyle/>
          <a:p>
            <a:r>
              <a:rPr lang="vi-VN" sz="4400" b="1" i="1" dirty="0">
                <a:solidFill>
                  <a:schemeClr val="accent6">
                    <a:lumMod val="50000"/>
                  </a:schemeClr>
                </a:solidFill>
                <a:effectLst/>
                <a:latin typeface="Tahoma" panose="020B0604030504040204" pitchFamily="34" charset="0"/>
                <a:ea typeface="Tahoma" panose="020B0604030504040204" pitchFamily="34" charset="0"/>
                <a:cs typeface="Tahoma" panose="020B0604030504040204" pitchFamily="34" charset="0"/>
              </a:rPr>
              <a:t>5 BÀI HỌC QUÝ HƠN VÀNG</a:t>
            </a:r>
            <a:br>
              <a:rPr lang="en-US" sz="4400" b="1" i="1" dirty="0">
                <a:solidFill>
                  <a:schemeClr val="accent6">
                    <a:lumMod val="50000"/>
                  </a:schemeClr>
                </a:solidFill>
                <a:effectLst/>
                <a:latin typeface="Tahoma" panose="020B0604030504040204" pitchFamily="34" charset="0"/>
                <a:ea typeface="Tahoma" panose="020B0604030504040204" pitchFamily="34" charset="0"/>
                <a:cs typeface="Tahoma" panose="020B0604030504040204" pitchFamily="34" charset="0"/>
              </a:rPr>
            </a:br>
            <a:r>
              <a:rPr lang="vi-VN" sz="4400" b="1" i="1" dirty="0">
                <a:solidFill>
                  <a:schemeClr val="accent6">
                    <a:lumMod val="50000"/>
                  </a:schemeClr>
                </a:solidFill>
                <a:effectLst/>
                <a:latin typeface="Tahoma" panose="020B0604030504040204" pitchFamily="34" charset="0"/>
                <a:ea typeface="Tahoma" panose="020B0604030504040204" pitchFamily="34" charset="0"/>
                <a:cs typeface="Tahoma" panose="020B0604030504040204" pitchFamily="34" charset="0"/>
              </a:rPr>
              <a:t> ĐỂ BẠN PHÁT TRIỂN BẢN THÂ</a:t>
            </a:r>
            <a:r>
              <a:rPr lang="en-US" sz="4400" b="1" i="1" dirty="0">
                <a:solidFill>
                  <a:schemeClr val="accent6">
                    <a:lumMod val="50000"/>
                  </a:schemeClr>
                </a:solidFill>
                <a:effectLst/>
                <a:latin typeface="Tahoma" panose="020B0604030504040204" pitchFamily="34" charset="0"/>
                <a:ea typeface="Tahoma" panose="020B0604030504040204" pitchFamily="34" charset="0"/>
                <a:cs typeface="Tahoma" panose="020B0604030504040204" pitchFamily="34" charset="0"/>
              </a:rPr>
              <a:t>N</a:t>
            </a:r>
            <a:endParaRPr lang="en-US" sz="4400" b="1" i="1" dirty="0">
              <a:solidFill>
                <a:schemeClr val="accent6">
                  <a:lumMod val="5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38E4F02C-CCB2-6889-3074-A0EE8DF96BDA}"/>
              </a:ext>
            </a:extLst>
          </p:cNvPr>
          <p:cNvSpPr>
            <a:spLocks noGrp="1"/>
          </p:cNvSpPr>
          <p:nvPr>
            <p:ph type="subTitle" idx="1"/>
          </p:nvPr>
        </p:nvSpPr>
        <p:spPr/>
        <p:txBody>
          <a:bodyPr/>
          <a:lstStyle/>
          <a:p>
            <a:endParaRPr lang="en-US"/>
          </a:p>
        </p:txBody>
      </p:sp>
      <p:pic>
        <p:nvPicPr>
          <p:cNvPr id="1026" name="Picture 2" descr="Kinh nghiệm và trọn bộ 15 kỹ năng phát triển bản thân toàn diện">
            <a:extLst>
              <a:ext uri="{FF2B5EF4-FFF2-40B4-BE49-F238E27FC236}">
                <a16:creationId xmlns:a16="http://schemas.microsoft.com/office/drawing/2014/main" id="{34F1CBA9-9F02-103B-3DE1-D27FE437B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9277" y="2394008"/>
            <a:ext cx="6096000" cy="3429000"/>
          </a:xfrm>
          <a:prstGeom prst="rect">
            <a:avLst/>
          </a:prstGeom>
          <a:noFill/>
          <a:ln>
            <a:noFill/>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33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1A9D8-2011-89F6-81C5-DB73DC74355F}"/>
              </a:ext>
            </a:extLst>
          </p:cNvPr>
          <p:cNvSpPr>
            <a:spLocks noGrp="1"/>
          </p:cNvSpPr>
          <p:nvPr>
            <p:ph type="title"/>
          </p:nvPr>
        </p:nvSpPr>
        <p:spPr>
          <a:xfrm>
            <a:off x="838200" y="346464"/>
            <a:ext cx="10515600" cy="1325563"/>
          </a:xfrm>
        </p:spPr>
        <p:txBody>
          <a:bodyPr/>
          <a:lstStyle/>
          <a:p>
            <a:r>
              <a:rPr lang="en-US" b="1" i="0" dirty="0">
                <a:solidFill>
                  <a:schemeClr val="accent6">
                    <a:lumMod val="50000"/>
                  </a:schemeClr>
                </a:solidFill>
                <a:effectLst/>
                <a:latin typeface="Segoe UI Historic" panose="020B0502040204020203" pitchFamily="34" charset="0"/>
              </a:rPr>
              <a:t>1. </a:t>
            </a:r>
            <a:r>
              <a:rPr lang="en-US" b="1" i="0" dirty="0" err="1">
                <a:solidFill>
                  <a:schemeClr val="accent6">
                    <a:lumMod val="50000"/>
                  </a:schemeClr>
                </a:solidFill>
                <a:effectLst/>
                <a:latin typeface="Segoe UI Historic" panose="020B0502040204020203" pitchFamily="34" charset="0"/>
              </a:rPr>
              <a:t>Đừng</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để</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cuộc</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sống</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có</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điểm</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dừng</a:t>
            </a:r>
            <a:endParaRPr lang="en-US" b="1" dirty="0">
              <a:solidFill>
                <a:schemeClr val="accent6">
                  <a:lumMod val="50000"/>
                </a:schemeClr>
              </a:solidFill>
            </a:endParaRPr>
          </a:p>
        </p:txBody>
      </p:sp>
      <p:sp>
        <p:nvSpPr>
          <p:cNvPr id="3" name="Content Placeholder 2">
            <a:extLst>
              <a:ext uri="{FF2B5EF4-FFF2-40B4-BE49-F238E27FC236}">
                <a16:creationId xmlns:a16="http://schemas.microsoft.com/office/drawing/2014/main" id="{6D44F6A8-C926-CB2E-4008-9E7ED5461888}"/>
              </a:ext>
            </a:extLst>
          </p:cNvPr>
          <p:cNvSpPr>
            <a:spLocks noGrp="1"/>
          </p:cNvSpPr>
          <p:nvPr>
            <p:ph idx="1"/>
          </p:nvPr>
        </p:nvSpPr>
        <p:spPr>
          <a:xfrm>
            <a:off x="838200" y="1499053"/>
            <a:ext cx="10515600" cy="4892416"/>
          </a:xfrm>
        </p:spPr>
        <p:txBody>
          <a:bodyPr>
            <a:normAutofit fontScale="92500" lnSpcReduction="10000"/>
          </a:bodyPr>
          <a:lstStyle/>
          <a:p>
            <a:pPr algn="just"/>
            <a:r>
              <a:rPr lang="vi-VN" sz="2000" b="0" i="0" dirty="0">
                <a:solidFill>
                  <a:srgbClr val="080809"/>
                </a:solidFill>
                <a:effectLst/>
                <a:latin typeface="inherit"/>
              </a:rPr>
              <a:t>Một nhà soạn nhạc vĩ đại người Tây Ban Nha đã từng trả lời câu hỏi của một phóng viên rằng: "Ngài năm nay đã 95 tuổi và là nhà soạn nhạc vĩ đại nhất từ trước tới nay, thế sao ngài vẫn luyện tập 6 tiếng mỗi ngày?". "Bởi vì tôi nghĩ, tôi không có điểm dừng." - Nhà soạn nhạc đáp</a:t>
            </a:r>
            <a:endParaRPr lang="en-US" sz="2000" b="0" i="0" dirty="0">
              <a:solidFill>
                <a:srgbClr val="080809"/>
              </a:solidFill>
              <a:effectLst/>
              <a:latin typeface="inherit"/>
            </a:endParaRPr>
          </a:p>
          <a:p>
            <a:pPr algn="just"/>
            <a:endParaRPr lang="en-US" sz="2000" dirty="0">
              <a:solidFill>
                <a:srgbClr val="080809"/>
              </a:solidFill>
              <a:latin typeface="inherit"/>
            </a:endParaRPr>
          </a:p>
          <a:p>
            <a:pPr algn="just"/>
            <a:endParaRPr lang="en-US" sz="2000" b="0" i="0" dirty="0">
              <a:solidFill>
                <a:srgbClr val="080809"/>
              </a:solidFill>
              <a:effectLst/>
              <a:latin typeface="inherit"/>
            </a:endParaRPr>
          </a:p>
          <a:p>
            <a:pPr algn="just"/>
            <a:endParaRPr lang="en-US" sz="2000" dirty="0">
              <a:solidFill>
                <a:srgbClr val="080809"/>
              </a:solidFill>
              <a:latin typeface="inherit"/>
            </a:endParaRPr>
          </a:p>
          <a:p>
            <a:pPr algn="just"/>
            <a:endParaRPr lang="en-US" sz="2000" b="0" i="0" dirty="0">
              <a:solidFill>
                <a:srgbClr val="080809"/>
              </a:solidFill>
              <a:effectLst/>
              <a:latin typeface="inherit"/>
            </a:endParaRPr>
          </a:p>
          <a:p>
            <a:pPr algn="just"/>
            <a:endParaRPr lang="en-US" sz="2000" dirty="0">
              <a:solidFill>
                <a:srgbClr val="080809"/>
              </a:solidFill>
              <a:latin typeface="inherit"/>
            </a:endParaRPr>
          </a:p>
          <a:p>
            <a:pPr algn="just"/>
            <a:endParaRPr lang="en-US" sz="2000" b="0" i="0" dirty="0">
              <a:solidFill>
                <a:srgbClr val="080809"/>
              </a:solidFill>
              <a:effectLst/>
              <a:latin typeface="inherit"/>
            </a:endParaRPr>
          </a:p>
          <a:p>
            <a:pPr algn="just"/>
            <a:endParaRPr lang="en-US" sz="2000" b="0" i="0" dirty="0">
              <a:solidFill>
                <a:srgbClr val="080809"/>
              </a:solidFill>
              <a:effectLst/>
              <a:latin typeface="inherit"/>
            </a:endParaRPr>
          </a:p>
          <a:p>
            <a:pPr algn="just"/>
            <a:endParaRPr lang="en-US" sz="2000" b="0" i="0" dirty="0">
              <a:solidFill>
                <a:srgbClr val="080809"/>
              </a:solidFill>
              <a:effectLst/>
              <a:latin typeface="inherit"/>
            </a:endParaRPr>
          </a:p>
          <a:p>
            <a:pPr algn="just"/>
            <a:endParaRPr lang="vi-VN" sz="2000" b="0" i="0" dirty="0">
              <a:solidFill>
                <a:srgbClr val="080809"/>
              </a:solidFill>
              <a:effectLst/>
              <a:latin typeface="inherit"/>
            </a:endParaRPr>
          </a:p>
          <a:p>
            <a:pPr algn="just"/>
            <a:r>
              <a:rPr lang="vi-VN" sz="2000" b="0" i="0" dirty="0">
                <a:solidFill>
                  <a:srgbClr val="080809"/>
                </a:solidFill>
                <a:effectLst/>
                <a:latin typeface="inherit"/>
              </a:rPr>
              <a:t>Qua câu trả lời này, ta có thể rút ra một bài học là tất cả những người đang tìm cách "khai phóng" tiềm năng của mình, bất kể nghề nghiệp hay hoàn cảnh, họ đều có cho mình tư tưởng dựa trên sự phát triển. Nghĩa là, chỉ cần có suy nghĩ "đứng yên tại chỗ" mà vẫn thành công thì lập tức họ sẽ thất bại.</a:t>
            </a:r>
          </a:p>
          <a:p>
            <a:pPr algn="just"/>
            <a:endParaRPr lang="en-US" sz="2000" dirty="0"/>
          </a:p>
        </p:txBody>
      </p:sp>
      <p:pic>
        <p:nvPicPr>
          <p:cNvPr id="2052" name="Picture 4" descr="Những câu nói truyền cảm hứng, động lực trong cuộc sống">
            <a:extLst>
              <a:ext uri="{FF2B5EF4-FFF2-40B4-BE49-F238E27FC236}">
                <a16:creationId xmlns:a16="http://schemas.microsoft.com/office/drawing/2014/main" id="{D5436BF8-4D03-99D4-A1D1-E2CF5C356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8816" y="2635573"/>
            <a:ext cx="3810000" cy="2619375"/>
          </a:xfrm>
          <a:prstGeom prst="rect">
            <a:avLst/>
          </a:prstGeom>
          <a:noFill/>
          <a:effectLst>
            <a:glow rad="63500">
              <a:schemeClr val="accent2">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97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anim calcmode="lin" valueType="num">
                                      <p:cBhvr additive="base">
                                        <p:cTn id="1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9DFFF-497A-C014-BFEC-C85239349CF8}"/>
              </a:ext>
            </a:extLst>
          </p:cNvPr>
          <p:cNvSpPr>
            <a:spLocks noGrp="1"/>
          </p:cNvSpPr>
          <p:nvPr>
            <p:ph type="title"/>
          </p:nvPr>
        </p:nvSpPr>
        <p:spPr/>
        <p:txBody>
          <a:bodyPr>
            <a:normAutofit/>
          </a:bodyPr>
          <a:lstStyle/>
          <a:p>
            <a:r>
              <a:rPr lang="vi-VN" sz="3600" b="1" i="0" dirty="0">
                <a:solidFill>
                  <a:schemeClr val="accent6">
                    <a:lumMod val="50000"/>
                  </a:schemeClr>
                </a:solidFill>
                <a:effectLst/>
                <a:latin typeface="Segoe UI Historic" panose="020B0502040204020203" pitchFamily="34" charset="0"/>
              </a:rPr>
              <a:t>2. Cuộc sống luôn được bắt đầu từ ngày hôm nay</a:t>
            </a:r>
            <a:endParaRPr lang="en-US" sz="3600" b="1" dirty="0">
              <a:solidFill>
                <a:schemeClr val="accent6">
                  <a:lumMod val="50000"/>
                </a:schemeClr>
              </a:solidFill>
            </a:endParaRPr>
          </a:p>
        </p:txBody>
      </p:sp>
      <p:sp>
        <p:nvSpPr>
          <p:cNvPr id="3" name="Content Placeholder 2">
            <a:extLst>
              <a:ext uri="{FF2B5EF4-FFF2-40B4-BE49-F238E27FC236}">
                <a16:creationId xmlns:a16="http://schemas.microsoft.com/office/drawing/2014/main" id="{FEC643A9-FD2E-91A7-BAD2-4C948776AC66}"/>
              </a:ext>
            </a:extLst>
          </p:cNvPr>
          <p:cNvSpPr>
            <a:spLocks noGrp="1"/>
          </p:cNvSpPr>
          <p:nvPr>
            <p:ph idx="1"/>
          </p:nvPr>
        </p:nvSpPr>
        <p:spPr>
          <a:xfrm>
            <a:off x="1258078" y="1470964"/>
            <a:ext cx="8940282" cy="4351338"/>
          </a:xfrm>
        </p:spPr>
        <p:txBody>
          <a:bodyPr>
            <a:normAutofit/>
          </a:bodyPr>
          <a:lstStyle/>
          <a:p>
            <a:pPr algn="just"/>
            <a:r>
              <a:rPr lang="vi-VN" sz="1800" b="0" i="0" dirty="0">
                <a:solidFill>
                  <a:srgbClr val="080809"/>
                </a:solidFill>
                <a:effectLst/>
                <a:latin typeface="inherit"/>
              </a:rPr>
              <a:t>Napoleon đã từng nói: "Không phải điều bạn sẽ làm mà chính những điều bạn đang làm mới đáng để nói đến". Nên nhớ rằng "đạo đức là làm được cái gì", chứ không phải bạn "sẽ làm" gì. Mọi mong muốn, suy nghĩ của bạn đều sẽ là những thứ viễn vông, nếu không có sự hành động ngay từ ngày hôm nay.</a:t>
            </a:r>
          </a:p>
          <a:p>
            <a:pPr algn="just"/>
            <a:r>
              <a:rPr lang="vi-VN" sz="1800" b="0" i="0" dirty="0">
                <a:solidFill>
                  <a:srgbClr val="080809"/>
                </a:solidFill>
                <a:effectLst/>
                <a:latin typeface="inherit"/>
              </a:rPr>
              <a:t>Những người không thành công đều có câu cửa miệng rằng: "Tôi sẽ làm". Câu nói này thực chất chỉ là liều thuốc để họ tự trấn an ở thời điểm hiện tại mà thôi, mặc dù bên trong họ không ổn tí nào. Họ có quá nhiều "ngày mai", quá nhiều dự tính nhưng chẳng bao giờ biến thành hành động.</a:t>
            </a:r>
          </a:p>
          <a:p>
            <a:pPr algn="just"/>
            <a:r>
              <a:rPr lang="vi-VN" sz="1800" b="0" i="0" dirty="0">
                <a:solidFill>
                  <a:srgbClr val="080809"/>
                </a:solidFill>
                <a:effectLst/>
                <a:latin typeface="inherit"/>
              </a:rPr>
              <a:t>Tục ngữ cổ của Anh có câu: "Một ngày nào đó, đồng nghĩa với chẳng ngày nào cả." Vì vậy, nếu muốn thành công, chính bạn phải luôn bắt đầu từ ngày hôm nay, không quan trọng điểm xuất phát của bạn từ đâu. Hãy hành động!</a:t>
            </a:r>
          </a:p>
          <a:p>
            <a:pPr algn="just"/>
            <a:endParaRPr lang="en-US" sz="1800" dirty="0"/>
          </a:p>
        </p:txBody>
      </p:sp>
      <p:pic>
        <p:nvPicPr>
          <p:cNvPr id="4" name="Picture 2" descr="Những câu nói truyền cảm hứng và tạo động lực phát triển bản thân">
            <a:extLst>
              <a:ext uri="{FF2B5EF4-FFF2-40B4-BE49-F238E27FC236}">
                <a16:creationId xmlns:a16="http://schemas.microsoft.com/office/drawing/2014/main" id="{DDF7409B-1543-B2C4-D748-244A287BE6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0689"/>
          <a:stretch/>
        </p:blipFill>
        <p:spPr bwMode="auto">
          <a:xfrm>
            <a:off x="6355179" y="4450703"/>
            <a:ext cx="4998621" cy="2230016"/>
          </a:xfrm>
          <a:prstGeom prst="rect">
            <a:avLst/>
          </a:prstGeom>
          <a:noFill/>
          <a:effectLst>
            <a:glow rad="1397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17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238E6-1874-E0E9-B800-58D1F22399AC}"/>
              </a:ext>
            </a:extLst>
          </p:cNvPr>
          <p:cNvSpPr>
            <a:spLocks noGrp="1"/>
          </p:cNvSpPr>
          <p:nvPr>
            <p:ph type="title"/>
          </p:nvPr>
        </p:nvSpPr>
        <p:spPr/>
        <p:txBody>
          <a:bodyPr>
            <a:normAutofit fontScale="90000"/>
          </a:bodyPr>
          <a:lstStyle/>
          <a:p>
            <a:r>
              <a:rPr lang="en-US" b="1" i="0" dirty="0">
                <a:solidFill>
                  <a:schemeClr val="accent6">
                    <a:lumMod val="50000"/>
                  </a:schemeClr>
                </a:solidFill>
                <a:effectLst/>
                <a:latin typeface="Segoe UI Historic" panose="020B0502040204020203" pitchFamily="34" charset="0"/>
              </a:rPr>
              <a:t>3. </a:t>
            </a:r>
            <a:r>
              <a:rPr lang="en-US" b="1" i="0" dirty="0" err="1">
                <a:solidFill>
                  <a:schemeClr val="accent6">
                    <a:lumMod val="50000"/>
                  </a:schemeClr>
                </a:solidFill>
                <a:effectLst/>
                <a:latin typeface="Segoe UI Historic" panose="020B0502040204020203" pitchFamily="34" charset="0"/>
              </a:rPr>
              <a:t>Tập</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trung</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vào</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việc</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khai</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thác</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tiềm</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năng</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bản</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thân</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chứ</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không</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phải</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tìm</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kiếm</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sự</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thoả</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mãn</a:t>
            </a:r>
            <a:endParaRPr lang="en-US" b="1" dirty="0">
              <a:solidFill>
                <a:schemeClr val="accent6">
                  <a:lumMod val="50000"/>
                </a:schemeClr>
              </a:solidFill>
            </a:endParaRPr>
          </a:p>
        </p:txBody>
      </p:sp>
      <p:sp>
        <p:nvSpPr>
          <p:cNvPr id="3" name="Content Placeholder 2">
            <a:extLst>
              <a:ext uri="{FF2B5EF4-FFF2-40B4-BE49-F238E27FC236}">
                <a16:creationId xmlns:a16="http://schemas.microsoft.com/office/drawing/2014/main" id="{93AE7290-5E6F-741F-5569-BE225C5A7EA0}"/>
              </a:ext>
            </a:extLst>
          </p:cNvPr>
          <p:cNvSpPr>
            <a:spLocks noGrp="1"/>
          </p:cNvSpPr>
          <p:nvPr>
            <p:ph idx="1"/>
          </p:nvPr>
        </p:nvSpPr>
        <p:spPr>
          <a:xfrm>
            <a:off x="6008913" y="2628058"/>
            <a:ext cx="5934269" cy="4351338"/>
          </a:xfrm>
        </p:spPr>
        <p:txBody>
          <a:bodyPr>
            <a:normAutofit/>
          </a:bodyPr>
          <a:lstStyle/>
          <a:p>
            <a:pPr algn="just"/>
            <a:r>
              <a:rPr lang="vi-VN" sz="1800" b="0" i="0" dirty="0">
                <a:solidFill>
                  <a:srgbClr val="080809"/>
                </a:solidFill>
                <a:effectLst/>
                <a:latin typeface="inherit"/>
              </a:rPr>
              <a:t>Ở những năm 60, 70 của thế kỷ trước, người ta nói rất nhiều đến việc "đi tìm cái tôi", tức là tìm kiếm cho mình một con đường để hạnh phúc. Nhưng sự thật, việc đó chỉ nói lên rằng họ chỉ đang đi tìm sự hài lòng cho chính mình. Điều đó khiến họ cảm thấy thoả mãn nhưng đồng thời họ đang tự kiềm hãm tiềm năng của mình.</a:t>
            </a:r>
          </a:p>
          <a:p>
            <a:pPr algn="just"/>
            <a:r>
              <a:rPr lang="vi-VN" sz="1800" b="0" i="0" dirty="0">
                <a:solidFill>
                  <a:srgbClr val="080809"/>
                </a:solidFill>
                <a:effectLst/>
                <a:latin typeface="inherit"/>
              </a:rPr>
              <a:t>Trong khi đó, sự phát triển của một cá nhân thực chất là đi tìm sự hài lòng trong mỗi một ngày trôi qua với mục đích mang ý nghĩa "cao cấp" hơn rất nhiều. Đó chính là sự tự phủ định bản thân mỗi ngày, một cách liên tục để đạt được mục đích cao hơn.</a:t>
            </a:r>
          </a:p>
          <a:p>
            <a:pPr algn="just"/>
            <a:endParaRPr lang="en-US" sz="1800" dirty="0"/>
          </a:p>
        </p:txBody>
      </p:sp>
      <p:pic>
        <p:nvPicPr>
          <p:cNvPr id="4098" name="Picture 2" descr="Stt tạo động lực, những câu nói hay, cap hay, truyền cảm hứng">
            <a:extLst>
              <a:ext uri="{FF2B5EF4-FFF2-40B4-BE49-F238E27FC236}">
                <a16:creationId xmlns:a16="http://schemas.microsoft.com/office/drawing/2014/main" id="{0E1CE427-20C9-9767-57BB-1A431BAA8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0971" y="2628058"/>
            <a:ext cx="4767942" cy="3178628"/>
          </a:xfrm>
          <a:prstGeom prst="rect">
            <a:avLst/>
          </a:prstGeom>
          <a:noFill/>
          <a:ln>
            <a:noFill/>
          </a:ln>
          <a:effectLst>
            <a:glow rad="228600">
              <a:schemeClr val="accent1">
                <a:satMod val="175000"/>
                <a:alpha val="40000"/>
              </a:schemeClr>
            </a:glow>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06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E841-A771-0BBE-D582-C8134B8673B4}"/>
              </a:ext>
            </a:extLst>
          </p:cNvPr>
          <p:cNvSpPr>
            <a:spLocks noGrp="1"/>
          </p:cNvSpPr>
          <p:nvPr>
            <p:ph type="title"/>
          </p:nvPr>
        </p:nvSpPr>
        <p:spPr/>
        <p:txBody>
          <a:bodyPr/>
          <a:lstStyle/>
          <a:p>
            <a:r>
              <a:rPr lang="vi-VN" b="1" i="0" dirty="0">
                <a:solidFill>
                  <a:schemeClr val="accent6">
                    <a:lumMod val="50000"/>
                  </a:schemeClr>
                </a:solidFill>
                <a:effectLst/>
                <a:latin typeface="Segoe UI Historic" panose="020B0502040204020203" pitchFamily="34" charset="0"/>
              </a:rPr>
              <a:t>4. Đánh đổi để có được thành công</a:t>
            </a:r>
            <a:endParaRPr lang="en-US" b="1" dirty="0">
              <a:solidFill>
                <a:schemeClr val="accent6">
                  <a:lumMod val="50000"/>
                </a:schemeClr>
              </a:solidFill>
            </a:endParaRPr>
          </a:p>
        </p:txBody>
      </p:sp>
      <p:sp>
        <p:nvSpPr>
          <p:cNvPr id="3" name="Content Placeholder 2">
            <a:extLst>
              <a:ext uri="{FF2B5EF4-FFF2-40B4-BE49-F238E27FC236}">
                <a16:creationId xmlns:a16="http://schemas.microsoft.com/office/drawing/2014/main" id="{2FF9BECD-145D-6F12-4069-61CCFBAD6D3E}"/>
              </a:ext>
            </a:extLst>
          </p:cNvPr>
          <p:cNvSpPr>
            <a:spLocks noGrp="1"/>
          </p:cNvSpPr>
          <p:nvPr>
            <p:ph idx="1"/>
          </p:nvPr>
        </p:nvSpPr>
        <p:spPr>
          <a:xfrm>
            <a:off x="838200" y="1825625"/>
            <a:ext cx="6281057" cy="4351338"/>
          </a:xfrm>
        </p:spPr>
        <p:txBody>
          <a:bodyPr>
            <a:normAutofit/>
          </a:bodyPr>
          <a:lstStyle/>
          <a:p>
            <a:pPr algn="just"/>
            <a:r>
              <a:rPr lang="vi-VN" sz="1800" b="0" i="0" dirty="0">
                <a:solidFill>
                  <a:srgbClr val="080809"/>
                </a:solidFill>
                <a:effectLst/>
                <a:latin typeface="inherit"/>
              </a:rPr>
              <a:t>Xét về bản chất con người, chúng ta luôn cảm thấy vui vẻ khi có được sự thoả mãn, nhưng đến khi phải đánh đổi, trả giá cho một thứ gì đó thì lập tức bản thân lại cảm thấy không được thoả mãn. Chính vì vậy mà không thực sự có nhiều người dám đánh đổi, "cháy" hết mình với mục tiêu và mong muốn của mình để có được thành công.</a:t>
            </a:r>
          </a:p>
          <a:p>
            <a:pPr algn="just"/>
            <a:r>
              <a:rPr lang="vi-VN" sz="1800" b="0" i="0" dirty="0">
                <a:solidFill>
                  <a:srgbClr val="080809"/>
                </a:solidFill>
                <a:effectLst/>
                <a:latin typeface="inherit"/>
              </a:rPr>
              <a:t>Để đánh đổi, đòi hỏi bạn phải rèn cho mình một sự kỷ luật cao độ. Chấp nhận đổi lấy khoảng thời gian mà lẽ ra bản thân được thư giãn để dồn sức vào việc thực hiện mục tiêu cuộc đời. Không những thế, bạn phải không ngừng thay đổi, đối mặt với những rủi ro một cách liên tục và sự cô đơn.</a:t>
            </a:r>
          </a:p>
          <a:p>
            <a:pPr algn="just"/>
            <a:r>
              <a:rPr lang="vi-VN" sz="1800" b="0" i="0" dirty="0">
                <a:solidFill>
                  <a:srgbClr val="080809"/>
                </a:solidFill>
                <a:effectLst/>
                <a:latin typeface="inherit"/>
              </a:rPr>
              <a:t>Hãy luôn nhớ rằng: "Chẳng có cuộc đời nào trong lịch sử nhân loại sống một cuộc sống dễ dàng mà lại xứng đáng được nhớ tên". Hãy đánh đổi!</a:t>
            </a:r>
          </a:p>
          <a:p>
            <a:pPr algn="just"/>
            <a:endParaRPr lang="en-US" sz="1800" dirty="0"/>
          </a:p>
        </p:txBody>
      </p:sp>
      <p:pic>
        <p:nvPicPr>
          <p:cNvPr id="5122" name="Picture 2" descr="Những Câu Status Tạo Động Lực Trong Cuộc Sống Hay Và Ý Nghĩa Nhất">
            <a:extLst>
              <a:ext uri="{FF2B5EF4-FFF2-40B4-BE49-F238E27FC236}">
                <a16:creationId xmlns:a16="http://schemas.microsoft.com/office/drawing/2014/main" id="{0A216262-F97C-E2EE-AE42-13DFBFF9C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9953" y="2341983"/>
            <a:ext cx="4540295" cy="2580401"/>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880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E1B37-1CB3-51E9-08C0-9757EE5CFA2E}"/>
              </a:ext>
            </a:extLst>
          </p:cNvPr>
          <p:cNvSpPr>
            <a:spLocks noGrp="1"/>
          </p:cNvSpPr>
          <p:nvPr>
            <p:ph type="title"/>
          </p:nvPr>
        </p:nvSpPr>
        <p:spPr/>
        <p:txBody>
          <a:bodyPr/>
          <a:lstStyle/>
          <a:p>
            <a:r>
              <a:rPr lang="en-US" b="1" i="0" dirty="0">
                <a:solidFill>
                  <a:schemeClr val="accent6">
                    <a:lumMod val="50000"/>
                  </a:schemeClr>
                </a:solidFill>
                <a:effectLst/>
                <a:latin typeface="Segoe UI Historic" panose="020B0502040204020203" pitchFamily="34" charset="0"/>
              </a:rPr>
              <a:t>5. </a:t>
            </a:r>
            <a:r>
              <a:rPr lang="en-US" b="1" i="0" dirty="0" err="1">
                <a:solidFill>
                  <a:schemeClr val="accent6">
                    <a:lumMod val="50000"/>
                  </a:schemeClr>
                </a:solidFill>
                <a:effectLst/>
                <a:latin typeface="Segoe UI Historic" panose="020B0502040204020203" pitchFamily="34" charset="0"/>
              </a:rPr>
              <a:t>Vận</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dụng</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tức</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thì</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những</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gì</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đã</a:t>
            </a:r>
            <a:r>
              <a:rPr lang="en-US" b="1" i="0" dirty="0">
                <a:solidFill>
                  <a:schemeClr val="accent6">
                    <a:lumMod val="50000"/>
                  </a:schemeClr>
                </a:solidFill>
                <a:effectLst/>
                <a:latin typeface="Segoe UI Historic" panose="020B0502040204020203" pitchFamily="34" charset="0"/>
              </a:rPr>
              <a:t> </a:t>
            </a:r>
            <a:r>
              <a:rPr lang="en-US" b="1" i="0" dirty="0" err="1">
                <a:solidFill>
                  <a:schemeClr val="accent6">
                    <a:lumMod val="50000"/>
                  </a:schemeClr>
                </a:solidFill>
                <a:effectLst/>
                <a:latin typeface="Segoe UI Historic" panose="020B0502040204020203" pitchFamily="34" charset="0"/>
              </a:rPr>
              <a:t>học</a:t>
            </a:r>
            <a:endParaRPr lang="en-US" b="1" dirty="0">
              <a:solidFill>
                <a:schemeClr val="accent6">
                  <a:lumMod val="50000"/>
                </a:schemeClr>
              </a:solidFill>
            </a:endParaRPr>
          </a:p>
        </p:txBody>
      </p:sp>
      <p:sp>
        <p:nvSpPr>
          <p:cNvPr id="3" name="Content Placeholder 2">
            <a:extLst>
              <a:ext uri="{FF2B5EF4-FFF2-40B4-BE49-F238E27FC236}">
                <a16:creationId xmlns:a16="http://schemas.microsoft.com/office/drawing/2014/main" id="{2AE05BEF-4CD2-1E0D-B77F-8409A98B773D}"/>
              </a:ext>
            </a:extLst>
          </p:cNvPr>
          <p:cNvSpPr>
            <a:spLocks noGrp="1"/>
          </p:cNvSpPr>
          <p:nvPr>
            <p:ph idx="1"/>
          </p:nvPr>
        </p:nvSpPr>
        <p:spPr>
          <a:xfrm>
            <a:off x="4833256" y="1825625"/>
            <a:ext cx="6520543" cy="4351338"/>
          </a:xfrm>
        </p:spPr>
        <p:txBody>
          <a:bodyPr>
            <a:normAutofit/>
          </a:bodyPr>
          <a:lstStyle/>
          <a:p>
            <a:pPr algn="just"/>
            <a:r>
              <a:rPr lang="vi-VN" sz="1800" b="0" i="0" dirty="0">
                <a:solidFill>
                  <a:srgbClr val="080809"/>
                </a:solidFill>
                <a:effectLst/>
                <a:latin typeface="inherit"/>
              </a:rPr>
              <a:t>Một câu nói rất hay rằng: "Đừng để những gì bạn học được chỉ mãi là tri thức". Nếu mọi kiến thức mà bạn học được chỉ mãi nằm trong suy nghĩ, chắc chắn bạn sẽ không bao giờ có đủ thời gian và sự tập trung cho một việc gì đó. Điều đó dẫn tới việc bạn không có được một kết quả thực sự nào cả và không thể làm xuất sắc bất kỳ điều gì.</a:t>
            </a:r>
          </a:p>
          <a:p>
            <a:pPr algn="just"/>
            <a:r>
              <a:rPr lang="vi-VN" sz="1800" b="0" i="0" dirty="0">
                <a:solidFill>
                  <a:srgbClr val="080809"/>
                </a:solidFill>
                <a:effectLst/>
                <a:latin typeface="inherit"/>
              </a:rPr>
              <a:t>Nếu nhận thấy bản thân bạn đang trong tình huống không thể vận dụng ngay những gì đã học thì tuyệt đối đừng để "mất"nó. Bằng cách hãy lưu trữ nó lại và lập tức ứng dụng ngay khi có thể. Quá trình này cứ tiếp tục tiến lên và không có điểm dừng. Liên tục học hỏi và vận dụng kiến thức, thành công sẽ không còn là điều "xa xỉ" với bạn.</a:t>
            </a:r>
          </a:p>
          <a:p>
            <a:pPr algn="just"/>
            <a:endParaRPr lang="en-US" sz="1800" dirty="0"/>
          </a:p>
        </p:txBody>
      </p:sp>
      <p:pic>
        <p:nvPicPr>
          <p:cNvPr id="6146" name="Picture 2" descr="445 Câu Nói Hay về Bản Thân ý nghĩa sâu sắc nhất - Tạp chí Văn Nghệ">
            <a:extLst>
              <a:ext uri="{FF2B5EF4-FFF2-40B4-BE49-F238E27FC236}">
                <a16:creationId xmlns:a16="http://schemas.microsoft.com/office/drawing/2014/main" id="{909DABA6-49EF-09B5-A95E-BD1A844C3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593" y="2039807"/>
            <a:ext cx="4406483" cy="2778385"/>
          </a:xfrm>
          <a:prstGeom prst="rect">
            <a:avLst/>
          </a:prstGeom>
          <a:noFill/>
          <a:effectLst>
            <a:glow rad="139700">
              <a:schemeClr val="accent2">
                <a:satMod val="175000"/>
                <a:alpha val="40000"/>
              </a:schemeClr>
            </a:glow>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178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17B87-DC13-1AEC-C7D3-3F0C16AB7D8C}"/>
              </a:ext>
            </a:extLst>
          </p:cNvPr>
          <p:cNvSpPr>
            <a:spLocks noGrp="1"/>
          </p:cNvSpPr>
          <p:nvPr>
            <p:ph type="title"/>
          </p:nvPr>
        </p:nvSpPr>
        <p:spPr/>
        <p:txBody>
          <a:bodyPr/>
          <a:lstStyle/>
          <a:p>
            <a:r>
              <a:rPr lang="en-US" b="1" dirty="0">
                <a:solidFill>
                  <a:schemeClr val="accent6">
                    <a:lumMod val="50000"/>
                  </a:schemeClr>
                </a:solidFill>
              </a:rPr>
              <a:t>THANKS!</a:t>
            </a:r>
          </a:p>
        </p:txBody>
      </p:sp>
      <p:sp>
        <p:nvSpPr>
          <p:cNvPr id="3" name="Content Placeholder 2">
            <a:extLst>
              <a:ext uri="{FF2B5EF4-FFF2-40B4-BE49-F238E27FC236}">
                <a16:creationId xmlns:a16="http://schemas.microsoft.com/office/drawing/2014/main" id="{3D519636-BBAA-36B8-E223-F768B24C3AB6}"/>
              </a:ext>
            </a:extLst>
          </p:cNvPr>
          <p:cNvSpPr>
            <a:spLocks noGrp="1"/>
          </p:cNvSpPr>
          <p:nvPr>
            <p:ph idx="1"/>
          </p:nvPr>
        </p:nvSpPr>
        <p:spPr/>
        <p:txBody>
          <a:bodyPr/>
          <a:lstStyle/>
          <a:p>
            <a:endParaRPr lang="en-US" dirty="0"/>
          </a:p>
        </p:txBody>
      </p:sp>
      <p:pic>
        <p:nvPicPr>
          <p:cNvPr id="7170" name="Picture 2" descr="445 Câu Nói Hay về Bản Thân ý nghĩa sâu sắc nhất - Tạp chí Văn Nghệ">
            <a:extLst>
              <a:ext uri="{FF2B5EF4-FFF2-40B4-BE49-F238E27FC236}">
                <a16:creationId xmlns:a16="http://schemas.microsoft.com/office/drawing/2014/main" id="{BD1BCE87-1552-0177-A76E-E1128B53B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350" y="1685924"/>
            <a:ext cx="7591352" cy="4015079"/>
          </a:xfrm>
          <a:prstGeom prst="rect">
            <a:avLst/>
          </a:prstGeom>
          <a:noFill/>
          <a:effectLst>
            <a:glow rad="228600">
              <a:schemeClr val="accent1">
                <a:satMod val="175000"/>
                <a:alpha val="40000"/>
              </a:schemeClr>
            </a:glow>
          </a:effectLst>
          <a:scene3d>
            <a:camera prst="isometricOffAxis1Right"/>
            <a:lightRig rig="threePt" dir="t"/>
          </a:scene3d>
          <a:sp3d>
            <a:bevelT prst="convex"/>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953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923</Words>
  <Application>Microsoft Office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inherit</vt:lpstr>
      <vt:lpstr>Segoe UI Historic</vt:lpstr>
      <vt:lpstr>Tahoma</vt:lpstr>
      <vt:lpstr>Office Theme</vt:lpstr>
      <vt:lpstr>5 BÀI HỌC QUÝ HƠN VÀNG  ĐỂ BẠN PHÁT TRIỂN BẢN THÂN</vt:lpstr>
      <vt:lpstr>1. Đừng để cuộc sống có điểm dừng</vt:lpstr>
      <vt:lpstr>2. Cuộc sống luôn được bắt đầu từ ngày hôm nay</vt:lpstr>
      <vt:lpstr>3. Tập trung vào việc khai thác tiềm năng bản thân chứ không phải tìm kiếm sự thoả mãn</vt:lpstr>
      <vt:lpstr>4. Đánh đổi để có được thành công</vt:lpstr>
      <vt:lpstr>5. Vận dụng tức thì những gì đã học</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 BÀI HỌC QUÝ HƠN VÀNG  ĐỂ BẠN PHÁT TRIỂN BẢN THÂN</dc:title>
  <dc:creator>Administrator</dc:creator>
  <cp:lastModifiedBy>Administrator</cp:lastModifiedBy>
  <cp:revision>1</cp:revision>
  <dcterms:created xsi:type="dcterms:W3CDTF">2024-12-17T04:54:31Z</dcterms:created>
  <dcterms:modified xsi:type="dcterms:W3CDTF">2024-12-17T04:55:02Z</dcterms:modified>
</cp:coreProperties>
</file>