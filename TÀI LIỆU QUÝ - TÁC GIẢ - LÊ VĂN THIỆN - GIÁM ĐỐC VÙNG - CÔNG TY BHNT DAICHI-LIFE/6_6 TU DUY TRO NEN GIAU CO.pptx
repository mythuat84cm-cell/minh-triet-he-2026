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3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D4438-FC56-F760-55D6-05B6426D66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3CFAF1-D4FC-7C30-1EE6-89D409F739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F136F6-B456-88E6-EAF5-CADC9A1A3885}"/>
              </a:ext>
            </a:extLst>
          </p:cNvPr>
          <p:cNvSpPr>
            <a:spLocks noGrp="1"/>
          </p:cNvSpPr>
          <p:nvPr>
            <p:ph type="dt" sz="half" idx="10"/>
          </p:nvPr>
        </p:nvSpPr>
        <p:spPr/>
        <p:txBody>
          <a:bodyPr/>
          <a:lstStyle/>
          <a:p>
            <a:fld id="{CAFF204B-BDF0-4490-A991-320F8376580A}" type="datetimeFigureOut">
              <a:rPr lang="en-US" smtClean="0"/>
              <a:t>12/16/2024</a:t>
            </a:fld>
            <a:endParaRPr lang="en-US"/>
          </a:p>
        </p:txBody>
      </p:sp>
      <p:sp>
        <p:nvSpPr>
          <p:cNvPr id="5" name="Footer Placeholder 4">
            <a:extLst>
              <a:ext uri="{FF2B5EF4-FFF2-40B4-BE49-F238E27FC236}">
                <a16:creationId xmlns:a16="http://schemas.microsoft.com/office/drawing/2014/main" id="{0708B1A7-1845-34DF-D8D7-68F8A49804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10CB67-52FD-F37A-FA55-5D5861DDAC07}"/>
              </a:ext>
            </a:extLst>
          </p:cNvPr>
          <p:cNvSpPr>
            <a:spLocks noGrp="1"/>
          </p:cNvSpPr>
          <p:nvPr>
            <p:ph type="sldNum" sz="quarter" idx="12"/>
          </p:nvPr>
        </p:nvSpPr>
        <p:spPr/>
        <p:txBody>
          <a:bodyPr/>
          <a:lstStyle/>
          <a:p>
            <a:fld id="{E141DC1D-48D3-4606-9910-0E582A0EE475}" type="slidenum">
              <a:rPr lang="en-US" smtClean="0"/>
              <a:t>‹#›</a:t>
            </a:fld>
            <a:endParaRPr lang="en-US"/>
          </a:p>
        </p:txBody>
      </p:sp>
    </p:spTree>
    <p:extLst>
      <p:ext uri="{BB962C8B-B14F-4D97-AF65-F5344CB8AC3E}">
        <p14:creationId xmlns:p14="http://schemas.microsoft.com/office/powerpoint/2010/main" val="756065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482DD-40D5-F001-8171-B61A4B1DB8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293E54-B764-583A-74A6-0B1DBC7E4E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68508A-2177-D1BC-2ADB-F6F5245ACC93}"/>
              </a:ext>
            </a:extLst>
          </p:cNvPr>
          <p:cNvSpPr>
            <a:spLocks noGrp="1"/>
          </p:cNvSpPr>
          <p:nvPr>
            <p:ph type="dt" sz="half" idx="10"/>
          </p:nvPr>
        </p:nvSpPr>
        <p:spPr/>
        <p:txBody>
          <a:bodyPr/>
          <a:lstStyle/>
          <a:p>
            <a:fld id="{CAFF204B-BDF0-4490-A991-320F8376580A}" type="datetimeFigureOut">
              <a:rPr lang="en-US" smtClean="0"/>
              <a:t>12/16/2024</a:t>
            </a:fld>
            <a:endParaRPr lang="en-US"/>
          </a:p>
        </p:txBody>
      </p:sp>
      <p:sp>
        <p:nvSpPr>
          <p:cNvPr id="5" name="Footer Placeholder 4">
            <a:extLst>
              <a:ext uri="{FF2B5EF4-FFF2-40B4-BE49-F238E27FC236}">
                <a16:creationId xmlns:a16="http://schemas.microsoft.com/office/drawing/2014/main" id="{1DE9A593-8C8F-E5AB-3B85-862FD98E14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B6F0B-5A37-0204-7DCD-1F0BEC870F81}"/>
              </a:ext>
            </a:extLst>
          </p:cNvPr>
          <p:cNvSpPr>
            <a:spLocks noGrp="1"/>
          </p:cNvSpPr>
          <p:nvPr>
            <p:ph type="sldNum" sz="quarter" idx="12"/>
          </p:nvPr>
        </p:nvSpPr>
        <p:spPr/>
        <p:txBody>
          <a:bodyPr/>
          <a:lstStyle/>
          <a:p>
            <a:fld id="{E141DC1D-48D3-4606-9910-0E582A0EE475}" type="slidenum">
              <a:rPr lang="en-US" smtClean="0"/>
              <a:t>‹#›</a:t>
            </a:fld>
            <a:endParaRPr lang="en-US"/>
          </a:p>
        </p:txBody>
      </p:sp>
    </p:spTree>
    <p:extLst>
      <p:ext uri="{BB962C8B-B14F-4D97-AF65-F5344CB8AC3E}">
        <p14:creationId xmlns:p14="http://schemas.microsoft.com/office/powerpoint/2010/main" val="2734948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6625C-F6BC-B173-3397-84E2CD19E2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0166CC-98E1-ECEE-3D23-2FB42550B4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8B3542-CCFC-E792-F654-DE8AFBDAF499}"/>
              </a:ext>
            </a:extLst>
          </p:cNvPr>
          <p:cNvSpPr>
            <a:spLocks noGrp="1"/>
          </p:cNvSpPr>
          <p:nvPr>
            <p:ph type="dt" sz="half" idx="10"/>
          </p:nvPr>
        </p:nvSpPr>
        <p:spPr/>
        <p:txBody>
          <a:bodyPr/>
          <a:lstStyle/>
          <a:p>
            <a:fld id="{CAFF204B-BDF0-4490-A991-320F8376580A}" type="datetimeFigureOut">
              <a:rPr lang="en-US" smtClean="0"/>
              <a:t>12/16/2024</a:t>
            </a:fld>
            <a:endParaRPr lang="en-US"/>
          </a:p>
        </p:txBody>
      </p:sp>
      <p:sp>
        <p:nvSpPr>
          <p:cNvPr id="5" name="Footer Placeholder 4">
            <a:extLst>
              <a:ext uri="{FF2B5EF4-FFF2-40B4-BE49-F238E27FC236}">
                <a16:creationId xmlns:a16="http://schemas.microsoft.com/office/drawing/2014/main" id="{BB0A9020-B827-C881-E211-B1CDC61B10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FDB209-895C-25D7-3783-98BF3B6F7882}"/>
              </a:ext>
            </a:extLst>
          </p:cNvPr>
          <p:cNvSpPr>
            <a:spLocks noGrp="1"/>
          </p:cNvSpPr>
          <p:nvPr>
            <p:ph type="sldNum" sz="quarter" idx="12"/>
          </p:nvPr>
        </p:nvSpPr>
        <p:spPr/>
        <p:txBody>
          <a:bodyPr/>
          <a:lstStyle/>
          <a:p>
            <a:fld id="{E141DC1D-48D3-4606-9910-0E582A0EE475}" type="slidenum">
              <a:rPr lang="en-US" smtClean="0"/>
              <a:t>‹#›</a:t>
            </a:fld>
            <a:endParaRPr lang="en-US"/>
          </a:p>
        </p:txBody>
      </p:sp>
    </p:spTree>
    <p:extLst>
      <p:ext uri="{BB962C8B-B14F-4D97-AF65-F5344CB8AC3E}">
        <p14:creationId xmlns:p14="http://schemas.microsoft.com/office/powerpoint/2010/main" val="468674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8BCC9-F31D-F545-BA0F-29E2177F7C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E1795F-1500-6FE9-AA79-6AA6F2E18A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7E6CA6-5128-E667-6481-0FF7931D8F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4BDD54-C8B0-3D8D-DB7C-AB0B59894FD1}"/>
              </a:ext>
            </a:extLst>
          </p:cNvPr>
          <p:cNvSpPr>
            <a:spLocks noGrp="1"/>
          </p:cNvSpPr>
          <p:nvPr>
            <p:ph type="dt" sz="half" idx="10"/>
          </p:nvPr>
        </p:nvSpPr>
        <p:spPr/>
        <p:txBody>
          <a:bodyPr/>
          <a:lstStyle/>
          <a:p>
            <a:fld id="{CAFF204B-BDF0-4490-A991-320F8376580A}" type="datetimeFigureOut">
              <a:rPr lang="en-US" smtClean="0"/>
              <a:t>12/16/2024</a:t>
            </a:fld>
            <a:endParaRPr lang="en-US"/>
          </a:p>
        </p:txBody>
      </p:sp>
      <p:sp>
        <p:nvSpPr>
          <p:cNvPr id="6" name="Footer Placeholder 5">
            <a:extLst>
              <a:ext uri="{FF2B5EF4-FFF2-40B4-BE49-F238E27FC236}">
                <a16:creationId xmlns:a16="http://schemas.microsoft.com/office/drawing/2014/main" id="{4FE35A87-4D20-E744-B6C6-0C4C011415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6543AE-65B3-B07B-4364-AA9C06CFED31}"/>
              </a:ext>
            </a:extLst>
          </p:cNvPr>
          <p:cNvSpPr>
            <a:spLocks noGrp="1"/>
          </p:cNvSpPr>
          <p:nvPr>
            <p:ph type="sldNum" sz="quarter" idx="12"/>
          </p:nvPr>
        </p:nvSpPr>
        <p:spPr/>
        <p:txBody>
          <a:bodyPr/>
          <a:lstStyle/>
          <a:p>
            <a:fld id="{E141DC1D-48D3-4606-9910-0E582A0EE475}" type="slidenum">
              <a:rPr lang="en-US" smtClean="0"/>
              <a:t>‹#›</a:t>
            </a:fld>
            <a:endParaRPr lang="en-US"/>
          </a:p>
        </p:txBody>
      </p:sp>
    </p:spTree>
    <p:extLst>
      <p:ext uri="{BB962C8B-B14F-4D97-AF65-F5344CB8AC3E}">
        <p14:creationId xmlns:p14="http://schemas.microsoft.com/office/powerpoint/2010/main" val="288825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80962-A760-087E-DF9D-C02C0F713D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FFF63A-E290-9CDA-10CD-ACA0E82DBC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678464-4E00-7328-17D7-36F623F69B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748CD3-481B-3F39-8050-93D3EF32CA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A6A493-0F35-245D-5D8B-F1E40513CF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CF623C-C3F3-117B-8239-7174C0BF744C}"/>
              </a:ext>
            </a:extLst>
          </p:cNvPr>
          <p:cNvSpPr>
            <a:spLocks noGrp="1"/>
          </p:cNvSpPr>
          <p:nvPr>
            <p:ph type="dt" sz="half" idx="10"/>
          </p:nvPr>
        </p:nvSpPr>
        <p:spPr/>
        <p:txBody>
          <a:bodyPr/>
          <a:lstStyle/>
          <a:p>
            <a:fld id="{CAFF204B-BDF0-4490-A991-320F8376580A}" type="datetimeFigureOut">
              <a:rPr lang="en-US" smtClean="0"/>
              <a:t>12/16/2024</a:t>
            </a:fld>
            <a:endParaRPr lang="en-US"/>
          </a:p>
        </p:txBody>
      </p:sp>
      <p:sp>
        <p:nvSpPr>
          <p:cNvPr id="8" name="Footer Placeholder 7">
            <a:extLst>
              <a:ext uri="{FF2B5EF4-FFF2-40B4-BE49-F238E27FC236}">
                <a16:creationId xmlns:a16="http://schemas.microsoft.com/office/drawing/2014/main" id="{52D19542-EBB1-8970-EC04-18957CA9C3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77EACBD-1924-8776-3407-0E5ECFE46D14}"/>
              </a:ext>
            </a:extLst>
          </p:cNvPr>
          <p:cNvSpPr>
            <a:spLocks noGrp="1"/>
          </p:cNvSpPr>
          <p:nvPr>
            <p:ph type="sldNum" sz="quarter" idx="12"/>
          </p:nvPr>
        </p:nvSpPr>
        <p:spPr/>
        <p:txBody>
          <a:bodyPr/>
          <a:lstStyle/>
          <a:p>
            <a:fld id="{E141DC1D-48D3-4606-9910-0E582A0EE475}" type="slidenum">
              <a:rPr lang="en-US" smtClean="0"/>
              <a:t>‹#›</a:t>
            </a:fld>
            <a:endParaRPr lang="en-US"/>
          </a:p>
        </p:txBody>
      </p:sp>
    </p:spTree>
    <p:extLst>
      <p:ext uri="{BB962C8B-B14F-4D97-AF65-F5344CB8AC3E}">
        <p14:creationId xmlns:p14="http://schemas.microsoft.com/office/powerpoint/2010/main" val="1213510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26D6E-143F-0536-086A-BC7AED92BB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588823-A75F-E9EB-AB6D-DC0232BA1260}"/>
              </a:ext>
            </a:extLst>
          </p:cNvPr>
          <p:cNvSpPr>
            <a:spLocks noGrp="1"/>
          </p:cNvSpPr>
          <p:nvPr>
            <p:ph type="dt" sz="half" idx="10"/>
          </p:nvPr>
        </p:nvSpPr>
        <p:spPr/>
        <p:txBody>
          <a:bodyPr/>
          <a:lstStyle/>
          <a:p>
            <a:fld id="{CAFF204B-BDF0-4490-A991-320F8376580A}" type="datetimeFigureOut">
              <a:rPr lang="en-US" smtClean="0"/>
              <a:t>12/16/2024</a:t>
            </a:fld>
            <a:endParaRPr lang="en-US"/>
          </a:p>
        </p:txBody>
      </p:sp>
      <p:sp>
        <p:nvSpPr>
          <p:cNvPr id="4" name="Footer Placeholder 3">
            <a:extLst>
              <a:ext uri="{FF2B5EF4-FFF2-40B4-BE49-F238E27FC236}">
                <a16:creationId xmlns:a16="http://schemas.microsoft.com/office/drawing/2014/main" id="{0DF855F0-563E-C436-B211-971474D6DD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5BAEC1-4ACA-B8A8-D879-1670D1B20D83}"/>
              </a:ext>
            </a:extLst>
          </p:cNvPr>
          <p:cNvSpPr>
            <a:spLocks noGrp="1"/>
          </p:cNvSpPr>
          <p:nvPr>
            <p:ph type="sldNum" sz="quarter" idx="12"/>
          </p:nvPr>
        </p:nvSpPr>
        <p:spPr/>
        <p:txBody>
          <a:bodyPr/>
          <a:lstStyle/>
          <a:p>
            <a:fld id="{E141DC1D-48D3-4606-9910-0E582A0EE475}" type="slidenum">
              <a:rPr lang="en-US" smtClean="0"/>
              <a:t>‹#›</a:t>
            </a:fld>
            <a:endParaRPr lang="en-US"/>
          </a:p>
        </p:txBody>
      </p:sp>
    </p:spTree>
    <p:extLst>
      <p:ext uri="{BB962C8B-B14F-4D97-AF65-F5344CB8AC3E}">
        <p14:creationId xmlns:p14="http://schemas.microsoft.com/office/powerpoint/2010/main" val="2153139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A4DDC3-DE52-DA1E-3774-AE30D84B7E9E}"/>
              </a:ext>
            </a:extLst>
          </p:cNvPr>
          <p:cNvSpPr>
            <a:spLocks noGrp="1"/>
          </p:cNvSpPr>
          <p:nvPr>
            <p:ph type="dt" sz="half" idx="10"/>
          </p:nvPr>
        </p:nvSpPr>
        <p:spPr/>
        <p:txBody>
          <a:bodyPr/>
          <a:lstStyle/>
          <a:p>
            <a:fld id="{CAFF204B-BDF0-4490-A991-320F8376580A}" type="datetimeFigureOut">
              <a:rPr lang="en-US" smtClean="0"/>
              <a:t>12/16/2024</a:t>
            </a:fld>
            <a:endParaRPr lang="en-US"/>
          </a:p>
        </p:txBody>
      </p:sp>
      <p:sp>
        <p:nvSpPr>
          <p:cNvPr id="3" name="Footer Placeholder 2">
            <a:extLst>
              <a:ext uri="{FF2B5EF4-FFF2-40B4-BE49-F238E27FC236}">
                <a16:creationId xmlns:a16="http://schemas.microsoft.com/office/drawing/2014/main" id="{3732B59C-9EA1-2738-560D-77C71464D5C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FC193B-49B3-75A1-B7F7-12C04E844F64}"/>
              </a:ext>
            </a:extLst>
          </p:cNvPr>
          <p:cNvSpPr>
            <a:spLocks noGrp="1"/>
          </p:cNvSpPr>
          <p:nvPr>
            <p:ph type="sldNum" sz="quarter" idx="12"/>
          </p:nvPr>
        </p:nvSpPr>
        <p:spPr/>
        <p:txBody>
          <a:bodyPr/>
          <a:lstStyle/>
          <a:p>
            <a:fld id="{E141DC1D-48D3-4606-9910-0E582A0EE475}" type="slidenum">
              <a:rPr lang="en-US" smtClean="0"/>
              <a:t>‹#›</a:t>
            </a:fld>
            <a:endParaRPr lang="en-US"/>
          </a:p>
        </p:txBody>
      </p:sp>
    </p:spTree>
    <p:extLst>
      <p:ext uri="{BB962C8B-B14F-4D97-AF65-F5344CB8AC3E}">
        <p14:creationId xmlns:p14="http://schemas.microsoft.com/office/powerpoint/2010/main" val="1976567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FE80E-8773-F535-09ED-689BD1097A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6F486F-4A6C-CFC6-917F-7663D2CC04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51DE2E-B351-81B5-1959-70AFA1A83C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D661C3-C1A0-8F0C-0271-5277B06B9BEF}"/>
              </a:ext>
            </a:extLst>
          </p:cNvPr>
          <p:cNvSpPr>
            <a:spLocks noGrp="1"/>
          </p:cNvSpPr>
          <p:nvPr>
            <p:ph type="dt" sz="half" idx="10"/>
          </p:nvPr>
        </p:nvSpPr>
        <p:spPr/>
        <p:txBody>
          <a:bodyPr/>
          <a:lstStyle/>
          <a:p>
            <a:fld id="{CAFF204B-BDF0-4490-A991-320F8376580A}" type="datetimeFigureOut">
              <a:rPr lang="en-US" smtClean="0"/>
              <a:t>12/16/2024</a:t>
            </a:fld>
            <a:endParaRPr lang="en-US"/>
          </a:p>
        </p:txBody>
      </p:sp>
      <p:sp>
        <p:nvSpPr>
          <p:cNvPr id="6" name="Footer Placeholder 5">
            <a:extLst>
              <a:ext uri="{FF2B5EF4-FFF2-40B4-BE49-F238E27FC236}">
                <a16:creationId xmlns:a16="http://schemas.microsoft.com/office/drawing/2014/main" id="{3363FCD4-1F37-CE23-072D-EA4DCA62EB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48A340-9BE7-4A46-EFD7-8DF6AFCDDAA6}"/>
              </a:ext>
            </a:extLst>
          </p:cNvPr>
          <p:cNvSpPr>
            <a:spLocks noGrp="1"/>
          </p:cNvSpPr>
          <p:nvPr>
            <p:ph type="sldNum" sz="quarter" idx="12"/>
          </p:nvPr>
        </p:nvSpPr>
        <p:spPr/>
        <p:txBody>
          <a:bodyPr/>
          <a:lstStyle/>
          <a:p>
            <a:fld id="{E141DC1D-48D3-4606-9910-0E582A0EE475}" type="slidenum">
              <a:rPr lang="en-US" smtClean="0"/>
              <a:t>‹#›</a:t>
            </a:fld>
            <a:endParaRPr lang="en-US"/>
          </a:p>
        </p:txBody>
      </p:sp>
    </p:spTree>
    <p:extLst>
      <p:ext uri="{BB962C8B-B14F-4D97-AF65-F5344CB8AC3E}">
        <p14:creationId xmlns:p14="http://schemas.microsoft.com/office/powerpoint/2010/main" val="1758739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4B0D-3019-7990-B3A2-B804EF0D60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5A9585-875A-CDC1-B2E2-49949EEF85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7FCEED-1B5B-A248-934E-80F83E0CEF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AE2A2D-72FC-84DB-97CD-E72D51820AC8}"/>
              </a:ext>
            </a:extLst>
          </p:cNvPr>
          <p:cNvSpPr>
            <a:spLocks noGrp="1"/>
          </p:cNvSpPr>
          <p:nvPr>
            <p:ph type="dt" sz="half" idx="10"/>
          </p:nvPr>
        </p:nvSpPr>
        <p:spPr/>
        <p:txBody>
          <a:bodyPr/>
          <a:lstStyle/>
          <a:p>
            <a:fld id="{CAFF204B-BDF0-4490-A991-320F8376580A}" type="datetimeFigureOut">
              <a:rPr lang="en-US" smtClean="0"/>
              <a:t>12/16/2024</a:t>
            </a:fld>
            <a:endParaRPr lang="en-US"/>
          </a:p>
        </p:txBody>
      </p:sp>
      <p:sp>
        <p:nvSpPr>
          <p:cNvPr id="6" name="Footer Placeholder 5">
            <a:extLst>
              <a:ext uri="{FF2B5EF4-FFF2-40B4-BE49-F238E27FC236}">
                <a16:creationId xmlns:a16="http://schemas.microsoft.com/office/drawing/2014/main" id="{9DCB6431-1D43-9951-7C79-6A4B7D871F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BF5A48-2DAB-6AF3-CCF3-90F6456F799A}"/>
              </a:ext>
            </a:extLst>
          </p:cNvPr>
          <p:cNvSpPr>
            <a:spLocks noGrp="1"/>
          </p:cNvSpPr>
          <p:nvPr>
            <p:ph type="sldNum" sz="quarter" idx="12"/>
          </p:nvPr>
        </p:nvSpPr>
        <p:spPr/>
        <p:txBody>
          <a:bodyPr/>
          <a:lstStyle/>
          <a:p>
            <a:fld id="{E141DC1D-48D3-4606-9910-0E582A0EE475}" type="slidenum">
              <a:rPr lang="en-US" smtClean="0"/>
              <a:t>‹#›</a:t>
            </a:fld>
            <a:endParaRPr lang="en-US"/>
          </a:p>
        </p:txBody>
      </p:sp>
    </p:spTree>
    <p:extLst>
      <p:ext uri="{BB962C8B-B14F-4D97-AF65-F5344CB8AC3E}">
        <p14:creationId xmlns:p14="http://schemas.microsoft.com/office/powerpoint/2010/main" val="3311150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DAF9A-573E-7539-C101-1AFFE3BDC2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D05591-F035-CF49-33BF-C2F1F44BAF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8CFBE2-1DB0-40A2-F146-7A543A48161A}"/>
              </a:ext>
            </a:extLst>
          </p:cNvPr>
          <p:cNvSpPr>
            <a:spLocks noGrp="1"/>
          </p:cNvSpPr>
          <p:nvPr>
            <p:ph type="dt" sz="half" idx="10"/>
          </p:nvPr>
        </p:nvSpPr>
        <p:spPr/>
        <p:txBody>
          <a:bodyPr/>
          <a:lstStyle/>
          <a:p>
            <a:fld id="{CAFF204B-BDF0-4490-A991-320F8376580A}" type="datetimeFigureOut">
              <a:rPr lang="en-US" smtClean="0"/>
              <a:t>12/16/2024</a:t>
            </a:fld>
            <a:endParaRPr lang="en-US"/>
          </a:p>
        </p:txBody>
      </p:sp>
      <p:sp>
        <p:nvSpPr>
          <p:cNvPr id="5" name="Footer Placeholder 4">
            <a:extLst>
              <a:ext uri="{FF2B5EF4-FFF2-40B4-BE49-F238E27FC236}">
                <a16:creationId xmlns:a16="http://schemas.microsoft.com/office/drawing/2014/main" id="{FAC14F9E-F1D3-06EF-DA85-4C166E4DA1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172682-7933-9D32-302E-35E67DF602A4}"/>
              </a:ext>
            </a:extLst>
          </p:cNvPr>
          <p:cNvSpPr>
            <a:spLocks noGrp="1"/>
          </p:cNvSpPr>
          <p:nvPr>
            <p:ph type="sldNum" sz="quarter" idx="12"/>
          </p:nvPr>
        </p:nvSpPr>
        <p:spPr/>
        <p:txBody>
          <a:bodyPr/>
          <a:lstStyle/>
          <a:p>
            <a:fld id="{E141DC1D-48D3-4606-9910-0E582A0EE475}" type="slidenum">
              <a:rPr lang="en-US" smtClean="0"/>
              <a:t>‹#›</a:t>
            </a:fld>
            <a:endParaRPr lang="en-US"/>
          </a:p>
        </p:txBody>
      </p:sp>
    </p:spTree>
    <p:extLst>
      <p:ext uri="{BB962C8B-B14F-4D97-AF65-F5344CB8AC3E}">
        <p14:creationId xmlns:p14="http://schemas.microsoft.com/office/powerpoint/2010/main" val="1802229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23D85B-ADD6-3F72-FE0C-7940658092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C635B0-B495-5536-2B81-A6E1A39B20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5C4C4-B87D-8D9F-C651-BBF36CF1C8F6}"/>
              </a:ext>
            </a:extLst>
          </p:cNvPr>
          <p:cNvSpPr>
            <a:spLocks noGrp="1"/>
          </p:cNvSpPr>
          <p:nvPr>
            <p:ph type="dt" sz="half" idx="10"/>
          </p:nvPr>
        </p:nvSpPr>
        <p:spPr/>
        <p:txBody>
          <a:bodyPr/>
          <a:lstStyle/>
          <a:p>
            <a:fld id="{CAFF204B-BDF0-4490-A991-320F8376580A}" type="datetimeFigureOut">
              <a:rPr lang="en-US" smtClean="0"/>
              <a:t>12/16/2024</a:t>
            </a:fld>
            <a:endParaRPr lang="en-US"/>
          </a:p>
        </p:txBody>
      </p:sp>
      <p:sp>
        <p:nvSpPr>
          <p:cNvPr id="5" name="Footer Placeholder 4">
            <a:extLst>
              <a:ext uri="{FF2B5EF4-FFF2-40B4-BE49-F238E27FC236}">
                <a16:creationId xmlns:a16="http://schemas.microsoft.com/office/drawing/2014/main" id="{60AF73CB-42B8-F009-83B1-320E4D0798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80224-0AD4-0946-DA9E-531E895D19E1}"/>
              </a:ext>
            </a:extLst>
          </p:cNvPr>
          <p:cNvSpPr>
            <a:spLocks noGrp="1"/>
          </p:cNvSpPr>
          <p:nvPr>
            <p:ph type="sldNum" sz="quarter" idx="12"/>
          </p:nvPr>
        </p:nvSpPr>
        <p:spPr/>
        <p:txBody>
          <a:bodyPr/>
          <a:lstStyle/>
          <a:p>
            <a:fld id="{E141DC1D-48D3-4606-9910-0E582A0EE475}" type="slidenum">
              <a:rPr lang="en-US" smtClean="0"/>
              <a:t>‹#›</a:t>
            </a:fld>
            <a:endParaRPr lang="en-US"/>
          </a:p>
        </p:txBody>
      </p:sp>
    </p:spTree>
    <p:extLst>
      <p:ext uri="{BB962C8B-B14F-4D97-AF65-F5344CB8AC3E}">
        <p14:creationId xmlns:p14="http://schemas.microsoft.com/office/powerpoint/2010/main" val="3817295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2A84A-F1D8-5709-82E6-6794DFB3A1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3014DE7-5984-DCDD-D710-E74B9C8403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B1B741-803A-F949-E99F-2EB7174642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FF204B-BDF0-4490-A991-320F8376580A}" type="datetimeFigureOut">
              <a:rPr lang="en-US" smtClean="0"/>
              <a:t>12/16/2024</a:t>
            </a:fld>
            <a:endParaRPr lang="en-US"/>
          </a:p>
        </p:txBody>
      </p:sp>
      <p:sp>
        <p:nvSpPr>
          <p:cNvPr id="5" name="Footer Placeholder 4">
            <a:extLst>
              <a:ext uri="{FF2B5EF4-FFF2-40B4-BE49-F238E27FC236}">
                <a16:creationId xmlns:a16="http://schemas.microsoft.com/office/drawing/2014/main" id="{8DC96E53-95B4-DEEF-A3F8-AD08CB1767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FFB7BFE-2C7E-E80F-A1CA-0D295FE6E7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41DC1D-48D3-4606-9910-0E582A0EE475}" type="slidenum">
              <a:rPr lang="en-US" smtClean="0"/>
              <a:t>‹#›</a:t>
            </a:fld>
            <a:endParaRPr lang="en-US"/>
          </a:p>
        </p:txBody>
      </p:sp>
    </p:spTree>
    <p:extLst>
      <p:ext uri="{BB962C8B-B14F-4D97-AF65-F5344CB8AC3E}">
        <p14:creationId xmlns:p14="http://schemas.microsoft.com/office/powerpoint/2010/main" val="16644588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8DEA5-A79D-3B2B-D16D-61FF0D4210BF}"/>
              </a:ext>
            </a:extLst>
          </p:cNvPr>
          <p:cNvSpPr>
            <a:spLocks noGrp="1"/>
          </p:cNvSpPr>
          <p:nvPr>
            <p:ph type="ctrTitle"/>
          </p:nvPr>
        </p:nvSpPr>
        <p:spPr>
          <a:xfrm>
            <a:off x="5033393" y="1122363"/>
            <a:ext cx="6465203" cy="2387600"/>
          </a:xfrm>
        </p:spPr>
        <p:txBody>
          <a:bodyPr>
            <a:noAutofit/>
          </a:bodyPr>
          <a:lstStyle/>
          <a:p>
            <a:pPr>
              <a:lnSpc>
                <a:spcPct val="100000"/>
              </a:lnSpc>
            </a:pPr>
            <a:r>
              <a:rPr lang="vi-VN" sz="7200" b="1" i="0" dirty="0">
                <a:solidFill>
                  <a:srgbClr val="C00000"/>
                </a:solidFill>
                <a:effectLst/>
                <a:latin typeface="Tahoma" panose="020B0604030504040204" pitchFamily="34" charset="0"/>
                <a:ea typeface="Tahoma" panose="020B0604030504040204" pitchFamily="34" charset="0"/>
                <a:cs typeface="Tahoma" panose="020B0604030504040204" pitchFamily="34" charset="0"/>
              </a:rPr>
              <a:t>6</a:t>
            </a:r>
            <a:br>
              <a:rPr lang="en-US" sz="3600" b="1" i="0" dirty="0">
                <a:solidFill>
                  <a:schemeClr val="accent4">
                    <a:lumMod val="50000"/>
                  </a:schemeClr>
                </a:solidFill>
                <a:effectLst/>
                <a:latin typeface="Tahoma" panose="020B0604030504040204" pitchFamily="34" charset="0"/>
                <a:ea typeface="Tahoma" panose="020B0604030504040204" pitchFamily="34" charset="0"/>
                <a:cs typeface="Tahoma" panose="020B0604030504040204" pitchFamily="34" charset="0"/>
              </a:rPr>
            </a:br>
            <a:r>
              <a:rPr lang="vi-VN" sz="3600" b="1" i="0" dirty="0">
                <a:solidFill>
                  <a:schemeClr val="accent4">
                    <a:lumMod val="50000"/>
                  </a:schemeClr>
                </a:solidFill>
                <a:effectLst/>
                <a:latin typeface="Tahoma" panose="020B0604030504040204" pitchFamily="34" charset="0"/>
                <a:ea typeface="Tahoma" panose="020B0604030504040204" pitchFamily="34" charset="0"/>
                <a:cs typeface="Tahoma" panose="020B0604030504040204" pitchFamily="34" charset="0"/>
              </a:rPr>
              <a:t> TƯ DUY VƯỢT TRỘI GIÚP BẠN NGÀY CÀNG GIÀU</a:t>
            </a:r>
            <a:endParaRPr lang="en-US" sz="3600" b="1" dirty="0">
              <a:solidFill>
                <a:schemeClr val="accent4">
                  <a:lumMod val="5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 name="Subtitle 2">
            <a:extLst>
              <a:ext uri="{FF2B5EF4-FFF2-40B4-BE49-F238E27FC236}">
                <a16:creationId xmlns:a16="http://schemas.microsoft.com/office/drawing/2014/main" id="{4DD7BD30-1741-A7B5-94BB-CA93A0857D2F}"/>
              </a:ext>
            </a:extLst>
          </p:cNvPr>
          <p:cNvSpPr>
            <a:spLocks noGrp="1"/>
          </p:cNvSpPr>
          <p:nvPr>
            <p:ph type="subTitle" idx="1"/>
          </p:nvPr>
        </p:nvSpPr>
        <p:spPr/>
        <p:txBody>
          <a:bodyPr/>
          <a:lstStyle/>
          <a:p>
            <a:endParaRPr lang="en-US" dirty="0"/>
          </a:p>
        </p:txBody>
      </p:sp>
      <p:sp>
        <p:nvSpPr>
          <p:cNvPr id="6" name="Frame 5">
            <a:extLst>
              <a:ext uri="{FF2B5EF4-FFF2-40B4-BE49-F238E27FC236}">
                <a16:creationId xmlns:a16="http://schemas.microsoft.com/office/drawing/2014/main" id="{6C028244-AFC6-276B-26B7-55A0233C587B}"/>
              </a:ext>
            </a:extLst>
          </p:cNvPr>
          <p:cNvSpPr/>
          <p:nvPr/>
        </p:nvSpPr>
        <p:spPr>
          <a:xfrm>
            <a:off x="840754" y="1666740"/>
            <a:ext cx="3832383" cy="2727167"/>
          </a:xfrm>
          <a:prstGeom prst="frame">
            <a:avLst>
              <a:gd name="adj1" fmla="val 5450"/>
            </a:avLst>
          </a:prstGeom>
        </p:spPr>
        <p:style>
          <a:lnRef idx="0">
            <a:schemeClr val="accent1">
              <a:hueOff val="0"/>
              <a:satOff val="0"/>
              <a:lumOff val="0"/>
              <a:alphaOff val="0"/>
            </a:schemeClr>
          </a:lnRef>
          <a:fillRef idx="1">
            <a:schemeClr val="accent1">
              <a:tint val="50000"/>
              <a:alpha val="40000"/>
              <a:hueOff val="0"/>
              <a:satOff val="0"/>
              <a:lumOff val="0"/>
              <a:alphaOff val="0"/>
            </a:schemeClr>
          </a:fillRef>
          <a:effectRef idx="0">
            <a:schemeClr val="accent1">
              <a:tint val="50000"/>
              <a:alpha val="40000"/>
              <a:hueOff val="0"/>
              <a:satOff val="0"/>
              <a:lumOff val="0"/>
              <a:alphaOff val="0"/>
            </a:schemeClr>
          </a:effectRef>
          <a:fontRef idx="minor">
            <a:schemeClr val="lt1">
              <a:hueOff val="0"/>
              <a:satOff val="0"/>
              <a:lumOff val="0"/>
              <a:alphaOff val="0"/>
            </a:schemeClr>
          </a:fontRef>
        </p:style>
      </p:sp>
      <p:sp>
        <p:nvSpPr>
          <p:cNvPr id="7" name="Rectangle 6" descr="9 tư duy của người giàu có thể thay đổi bản thân, sự nghiệp và cuộc sống -  Happy Live">
            <a:extLst>
              <a:ext uri="{FF2B5EF4-FFF2-40B4-BE49-F238E27FC236}">
                <a16:creationId xmlns:a16="http://schemas.microsoft.com/office/drawing/2014/main" id="{4C38F03A-AD41-53AB-163B-F6964B96724B}"/>
              </a:ext>
            </a:extLst>
          </p:cNvPr>
          <p:cNvSpPr/>
          <p:nvPr/>
        </p:nvSpPr>
        <p:spPr>
          <a:xfrm>
            <a:off x="693403" y="1339969"/>
            <a:ext cx="3685032" cy="2579662"/>
          </a:xfrm>
          <a:prstGeom prst="rect">
            <a:avLst/>
          </a:prstGeom>
          <a:blipFill>
            <a:blip r:embed="rId2">
              <a:extLst>
                <a:ext uri="{28A0092B-C50C-407E-A947-70E740481C1C}">
                  <a14:useLocalDpi xmlns:a14="http://schemas.microsoft.com/office/drawing/2010/main" val="0"/>
                </a:ext>
              </a:extLst>
            </a:blip>
            <a:srcRect/>
            <a:stretch>
              <a:fillRect l="-4000" r="-4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8" name="Freeform: Shape 7">
            <a:extLst>
              <a:ext uri="{FF2B5EF4-FFF2-40B4-BE49-F238E27FC236}">
                <a16:creationId xmlns:a16="http://schemas.microsoft.com/office/drawing/2014/main" id="{C953487A-F603-94D8-36B3-77C57CE3E520}"/>
              </a:ext>
            </a:extLst>
          </p:cNvPr>
          <p:cNvSpPr/>
          <p:nvPr/>
        </p:nvSpPr>
        <p:spPr>
          <a:xfrm>
            <a:off x="990583" y="3920547"/>
            <a:ext cx="3535203" cy="323717"/>
          </a:xfrm>
          <a:custGeom>
            <a:avLst/>
            <a:gdLst>
              <a:gd name="connsiteX0" fmla="*/ 0 w 3535203"/>
              <a:gd name="connsiteY0" fmla="*/ 0 h 323717"/>
              <a:gd name="connsiteX1" fmla="*/ 3535203 w 3535203"/>
              <a:gd name="connsiteY1" fmla="*/ 0 h 323717"/>
              <a:gd name="connsiteX2" fmla="*/ 3535203 w 3535203"/>
              <a:gd name="connsiteY2" fmla="*/ 323717 h 323717"/>
              <a:gd name="connsiteX3" fmla="*/ 0 w 3535203"/>
              <a:gd name="connsiteY3" fmla="*/ 323717 h 323717"/>
              <a:gd name="connsiteX4" fmla="*/ 0 w 3535203"/>
              <a:gd name="connsiteY4" fmla="*/ 0 h 3237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35203" h="323717">
                <a:moveTo>
                  <a:pt x="0" y="0"/>
                </a:moveTo>
                <a:lnTo>
                  <a:pt x="3535203" y="0"/>
                </a:lnTo>
                <a:lnTo>
                  <a:pt x="3535203" y="323717"/>
                </a:lnTo>
                <a:lnTo>
                  <a:pt x="0" y="32371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52400" tIns="57150" rIns="152400" bIns="57150" numCol="1" spcCol="1270" anchor="ctr" anchorCtr="0">
            <a:noAutofit/>
          </a:bodyPr>
          <a:lstStyle/>
          <a:p>
            <a:pPr marL="0" lvl="0" indent="0" algn="l" defTabSz="666750">
              <a:lnSpc>
                <a:spcPct val="90000"/>
              </a:lnSpc>
              <a:spcBef>
                <a:spcPct val="0"/>
              </a:spcBef>
              <a:spcAft>
                <a:spcPct val="35000"/>
              </a:spcAft>
              <a:buNone/>
            </a:pPr>
            <a:endParaRPr lang="en-US" sz="1500" kern="1200"/>
          </a:p>
        </p:txBody>
      </p:sp>
      <p:sp>
        <p:nvSpPr>
          <p:cNvPr id="9" name="Rectangle 8">
            <a:extLst>
              <a:ext uri="{FF2B5EF4-FFF2-40B4-BE49-F238E27FC236}">
                <a16:creationId xmlns:a16="http://schemas.microsoft.com/office/drawing/2014/main" id="{39761E3A-7704-144B-7675-86A51169D838}"/>
              </a:ext>
            </a:extLst>
          </p:cNvPr>
          <p:cNvSpPr/>
          <p:nvPr/>
        </p:nvSpPr>
        <p:spPr>
          <a:xfrm>
            <a:off x="4829158" y="1666740"/>
            <a:ext cx="1752123" cy="2727167"/>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Tree>
    <p:extLst>
      <p:ext uri="{BB962C8B-B14F-4D97-AF65-F5344CB8AC3E}">
        <p14:creationId xmlns:p14="http://schemas.microsoft.com/office/powerpoint/2010/main" val="529639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26D13-291A-C315-98A7-4497142CA56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534BFC-5767-01C5-D7FE-D4B3E4E54A1A}"/>
              </a:ext>
            </a:extLst>
          </p:cNvPr>
          <p:cNvSpPr>
            <a:spLocks noGrp="1"/>
          </p:cNvSpPr>
          <p:nvPr>
            <p:ph idx="1"/>
          </p:nvPr>
        </p:nvSpPr>
        <p:spPr>
          <a:xfrm>
            <a:off x="3385457" y="3598443"/>
            <a:ext cx="6962192" cy="4351338"/>
          </a:xfrm>
        </p:spPr>
        <p:txBody>
          <a:bodyPr>
            <a:normAutofit/>
          </a:bodyPr>
          <a:lstStyle/>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Hơn 30 năm nghiên cứu về triệu phú tự thân, một nhà nghiên cứu đã phát hiện việc gây dựng tài sản và làm giàu liên quan chặt chẽ tới các yếu tố tâm lý. Trước tiên, sự giàu có bắt nguồn từ cách bạn suy nghĩ và cách bạn tin rằng mình có thể kiếm tiền. </a:t>
            </a: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Ngoài ra, việc thiếu khao khát và thiếu niềm tin là thứ cản bước con người làm giàu. Dưới đây là 6 tư duy về tâm lý mà người giàu thường sử dụng.</a:t>
            </a:r>
            <a:endParaRPr lang="en-US" sz="2000" dirty="0"/>
          </a:p>
        </p:txBody>
      </p:sp>
      <p:pic>
        <p:nvPicPr>
          <p:cNvPr id="2052" name="Picture 4" descr="Những câu nói truyền cảm hứng “để đời” của các tỷ phú hàng đầu thế giới |  Báo Dân trí">
            <a:extLst>
              <a:ext uri="{FF2B5EF4-FFF2-40B4-BE49-F238E27FC236}">
                <a16:creationId xmlns:a16="http://schemas.microsoft.com/office/drawing/2014/main" id="{BFCE0287-77CF-254D-6311-4BDBFBA5AB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3800" y="750127"/>
            <a:ext cx="4471890" cy="2623885"/>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489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BD3B3-5F03-6B37-2030-CDF696C6B4B2}"/>
              </a:ext>
            </a:extLst>
          </p:cNvPr>
          <p:cNvSpPr>
            <a:spLocks noGrp="1"/>
          </p:cNvSpPr>
          <p:nvPr>
            <p:ph type="title"/>
          </p:nvPr>
        </p:nvSpPr>
        <p:spPr/>
        <p:txBody>
          <a:bodyPr/>
          <a:lstStyle/>
          <a:p>
            <a:r>
              <a:rPr lang="en-US" b="1" i="0" dirty="0">
                <a:solidFill>
                  <a:schemeClr val="accent2">
                    <a:lumMod val="75000"/>
                  </a:schemeClr>
                </a:solidFill>
                <a:effectLst/>
                <a:latin typeface="Segoe UI Historic" panose="020B0502040204020203" pitchFamily="34" charset="0"/>
              </a:rPr>
              <a:t>1. </a:t>
            </a:r>
            <a:r>
              <a:rPr lang="en-US" b="1" i="0" dirty="0" err="1">
                <a:solidFill>
                  <a:schemeClr val="accent2">
                    <a:lumMod val="75000"/>
                  </a:schemeClr>
                </a:solidFill>
                <a:effectLst/>
                <a:latin typeface="Segoe UI Historic" panose="020B0502040204020203" pitchFamily="34" charset="0"/>
              </a:rPr>
              <a:t>Thế</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giới</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không</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thiếu</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tiền</a:t>
            </a:r>
            <a:endParaRPr lang="en-US" b="1" dirty="0">
              <a:solidFill>
                <a:schemeClr val="accent2">
                  <a:lumMod val="75000"/>
                </a:schemeClr>
              </a:solidFill>
            </a:endParaRPr>
          </a:p>
        </p:txBody>
      </p:sp>
      <p:sp>
        <p:nvSpPr>
          <p:cNvPr id="3" name="Content Placeholder 2">
            <a:extLst>
              <a:ext uri="{FF2B5EF4-FFF2-40B4-BE49-F238E27FC236}">
                <a16:creationId xmlns:a16="http://schemas.microsoft.com/office/drawing/2014/main" id="{655AD1A7-DD61-4FA8-A1FC-C4EDC4BB2FB8}"/>
              </a:ext>
            </a:extLst>
          </p:cNvPr>
          <p:cNvSpPr>
            <a:spLocks noGrp="1"/>
          </p:cNvSpPr>
          <p:nvPr>
            <p:ph idx="1"/>
          </p:nvPr>
        </p:nvSpPr>
        <p:spPr>
          <a:xfrm>
            <a:off x="4757057" y="1872278"/>
            <a:ext cx="6878216" cy="4351338"/>
          </a:xfrm>
        </p:spPr>
        <p:txBody>
          <a:bodyPr>
            <a:normAutofit/>
          </a:bodyPr>
          <a:lstStyle/>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"Người giàu không sợ đặt cược cho tương lai bằng ví tiền của người khác". Nếu họ có một ý tưởng tuyệt vời nhưng thực tế không đủ khả năng tài chính, họ vẫn có thể thực hiện bằng cách huy động nguồn lực bên ngoài. </a:t>
            </a: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"Người giàu hiểu rằng việc không đủ khả năng để mua một thứ gì đó không quan trọng. Điều họ thực sự quan tâm là liệu thứ đó đáng mua, đáng đầu tư hay không?". </a:t>
            </a: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Người giàu biết tiền luôn có sẵn và cái họ theo đuổi là tìm kiếm những cơ hội đầu tư và làm cho nó sinh lời.</a:t>
            </a:r>
            <a:endParaRPr lang="en-US" sz="2000" dirty="0"/>
          </a:p>
        </p:txBody>
      </p:sp>
      <p:pic>
        <p:nvPicPr>
          <p:cNvPr id="4" name="Picture 2" descr="Bí Mật Tư Duy Triệu Phú">
            <a:extLst>
              <a:ext uri="{FF2B5EF4-FFF2-40B4-BE49-F238E27FC236}">
                <a16:creationId xmlns:a16="http://schemas.microsoft.com/office/drawing/2014/main" id="{15C706C6-47EC-37D5-AE11-BDB23FE55E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719" y="1946922"/>
            <a:ext cx="4484338" cy="2522440"/>
          </a:xfrm>
          <a:prstGeom prst="rect">
            <a:avLst/>
          </a:prstGeom>
          <a:noFill/>
          <a:effectLst>
            <a:glow rad="63500">
              <a:schemeClr val="accent4">
                <a:satMod val="175000"/>
                <a:alpha val="40000"/>
              </a:schemeClr>
            </a:glow>
          </a:effectLst>
          <a:scene3d>
            <a:camera prst="orthographicFront"/>
            <a:lightRig rig="threePt" dir="t"/>
          </a:scene3d>
          <a:sp3d>
            <a:bevelT w="101600" prst="riblet"/>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8226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4041E-4523-B97F-A189-33EF49744A14}"/>
              </a:ext>
            </a:extLst>
          </p:cNvPr>
          <p:cNvSpPr>
            <a:spLocks noGrp="1"/>
          </p:cNvSpPr>
          <p:nvPr>
            <p:ph type="title"/>
          </p:nvPr>
        </p:nvSpPr>
        <p:spPr/>
        <p:txBody>
          <a:bodyPr/>
          <a:lstStyle/>
          <a:p>
            <a:r>
              <a:rPr lang="vi-VN" b="1" i="0" dirty="0">
                <a:solidFill>
                  <a:schemeClr val="accent2">
                    <a:lumMod val="75000"/>
                  </a:schemeClr>
                </a:solidFill>
                <a:effectLst/>
                <a:latin typeface="Segoe UI Historic" panose="020B0502040204020203" pitchFamily="34" charset="0"/>
              </a:rPr>
              <a:t>2. Kiếm tiền là một trò chơi</a:t>
            </a:r>
            <a:endParaRPr lang="en-US" b="1" dirty="0">
              <a:solidFill>
                <a:schemeClr val="accent2">
                  <a:lumMod val="75000"/>
                </a:schemeClr>
              </a:solidFill>
            </a:endParaRPr>
          </a:p>
        </p:txBody>
      </p:sp>
      <p:sp>
        <p:nvSpPr>
          <p:cNvPr id="3" name="Content Placeholder 2">
            <a:extLst>
              <a:ext uri="{FF2B5EF4-FFF2-40B4-BE49-F238E27FC236}">
                <a16:creationId xmlns:a16="http://schemas.microsoft.com/office/drawing/2014/main" id="{33031886-460B-F01F-093D-930C4A48149A}"/>
              </a:ext>
            </a:extLst>
          </p:cNvPr>
          <p:cNvSpPr>
            <a:spLocks noGrp="1"/>
          </p:cNvSpPr>
          <p:nvPr>
            <p:ph idx="1"/>
          </p:nvPr>
        </p:nvSpPr>
        <p:spPr>
          <a:xfrm>
            <a:off x="838199" y="1834955"/>
            <a:ext cx="6794241" cy="4351338"/>
          </a:xfrm>
        </p:spPr>
        <p:txBody>
          <a:bodyPr>
            <a:normAutofit/>
          </a:bodyPr>
          <a:lstStyle/>
          <a:p>
            <a:pPr algn="just">
              <a:buFont typeface="Wingdings" panose="05000000000000000000" pitchFamily="2" charset="2"/>
              <a:buChar char="Ø"/>
            </a:pPr>
            <a:r>
              <a:rPr lang="vi-VN" sz="2000" b="0" dirty="0">
                <a:solidFill>
                  <a:srgbClr val="080809"/>
                </a:solidFill>
                <a:effectLst/>
                <a:latin typeface="Segoe UI Historic" panose="020B0502040204020203" pitchFamily="34" charset="0"/>
              </a:rPr>
              <a:t>Với người giàu, kinh doanh và kiếm tiền giống như một trò chơi và họ luôn muốn giành chiến thắng. Đây chính là lý do tại sao dù nhiều tiền nhưng các triệu phú vẫn làm việc chăm chỉ mỗi ngày và liên tục theo đuổi thành công tiếp theo. </a:t>
            </a:r>
            <a:endParaRPr lang="en-US" sz="2000" b="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000" b="0" dirty="0">
                <a:solidFill>
                  <a:srgbClr val="080809"/>
                </a:solidFill>
                <a:effectLst/>
                <a:latin typeface="Segoe UI Historic" panose="020B0502040204020203" pitchFamily="34" charset="0"/>
              </a:rPr>
              <a:t>Đối với người giàu, tiền không chỉ là thước đo mà còn là thứ để khẳng định họ đã đạt được sống. "Hạnh phúc là trên đường đi, không phải đích đến".</a:t>
            </a:r>
            <a:endParaRPr lang="en-US" sz="2000" dirty="0"/>
          </a:p>
        </p:txBody>
      </p:sp>
      <p:grpSp>
        <p:nvGrpSpPr>
          <p:cNvPr id="8" name="Group 7">
            <a:extLst>
              <a:ext uri="{FF2B5EF4-FFF2-40B4-BE49-F238E27FC236}">
                <a16:creationId xmlns:a16="http://schemas.microsoft.com/office/drawing/2014/main" id="{48272906-B92A-EE5F-FE05-A7AE95F1DAFD}"/>
              </a:ext>
            </a:extLst>
          </p:cNvPr>
          <p:cNvGrpSpPr/>
          <p:nvPr/>
        </p:nvGrpSpPr>
        <p:grpSpPr>
          <a:xfrm>
            <a:off x="8186057" y="1690688"/>
            <a:ext cx="3048000" cy="3518980"/>
            <a:chOff x="7605493" y="2052168"/>
            <a:chExt cx="2024743" cy="2289711"/>
          </a:xfrm>
        </p:grpSpPr>
        <p:sp>
          <p:nvSpPr>
            <p:cNvPr id="9" name="Oval 8">
              <a:extLst>
                <a:ext uri="{FF2B5EF4-FFF2-40B4-BE49-F238E27FC236}">
                  <a16:creationId xmlns:a16="http://schemas.microsoft.com/office/drawing/2014/main" id="{4ED3885E-B84A-1C44-9E4C-C30BA772B171}"/>
                </a:ext>
              </a:extLst>
            </p:cNvPr>
            <p:cNvSpPr/>
            <p:nvPr/>
          </p:nvSpPr>
          <p:spPr>
            <a:xfrm>
              <a:off x="7605493" y="2052168"/>
              <a:ext cx="2024743" cy="2024743"/>
            </a:xfrm>
            <a:prstGeom prst="ellipse">
              <a:avLst/>
            </a:prstGeom>
            <a:blipFill>
              <a:blip r:embed="rId2"/>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0" name="Freeform: Shape 9">
              <a:extLst>
                <a:ext uri="{FF2B5EF4-FFF2-40B4-BE49-F238E27FC236}">
                  <a16:creationId xmlns:a16="http://schemas.microsoft.com/office/drawing/2014/main" id="{9943D2F6-6C9B-889D-F7C7-DFA666C78BD4}"/>
                </a:ext>
              </a:extLst>
            </p:cNvPr>
            <p:cNvSpPr/>
            <p:nvPr/>
          </p:nvSpPr>
          <p:spPr>
            <a:xfrm>
              <a:off x="8261262" y="3673714"/>
              <a:ext cx="1295835" cy="668165"/>
            </a:xfrm>
            <a:custGeom>
              <a:avLst/>
              <a:gdLst>
                <a:gd name="connsiteX0" fmla="*/ 0 w 1295835"/>
                <a:gd name="connsiteY0" fmla="*/ 0 h 668165"/>
                <a:gd name="connsiteX1" fmla="*/ 1295835 w 1295835"/>
                <a:gd name="connsiteY1" fmla="*/ 0 h 668165"/>
                <a:gd name="connsiteX2" fmla="*/ 1295835 w 1295835"/>
                <a:gd name="connsiteY2" fmla="*/ 668165 h 668165"/>
                <a:gd name="connsiteX3" fmla="*/ 0 w 1295835"/>
                <a:gd name="connsiteY3" fmla="*/ 668165 h 668165"/>
                <a:gd name="connsiteX4" fmla="*/ 0 w 1295835"/>
                <a:gd name="connsiteY4" fmla="*/ 0 h 668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835" h="668165">
                  <a:moveTo>
                    <a:pt x="0" y="0"/>
                  </a:moveTo>
                  <a:lnTo>
                    <a:pt x="1295835" y="0"/>
                  </a:lnTo>
                  <a:lnTo>
                    <a:pt x="1295835" y="668165"/>
                  </a:lnTo>
                  <a:lnTo>
                    <a:pt x="0" y="668165"/>
                  </a:lnTo>
                  <a:lnTo>
                    <a:pt x="0" y="0"/>
                  </a:lnTo>
                  <a:close/>
                </a:path>
              </a:pathLst>
            </a:custGeom>
            <a:noFill/>
            <a:ln>
              <a:noFill/>
            </a:ln>
            <a:sp3d/>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0" tIns="0" rIns="0" bIns="0" numCol="1" spcCol="1270" anchor="b" anchorCtr="0">
              <a:noAutofit/>
            </a:bodyPr>
            <a:lstStyle/>
            <a:p>
              <a:pPr marL="0" lvl="0" indent="0" algn="ctr" defTabSz="2000250">
                <a:lnSpc>
                  <a:spcPct val="90000"/>
                </a:lnSpc>
                <a:spcBef>
                  <a:spcPct val="0"/>
                </a:spcBef>
                <a:spcAft>
                  <a:spcPct val="35000"/>
                </a:spcAft>
                <a:buNone/>
              </a:pPr>
              <a:endParaRPr lang="en-US" sz="4500" kern="1200"/>
            </a:p>
          </p:txBody>
        </p:sp>
      </p:grpSp>
    </p:spTree>
    <p:extLst>
      <p:ext uri="{BB962C8B-B14F-4D97-AF65-F5344CB8AC3E}">
        <p14:creationId xmlns:p14="http://schemas.microsoft.com/office/powerpoint/2010/main" val="425926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2F71F-58A9-3087-E1D9-F4141DE17741}"/>
              </a:ext>
            </a:extLst>
          </p:cNvPr>
          <p:cNvSpPr>
            <a:spLocks noGrp="1"/>
          </p:cNvSpPr>
          <p:nvPr>
            <p:ph type="title"/>
          </p:nvPr>
        </p:nvSpPr>
        <p:spPr/>
        <p:txBody>
          <a:bodyPr/>
          <a:lstStyle/>
          <a:p>
            <a:r>
              <a:rPr lang="en-US" b="1" i="0" dirty="0">
                <a:solidFill>
                  <a:schemeClr val="accent2">
                    <a:lumMod val="75000"/>
                  </a:schemeClr>
                </a:solidFill>
                <a:effectLst/>
                <a:latin typeface="Segoe UI Historic" panose="020B0502040204020203" pitchFamily="34" charset="0"/>
              </a:rPr>
              <a:t>3. </a:t>
            </a:r>
            <a:r>
              <a:rPr lang="en-US" b="1" i="0" dirty="0" err="1">
                <a:solidFill>
                  <a:schemeClr val="accent2">
                    <a:lumMod val="75000"/>
                  </a:schemeClr>
                </a:solidFill>
                <a:effectLst/>
                <a:latin typeface="Segoe UI Historic" panose="020B0502040204020203" pitchFamily="34" charset="0"/>
              </a:rPr>
              <a:t>Kỳ</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vọng</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cao</a:t>
            </a:r>
            <a:endParaRPr lang="en-US" b="1" dirty="0">
              <a:solidFill>
                <a:schemeClr val="accent2">
                  <a:lumMod val="75000"/>
                </a:schemeClr>
              </a:solidFill>
            </a:endParaRPr>
          </a:p>
        </p:txBody>
      </p:sp>
      <p:sp>
        <p:nvSpPr>
          <p:cNvPr id="3" name="Content Placeholder 2">
            <a:extLst>
              <a:ext uri="{FF2B5EF4-FFF2-40B4-BE49-F238E27FC236}">
                <a16:creationId xmlns:a16="http://schemas.microsoft.com/office/drawing/2014/main" id="{35D85703-A646-8B37-88D0-BAB3D8130140}"/>
              </a:ext>
            </a:extLst>
          </p:cNvPr>
          <p:cNvSpPr>
            <a:spLocks noGrp="1"/>
          </p:cNvSpPr>
          <p:nvPr>
            <p:ph idx="1"/>
          </p:nvPr>
        </p:nvSpPr>
        <p:spPr>
          <a:xfrm>
            <a:off x="838200" y="1453535"/>
            <a:ext cx="10515600" cy="4723428"/>
          </a:xfrm>
        </p:spPr>
        <p:txBody>
          <a:bodyPr>
            <a:normAutofit/>
          </a:bodyPr>
          <a:lstStyle/>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Khác với tầng lớp thấp và trung lưu, họ đặt kỳ vọng tài chính trung bình để không thất vọng thì người giàu lại thiết lập kỳ vọng cao. Họ không chờ đợi mọi thứ tự nhiên xảy ra mà bắt tay vào hành động để biến khát khao thành hiện thực. </a:t>
            </a: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endParaRPr lang="en-US" sz="2000" dirty="0">
              <a:solidFill>
                <a:srgbClr val="080809"/>
              </a:solidFill>
              <a:latin typeface="Segoe UI Historic" panose="020B0502040204020203" pitchFamily="34" charset="0"/>
            </a:endParaRPr>
          </a:p>
          <a:p>
            <a:pPr algn="just">
              <a:buFont typeface="Wingdings" panose="05000000000000000000" pitchFamily="2" charset="2"/>
              <a:buChar char="Ø"/>
            </a:pP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endParaRPr lang="en-US" sz="2000" dirty="0">
              <a:solidFill>
                <a:srgbClr val="080809"/>
              </a:solidFill>
              <a:latin typeface="Segoe UI Historic" panose="020B0502040204020203" pitchFamily="34" charset="0"/>
            </a:endParaRPr>
          </a:p>
          <a:p>
            <a:pPr algn="just">
              <a:buFont typeface="Wingdings" panose="05000000000000000000" pitchFamily="2" charset="2"/>
              <a:buChar char="Ø"/>
            </a:pP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endParaRPr lang="en-US" sz="2000" dirty="0">
              <a:solidFill>
                <a:srgbClr val="080809"/>
              </a:solidFill>
              <a:latin typeface="Segoe UI Historic" panose="020B0502040204020203" pitchFamily="34" charset="0"/>
            </a:endParaRPr>
          </a:p>
          <a:p>
            <a:pPr algn="just">
              <a:buFont typeface="Wingdings" panose="05000000000000000000" pitchFamily="2" charset="2"/>
              <a:buChar char="Ø"/>
            </a:pP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Nói cách khác, những nhà vô địch muốn và buộc mọi việc phải xảy ra, còn những người thấp kém luôn tìm cách né tránh mọi việc. Không ai có thể đạt được sự giàu có mà không đặt ra những kỳ vọng lớn lao.</a:t>
            </a:r>
            <a:endParaRPr lang="en-US" sz="2000" dirty="0"/>
          </a:p>
        </p:txBody>
      </p:sp>
      <p:pic>
        <p:nvPicPr>
          <p:cNvPr id="5" name="Picture 4">
            <a:extLst>
              <a:ext uri="{FF2B5EF4-FFF2-40B4-BE49-F238E27FC236}">
                <a16:creationId xmlns:a16="http://schemas.microsoft.com/office/drawing/2014/main" id="{CB285B46-802D-0203-98CB-194E1D00A876}"/>
              </a:ext>
            </a:extLst>
          </p:cNvPr>
          <p:cNvPicPr>
            <a:picLocks noChangeAspect="1"/>
          </p:cNvPicPr>
          <p:nvPr/>
        </p:nvPicPr>
        <p:blipFill>
          <a:blip r:embed="rId2"/>
          <a:stretch>
            <a:fillRect/>
          </a:stretch>
        </p:blipFill>
        <p:spPr>
          <a:xfrm>
            <a:off x="3853652" y="2507943"/>
            <a:ext cx="4484695" cy="2614612"/>
          </a:xfrm>
          <a:prstGeom prst="rect">
            <a:avLst/>
          </a:prstGeom>
          <a:effectLst>
            <a:glow rad="139700">
              <a:schemeClr val="accent4">
                <a:satMod val="175000"/>
                <a:alpha val="40000"/>
              </a:schemeClr>
            </a:glow>
          </a:effectLst>
        </p:spPr>
      </p:pic>
    </p:spTree>
    <p:extLst>
      <p:ext uri="{BB962C8B-B14F-4D97-AF65-F5344CB8AC3E}">
        <p14:creationId xmlns:p14="http://schemas.microsoft.com/office/powerpoint/2010/main" val="4028179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8" end="8"/>
                                            </p:txEl>
                                          </p:spTgt>
                                        </p:tgtEl>
                                        <p:attrNameLst>
                                          <p:attrName>style.visibility</p:attrName>
                                        </p:attrNameLst>
                                      </p:cBhvr>
                                      <p:to>
                                        <p:strVal val="visible"/>
                                      </p:to>
                                    </p:set>
                                    <p:animEffect transition="in" filter="barn(inVertical)">
                                      <p:cBhvr>
                                        <p:cTn id="1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8CD5C-D62E-7D08-35D3-CAD06BC297FD}"/>
              </a:ext>
            </a:extLst>
          </p:cNvPr>
          <p:cNvSpPr>
            <a:spLocks noGrp="1"/>
          </p:cNvSpPr>
          <p:nvPr>
            <p:ph type="title"/>
          </p:nvPr>
        </p:nvSpPr>
        <p:spPr/>
        <p:txBody>
          <a:bodyPr/>
          <a:lstStyle/>
          <a:p>
            <a:r>
              <a:rPr lang="vi-VN" b="1" i="0" dirty="0">
                <a:solidFill>
                  <a:schemeClr val="accent2">
                    <a:lumMod val="75000"/>
                  </a:schemeClr>
                </a:solidFill>
                <a:effectLst/>
                <a:latin typeface="Segoe UI Historic" panose="020B0502040204020203" pitchFamily="34" charset="0"/>
              </a:rPr>
              <a:t>4. Coi tiền bạc như bạn bè</a:t>
            </a:r>
            <a:endParaRPr lang="en-US" b="1" dirty="0">
              <a:solidFill>
                <a:schemeClr val="accent2">
                  <a:lumMod val="75000"/>
                </a:schemeClr>
              </a:solidFill>
            </a:endParaRPr>
          </a:p>
        </p:txBody>
      </p:sp>
      <p:sp>
        <p:nvSpPr>
          <p:cNvPr id="3" name="Content Placeholder 2">
            <a:extLst>
              <a:ext uri="{FF2B5EF4-FFF2-40B4-BE49-F238E27FC236}">
                <a16:creationId xmlns:a16="http://schemas.microsoft.com/office/drawing/2014/main" id="{234D8606-0DA2-2DF0-C9F6-F0FB7F1F48A8}"/>
              </a:ext>
            </a:extLst>
          </p:cNvPr>
          <p:cNvSpPr>
            <a:spLocks noGrp="1"/>
          </p:cNvSpPr>
          <p:nvPr>
            <p:ph idx="1"/>
          </p:nvPr>
        </p:nvSpPr>
        <p:spPr>
          <a:xfrm>
            <a:off x="5520612" y="2141537"/>
            <a:ext cx="5833188" cy="4351338"/>
          </a:xfrm>
        </p:spPr>
        <p:txBody>
          <a:bodyPr>
            <a:normAutofit/>
          </a:bodyPr>
          <a:lstStyle/>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Người thành đạt luôn coi tiền bạc là một trong những người bạn, người đồng minh tuyệt vời nhất. Đó là người có khả năng chấm dứt những đêm lo lắng đến mất ngủ, những nỗi đau về thể xác, thậm chí có thể cứu sống cuộc đời họ. </a:t>
            </a: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Trong khi nhiều người giàu tin rằng tiền bạc có khả năng giải quyết vấn đề và mua lại được sự bình yên trong tâm hồn thì số khác lại coi tiền bạc là quỷ dữ mang đến những lo lắng và chịu đựng suốt cuộc đời. Hãy nghĩ về điều này!</a:t>
            </a:r>
            <a:endParaRPr lang="en-US" sz="2000" dirty="0"/>
          </a:p>
        </p:txBody>
      </p:sp>
      <p:grpSp>
        <p:nvGrpSpPr>
          <p:cNvPr id="7" name="Group 6">
            <a:extLst>
              <a:ext uri="{FF2B5EF4-FFF2-40B4-BE49-F238E27FC236}">
                <a16:creationId xmlns:a16="http://schemas.microsoft.com/office/drawing/2014/main" id="{37E26A0D-67A4-5F8D-5844-DEB08970FC1A}"/>
              </a:ext>
            </a:extLst>
          </p:cNvPr>
          <p:cNvGrpSpPr/>
          <p:nvPr/>
        </p:nvGrpSpPr>
        <p:grpSpPr>
          <a:xfrm>
            <a:off x="838200" y="2141537"/>
            <a:ext cx="4203440" cy="3156942"/>
            <a:chOff x="1883762" y="3179437"/>
            <a:chExt cx="3157878" cy="2119042"/>
          </a:xfrm>
        </p:grpSpPr>
        <p:sp>
          <p:nvSpPr>
            <p:cNvPr id="9" name="Freeform: Shape 8">
              <a:extLst>
                <a:ext uri="{FF2B5EF4-FFF2-40B4-BE49-F238E27FC236}">
                  <a16:creationId xmlns:a16="http://schemas.microsoft.com/office/drawing/2014/main" id="{B789663C-DDB5-CE7C-FEC7-0A264644A9EE}"/>
                </a:ext>
              </a:extLst>
            </p:cNvPr>
            <p:cNvSpPr/>
            <p:nvPr/>
          </p:nvSpPr>
          <p:spPr>
            <a:xfrm>
              <a:off x="2119199" y="3414672"/>
              <a:ext cx="2668443" cy="1648250"/>
            </a:xfrm>
            <a:custGeom>
              <a:avLst/>
              <a:gdLst>
                <a:gd name="connsiteX0" fmla="*/ 0 w 2668443"/>
                <a:gd name="connsiteY0" fmla="*/ 0 h 1648250"/>
                <a:gd name="connsiteX1" fmla="*/ 2668443 w 2668443"/>
                <a:gd name="connsiteY1" fmla="*/ 0 h 1648250"/>
                <a:gd name="connsiteX2" fmla="*/ 2668443 w 2668443"/>
                <a:gd name="connsiteY2" fmla="*/ 1648250 h 1648250"/>
                <a:gd name="connsiteX3" fmla="*/ 0 w 2668443"/>
                <a:gd name="connsiteY3" fmla="*/ 1648250 h 1648250"/>
                <a:gd name="connsiteX4" fmla="*/ 0 w 2668443"/>
                <a:gd name="connsiteY4" fmla="*/ 0 h 1648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443" h="1648250">
                  <a:moveTo>
                    <a:pt x="0" y="0"/>
                  </a:moveTo>
                  <a:lnTo>
                    <a:pt x="2668443" y="0"/>
                  </a:lnTo>
                  <a:lnTo>
                    <a:pt x="2668443" y="1648250"/>
                  </a:lnTo>
                  <a:lnTo>
                    <a:pt x="0" y="164825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endParaRPr lang="en-US" sz="6500" kern="1200"/>
            </a:p>
          </p:txBody>
        </p:sp>
        <p:sp>
          <p:nvSpPr>
            <p:cNvPr id="10" name="Half Frame 9">
              <a:extLst>
                <a:ext uri="{FF2B5EF4-FFF2-40B4-BE49-F238E27FC236}">
                  <a16:creationId xmlns:a16="http://schemas.microsoft.com/office/drawing/2014/main" id="{DA297FDC-3ADD-1BD4-C35B-16A2BA1AE6F5}"/>
                </a:ext>
              </a:extLst>
            </p:cNvPr>
            <p:cNvSpPr/>
            <p:nvPr/>
          </p:nvSpPr>
          <p:spPr>
            <a:xfrm>
              <a:off x="1883762" y="3179437"/>
              <a:ext cx="640856" cy="641022"/>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Half Frame 10">
              <a:extLst>
                <a:ext uri="{FF2B5EF4-FFF2-40B4-BE49-F238E27FC236}">
                  <a16:creationId xmlns:a16="http://schemas.microsoft.com/office/drawing/2014/main" id="{91C2DF30-0C8F-7BA5-D7D4-F4E36978A4C3}"/>
                </a:ext>
              </a:extLst>
            </p:cNvPr>
            <p:cNvSpPr/>
            <p:nvPr/>
          </p:nvSpPr>
          <p:spPr>
            <a:xfrm rot="5400000">
              <a:off x="4400701" y="3179520"/>
              <a:ext cx="641022" cy="640856"/>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2" name="Half Frame 11">
              <a:extLst>
                <a:ext uri="{FF2B5EF4-FFF2-40B4-BE49-F238E27FC236}">
                  <a16:creationId xmlns:a16="http://schemas.microsoft.com/office/drawing/2014/main" id="{FD8E56C8-2E4A-0D27-C7F9-4A26ED50C5AB}"/>
                </a:ext>
              </a:extLst>
            </p:cNvPr>
            <p:cNvSpPr/>
            <p:nvPr/>
          </p:nvSpPr>
          <p:spPr>
            <a:xfrm rot="16200000">
              <a:off x="1883679" y="4657540"/>
              <a:ext cx="641022" cy="640856"/>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3" name="Half Frame 12">
              <a:extLst>
                <a:ext uri="{FF2B5EF4-FFF2-40B4-BE49-F238E27FC236}">
                  <a16:creationId xmlns:a16="http://schemas.microsoft.com/office/drawing/2014/main" id="{36C27142-BCB6-9C37-56A6-FA8D3F746BB7}"/>
                </a:ext>
              </a:extLst>
            </p:cNvPr>
            <p:cNvSpPr/>
            <p:nvPr/>
          </p:nvSpPr>
          <p:spPr>
            <a:xfrm rot="10800000">
              <a:off x="4400784" y="4657457"/>
              <a:ext cx="640856" cy="641022"/>
            </a:xfrm>
            <a:prstGeom prst="halfFrame">
              <a:avLst>
                <a:gd name="adj1" fmla="val 25770"/>
                <a:gd name="adj2" fmla="val 2577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grpSp>
      <p:pic>
        <p:nvPicPr>
          <p:cNvPr id="6148" name="Picture 4" descr="20 câu nói truyền cảm hứng sống không thể bỏ qua của các tỷ phú hàng đầu  thế giới">
            <a:extLst>
              <a:ext uri="{FF2B5EF4-FFF2-40B4-BE49-F238E27FC236}">
                <a16:creationId xmlns:a16="http://schemas.microsoft.com/office/drawing/2014/main" id="{3B61CFE0-F91F-27FA-4F95-8E7B8E6A481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8752" b="8333"/>
          <a:stretch/>
        </p:blipFill>
        <p:spPr bwMode="auto">
          <a:xfrm>
            <a:off x="1265116" y="2704736"/>
            <a:ext cx="3362261" cy="2113470"/>
          </a:xfrm>
          <a:prstGeom prst="rect">
            <a:avLst/>
          </a:prstGeom>
          <a:noFill/>
          <a:effectLst>
            <a:glow rad="228600">
              <a:schemeClr val="accent6">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441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E71DD-39DE-B429-56DB-A074712FF18C}"/>
              </a:ext>
            </a:extLst>
          </p:cNvPr>
          <p:cNvSpPr>
            <a:spLocks noGrp="1"/>
          </p:cNvSpPr>
          <p:nvPr>
            <p:ph type="title"/>
          </p:nvPr>
        </p:nvSpPr>
        <p:spPr/>
        <p:txBody>
          <a:bodyPr/>
          <a:lstStyle/>
          <a:p>
            <a:r>
              <a:rPr lang="en-US" b="1" i="0" dirty="0">
                <a:solidFill>
                  <a:schemeClr val="accent2">
                    <a:lumMod val="75000"/>
                  </a:schemeClr>
                </a:solidFill>
                <a:effectLst/>
                <a:latin typeface="Segoe UI Historic" panose="020B0502040204020203" pitchFamily="34" charset="0"/>
              </a:rPr>
              <a:t>5. </a:t>
            </a:r>
            <a:r>
              <a:rPr lang="en-US" b="1" i="0" dirty="0" err="1">
                <a:solidFill>
                  <a:schemeClr val="accent2">
                    <a:lumMod val="75000"/>
                  </a:schemeClr>
                </a:solidFill>
                <a:effectLst/>
                <a:latin typeface="Segoe UI Historic" panose="020B0502040204020203" pitchFamily="34" charset="0"/>
              </a:rPr>
              <a:t>Ngăn</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chặn</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nỗi</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sợ</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hãi</a:t>
            </a:r>
            <a:endParaRPr lang="en-US" b="1" dirty="0">
              <a:solidFill>
                <a:schemeClr val="accent2">
                  <a:lumMod val="75000"/>
                </a:schemeClr>
              </a:solidFill>
            </a:endParaRPr>
          </a:p>
        </p:txBody>
      </p:sp>
      <p:sp>
        <p:nvSpPr>
          <p:cNvPr id="3" name="Content Placeholder 2">
            <a:extLst>
              <a:ext uri="{FF2B5EF4-FFF2-40B4-BE49-F238E27FC236}">
                <a16:creationId xmlns:a16="http://schemas.microsoft.com/office/drawing/2014/main" id="{019FF688-18FF-DF27-883B-A9BB09548AD1}"/>
              </a:ext>
            </a:extLst>
          </p:cNvPr>
          <p:cNvSpPr>
            <a:spLocks noGrp="1"/>
          </p:cNvSpPr>
          <p:nvPr>
            <p:ph idx="1"/>
          </p:nvPr>
        </p:nvSpPr>
        <p:spPr>
          <a:xfrm>
            <a:off x="436983" y="1592359"/>
            <a:ext cx="9229531" cy="4351338"/>
          </a:xfrm>
        </p:spPr>
        <p:txBody>
          <a:bodyPr>
            <a:normAutofit/>
          </a:bodyPr>
          <a:lstStyle/>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Người thành công luôn sống với tâm lý không sợ hãi. Họ hiểu rằng, mọi việc với họ đều có thể thực hiện hay "những giấc mơ dù điên rồ đến mấy cũng có vẻ khả thi". </a:t>
            </a: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Để đạt trình độ này, trước tiên bạn phải sẵn sàng bước ra vùng an toàn của mình. Những bộ óc lớn hiểu rằng rất khó để trở nên giàu có và sự thoải mái dễ dàng là hoàn toàn không có. </a:t>
            </a: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Hãy thoải mái với những gì mình có và vẫn tiến lên trong trạng thái không chắc chắn về những gì sẽ xảy ra.</a:t>
            </a:r>
            <a:endParaRPr lang="en-US" sz="2000" dirty="0"/>
          </a:p>
        </p:txBody>
      </p:sp>
      <p:pic>
        <p:nvPicPr>
          <p:cNvPr id="7170" name="Picture 2" descr="11 câu nói không tồn tại trong từ điển của người giàu">
            <a:extLst>
              <a:ext uri="{FF2B5EF4-FFF2-40B4-BE49-F238E27FC236}">
                <a16:creationId xmlns:a16="http://schemas.microsoft.com/office/drawing/2014/main" id="{0A0D7217-5CCA-F30C-727C-384091AF78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5705" y="4199708"/>
            <a:ext cx="4010609" cy="2406365"/>
          </a:xfrm>
          <a:prstGeom prst="rect">
            <a:avLst/>
          </a:prstGeom>
          <a:noFill/>
          <a:effectLst>
            <a:glow rad="228600">
              <a:schemeClr val="accent1">
                <a:satMod val="175000"/>
                <a:alpha val="40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210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A6FE3-9099-1930-E291-A7495ACBA355}"/>
              </a:ext>
            </a:extLst>
          </p:cNvPr>
          <p:cNvSpPr>
            <a:spLocks noGrp="1"/>
          </p:cNvSpPr>
          <p:nvPr>
            <p:ph type="title"/>
          </p:nvPr>
        </p:nvSpPr>
        <p:spPr/>
        <p:txBody>
          <a:bodyPr/>
          <a:lstStyle/>
          <a:p>
            <a:r>
              <a:rPr lang="en-US" b="1" i="0" dirty="0">
                <a:solidFill>
                  <a:schemeClr val="accent2">
                    <a:lumMod val="75000"/>
                  </a:schemeClr>
                </a:solidFill>
                <a:effectLst/>
                <a:latin typeface="Segoe UI Historic" panose="020B0502040204020203" pitchFamily="34" charset="0"/>
              </a:rPr>
              <a:t>6. </a:t>
            </a:r>
            <a:r>
              <a:rPr lang="en-US" b="1" i="0" dirty="0" err="1">
                <a:solidFill>
                  <a:schemeClr val="accent2">
                    <a:lumMod val="75000"/>
                  </a:schemeClr>
                </a:solidFill>
                <a:effectLst/>
                <a:latin typeface="Segoe UI Historic" panose="020B0502040204020203" pitchFamily="34" charset="0"/>
              </a:rPr>
              <a:t>Chứng</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minh</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mình</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xứng</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đáng</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giàu</a:t>
            </a:r>
            <a:r>
              <a:rPr lang="en-US" b="1" i="0" dirty="0">
                <a:solidFill>
                  <a:schemeClr val="accent2">
                    <a:lumMod val="75000"/>
                  </a:schemeClr>
                </a:solidFill>
                <a:effectLst/>
                <a:latin typeface="Segoe UI Historic" panose="020B0502040204020203" pitchFamily="34" charset="0"/>
              </a:rPr>
              <a:t> </a:t>
            </a:r>
            <a:r>
              <a:rPr lang="en-US" b="1" i="0" dirty="0" err="1">
                <a:solidFill>
                  <a:schemeClr val="accent2">
                    <a:lumMod val="75000"/>
                  </a:schemeClr>
                </a:solidFill>
                <a:effectLst/>
                <a:latin typeface="Segoe UI Historic" panose="020B0502040204020203" pitchFamily="34" charset="0"/>
              </a:rPr>
              <a:t>có</a:t>
            </a:r>
            <a:endParaRPr lang="en-US" b="1" dirty="0">
              <a:solidFill>
                <a:schemeClr val="accent2">
                  <a:lumMod val="75000"/>
                </a:schemeClr>
              </a:solidFill>
            </a:endParaRPr>
          </a:p>
        </p:txBody>
      </p:sp>
      <p:sp>
        <p:nvSpPr>
          <p:cNvPr id="3" name="Content Placeholder 2">
            <a:extLst>
              <a:ext uri="{FF2B5EF4-FFF2-40B4-BE49-F238E27FC236}">
                <a16:creationId xmlns:a16="http://schemas.microsoft.com/office/drawing/2014/main" id="{E8CDD0C9-B60D-344C-B78D-0542E905AE10}"/>
              </a:ext>
            </a:extLst>
          </p:cNvPr>
          <p:cNvSpPr>
            <a:spLocks noGrp="1"/>
          </p:cNvSpPr>
          <p:nvPr>
            <p:ph idx="1"/>
          </p:nvPr>
        </p:nvSpPr>
        <p:spPr>
          <a:xfrm>
            <a:off x="4581330" y="2338809"/>
            <a:ext cx="7108371" cy="4351338"/>
          </a:xfrm>
        </p:spPr>
        <p:txBody>
          <a:bodyPr>
            <a:normAutofit/>
          </a:bodyPr>
          <a:lstStyle/>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Trong khi đó, hầu hết những người bình thường đều cho rằng, sự giàu có chỉ dành cho số ít người may mắn thì người giàu có tin nó là quyền lợi của mình. </a:t>
            </a: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Họ làm thực, họ tạo ra kết quả thực và họ luôn khát khao từng ngày để trở nên giàu có. </a:t>
            </a: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Họ tin rằng nếu làm cho cuộc sống của người khác tốt hơn, cho đi nhiều hơn thì họ sẽ nhận được nhiều hơn. </a:t>
            </a:r>
            <a:endParaRPr lang="en-US" sz="2000" b="0" i="0" dirty="0">
              <a:solidFill>
                <a:srgbClr val="080809"/>
              </a:solidFill>
              <a:effectLst/>
              <a:latin typeface="Segoe UI Historic" panose="020B0502040204020203" pitchFamily="34" charset="0"/>
            </a:endParaRPr>
          </a:p>
          <a:p>
            <a:pPr algn="just">
              <a:buFont typeface="Wingdings" panose="05000000000000000000" pitchFamily="2" charset="2"/>
              <a:buChar char="Ø"/>
            </a:pPr>
            <a:r>
              <a:rPr lang="vi-VN" sz="2000" b="0" i="0" dirty="0">
                <a:solidFill>
                  <a:srgbClr val="080809"/>
                </a:solidFill>
                <a:effectLst/>
                <a:latin typeface="Segoe UI Historic" panose="020B0502040204020203" pitchFamily="34" charset="0"/>
              </a:rPr>
              <a:t>Họ hiểu nếu bản thân liên tục tập trung tăng giá trị của mình thì sự giàu có sẽ theo đuổi họ.</a:t>
            </a:r>
            <a:endParaRPr lang="en-US" sz="2000" dirty="0"/>
          </a:p>
        </p:txBody>
      </p:sp>
      <p:pic>
        <p:nvPicPr>
          <p:cNvPr id="8194" name="Picture 2" descr="Muốn thành công thì phải thành nhân">
            <a:extLst>
              <a:ext uri="{FF2B5EF4-FFF2-40B4-BE49-F238E27FC236}">
                <a16:creationId xmlns:a16="http://schemas.microsoft.com/office/drawing/2014/main" id="{64E31DBF-98C9-9AA2-9B5D-2806716413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934" y="1775862"/>
            <a:ext cx="4130454" cy="2581534"/>
          </a:xfrm>
          <a:prstGeom prst="rect">
            <a:avLst/>
          </a:prstGeom>
          <a:noFill/>
          <a:effectLst>
            <a:glow rad="63500">
              <a:schemeClr val="accent6">
                <a:satMod val="175000"/>
                <a:alpha val="40000"/>
              </a:schemeClr>
            </a:glow>
          </a:effectLst>
          <a:scene3d>
            <a:camera prst="isometricOffAxis2Left"/>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621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CC5FA-EE95-87D6-0C4C-1C9336726C43}"/>
              </a:ext>
            </a:extLst>
          </p:cNvPr>
          <p:cNvSpPr>
            <a:spLocks noGrp="1"/>
          </p:cNvSpPr>
          <p:nvPr>
            <p:ph type="title"/>
          </p:nvPr>
        </p:nvSpPr>
        <p:spPr>
          <a:xfrm>
            <a:off x="838200" y="341708"/>
            <a:ext cx="10515600" cy="1325563"/>
          </a:xfrm>
        </p:spPr>
        <p:txBody>
          <a:bodyPr/>
          <a:lstStyle/>
          <a:p>
            <a:r>
              <a:rPr lang="en-US" b="1" dirty="0">
                <a:solidFill>
                  <a:schemeClr val="accent2">
                    <a:lumMod val="75000"/>
                  </a:schemeClr>
                </a:solidFill>
              </a:rPr>
              <a:t>THANKS!</a:t>
            </a:r>
          </a:p>
        </p:txBody>
      </p:sp>
      <p:sp>
        <p:nvSpPr>
          <p:cNvPr id="3" name="Content Placeholder 2">
            <a:extLst>
              <a:ext uri="{FF2B5EF4-FFF2-40B4-BE49-F238E27FC236}">
                <a16:creationId xmlns:a16="http://schemas.microsoft.com/office/drawing/2014/main" id="{6971A348-6B61-BD35-8017-971480873077}"/>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2C7D9AE-CEC7-01D4-1C4D-C1FCE383B652}"/>
              </a:ext>
            </a:extLst>
          </p:cNvPr>
          <p:cNvPicPr>
            <a:picLocks noChangeAspect="1"/>
          </p:cNvPicPr>
          <p:nvPr/>
        </p:nvPicPr>
        <p:blipFill>
          <a:blip r:embed="rId2"/>
          <a:stretch>
            <a:fillRect/>
          </a:stretch>
        </p:blipFill>
        <p:spPr>
          <a:xfrm>
            <a:off x="2965580" y="1720056"/>
            <a:ext cx="6858000" cy="4562475"/>
          </a:xfrm>
          <a:prstGeom prst="rect">
            <a:avLst/>
          </a:prstGeom>
          <a:effectLst>
            <a:glow rad="139700">
              <a:schemeClr val="accent4">
                <a:satMod val="175000"/>
                <a:alpha val="40000"/>
              </a:schemeClr>
            </a:glow>
          </a:effectLst>
          <a:scene3d>
            <a:camera prst="orthographicFront"/>
            <a:lightRig rig="threePt" dir="t"/>
          </a:scene3d>
          <a:sp3d>
            <a:bevelT w="139700" h="139700" prst="divot"/>
          </a:sp3d>
        </p:spPr>
      </p:pic>
    </p:spTree>
    <p:extLst>
      <p:ext uri="{BB962C8B-B14F-4D97-AF65-F5344CB8AC3E}">
        <p14:creationId xmlns:p14="http://schemas.microsoft.com/office/powerpoint/2010/main" val="21540298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793</Words>
  <Application>Microsoft Office PowerPoint</Application>
  <PresentationFormat>Widescreen</PresentationFormat>
  <Paragraphs>33</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Segoe UI Historic</vt:lpstr>
      <vt:lpstr>Tahoma</vt:lpstr>
      <vt:lpstr>Wingdings</vt:lpstr>
      <vt:lpstr>Office Theme</vt:lpstr>
      <vt:lpstr>6  TƯ DUY VƯỢT TRỘI GIÚP BẠN NGÀY CÀNG GIÀU</vt:lpstr>
      <vt:lpstr>PowerPoint Presentation</vt:lpstr>
      <vt:lpstr>1. Thế giới không thiếu tiền</vt:lpstr>
      <vt:lpstr>2. Kiếm tiền là một trò chơi</vt:lpstr>
      <vt:lpstr>3. Kỳ vọng cao</vt:lpstr>
      <vt:lpstr>4. Coi tiền bạc như bạn bè</vt:lpstr>
      <vt:lpstr>5. Ngăn chặn nỗi sợ hãi</vt:lpstr>
      <vt:lpstr>6. Chứng minh mình xứng đáng giàu có</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  TƯ DUY VƯỢT TRỘI GIÚP BẠN NGÀY CÀNG GIÀU</dc:title>
  <dc:creator>Administrator</dc:creator>
  <cp:lastModifiedBy>Administrator</cp:lastModifiedBy>
  <cp:revision>1</cp:revision>
  <dcterms:created xsi:type="dcterms:W3CDTF">2024-12-16T16:07:31Z</dcterms:created>
  <dcterms:modified xsi:type="dcterms:W3CDTF">2024-12-16T16:07:44Z</dcterms:modified>
</cp:coreProperties>
</file>