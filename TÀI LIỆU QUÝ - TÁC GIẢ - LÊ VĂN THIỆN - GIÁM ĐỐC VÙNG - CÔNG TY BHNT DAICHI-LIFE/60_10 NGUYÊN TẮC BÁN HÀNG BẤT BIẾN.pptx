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72"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3F6C5-7405-17D1-7BDA-3F37ECF92C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F09C9A-0BF7-A797-E457-34E208D2F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961E1A-36D2-B3DC-9536-0024EEBB188B}"/>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5" name="Footer Placeholder 4">
            <a:extLst>
              <a:ext uri="{FF2B5EF4-FFF2-40B4-BE49-F238E27FC236}">
                <a16:creationId xmlns:a16="http://schemas.microsoft.com/office/drawing/2014/main" id="{99C775F7-44DC-73E9-F32E-9B92060B2D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5AD436-C146-BEC3-3B63-21D2D98E826C}"/>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417823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41BFB-1BD9-75B9-DCE9-766273838F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6FA15D-0A66-5EDC-E574-C3AFC18F2E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89320C-7A53-A997-8D63-EC6DDDF31A22}"/>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5" name="Footer Placeholder 4">
            <a:extLst>
              <a:ext uri="{FF2B5EF4-FFF2-40B4-BE49-F238E27FC236}">
                <a16:creationId xmlns:a16="http://schemas.microsoft.com/office/drawing/2014/main" id="{006058EC-4024-E45C-F9B7-6DD4AD611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873341-A7BC-8460-1696-9059262A797B}"/>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3451533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0839-673B-B688-7470-3BF89F3B47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CF97E3-C3A6-A673-42CD-2D93C16718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6F6983-51D2-A28F-ECA8-3B3D26C94DB7}"/>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5" name="Footer Placeholder 4">
            <a:extLst>
              <a:ext uri="{FF2B5EF4-FFF2-40B4-BE49-F238E27FC236}">
                <a16:creationId xmlns:a16="http://schemas.microsoft.com/office/drawing/2014/main" id="{FDD61A00-5B83-43F9-3654-A4A3FCC46F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7FCDB-8C34-063E-C34C-309BD5AEC06F}"/>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3277869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92E06-321F-0E25-AB6B-8AD696661B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6B66E3-010C-82BE-F6C7-A9A8E93D84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8EAFA0-4D66-C863-5F46-9FAAEC1F2C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A9F567-D39B-88B6-5F3B-CBECAE48AAD1}"/>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6" name="Footer Placeholder 5">
            <a:extLst>
              <a:ext uri="{FF2B5EF4-FFF2-40B4-BE49-F238E27FC236}">
                <a16:creationId xmlns:a16="http://schemas.microsoft.com/office/drawing/2014/main" id="{CD1E2439-E6DC-BCB0-95B0-14A94C61E1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A3654-E65F-7BF9-DBC2-469B5901C14F}"/>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2033838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84510-5427-5611-98CD-CBB13D624D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B8BDC0-1316-1243-8852-1F37069337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E3CBE2-977D-A4C9-4473-2279F3E826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B8E34B-4923-7097-DBFA-73583B0234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C382D9-BD3F-EBD6-8113-991381B80A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091F39-6BB7-4BC4-A2A1-4A92F575C74A}"/>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8" name="Footer Placeholder 7">
            <a:extLst>
              <a:ext uri="{FF2B5EF4-FFF2-40B4-BE49-F238E27FC236}">
                <a16:creationId xmlns:a16="http://schemas.microsoft.com/office/drawing/2014/main" id="{9D775931-586A-A50D-F7BB-1577A0DACA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D224B5-BAC3-8B31-99F2-08135D33BE08}"/>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279716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F41E-7120-FB1F-A887-7C39CC5931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853733-788D-2581-2F15-55355AB3F370}"/>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4" name="Footer Placeholder 3">
            <a:extLst>
              <a:ext uri="{FF2B5EF4-FFF2-40B4-BE49-F238E27FC236}">
                <a16:creationId xmlns:a16="http://schemas.microsoft.com/office/drawing/2014/main" id="{EF33B1B3-015C-CB13-627A-141D87C0F4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9A90D9-6313-1268-D397-893E919ABE49}"/>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1455943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1F1659-55B8-E176-B65F-76E670ED74A7}"/>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3" name="Footer Placeholder 2">
            <a:extLst>
              <a:ext uri="{FF2B5EF4-FFF2-40B4-BE49-F238E27FC236}">
                <a16:creationId xmlns:a16="http://schemas.microsoft.com/office/drawing/2014/main" id="{0A5EF003-66F1-DEA0-872B-2B946F6213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CA20BF-579C-56DA-B8A7-0974196461B3}"/>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2263251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2A45D-0385-E0D9-57F2-D25C46974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D65C1C-75C5-0F41-4F89-73C3125CA2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8CD0C7-6DF8-58E2-8EA0-3FA8257176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EA6EA7-B30F-A6E6-9E8E-99E878DD9738}"/>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6" name="Footer Placeholder 5">
            <a:extLst>
              <a:ext uri="{FF2B5EF4-FFF2-40B4-BE49-F238E27FC236}">
                <a16:creationId xmlns:a16="http://schemas.microsoft.com/office/drawing/2014/main" id="{0AFB19C8-DF88-08A0-0868-4FC7AC17F6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5E6E24-6574-31F7-36B2-C8AB62B17241}"/>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3924874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E18F-C88E-1E6A-7F17-4100391E5F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9230DC-FDBA-DF4C-9100-456FEECC31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A0FBE6-5FEF-6C16-C8B4-382871BCBF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00B83-CC5D-F0CD-FA8A-F42380A16085}"/>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6" name="Footer Placeholder 5">
            <a:extLst>
              <a:ext uri="{FF2B5EF4-FFF2-40B4-BE49-F238E27FC236}">
                <a16:creationId xmlns:a16="http://schemas.microsoft.com/office/drawing/2014/main" id="{A3E1ACB9-A1C3-C619-E671-18AC420A45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76D0D8-CA94-BA03-AEBC-DCA17C93D914}"/>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693181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63AFF-AEC0-F400-5BF5-A5AA3E3F17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E71C1D-BBCE-AAC9-DFD4-9981FBCEC1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536CB4-49C6-B043-AE39-E5AFCC0DDF7F}"/>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5" name="Footer Placeholder 4">
            <a:extLst>
              <a:ext uri="{FF2B5EF4-FFF2-40B4-BE49-F238E27FC236}">
                <a16:creationId xmlns:a16="http://schemas.microsoft.com/office/drawing/2014/main" id="{625838EE-DABF-815F-3341-57B3CC5730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AC6B27-9A42-8297-D1F5-D56E3FE77510}"/>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2398505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309F40-D23F-8CF2-4512-ED3E6EA227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62D9B5-C920-EA80-6010-8B296C9DBD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337B31-FC52-A3E2-0298-99C94E0ACE9E}"/>
              </a:ext>
            </a:extLst>
          </p:cNvPr>
          <p:cNvSpPr>
            <a:spLocks noGrp="1"/>
          </p:cNvSpPr>
          <p:nvPr>
            <p:ph type="dt" sz="half" idx="10"/>
          </p:nvPr>
        </p:nvSpPr>
        <p:spPr/>
        <p:txBody>
          <a:bodyPr/>
          <a:lstStyle/>
          <a:p>
            <a:fld id="{A3781CBE-E3E1-40BB-9D2D-A2C80D869602}" type="datetimeFigureOut">
              <a:rPr lang="en-US" smtClean="0"/>
              <a:t>1/16/2025</a:t>
            </a:fld>
            <a:endParaRPr lang="en-US"/>
          </a:p>
        </p:txBody>
      </p:sp>
      <p:sp>
        <p:nvSpPr>
          <p:cNvPr id="5" name="Footer Placeholder 4">
            <a:extLst>
              <a:ext uri="{FF2B5EF4-FFF2-40B4-BE49-F238E27FC236}">
                <a16:creationId xmlns:a16="http://schemas.microsoft.com/office/drawing/2014/main" id="{20B2E9C0-84ED-79E8-6EF2-0F05DF12B3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90A161-3A21-FE00-094D-206022D100CB}"/>
              </a:ext>
            </a:extLst>
          </p:cNvPr>
          <p:cNvSpPr>
            <a:spLocks noGrp="1"/>
          </p:cNvSpPr>
          <p:nvPr>
            <p:ph type="sldNum" sz="quarter" idx="12"/>
          </p:nvPr>
        </p:nvSpPr>
        <p:spPr/>
        <p:txBody>
          <a:bodyPr/>
          <a:lstStyle/>
          <a:p>
            <a:fld id="{156B906E-7B4A-40AB-A651-E91E185B610B}" type="slidenum">
              <a:rPr lang="en-US" smtClean="0"/>
              <a:t>‹#›</a:t>
            </a:fld>
            <a:endParaRPr lang="en-US"/>
          </a:p>
        </p:txBody>
      </p:sp>
    </p:spTree>
    <p:extLst>
      <p:ext uri="{BB962C8B-B14F-4D97-AF65-F5344CB8AC3E}">
        <p14:creationId xmlns:p14="http://schemas.microsoft.com/office/powerpoint/2010/main" val="1532365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315EF1-122D-9A5C-0C82-832936493F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6DEE78-A0CE-9C0D-6562-8041432872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734517-EBD8-F9A6-0619-98FBF3FCC3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781CBE-E3E1-40BB-9D2D-A2C80D869602}" type="datetimeFigureOut">
              <a:rPr lang="en-US" smtClean="0"/>
              <a:t>1/16/2025</a:t>
            </a:fld>
            <a:endParaRPr lang="en-US"/>
          </a:p>
        </p:txBody>
      </p:sp>
      <p:sp>
        <p:nvSpPr>
          <p:cNvPr id="5" name="Footer Placeholder 4">
            <a:extLst>
              <a:ext uri="{FF2B5EF4-FFF2-40B4-BE49-F238E27FC236}">
                <a16:creationId xmlns:a16="http://schemas.microsoft.com/office/drawing/2014/main" id="{49781247-90B1-B302-6915-EA696A3146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31AF56-55A7-369B-32E4-0ACCADD339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6B906E-7B4A-40AB-A651-E91E185B610B}" type="slidenum">
              <a:rPr lang="en-US" smtClean="0"/>
              <a:t>‹#›</a:t>
            </a:fld>
            <a:endParaRPr lang="en-US"/>
          </a:p>
        </p:txBody>
      </p:sp>
    </p:spTree>
    <p:extLst>
      <p:ext uri="{BB962C8B-B14F-4D97-AF65-F5344CB8AC3E}">
        <p14:creationId xmlns:p14="http://schemas.microsoft.com/office/powerpoint/2010/main" val="2557262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15F15-0C6F-7DF5-8AEB-49E336A33F48}"/>
              </a:ext>
            </a:extLst>
          </p:cNvPr>
          <p:cNvSpPr>
            <a:spLocks noGrp="1"/>
          </p:cNvSpPr>
          <p:nvPr>
            <p:ph type="ctrTitle"/>
          </p:nvPr>
        </p:nvSpPr>
        <p:spPr>
          <a:xfrm>
            <a:off x="1673290" y="3812818"/>
            <a:ext cx="9144000" cy="2387600"/>
          </a:xfrm>
        </p:spPr>
        <p:txBody>
          <a:bodyPr>
            <a:normAutofit/>
          </a:bodyPr>
          <a:lstStyle/>
          <a:p>
            <a:r>
              <a:rPr lang="en-US" sz="4800" b="1" dirty="0">
                <a:solidFill>
                  <a:schemeClr val="accent4">
                    <a:lumMod val="75000"/>
                  </a:schemeClr>
                </a:solidFill>
                <a:effectLst>
                  <a:outerShdw blurRad="38100" dist="38100" dir="2700000" algn="tl">
                    <a:srgbClr val="000000">
                      <a:alpha val="43137"/>
                    </a:srgbClr>
                  </a:outerShdw>
                </a:effectLst>
                <a:latin typeface="Bahnschrift SemiCondensed" panose="020B0502040204020203" pitchFamily="34" charset="0"/>
              </a:rPr>
              <a:t>NGUYÊN TẮC </a:t>
            </a:r>
            <a:br>
              <a:rPr lang="en-US" sz="4800" b="1" dirty="0">
                <a:solidFill>
                  <a:schemeClr val="accent4">
                    <a:lumMod val="75000"/>
                  </a:schemeClr>
                </a:solidFill>
                <a:effectLst>
                  <a:outerShdw blurRad="38100" dist="38100" dir="2700000" algn="tl">
                    <a:srgbClr val="000000">
                      <a:alpha val="43137"/>
                    </a:srgbClr>
                  </a:outerShdw>
                </a:effectLst>
                <a:latin typeface="Bahnschrift SemiCondensed" panose="020B0502040204020203" pitchFamily="34" charset="0"/>
              </a:rPr>
            </a:br>
            <a:r>
              <a:rPr lang="en-US" sz="4800" b="1" dirty="0">
                <a:solidFill>
                  <a:schemeClr val="accent4">
                    <a:lumMod val="75000"/>
                  </a:schemeClr>
                </a:solidFill>
                <a:effectLst>
                  <a:outerShdw blurRad="38100" dist="38100" dir="2700000" algn="tl">
                    <a:srgbClr val="000000">
                      <a:alpha val="43137"/>
                    </a:srgbClr>
                  </a:outerShdw>
                </a:effectLst>
                <a:latin typeface="Bahnschrift SemiCondensed" panose="020B0502040204020203" pitchFamily="34" charset="0"/>
              </a:rPr>
              <a:t>BÁN HÀNG BẤT BIẾN MỌI THỜI ĐẠI</a:t>
            </a:r>
          </a:p>
        </p:txBody>
      </p:sp>
      <p:pic>
        <p:nvPicPr>
          <p:cNvPr id="1026" name="Picture 2" descr="Quản trị bán hàng là gì? Quy trình quản trị trong kinh doanh">
            <a:extLst>
              <a:ext uri="{FF2B5EF4-FFF2-40B4-BE49-F238E27FC236}">
                <a16:creationId xmlns:a16="http://schemas.microsoft.com/office/drawing/2014/main" id="{207C1ACD-20D7-E854-C42A-FC65517D73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8710" y="349914"/>
            <a:ext cx="7620000" cy="4238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856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3345-4618-72F1-DE5E-78F229C2D6E0}"/>
              </a:ext>
            </a:extLst>
          </p:cNvPr>
          <p:cNvSpPr>
            <a:spLocks noGrp="1"/>
          </p:cNvSpPr>
          <p:nvPr>
            <p:ph type="title"/>
          </p:nvPr>
        </p:nvSpPr>
        <p:spPr/>
        <p:txBody>
          <a:bodyPr/>
          <a:lstStyle/>
          <a:p>
            <a:pPr marL="571500" indent="-571500">
              <a:buFont typeface="Wingdings" panose="05000000000000000000" pitchFamily="2" charset="2"/>
              <a:buChar char="v"/>
            </a:pPr>
            <a:r>
              <a:rPr lang="en-US" b="1" i="0" dirty="0" err="1">
                <a:solidFill>
                  <a:schemeClr val="accent4">
                    <a:lumMod val="75000"/>
                  </a:schemeClr>
                </a:solidFill>
                <a:effectLst/>
                <a:latin typeface="Bahnschrift SemiCondensed" panose="020B0502040204020203" pitchFamily="34" charset="0"/>
              </a:rPr>
              <a:t>Bán</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hàng</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là</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gì</a:t>
            </a:r>
            <a:r>
              <a:rPr lang="en-US" b="1" i="0" dirty="0">
                <a:solidFill>
                  <a:schemeClr val="accent4">
                    <a:lumMod val="75000"/>
                  </a:schemeClr>
                </a:solidFill>
                <a:effectLst/>
                <a:latin typeface="Bahnschrift SemiCondensed" panose="020B0502040204020203" pitchFamily="34" charset="0"/>
              </a:rPr>
              <a:t>?</a:t>
            </a:r>
            <a:endParaRPr lang="en-US"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321297BA-73D4-ED6A-47D6-0BEF264BD13D}"/>
              </a:ext>
            </a:extLst>
          </p:cNvPr>
          <p:cNvSpPr>
            <a:spLocks noGrp="1"/>
          </p:cNvSpPr>
          <p:nvPr>
            <p:ph idx="1"/>
          </p:nvPr>
        </p:nvSpPr>
        <p:spPr>
          <a:xfrm>
            <a:off x="838200" y="1825625"/>
            <a:ext cx="6728927" cy="4351338"/>
          </a:xfrm>
        </p:spPr>
        <p:txBody>
          <a:bodyPr>
            <a:normAutofit lnSpcReduction="10000"/>
          </a:bodyPr>
          <a:lstStyle/>
          <a:p>
            <a:pPr algn="just">
              <a:lnSpc>
                <a:spcPct val="150000"/>
              </a:lnSpc>
            </a:pPr>
            <a:r>
              <a:rPr lang="vi-VN" sz="1800" b="0" i="0" dirty="0">
                <a:solidFill>
                  <a:srgbClr val="333333"/>
                </a:solidFill>
                <a:effectLst/>
                <a:latin typeface="Arial" panose="020B0604020202020204" pitchFamily="34" charset="0"/>
              </a:rPr>
              <a:t>Bán hàng là quá trình mà người bán tìm hiểu, tư vấn, đáp ứng nhu cầu, mong muốn của người mua nhằm đạt được lợi ích thỏa đáng từ 2 phía. </a:t>
            </a:r>
            <a:endParaRPr lang="en-US" sz="1800" b="0" i="0" dirty="0">
              <a:solidFill>
                <a:srgbClr val="333333"/>
              </a:solidFill>
              <a:effectLst/>
              <a:latin typeface="Arial" panose="020B0604020202020204" pitchFamily="34" charset="0"/>
            </a:endParaRPr>
          </a:p>
          <a:p>
            <a:pPr algn="just">
              <a:lnSpc>
                <a:spcPct val="150000"/>
              </a:lnSpc>
            </a:pPr>
            <a:r>
              <a:rPr lang="vi-VN" sz="1800" b="0" i="0" dirty="0">
                <a:solidFill>
                  <a:srgbClr val="333333"/>
                </a:solidFill>
                <a:effectLst/>
                <a:latin typeface="Arial" panose="020B0604020202020204" pitchFamily="34" charset="0"/>
              </a:rPr>
              <a:t>Hoạt động bán hàng được xem là nền tảng trong kinh doanh, với mục đích xây dựng cuộc gặp gỡ, đàm phán trao đổi sản phẩm, quyền lợi một cách hiệu quả.</a:t>
            </a:r>
          </a:p>
          <a:p>
            <a:pPr algn="just">
              <a:lnSpc>
                <a:spcPct val="150000"/>
              </a:lnSpc>
            </a:pPr>
            <a:r>
              <a:rPr lang="vi-VN" sz="1800" b="0" i="0" dirty="0">
                <a:solidFill>
                  <a:srgbClr val="333333"/>
                </a:solidFill>
                <a:effectLst/>
                <a:latin typeface="Arial" panose="020B0604020202020204" pitchFamily="34" charset="0"/>
              </a:rPr>
              <a:t>Nói một cách đơn giản, bất kỳ hoạt động nào có liên quan đến việc chuyển quyền sở hữu sản phẩm, hàng hóa từ bên bán cho bên mua để lấy tiền hay một thứ tài sản có giá trị tương đương.</a:t>
            </a:r>
          </a:p>
          <a:p>
            <a:pPr>
              <a:lnSpc>
                <a:spcPct val="150000"/>
              </a:lnSpc>
            </a:pPr>
            <a:endParaRPr lang="en-US" sz="1800" dirty="0"/>
          </a:p>
        </p:txBody>
      </p:sp>
      <p:pic>
        <p:nvPicPr>
          <p:cNvPr id="2050" name="Picture 2" descr="9 Bước lập kế hoạch bán hàng chi tiết và hiệu quả 2025">
            <a:extLst>
              <a:ext uri="{FF2B5EF4-FFF2-40B4-BE49-F238E27FC236}">
                <a16:creationId xmlns:a16="http://schemas.microsoft.com/office/drawing/2014/main" id="{F0C4DD45-CCC6-5D39-2595-DD3CD9765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9682" y="2867879"/>
            <a:ext cx="4242318" cy="2227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37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C6C7-AF97-9E58-64ED-C813CB30B5E2}"/>
              </a:ext>
            </a:extLst>
          </p:cNvPr>
          <p:cNvSpPr>
            <a:spLocks noGrp="1"/>
          </p:cNvSpPr>
          <p:nvPr>
            <p:ph type="title"/>
          </p:nvPr>
        </p:nvSpPr>
        <p:spPr/>
        <p:txBody>
          <a:bodyPr/>
          <a:lstStyle/>
          <a:p>
            <a:pPr marL="571500" indent="-571500">
              <a:buFont typeface="Wingdings" panose="05000000000000000000" pitchFamily="2" charset="2"/>
              <a:buChar char="v"/>
            </a:pPr>
            <a:r>
              <a:rPr lang="en-US" b="1" dirty="0" err="1">
                <a:solidFill>
                  <a:schemeClr val="accent4">
                    <a:lumMod val="75000"/>
                  </a:schemeClr>
                </a:solidFill>
                <a:latin typeface="Bahnschrift SemiCondensed" panose="020B0502040204020203" pitchFamily="34" charset="0"/>
              </a:rPr>
              <a:t>Đặc</a:t>
            </a:r>
            <a:r>
              <a:rPr lang="en-US" b="1" dirty="0">
                <a:solidFill>
                  <a:schemeClr val="accent4">
                    <a:lumMod val="75000"/>
                  </a:schemeClr>
                </a:solidFill>
                <a:latin typeface="Bahnschrift SemiCondensed" panose="020B0502040204020203" pitchFamily="34" charset="0"/>
              </a:rPr>
              <a:t> </a:t>
            </a:r>
            <a:r>
              <a:rPr lang="en-US" b="1" dirty="0" err="1">
                <a:solidFill>
                  <a:schemeClr val="accent4">
                    <a:lumMod val="75000"/>
                  </a:schemeClr>
                </a:solidFill>
                <a:latin typeface="Bahnschrift SemiCondensed" panose="020B0502040204020203" pitchFamily="34" charset="0"/>
              </a:rPr>
              <a:t>điểm</a:t>
            </a:r>
            <a:r>
              <a:rPr lang="en-US" b="1" dirty="0">
                <a:solidFill>
                  <a:schemeClr val="accent4">
                    <a:lumMod val="75000"/>
                  </a:schemeClr>
                </a:solidFill>
                <a:latin typeface="Bahnschrift SemiCondensed" panose="020B0502040204020203" pitchFamily="34" charset="0"/>
              </a:rPr>
              <a:t> </a:t>
            </a:r>
            <a:r>
              <a:rPr lang="en-US" b="1" dirty="0" err="1">
                <a:solidFill>
                  <a:schemeClr val="accent4">
                    <a:lumMod val="75000"/>
                  </a:schemeClr>
                </a:solidFill>
                <a:latin typeface="Bahnschrift SemiCondensed" panose="020B0502040204020203" pitchFamily="34" charset="0"/>
              </a:rPr>
              <a:t>của</a:t>
            </a:r>
            <a:r>
              <a:rPr lang="en-US" b="1" dirty="0">
                <a:solidFill>
                  <a:schemeClr val="accent4">
                    <a:lumMod val="75000"/>
                  </a:schemeClr>
                </a:solidFill>
                <a:latin typeface="Bahnschrift SemiCondensed" panose="020B0502040204020203" pitchFamily="34" charset="0"/>
              </a:rPr>
              <a:t> </a:t>
            </a:r>
            <a:r>
              <a:rPr lang="en-US" b="1" dirty="0" err="1">
                <a:solidFill>
                  <a:schemeClr val="accent4">
                    <a:lumMod val="75000"/>
                  </a:schemeClr>
                </a:solidFill>
                <a:latin typeface="Bahnschrift SemiCondensed" panose="020B0502040204020203" pitchFamily="34" charset="0"/>
              </a:rPr>
              <a:t>bán</a:t>
            </a:r>
            <a:r>
              <a:rPr lang="en-US" b="1" dirty="0">
                <a:solidFill>
                  <a:schemeClr val="accent4">
                    <a:lumMod val="75000"/>
                  </a:schemeClr>
                </a:solidFill>
                <a:latin typeface="Bahnschrift SemiCondensed" panose="020B0502040204020203" pitchFamily="34" charset="0"/>
              </a:rPr>
              <a:t> </a:t>
            </a:r>
            <a:r>
              <a:rPr lang="en-US" b="1" dirty="0" err="1">
                <a:solidFill>
                  <a:schemeClr val="accent4">
                    <a:lumMod val="75000"/>
                  </a:schemeClr>
                </a:solidFill>
                <a:latin typeface="Bahnschrift SemiCondensed" panose="020B0502040204020203" pitchFamily="34" charset="0"/>
              </a:rPr>
              <a:t>hàng</a:t>
            </a:r>
            <a:endParaRPr lang="en-US"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6AB0B56E-88C8-3755-6BAD-775D92ED943F}"/>
              </a:ext>
            </a:extLst>
          </p:cNvPr>
          <p:cNvSpPr>
            <a:spLocks noGrp="1"/>
          </p:cNvSpPr>
          <p:nvPr>
            <p:ph idx="1"/>
          </p:nvPr>
        </p:nvSpPr>
        <p:spPr>
          <a:xfrm>
            <a:off x="4282752" y="1690688"/>
            <a:ext cx="7518917" cy="4351338"/>
          </a:xfrm>
        </p:spPr>
        <p:txBody>
          <a:bodyPr>
            <a:noAutofit/>
          </a:bodyPr>
          <a:lstStyle/>
          <a:p>
            <a:pPr marL="0" indent="0">
              <a:lnSpc>
                <a:spcPct val="170000"/>
              </a:lnSpc>
              <a:buNone/>
            </a:pPr>
            <a:r>
              <a:rPr lang="vi-VN" sz="1000" dirty="0"/>
              <a:t>Bán hàng là một hoạt động kinh doanh quan trọng, đóng vai trò trung gian giữa người sản xuất và người tiêu dùng, giúp cho hàng hóa lưu thông và tạo ra lợi nhuận cho doanh nghiệp. Hoạt động bán hàng có những đặc điểm sau:</a:t>
            </a:r>
          </a:p>
          <a:p>
            <a:pPr>
              <a:lnSpc>
                <a:spcPct val="170000"/>
              </a:lnSpc>
            </a:pPr>
            <a:r>
              <a:rPr lang="vi-VN" sz="1000" dirty="0"/>
              <a:t>Việc mua bán diễn ra giữa hai hoặc nhiều bên.</a:t>
            </a:r>
          </a:p>
          <a:p>
            <a:pPr>
              <a:lnSpc>
                <a:spcPct val="170000"/>
              </a:lnSpc>
            </a:pPr>
            <a:r>
              <a:rPr lang="vi-VN" sz="1000" dirty="0"/>
              <a:t>Bán hàng bao gồm người bán và người mua.</a:t>
            </a:r>
          </a:p>
          <a:p>
            <a:pPr>
              <a:lnSpc>
                <a:spcPct val="170000"/>
              </a:lnSpc>
            </a:pPr>
            <a:r>
              <a:rPr lang="vi-VN" sz="1000" dirty="0"/>
              <a:t>Hàng hóa và dịch vụ được trao đổi lấy tài sản và tiền.</a:t>
            </a:r>
          </a:p>
          <a:p>
            <a:pPr>
              <a:lnSpc>
                <a:spcPct val="170000"/>
              </a:lnSpc>
            </a:pPr>
            <a:r>
              <a:rPr lang="vi-VN" sz="1000" dirty="0"/>
              <a:t>Việc bán được coi là một thỏa thuận trên thị trường tài chính. Tại đây, bảo đảm được giao cho người mua theo khoản bồi thường đã thỏa thuận.</a:t>
            </a:r>
          </a:p>
          <a:p>
            <a:pPr>
              <a:lnSpc>
                <a:spcPct val="170000"/>
              </a:lnSpc>
            </a:pPr>
            <a:r>
              <a:rPr lang="vi-VN" sz="1000" dirty="0"/>
              <a:t>Việc mua bán liên quan đến việc chuyển giao tài sản từ bên này sang bên khác.</a:t>
            </a:r>
          </a:p>
          <a:p>
            <a:pPr>
              <a:lnSpc>
                <a:spcPct val="170000"/>
              </a:lnSpc>
            </a:pPr>
            <a:r>
              <a:rPr lang="vi-VN" sz="1000" dirty="0"/>
              <a:t>Bất kỳ hàng hóa và dịch vụ nào nhận được mà không trao đổi tiền hay tài sản được coi là quyên góp chứ không phải hoạt động bán hàng.</a:t>
            </a:r>
          </a:p>
          <a:p>
            <a:pPr>
              <a:lnSpc>
                <a:spcPct val="170000"/>
              </a:lnSpc>
            </a:pPr>
            <a:r>
              <a:rPr lang="vi-VN" sz="1000" dirty="0"/>
              <a:t>Hoạt động bán hàng đòi hỏi người bán phải chủ động tìm kiếm khách hàng, giới thiệu sản phẩm hoặc dịch vụ, thuyết phục khách hàng mua hàng.</a:t>
            </a:r>
          </a:p>
          <a:p>
            <a:pPr>
              <a:lnSpc>
                <a:spcPct val="170000"/>
              </a:lnSpc>
            </a:pPr>
            <a:r>
              <a:rPr lang="vi-VN" sz="1000" dirty="0"/>
              <a:t>Hoạt động bán hàng diễn ra trong môi trường cạnh tranh, đòi hỏi người bán phải có những chiến lược và kỹ năng bán hàng hiệu quả để vượt qua đối thủ của mình trên thị trường.</a:t>
            </a:r>
          </a:p>
        </p:txBody>
      </p:sp>
      <p:pic>
        <p:nvPicPr>
          <p:cNvPr id="3074" name="Picture 2" descr="Kỹ năng bán hàng hiệu quả - Tổ chức Giáo dục Đào tạo PTI">
            <a:extLst>
              <a:ext uri="{FF2B5EF4-FFF2-40B4-BE49-F238E27FC236}">
                <a16:creationId xmlns:a16="http://schemas.microsoft.com/office/drawing/2014/main" id="{77DC703B-FFD1-DB49-5C68-83E37AB2D1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712" y="2920481"/>
            <a:ext cx="3316514" cy="2239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46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5076B-6786-393A-78C2-090A8223E01F}"/>
              </a:ext>
            </a:extLst>
          </p:cNvPr>
          <p:cNvSpPr>
            <a:spLocks noGrp="1"/>
          </p:cNvSpPr>
          <p:nvPr>
            <p:ph type="title"/>
          </p:nvPr>
        </p:nvSpPr>
        <p:spPr/>
        <p:txBody>
          <a:bodyPr/>
          <a:lstStyle/>
          <a:p>
            <a:pPr marL="571500" indent="-571500">
              <a:buFont typeface="Wingdings" panose="05000000000000000000" pitchFamily="2" charset="2"/>
              <a:buChar char="v"/>
            </a:pPr>
            <a:r>
              <a:rPr lang="en-US" b="1" i="0" dirty="0" err="1">
                <a:solidFill>
                  <a:schemeClr val="accent4">
                    <a:lumMod val="75000"/>
                  </a:schemeClr>
                </a:solidFill>
                <a:effectLst/>
                <a:latin typeface="Bahnschrift SemiCondensed" panose="020B0502040204020203" pitchFamily="34" charset="0"/>
              </a:rPr>
              <a:t>Vai</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trò</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của</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hoạt</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động</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bán</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hàng</a:t>
            </a:r>
            <a:endParaRPr lang="en-US"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02DCEFB7-9DE2-9DEC-BEE0-3780F93D35E3}"/>
              </a:ext>
            </a:extLst>
          </p:cNvPr>
          <p:cNvSpPr>
            <a:spLocks noGrp="1"/>
          </p:cNvSpPr>
          <p:nvPr>
            <p:ph idx="1"/>
          </p:nvPr>
        </p:nvSpPr>
        <p:spPr>
          <a:xfrm>
            <a:off x="931506" y="2405710"/>
            <a:ext cx="5777205" cy="2046580"/>
          </a:xfrm>
        </p:spPr>
        <p:txBody>
          <a:bodyPr>
            <a:normAutofit/>
          </a:bodyPr>
          <a:lstStyle/>
          <a:p>
            <a:pPr algn="just"/>
            <a:r>
              <a:rPr lang="vi-VN" sz="1800" i="0" dirty="0">
                <a:solidFill>
                  <a:srgbClr val="333333"/>
                </a:solidFill>
                <a:effectLst/>
                <a:latin typeface="Arial" panose="020B0604020202020204" pitchFamily="34" charset="0"/>
              </a:rPr>
              <a:t>Tạo ra doanh thu và lợi nhuận cho doanh nghiệp</a:t>
            </a:r>
          </a:p>
          <a:p>
            <a:pPr algn="just"/>
            <a:r>
              <a:rPr lang="vi-VN" sz="1800" i="0" dirty="0">
                <a:solidFill>
                  <a:srgbClr val="333333"/>
                </a:solidFill>
                <a:effectLst/>
                <a:latin typeface="Arial" panose="020B0604020202020204" pitchFamily="34" charset="0"/>
              </a:rPr>
              <a:t>Xây dựng mối quan hệ với khách hàng</a:t>
            </a:r>
            <a:endParaRPr lang="en-US" sz="1800" i="0" dirty="0">
              <a:solidFill>
                <a:srgbClr val="333333"/>
              </a:solidFill>
              <a:effectLst/>
              <a:latin typeface="Arial" panose="020B0604020202020204" pitchFamily="34" charset="0"/>
            </a:endParaRPr>
          </a:p>
          <a:p>
            <a:pPr algn="just"/>
            <a:r>
              <a:rPr lang="en-US" sz="1800" i="0" dirty="0" err="1">
                <a:solidFill>
                  <a:srgbClr val="333333"/>
                </a:solidFill>
                <a:effectLst/>
                <a:latin typeface="Arial" panose="020B0604020202020204" pitchFamily="34" charset="0"/>
              </a:rPr>
              <a:t>Thúc</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đẩy</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sự</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phát</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triển</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của</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nền</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kinh</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tế</a:t>
            </a:r>
            <a:endParaRPr lang="en-US" sz="1800" i="0" dirty="0">
              <a:solidFill>
                <a:srgbClr val="333333"/>
              </a:solidFill>
              <a:effectLst/>
              <a:latin typeface="Arial" panose="020B0604020202020204" pitchFamily="34" charset="0"/>
            </a:endParaRPr>
          </a:p>
          <a:p>
            <a:pPr algn="just"/>
            <a:r>
              <a:rPr lang="en-US" sz="1800" i="0" dirty="0" err="1">
                <a:solidFill>
                  <a:srgbClr val="333333"/>
                </a:solidFill>
                <a:effectLst/>
                <a:latin typeface="Arial" panose="020B0604020202020204" pitchFamily="34" charset="0"/>
              </a:rPr>
              <a:t>Bán</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hàng</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giúp</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phục</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vụ</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nhu</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cầu</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xã</a:t>
            </a:r>
            <a:r>
              <a:rPr lang="en-US" sz="1800" i="0" dirty="0">
                <a:solidFill>
                  <a:srgbClr val="333333"/>
                </a:solidFill>
                <a:effectLst/>
                <a:latin typeface="Arial" panose="020B0604020202020204" pitchFamily="34" charset="0"/>
              </a:rPr>
              <a:t> </a:t>
            </a:r>
            <a:r>
              <a:rPr lang="en-US" sz="1800" i="0" dirty="0" err="1">
                <a:solidFill>
                  <a:srgbClr val="333333"/>
                </a:solidFill>
                <a:effectLst/>
                <a:latin typeface="Arial" panose="020B0604020202020204" pitchFamily="34" charset="0"/>
              </a:rPr>
              <a:t>hội</a:t>
            </a:r>
            <a:r>
              <a:rPr lang="en-US" sz="1800" i="0" dirty="0">
                <a:solidFill>
                  <a:srgbClr val="333333"/>
                </a:solidFill>
                <a:effectLst/>
                <a:latin typeface="Arial" panose="020B0604020202020204" pitchFamily="34" charset="0"/>
              </a:rPr>
              <a:t>  </a:t>
            </a:r>
          </a:p>
          <a:p>
            <a:pPr marL="0" indent="0" algn="just">
              <a:buNone/>
            </a:pPr>
            <a:endParaRPr lang="vi-VN" sz="1800" i="0" dirty="0">
              <a:solidFill>
                <a:srgbClr val="333333"/>
              </a:solidFill>
              <a:effectLst/>
              <a:latin typeface="Arial" panose="020B0604020202020204" pitchFamily="34" charset="0"/>
            </a:endParaRPr>
          </a:p>
          <a:p>
            <a:endParaRPr lang="en-US" sz="1800" dirty="0"/>
          </a:p>
        </p:txBody>
      </p:sp>
      <p:pic>
        <p:nvPicPr>
          <p:cNvPr id="4098" name="Picture 2" descr="Kỹ năng bán hàng - Kỹ năng mềm bắt buộc cho mọi vị trí kinh doanh">
            <a:extLst>
              <a:ext uri="{FF2B5EF4-FFF2-40B4-BE49-F238E27FC236}">
                <a16:creationId xmlns:a16="http://schemas.microsoft.com/office/drawing/2014/main" id="{79197162-1FD0-62DA-526B-C885193B1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1633" y="2996616"/>
            <a:ext cx="5807373" cy="3629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56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B09FD-F739-973C-C49D-F385BE106BCB}"/>
              </a:ext>
            </a:extLst>
          </p:cNvPr>
          <p:cNvSpPr>
            <a:spLocks noGrp="1"/>
          </p:cNvSpPr>
          <p:nvPr>
            <p:ph type="title"/>
          </p:nvPr>
        </p:nvSpPr>
        <p:spPr>
          <a:xfrm>
            <a:off x="1342053" y="794333"/>
            <a:ext cx="10515600" cy="1325563"/>
          </a:xfrm>
        </p:spPr>
        <p:txBody>
          <a:bodyPr/>
          <a:lstStyle/>
          <a:p>
            <a:r>
              <a:rPr lang="en-US" b="1" dirty="0">
                <a:solidFill>
                  <a:schemeClr val="accent2">
                    <a:lumMod val="75000"/>
                  </a:schemeClr>
                </a:solidFill>
                <a:latin typeface="Bahnschrift SemiCondensed" panose="020B0502040204020203" pitchFamily="34" charset="0"/>
              </a:rPr>
              <a:t>10 NGUYÊN TẮC BẤT BIẾN TRONG BÁN HÀNG</a:t>
            </a:r>
          </a:p>
        </p:txBody>
      </p:sp>
      <p:pic>
        <p:nvPicPr>
          <p:cNvPr id="5" name="Picture 4">
            <a:extLst>
              <a:ext uri="{FF2B5EF4-FFF2-40B4-BE49-F238E27FC236}">
                <a16:creationId xmlns:a16="http://schemas.microsoft.com/office/drawing/2014/main" id="{25CA2854-7742-40B2-FCB6-001B71321A57}"/>
              </a:ext>
            </a:extLst>
          </p:cNvPr>
          <p:cNvPicPr>
            <a:picLocks noChangeAspect="1"/>
          </p:cNvPicPr>
          <p:nvPr/>
        </p:nvPicPr>
        <p:blipFill rotWithShape="1">
          <a:blip r:embed="rId2"/>
          <a:srcRect t="34430"/>
          <a:stretch/>
        </p:blipFill>
        <p:spPr>
          <a:xfrm>
            <a:off x="2361422" y="2560636"/>
            <a:ext cx="7299394" cy="2584582"/>
          </a:xfrm>
          <a:prstGeom prst="rect">
            <a:avLst/>
          </a:prstGeom>
          <a:effectLst>
            <a:glow rad="228600">
              <a:schemeClr val="accent4">
                <a:satMod val="175000"/>
                <a:alpha val="40000"/>
              </a:schemeClr>
            </a:glow>
          </a:effectLst>
        </p:spPr>
      </p:pic>
    </p:spTree>
    <p:extLst>
      <p:ext uri="{BB962C8B-B14F-4D97-AF65-F5344CB8AC3E}">
        <p14:creationId xmlns:p14="http://schemas.microsoft.com/office/powerpoint/2010/main" val="3715387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F0C92-5AEF-B462-3818-70746B29DD6C}"/>
              </a:ext>
            </a:extLst>
          </p:cNvPr>
          <p:cNvSpPr>
            <a:spLocks noGrp="1"/>
          </p:cNvSpPr>
          <p:nvPr>
            <p:ph type="title"/>
          </p:nvPr>
        </p:nvSpPr>
        <p:spPr/>
        <p:txBody>
          <a:bodyPr>
            <a:normAutofit/>
          </a:bodyPr>
          <a:lstStyle/>
          <a:p>
            <a:r>
              <a:rPr lang="en-US" sz="3600" b="1" i="0" dirty="0" err="1">
                <a:solidFill>
                  <a:schemeClr val="accent2">
                    <a:lumMod val="75000"/>
                  </a:schemeClr>
                </a:solidFill>
                <a:effectLst/>
                <a:latin typeface="Bahnschrift SemiCondensed" panose="020B0502040204020203" pitchFamily="34" charset="0"/>
              </a:rPr>
              <a:t>Nguyên</a:t>
            </a:r>
            <a:r>
              <a:rPr lang="en-US" sz="3600" b="1" i="0" dirty="0">
                <a:solidFill>
                  <a:schemeClr val="accent2">
                    <a:lumMod val="75000"/>
                  </a:schemeClr>
                </a:solidFill>
                <a:effectLst/>
                <a:latin typeface="Bahnschrift SemiCondensed" panose="020B0502040204020203" pitchFamily="34" charset="0"/>
              </a:rPr>
              <a:t> </a:t>
            </a:r>
            <a:r>
              <a:rPr lang="en-US" sz="3600" b="1" i="0" dirty="0" err="1">
                <a:solidFill>
                  <a:schemeClr val="accent2">
                    <a:lumMod val="75000"/>
                  </a:schemeClr>
                </a:solidFill>
                <a:effectLst/>
                <a:latin typeface="Bahnschrift SemiCondensed" panose="020B0502040204020203" pitchFamily="34" charset="0"/>
              </a:rPr>
              <a:t>tắc</a:t>
            </a:r>
            <a:r>
              <a:rPr lang="en-US" sz="3600" b="1" i="0" dirty="0">
                <a:solidFill>
                  <a:schemeClr val="accent2">
                    <a:lumMod val="75000"/>
                  </a:schemeClr>
                </a:solidFill>
                <a:effectLst/>
                <a:latin typeface="Bahnschrift SemiCondensed" panose="020B0502040204020203" pitchFamily="34" charset="0"/>
              </a:rPr>
              <a:t> </a:t>
            </a:r>
            <a:r>
              <a:rPr lang="en-US" sz="3600" b="1" i="0" dirty="0" err="1">
                <a:solidFill>
                  <a:schemeClr val="accent2">
                    <a:lumMod val="75000"/>
                  </a:schemeClr>
                </a:solidFill>
                <a:effectLst/>
                <a:latin typeface="Bahnschrift SemiCondensed" panose="020B0502040204020203" pitchFamily="34" charset="0"/>
              </a:rPr>
              <a:t>số</a:t>
            </a:r>
            <a:r>
              <a:rPr lang="en-US" sz="3600" b="1" i="0" dirty="0">
                <a:solidFill>
                  <a:schemeClr val="accent2">
                    <a:lumMod val="75000"/>
                  </a:schemeClr>
                </a:solidFill>
                <a:effectLst/>
                <a:latin typeface="Bahnschrift SemiCondensed" panose="020B0502040204020203" pitchFamily="34" charset="0"/>
              </a:rPr>
              <a:t> 1: </a:t>
            </a:r>
            <a:r>
              <a:rPr lang="en-US" sz="3600" b="1" i="0" dirty="0" err="1">
                <a:solidFill>
                  <a:schemeClr val="accent2">
                    <a:lumMod val="75000"/>
                  </a:schemeClr>
                </a:solidFill>
                <a:effectLst/>
                <a:latin typeface="Bahnschrift SemiCondensed" panose="020B0502040204020203" pitchFamily="34" charset="0"/>
              </a:rPr>
              <a:t>Cá</a:t>
            </a:r>
            <a:r>
              <a:rPr lang="en-US" sz="3600" b="1" i="0" dirty="0">
                <a:solidFill>
                  <a:schemeClr val="accent2">
                    <a:lumMod val="75000"/>
                  </a:schemeClr>
                </a:solidFill>
                <a:effectLst/>
                <a:latin typeface="Bahnschrift SemiCondensed" panose="020B0502040204020203" pitchFamily="34" charset="0"/>
              </a:rPr>
              <a:t> </a:t>
            </a:r>
            <a:r>
              <a:rPr lang="en-US" sz="3600" b="1" i="0" dirty="0" err="1">
                <a:solidFill>
                  <a:schemeClr val="accent2">
                    <a:lumMod val="75000"/>
                  </a:schemeClr>
                </a:solidFill>
                <a:effectLst/>
                <a:latin typeface="Bahnschrift SemiCondensed" panose="020B0502040204020203" pitchFamily="34" charset="0"/>
              </a:rPr>
              <a:t>nhân</a:t>
            </a:r>
            <a:r>
              <a:rPr lang="en-US" sz="3600" b="1" i="0" dirty="0">
                <a:solidFill>
                  <a:schemeClr val="accent2">
                    <a:lumMod val="75000"/>
                  </a:schemeClr>
                </a:solidFill>
                <a:effectLst/>
                <a:latin typeface="Bahnschrift SemiCondensed" panose="020B0502040204020203" pitchFamily="34" charset="0"/>
              </a:rPr>
              <a:t> </a:t>
            </a:r>
            <a:r>
              <a:rPr lang="en-US" sz="3600" b="1" i="0" dirty="0" err="1">
                <a:solidFill>
                  <a:schemeClr val="accent2">
                    <a:lumMod val="75000"/>
                  </a:schemeClr>
                </a:solidFill>
                <a:effectLst/>
                <a:latin typeface="Bahnschrift SemiCondensed" panose="020B0502040204020203" pitchFamily="34" charset="0"/>
              </a:rPr>
              <a:t>hóa</a:t>
            </a:r>
            <a:r>
              <a:rPr lang="en-US" sz="3600" b="1" i="0" dirty="0">
                <a:solidFill>
                  <a:schemeClr val="accent2">
                    <a:lumMod val="75000"/>
                  </a:schemeClr>
                </a:solidFill>
                <a:effectLst/>
                <a:latin typeface="Bahnschrift SemiCondensed" panose="020B0502040204020203" pitchFamily="34" charset="0"/>
              </a:rPr>
              <a:t> </a:t>
            </a:r>
            <a:r>
              <a:rPr lang="en-US" sz="3600" b="1" i="0" dirty="0" err="1">
                <a:solidFill>
                  <a:schemeClr val="accent2">
                    <a:lumMod val="75000"/>
                  </a:schemeClr>
                </a:solidFill>
                <a:effectLst/>
                <a:latin typeface="Bahnschrift SemiCondensed" panose="020B0502040204020203" pitchFamily="34" charset="0"/>
              </a:rPr>
              <a:t>mong</a:t>
            </a:r>
            <a:r>
              <a:rPr lang="en-US" sz="3600" b="1" i="0" dirty="0">
                <a:solidFill>
                  <a:schemeClr val="accent2">
                    <a:lumMod val="75000"/>
                  </a:schemeClr>
                </a:solidFill>
                <a:effectLst/>
                <a:latin typeface="Bahnschrift SemiCondensed" panose="020B0502040204020203" pitchFamily="34" charset="0"/>
              </a:rPr>
              <a:t> </a:t>
            </a:r>
            <a:r>
              <a:rPr lang="en-US" sz="3600" b="1" i="0" dirty="0" err="1">
                <a:solidFill>
                  <a:schemeClr val="accent2">
                    <a:lumMod val="75000"/>
                  </a:schemeClr>
                </a:solidFill>
                <a:effectLst/>
                <a:latin typeface="Bahnschrift SemiCondensed" panose="020B0502040204020203" pitchFamily="34" charset="0"/>
              </a:rPr>
              <a:t>muốn</a:t>
            </a:r>
            <a:r>
              <a:rPr lang="en-US" sz="3600" b="1" i="0" dirty="0">
                <a:solidFill>
                  <a:schemeClr val="accent2">
                    <a:lumMod val="75000"/>
                  </a:schemeClr>
                </a:solidFill>
                <a:effectLst/>
                <a:latin typeface="Bahnschrift SemiCondensed" panose="020B0502040204020203" pitchFamily="34" charset="0"/>
              </a:rPr>
              <a:t> </a:t>
            </a:r>
            <a:r>
              <a:rPr lang="en-US" sz="3600" b="1" i="0" dirty="0" err="1">
                <a:solidFill>
                  <a:schemeClr val="accent2">
                    <a:lumMod val="75000"/>
                  </a:schemeClr>
                </a:solidFill>
                <a:effectLst/>
                <a:latin typeface="Bahnschrift SemiCondensed" panose="020B0502040204020203" pitchFamily="34" charset="0"/>
              </a:rPr>
              <a:t>của</a:t>
            </a:r>
            <a:r>
              <a:rPr lang="en-US" sz="3600" b="1" i="0" dirty="0">
                <a:solidFill>
                  <a:schemeClr val="accent2">
                    <a:lumMod val="75000"/>
                  </a:schemeClr>
                </a:solidFill>
                <a:effectLst/>
                <a:latin typeface="Bahnschrift SemiCondensed" panose="020B0502040204020203" pitchFamily="34" charset="0"/>
              </a:rPr>
              <a:t> </a:t>
            </a:r>
            <a:r>
              <a:rPr lang="en-US" sz="3600" b="1" i="0" dirty="0" err="1">
                <a:solidFill>
                  <a:schemeClr val="accent2">
                    <a:lumMod val="75000"/>
                  </a:schemeClr>
                </a:solidFill>
                <a:effectLst/>
                <a:latin typeface="Bahnschrift SemiCondensed" panose="020B0502040204020203" pitchFamily="34" charset="0"/>
              </a:rPr>
              <a:t>khách</a:t>
            </a:r>
            <a:r>
              <a:rPr lang="en-US" sz="3600" b="1" i="0" dirty="0">
                <a:solidFill>
                  <a:schemeClr val="accent2">
                    <a:lumMod val="75000"/>
                  </a:schemeClr>
                </a:solidFill>
                <a:effectLst/>
                <a:latin typeface="Bahnschrift SemiCondensed" panose="020B0502040204020203" pitchFamily="34" charset="0"/>
              </a:rPr>
              <a:t> </a:t>
            </a:r>
            <a:r>
              <a:rPr lang="en-US" sz="3600" b="1" i="0" dirty="0" err="1">
                <a:solidFill>
                  <a:schemeClr val="accent2">
                    <a:lumMod val="75000"/>
                  </a:schemeClr>
                </a:solidFill>
                <a:effectLst/>
                <a:latin typeface="Bahnschrift SemiCondensed" panose="020B0502040204020203" pitchFamily="34" charset="0"/>
              </a:rPr>
              <a:t>hàng</a:t>
            </a:r>
            <a:endParaRPr lang="en-US" sz="3600" b="1" dirty="0">
              <a:solidFill>
                <a:schemeClr val="accent2">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4CFB1DE5-B6DF-94FC-9841-AFED918543EC}"/>
              </a:ext>
            </a:extLst>
          </p:cNvPr>
          <p:cNvSpPr>
            <a:spLocks noGrp="1"/>
          </p:cNvSpPr>
          <p:nvPr>
            <p:ph idx="1"/>
          </p:nvPr>
        </p:nvSpPr>
        <p:spPr>
          <a:xfrm>
            <a:off x="989045" y="1825625"/>
            <a:ext cx="10364755" cy="4351338"/>
          </a:xfrm>
        </p:spPr>
        <p:txBody>
          <a:bodyPr>
            <a:normAutofit/>
          </a:bodyPr>
          <a:lstStyle/>
          <a:p>
            <a:pPr algn="just">
              <a:lnSpc>
                <a:spcPct val="150000"/>
              </a:lnSpc>
            </a:pPr>
            <a:r>
              <a:rPr lang="vi-VN" sz="1800" b="0" i="0" dirty="0">
                <a:solidFill>
                  <a:srgbClr val="0F2A51"/>
                </a:solidFill>
                <a:effectLst/>
                <a:latin typeface="Roboto" panose="02000000000000000000" pitchFamily="2" charset="0"/>
              </a:rPr>
              <a:t>Chẳng có gì ngạc nhiên khi bất cứ ở đâu, bất cứ khi nào, khách hàng luôn muốn những sản phẩm và dịch vụ mà họ bỏ tiền ra phải phù hợp với các yêu cầu của mình.</a:t>
            </a:r>
          </a:p>
          <a:p>
            <a:pPr algn="just">
              <a:lnSpc>
                <a:spcPct val="150000"/>
              </a:lnSpc>
            </a:pPr>
            <a:r>
              <a:rPr lang="en-US" sz="1800" b="0" i="0" dirty="0">
                <a:solidFill>
                  <a:srgbClr val="0F2A51"/>
                </a:solidFill>
                <a:effectLst/>
                <a:latin typeface="Roboto" panose="02000000000000000000" pitchFamily="2" charset="0"/>
              </a:rPr>
              <a:t> </a:t>
            </a:r>
            <a:r>
              <a:rPr lang="en-US" sz="1800" b="0" i="0" dirty="0" err="1">
                <a:solidFill>
                  <a:srgbClr val="0F2A51"/>
                </a:solidFill>
                <a:effectLst/>
                <a:latin typeface="Roboto" panose="02000000000000000000" pitchFamily="2" charset="0"/>
              </a:rPr>
              <a:t>Ví</a:t>
            </a:r>
            <a:r>
              <a:rPr lang="en-US" sz="1800" b="0" i="0" dirty="0">
                <a:solidFill>
                  <a:srgbClr val="0F2A51"/>
                </a:solidFill>
                <a:effectLst/>
                <a:latin typeface="Roboto" panose="02000000000000000000" pitchFamily="2" charset="0"/>
              </a:rPr>
              <a:t> </a:t>
            </a:r>
            <a:r>
              <a:rPr lang="en-US" sz="1800" b="0" i="0" dirty="0" err="1">
                <a:solidFill>
                  <a:srgbClr val="0F2A51"/>
                </a:solidFill>
                <a:effectLst/>
                <a:latin typeface="Roboto" panose="02000000000000000000" pitchFamily="2" charset="0"/>
              </a:rPr>
              <a:t>Dụ</a:t>
            </a:r>
            <a:r>
              <a:rPr lang="en-US" sz="1800" b="0" i="0" dirty="0">
                <a:solidFill>
                  <a:srgbClr val="0F2A51"/>
                </a:solidFill>
                <a:effectLst/>
                <a:latin typeface="Roboto" panose="02000000000000000000" pitchFamily="2" charset="0"/>
              </a:rPr>
              <a:t>: </a:t>
            </a:r>
            <a:r>
              <a:rPr lang="vi-VN" sz="1800" b="0" i="0" dirty="0">
                <a:solidFill>
                  <a:srgbClr val="0F2A51"/>
                </a:solidFill>
                <a:effectLst/>
                <a:latin typeface="Roboto" panose="02000000000000000000" pitchFamily="2" charset="0"/>
              </a:rPr>
              <a:t>Hãng Scion đã để cho các khách hàng tự thiết kế những chiếc xe hơi của họ qua trang web của công ty. Khách hàng có thể tùy ý thay đổi từ nội thất, bộ truyền lực, đèn, tấm lái ngang, vô lăng, hệ thống âm thanh, tay gạt, động cơ, khớp ly hợp, gương, cho tới màu sơn – và sau đó chỉ việc đưa chiếc xe đó tới người bán theo lựa chọn của họ là xong. Thậm chí Scion còn cho phép các khách hàng có thể mặc cả trực tuyến.</a:t>
            </a:r>
          </a:p>
          <a:p>
            <a:pPr>
              <a:lnSpc>
                <a:spcPct val="150000"/>
              </a:lnSpc>
            </a:pPr>
            <a:endParaRPr lang="en-US" sz="1800" dirty="0"/>
          </a:p>
        </p:txBody>
      </p:sp>
      <p:pic>
        <p:nvPicPr>
          <p:cNvPr id="6146" name="Picture 2" descr="Quy trình quản trị bán hàng hiệu quả nhất cho doanh nghiệp 2024">
            <a:extLst>
              <a:ext uri="{FF2B5EF4-FFF2-40B4-BE49-F238E27FC236}">
                <a16:creationId xmlns:a16="http://schemas.microsoft.com/office/drawing/2014/main" id="{A7BB80AB-FBD8-0967-028E-0833ECE24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418" y="5173824"/>
            <a:ext cx="3538052" cy="1862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38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80CA5-2941-02FD-F94C-5A96F655255B}"/>
              </a:ext>
            </a:extLst>
          </p:cNvPr>
          <p:cNvSpPr>
            <a:spLocks noGrp="1"/>
          </p:cNvSpPr>
          <p:nvPr>
            <p:ph type="title"/>
          </p:nvPr>
        </p:nvSpPr>
        <p:spPr>
          <a:xfrm>
            <a:off x="838200" y="365125"/>
            <a:ext cx="11114314" cy="1325563"/>
          </a:xfrm>
        </p:spPr>
        <p:txBody>
          <a:bodyPr>
            <a:normAutofit/>
          </a:bodyPr>
          <a:lstStyle/>
          <a:p>
            <a:r>
              <a:rPr lang="vi-VN" sz="3200" b="1" i="0" dirty="0">
                <a:solidFill>
                  <a:schemeClr val="accent2">
                    <a:lumMod val="75000"/>
                  </a:schemeClr>
                </a:solidFill>
                <a:effectLst/>
                <a:latin typeface="Bahnschrift SemiCondensed" panose="020B0502040204020203" pitchFamily="34" charset="0"/>
              </a:rPr>
              <a:t>Nguyên tắc số 2: Chất lượng dịch vụ online và offline phải giống nhau</a:t>
            </a:r>
            <a:endParaRPr lang="en-US" sz="3200" b="1" dirty="0">
              <a:solidFill>
                <a:schemeClr val="accent2">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DF97E98C-EB09-104F-BF1A-8BBB3C09D4AB}"/>
              </a:ext>
            </a:extLst>
          </p:cNvPr>
          <p:cNvSpPr>
            <a:spLocks noGrp="1"/>
          </p:cNvSpPr>
          <p:nvPr>
            <p:ph idx="1"/>
          </p:nvPr>
        </p:nvSpPr>
        <p:spPr>
          <a:xfrm>
            <a:off x="670249" y="1765333"/>
            <a:ext cx="11207620" cy="4351338"/>
          </a:xfrm>
        </p:spPr>
        <p:txBody>
          <a:bodyPr>
            <a:normAutofit/>
          </a:bodyPr>
          <a:lstStyle/>
          <a:p>
            <a:pPr algn="just">
              <a:lnSpc>
                <a:spcPct val="150000"/>
              </a:lnSpc>
            </a:pPr>
            <a:r>
              <a:rPr lang="vi-VN" sz="1800" b="0" i="0" dirty="0">
                <a:solidFill>
                  <a:srgbClr val="0F2A51"/>
                </a:solidFill>
                <a:effectLst/>
                <a:latin typeface="Roboto" panose="02000000000000000000" pitchFamily="2" charset="0"/>
              </a:rPr>
              <a:t>Dù là trực tuyến, qua điện thoại hay ở trong cửa hàng thì các khách hàng đều muốn có chất lượng và dịch vụ tốt như nhau.</a:t>
            </a:r>
          </a:p>
          <a:p>
            <a:pPr algn="just">
              <a:lnSpc>
                <a:spcPct val="150000"/>
              </a:lnSpc>
            </a:pPr>
            <a:r>
              <a:rPr lang="en-US" sz="1800" b="0" i="0" dirty="0" err="1">
                <a:solidFill>
                  <a:srgbClr val="0F2A51"/>
                </a:solidFill>
                <a:effectLst/>
                <a:latin typeface="Roboto" panose="02000000000000000000" pitchFamily="2" charset="0"/>
              </a:rPr>
              <a:t>Ví</a:t>
            </a:r>
            <a:r>
              <a:rPr lang="en-US" sz="1800" b="0" i="0" dirty="0">
                <a:solidFill>
                  <a:srgbClr val="0F2A51"/>
                </a:solidFill>
                <a:effectLst/>
                <a:latin typeface="Roboto" panose="02000000000000000000" pitchFamily="2" charset="0"/>
              </a:rPr>
              <a:t> </a:t>
            </a:r>
            <a:r>
              <a:rPr lang="en-US" sz="1800" b="0" i="0" dirty="0" err="1">
                <a:solidFill>
                  <a:srgbClr val="0F2A51"/>
                </a:solidFill>
                <a:effectLst/>
                <a:latin typeface="Roboto" panose="02000000000000000000" pitchFamily="2" charset="0"/>
              </a:rPr>
              <a:t>Dụ</a:t>
            </a:r>
            <a:r>
              <a:rPr lang="en-US" sz="1800" b="0" i="0" dirty="0">
                <a:solidFill>
                  <a:srgbClr val="0F2A51"/>
                </a:solidFill>
                <a:effectLst/>
                <a:latin typeface="Roboto" panose="02000000000000000000" pitchFamily="2" charset="0"/>
              </a:rPr>
              <a:t>: </a:t>
            </a:r>
            <a:r>
              <a:rPr lang="vi-VN" sz="1800" b="0" i="0" dirty="0">
                <a:solidFill>
                  <a:srgbClr val="0F2A51"/>
                </a:solidFill>
                <a:effectLst/>
                <a:latin typeface="Roboto" panose="02000000000000000000" pitchFamily="2" charset="0"/>
              </a:rPr>
              <a:t>JCPenney là nhà cung cấp chuyên nghiệp. Họ xây dựng được một hệ thống bán hàng qua Internet với lượng khách hàng thường xuyên đăng ký mua hàng là 35.000 lượt. Khách hàng có thể kiểm tra những bộ quần áo mà các cửa hàng bán lẻ mang đến so với những bộ quần áo gốc tại những cửa hàng địa phương của họ, kể cả về đặc tính nếu cần. Và chẳng có gì ngạc nhiên khi bây giờ Internet đưa về cho công ty 6% doanh thu bán hàng, vượt xa những đối thủ cạnh tranh ban đầu.</a:t>
            </a:r>
          </a:p>
          <a:p>
            <a:pPr>
              <a:lnSpc>
                <a:spcPct val="150000"/>
              </a:lnSpc>
            </a:pPr>
            <a:endParaRPr lang="en-US" sz="1800" dirty="0"/>
          </a:p>
        </p:txBody>
      </p:sp>
      <p:pic>
        <p:nvPicPr>
          <p:cNvPr id="7170" name="Picture 2" descr="Kinh doanh online kết hợp truyền thống, ưu điểm và khó khăn">
            <a:extLst>
              <a:ext uri="{FF2B5EF4-FFF2-40B4-BE49-F238E27FC236}">
                <a16:creationId xmlns:a16="http://schemas.microsoft.com/office/drawing/2014/main" id="{014B5024-5D62-4408-1DF7-13D519DADE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1997" y="4907900"/>
            <a:ext cx="4138840" cy="1702837"/>
          </a:xfrm>
          <a:prstGeom prst="rect">
            <a:avLst/>
          </a:prstGeom>
          <a:noFill/>
          <a:scene3d>
            <a:camera prst="isometricOffAxis2Lef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166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8696F-0910-5D6F-9C63-47CFE433081C}"/>
              </a:ext>
            </a:extLst>
          </p:cNvPr>
          <p:cNvSpPr>
            <a:spLocks noGrp="1"/>
          </p:cNvSpPr>
          <p:nvPr>
            <p:ph type="title"/>
          </p:nvPr>
        </p:nvSpPr>
        <p:spPr>
          <a:xfrm>
            <a:off x="838200" y="355795"/>
            <a:ext cx="10515600" cy="1325563"/>
          </a:xfrm>
        </p:spPr>
        <p:txBody>
          <a:bodyPr/>
          <a:lstStyle/>
          <a:p>
            <a:r>
              <a:rPr lang="en-US" b="1" i="0" dirty="0" err="1">
                <a:solidFill>
                  <a:schemeClr val="accent2">
                    <a:lumMod val="75000"/>
                  </a:schemeClr>
                </a:solidFill>
                <a:effectLst/>
                <a:latin typeface="Bahnschrift SemiCondensed" panose="020B0502040204020203" pitchFamily="34" charset="0"/>
              </a:rPr>
              <a:t>Nguyên</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tắc</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số</a:t>
            </a:r>
            <a:r>
              <a:rPr lang="en-US" b="1" i="0" dirty="0">
                <a:solidFill>
                  <a:schemeClr val="accent2">
                    <a:lumMod val="75000"/>
                  </a:schemeClr>
                </a:solidFill>
                <a:effectLst/>
                <a:latin typeface="Bahnschrift SemiCondensed" panose="020B0502040204020203" pitchFamily="34" charset="0"/>
              </a:rPr>
              <a:t> 3: </a:t>
            </a:r>
            <a:r>
              <a:rPr lang="en-US" b="1" i="0" dirty="0" err="1">
                <a:solidFill>
                  <a:schemeClr val="accent2">
                    <a:lumMod val="75000"/>
                  </a:schemeClr>
                </a:solidFill>
                <a:effectLst/>
                <a:latin typeface="Bahnschrift SemiCondensed" panose="020B0502040204020203" pitchFamily="34" charset="0"/>
              </a:rPr>
              <a:t>Luôn</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quan</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tâm</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tới</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khách</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hàng</a:t>
            </a:r>
            <a:endParaRPr lang="en-US" b="1" dirty="0">
              <a:solidFill>
                <a:schemeClr val="accent2">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FEA91C18-6948-F805-080D-91F270A92B87}"/>
              </a:ext>
            </a:extLst>
          </p:cNvPr>
          <p:cNvSpPr>
            <a:spLocks noGrp="1"/>
          </p:cNvSpPr>
          <p:nvPr>
            <p:ph idx="1"/>
          </p:nvPr>
        </p:nvSpPr>
        <p:spPr>
          <a:xfrm>
            <a:off x="838200" y="1825625"/>
            <a:ext cx="10515600" cy="2606416"/>
          </a:xfrm>
        </p:spPr>
        <p:txBody>
          <a:bodyPr>
            <a:normAutofit/>
          </a:bodyPr>
          <a:lstStyle/>
          <a:p>
            <a:pPr algn="just">
              <a:lnSpc>
                <a:spcPct val="150000"/>
              </a:lnSpc>
            </a:pPr>
            <a:r>
              <a:rPr lang="vi-VN" sz="2000" b="0" i="0" dirty="0">
                <a:solidFill>
                  <a:srgbClr val="0F2A51"/>
                </a:solidFill>
                <a:effectLst/>
                <a:latin typeface="Roboto" panose="02000000000000000000" pitchFamily="2" charset="0"/>
              </a:rPr>
              <a:t>Khách hàng luôn mong muốn các công ty mà họ đã mua hàng phải biết họ cũng như điều họ muốn, luôn coi họ là khách hàng quen thuộc. </a:t>
            </a:r>
            <a:endParaRPr lang="en-US" sz="2000" b="0" i="0" dirty="0">
              <a:solidFill>
                <a:srgbClr val="0F2A51"/>
              </a:solidFill>
              <a:effectLst/>
              <a:latin typeface="Roboto" panose="02000000000000000000" pitchFamily="2" charset="0"/>
            </a:endParaRPr>
          </a:p>
          <a:p>
            <a:pPr algn="just">
              <a:lnSpc>
                <a:spcPct val="150000"/>
              </a:lnSpc>
            </a:pPr>
            <a:r>
              <a:rPr lang="vi-VN" sz="2000" b="0" i="0" dirty="0">
                <a:solidFill>
                  <a:srgbClr val="0F2A51"/>
                </a:solidFill>
                <a:effectLst/>
                <a:latin typeface="Roboto" panose="02000000000000000000" pitchFamily="2" charset="0"/>
              </a:rPr>
              <a:t>Một vài hãng hàng không đang dẫn đầu nhờ cho phép những hành khách gắn bó lâu năm được lên máy bay trước, được sử dụng một số thứ miễn thuế đối với dịch vụ nhanh cũng như nhận được nhiều ưu đãi.</a:t>
            </a:r>
            <a:endParaRPr lang="en-US" sz="2000" dirty="0"/>
          </a:p>
        </p:txBody>
      </p:sp>
      <p:pic>
        <p:nvPicPr>
          <p:cNvPr id="8194" name="Picture 2" descr="TẠO DỰNG VĂN HÓA LẤY KHÁCH HÀNG LÀM TRUNG TÂM - Công ty TNHH Tư vấn Quản lý  OD Click">
            <a:extLst>
              <a:ext uri="{FF2B5EF4-FFF2-40B4-BE49-F238E27FC236}">
                <a16:creationId xmlns:a16="http://schemas.microsoft.com/office/drawing/2014/main" id="{20D9C5DD-430D-A0A6-D8B8-04F85E8A04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197" b="9795"/>
          <a:stretch/>
        </p:blipFill>
        <p:spPr bwMode="auto">
          <a:xfrm>
            <a:off x="5403007" y="4091129"/>
            <a:ext cx="5121923" cy="2411076"/>
          </a:xfrm>
          <a:prstGeom prst="rect">
            <a:avLst/>
          </a:prstGeom>
          <a:noFill/>
          <a:effectLst>
            <a:glow rad="228600">
              <a:schemeClr val="accent2">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7134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21A0E-E963-3870-7198-B00B12A8736D}"/>
              </a:ext>
            </a:extLst>
          </p:cNvPr>
          <p:cNvSpPr>
            <a:spLocks noGrp="1"/>
          </p:cNvSpPr>
          <p:nvPr>
            <p:ph type="title"/>
          </p:nvPr>
        </p:nvSpPr>
        <p:spPr/>
        <p:txBody>
          <a:bodyPr>
            <a:normAutofit/>
          </a:bodyPr>
          <a:lstStyle/>
          <a:p>
            <a:r>
              <a:rPr lang="en-US" sz="4000" b="1" i="0" dirty="0" err="1">
                <a:solidFill>
                  <a:schemeClr val="accent2">
                    <a:lumMod val="75000"/>
                  </a:schemeClr>
                </a:solidFill>
                <a:effectLst/>
                <a:latin typeface="Bahnschrift SemiCondensed" panose="020B0502040204020203" pitchFamily="34" charset="0"/>
              </a:rPr>
              <a:t>Nguyên</a:t>
            </a:r>
            <a:r>
              <a:rPr lang="en-US" sz="4000" b="1" i="0" dirty="0">
                <a:solidFill>
                  <a:schemeClr val="accent2">
                    <a:lumMod val="75000"/>
                  </a:schemeClr>
                </a:solidFill>
                <a:effectLst/>
                <a:latin typeface="Bahnschrift SemiCondensed" panose="020B0502040204020203" pitchFamily="34" charset="0"/>
              </a:rPr>
              <a:t> </a:t>
            </a:r>
            <a:r>
              <a:rPr lang="en-US" sz="4000" b="1" i="0" dirty="0" err="1">
                <a:solidFill>
                  <a:schemeClr val="accent2">
                    <a:lumMod val="75000"/>
                  </a:schemeClr>
                </a:solidFill>
                <a:effectLst/>
                <a:latin typeface="Bahnschrift SemiCondensed" panose="020B0502040204020203" pitchFamily="34" charset="0"/>
              </a:rPr>
              <a:t>tắc</a:t>
            </a:r>
            <a:r>
              <a:rPr lang="en-US" sz="4000" b="1" i="0" dirty="0">
                <a:solidFill>
                  <a:schemeClr val="accent2">
                    <a:lumMod val="75000"/>
                  </a:schemeClr>
                </a:solidFill>
                <a:effectLst/>
                <a:latin typeface="Bahnschrift SemiCondensed" panose="020B0502040204020203" pitchFamily="34" charset="0"/>
              </a:rPr>
              <a:t> </a:t>
            </a:r>
            <a:r>
              <a:rPr lang="en-US" sz="4000" b="1" i="0" dirty="0" err="1">
                <a:solidFill>
                  <a:schemeClr val="accent2">
                    <a:lumMod val="75000"/>
                  </a:schemeClr>
                </a:solidFill>
                <a:effectLst/>
                <a:latin typeface="Bahnschrift SemiCondensed" panose="020B0502040204020203" pitchFamily="34" charset="0"/>
              </a:rPr>
              <a:t>số</a:t>
            </a:r>
            <a:r>
              <a:rPr lang="en-US" sz="4000" b="1" i="0" dirty="0">
                <a:solidFill>
                  <a:schemeClr val="accent2">
                    <a:lumMod val="75000"/>
                  </a:schemeClr>
                </a:solidFill>
                <a:effectLst/>
                <a:latin typeface="Bahnschrift SemiCondensed" panose="020B0502040204020203" pitchFamily="34" charset="0"/>
              </a:rPr>
              <a:t> 4: </a:t>
            </a:r>
            <a:r>
              <a:rPr lang="en-US" sz="4000" b="1" i="0" dirty="0" err="1">
                <a:solidFill>
                  <a:schemeClr val="accent2">
                    <a:lumMod val="75000"/>
                  </a:schemeClr>
                </a:solidFill>
                <a:effectLst/>
                <a:latin typeface="Bahnschrift SemiCondensed" panose="020B0502040204020203" pitchFamily="34" charset="0"/>
              </a:rPr>
              <a:t>Hãy</a:t>
            </a:r>
            <a:r>
              <a:rPr lang="en-US" sz="4000" b="1" i="0" dirty="0">
                <a:solidFill>
                  <a:schemeClr val="accent2">
                    <a:lumMod val="75000"/>
                  </a:schemeClr>
                </a:solidFill>
                <a:effectLst/>
                <a:latin typeface="Bahnschrift SemiCondensed" panose="020B0502040204020203" pitchFamily="34" charset="0"/>
              </a:rPr>
              <a:t> </a:t>
            </a:r>
            <a:r>
              <a:rPr lang="en-US" sz="4000" b="1" i="0" dirty="0" err="1">
                <a:solidFill>
                  <a:schemeClr val="accent2">
                    <a:lumMod val="75000"/>
                  </a:schemeClr>
                </a:solidFill>
                <a:effectLst/>
                <a:latin typeface="Bahnschrift SemiCondensed" panose="020B0502040204020203" pitchFamily="34" charset="0"/>
              </a:rPr>
              <a:t>truyền</a:t>
            </a:r>
            <a:r>
              <a:rPr lang="en-US" sz="4000" b="1" i="0" dirty="0">
                <a:solidFill>
                  <a:schemeClr val="accent2">
                    <a:lumMod val="75000"/>
                  </a:schemeClr>
                </a:solidFill>
                <a:effectLst/>
                <a:latin typeface="Bahnschrift SemiCondensed" panose="020B0502040204020203" pitchFamily="34" charset="0"/>
              </a:rPr>
              <a:t> </a:t>
            </a:r>
            <a:r>
              <a:rPr lang="en-US" sz="4000" b="1" i="0" dirty="0" err="1">
                <a:solidFill>
                  <a:schemeClr val="accent2">
                    <a:lumMod val="75000"/>
                  </a:schemeClr>
                </a:solidFill>
                <a:effectLst/>
                <a:latin typeface="Bahnschrift SemiCondensed" panose="020B0502040204020203" pitchFamily="34" charset="0"/>
              </a:rPr>
              <a:t>thông</a:t>
            </a:r>
            <a:r>
              <a:rPr lang="en-US" sz="4000" b="1" i="0" dirty="0">
                <a:solidFill>
                  <a:schemeClr val="accent2">
                    <a:lumMod val="75000"/>
                  </a:schemeClr>
                </a:solidFill>
                <a:effectLst/>
                <a:latin typeface="Bahnschrift SemiCondensed" panose="020B0502040204020203" pitchFamily="34" charset="0"/>
              </a:rPr>
              <a:t> tin </a:t>
            </a:r>
            <a:r>
              <a:rPr lang="en-US" sz="4000" b="1" i="0" dirty="0" err="1">
                <a:solidFill>
                  <a:schemeClr val="accent2">
                    <a:lumMod val="75000"/>
                  </a:schemeClr>
                </a:solidFill>
                <a:effectLst/>
                <a:latin typeface="Bahnschrift SemiCondensed" panose="020B0502040204020203" pitchFamily="34" charset="0"/>
              </a:rPr>
              <a:t>quan</a:t>
            </a:r>
            <a:r>
              <a:rPr lang="en-US" sz="4000" b="1" i="0" dirty="0">
                <a:solidFill>
                  <a:schemeClr val="accent2">
                    <a:lumMod val="75000"/>
                  </a:schemeClr>
                </a:solidFill>
                <a:effectLst/>
                <a:latin typeface="Bahnschrift SemiCondensed" panose="020B0502040204020203" pitchFamily="34" charset="0"/>
              </a:rPr>
              <a:t> </a:t>
            </a:r>
            <a:r>
              <a:rPr lang="en-US" sz="4000" b="1" i="0" dirty="0" err="1">
                <a:solidFill>
                  <a:schemeClr val="accent2">
                    <a:lumMod val="75000"/>
                  </a:schemeClr>
                </a:solidFill>
                <a:effectLst/>
                <a:latin typeface="Bahnschrift SemiCondensed" panose="020B0502040204020203" pitchFamily="34" charset="0"/>
              </a:rPr>
              <a:t>trọng</a:t>
            </a:r>
            <a:endParaRPr lang="en-US" sz="4000" b="1" dirty="0">
              <a:solidFill>
                <a:schemeClr val="accent2">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4726EE90-82AD-B3AA-7249-3EF937869F04}"/>
              </a:ext>
            </a:extLst>
          </p:cNvPr>
          <p:cNvSpPr>
            <a:spLocks noGrp="1"/>
          </p:cNvSpPr>
          <p:nvPr>
            <p:ph idx="1"/>
          </p:nvPr>
        </p:nvSpPr>
        <p:spPr>
          <a:xfrm>
            <a:off x="838200" y="1825625"/>
            <a:ext cx="6747588" cy="4351338"/>
          </a:xfrm>
        </p:spPr>
        <p:txBody>
          <a:bodyPr>
            <a:normAutofit fontScale="92500" lnSpcReduction="20000"/>
          </a:bodyPr>
          <a:lstStyle/>
          <a:p>
            <a:pPr algn="just">
              <a:lnSpc>
                <a:spcPct val="150000"/>
              </a:lnSpc>
            </a:pPr>
            <a:r>
              <a:rPr lang="vi-VN" sz="2400" b="0" i="0" dirty="0">
                <a:solidFill>
                  <a:srgbClr val="0F2A51"/>
                </a:solidFill>
                <a:effectLst/>
                <a:latin typeface="Roboto" panose="02000000000000000000" pitchFamily="2" charset="0"/>
              </a:rPr>
              <a:t>Các khách hàng không cần nhiều thông tin mà họ cần những thông tin quan trọng. Họ mong chờ nội dung, thời gian, nguồn gốc và tần số truyền thông sẽ phản ánh được nhu cầu và quyền lợi của họ.</a:t>
            </a:r>
          </a:p>
          <a:p>
            <a:pPr algn="just">
              <a:lnSpc>
                <a:spcPct val="150000"/>
              </a:lnSpc>
            </a:pPr>
            <a:r>
              <a:rPr lang="en-US" sz="2400" dirty="0" err="1">
                <a:solidFill>
                  <a:srgbClr val="0F2A51"/>
                </a:solidFill>
                <a:latin typeface="Roboto" panose="02000000000000000000" pitchFamily="2" charset="0"/>
              </a:rPr>
              <a:t>Ví</a:t>
            </a:r>
            <a:r>
              <a:rPr lang="en-US" sz="2400" dirty="0">
                <a:solidFill>
                  <a:srgbClr val="0F2A51"/>
                </a:solidFill>
                <a:latin typeface="Roboto" panose="02000000000000000000" pitchFamily="2" charset="0"/>
              </a:rPr>
              <a:t> </a:t>
            </a:r>
            <a:r>
              <a:rPr lang="en-US" sz="2400" dirty="0" err="1">
                <a:solidFill>
                  <a:srgbClr val="0F2A51"/>
                </a:solidFill>
                <a:latin typeface="Roboto" panose="02000000000000000000" pitchFamily="2" charset="0"/>
              </a:rPr>
              <a:t>dụ</a:t>
            </a:r>
            <a:r>
              <a:rPr lang="en-US" sz="2400" dirty="0">
                <a:solidFill>
                  <a:srgbClr val="0F2A51"/>
                </a:solidFill>
                <a:latin typeface="Roboto" panose="02000000000000000000" pitchFamily="2" charset="0"/>
              </a:rPr>
              <a:t>: </a:t>
            </a:r>
            <a:r>
              <a:rPr lang="vi-VN" sz="2400" b="0" i="0" dirty="0">
                <a:solidFill>
                  <a:srgbClr val="0F2A51"/>
                </a:solidFill>
                <a:effectLst/>
                <a:latin typeface="Roboto" panose="02000000000000000000" pitchFamily="2" charset="0"/>
              </a:rPr>
              <a:t>Amazon.com thực hiện hết sức thành công trong lĩnh vực này bằng cách biến đổi nội dung trang web cho phù hợp, đưa ra những lời giới thiệu cũng như những truyền thông bằng thư điện tử nhằm phản ánh những sở thích của khách hàng.</a:t>
            </a:r>
          </a:p>
          <a:p>
            <a:pPr>
              <a:lnSpc>
                <a:spcPct val="150000"/>
              </a:lnSpc>
            </a:pPr>
            <a:endParaRPr lang="en-US" sz="2400" dirty="0"/>
          </a:p>
        </p:txBody>
      </p:sp>
      <p:pic>
        <p:nvPicPr>
          <p:cNvPr id="5" name="Picture 4">
            <a:extLst>
              <a:ext uri="{FF2B5EF4-FFF2-40B4-BE49-F238E27FC236}">
                <a16:creationId xmlns:a16="http://schemas.microsoft.com/office/drawing/2014/main" id="{B9BD993F-AFDF-87A3-4A19-8413EF7FD272}"/>
              </a:ext>
            </a:extLst>
          </p:cNvPr>
          <p:cNvPicPr>
            <a:picLocks noChangeAspect="1"/>
          </p:cNvPicPr>
          <p:nvPr/>
        </p:nvPicPr>
        <p:blipFill>
          <a:blip r:embed="rId2"/>
          <a:stretch>
            <a:fillRect/>
          </a:stretch>
        </p:blipFill>
        <p:spPr>
          <a:xfrm>
            <a:off x="7782509" y="2481942"/>
            <a:ext cx="4011549" cy="2286583"/>
          </a:xfrm>
          <a:prstGeom prst="rect">
            <a:avLst/>
          </a:prstGeom>
        </p:spPr>
      </p:pic>
    </p:spTree>
    <p:extLst>
      <p:ext uri="{BB962C8B-B14F-4D97-AF65-F5344CB8AC3E}">
        <p14:creationId xmlns:p14="http://schemas.microsoft.com/office/powerpoint/2010/main" val="312564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49A71-8416-17E2-AB87-C2C0CA0F2E93}"/>
              </a:ext>
            </a:extLst>
          </p:cNvPr>
          <p:cNvSpPr>
            <a:spLocks noGrp="1"/>
          </p:cNvSpPr>
          <p:nvPr>
            <p:ph type="title"/>
          </p:nvPr>
        </p:nvSpPr>
        <p:spPr/>
        <p:txBody>
          <a:bodyPr>
            <a:normAutofit/>
          </a:bodyPr>
          <a:lstStyle/>
          <a:p>
            <a:r>
              <a:rPr lang="en-US" sz="3200" b="1" dirty="0" err="1">
                <a:solidFill>
                  <a:schemeClr val="accent2">
                    <a:lumMod val="75000"/>
                  </a:schemeClr>
                </a:solidFill>
                <a:latin typeface="Bahnschrift SemiCondensed" panose="020B0502040204020203" pitchFamily="34" charset="0"/>
              </a:rPr>
              <a:t>Nguyên</a:t>
            </a:r>
            <a:r>
              <a:rPr lang="en-US" sz="3200" b="1" dirty="0">
                <a:solidFill>
                  <a:schemeClr val="accent2">
                    <a:lumMod val="75000"/>
                  </a:schemeClr>
                </a:solidFill>
                <a:latin typeface="Bahnschrift SemiCondensed" panose="020B0502040204020203" pitchFamily="34" charset="0"/>
              </a:rPr>
              <a:t> </a:t>
            </a:r>
            <a:r>
              <a:rPr lang="en-US" sz="3200" b="1" dirty="0" err="1">
                <a:solidFill>
                  <a:schemeClr val="accent2">
                    <a:lumMod val="75000"/>
                  </a:schemeClr>
                </a:solidFill>
                <a:latin typeface="Bahnschrift SemiCondensed" panose="020B0502040204020203" pitchFamily="34" charset="0"/>
              </a:rPr>
              <a:t>tắc</a:t>
            </a:r>
            <a:r>
              <a:rPr lang="en-US" sz="3200" b="1" dirty="0">
                <a:solidFill>
                  <a:schemeClr val="accent2">
                    <a:lumMod val="75000"/>
                  </a:schemeClr>
                </a:solidFill>
                <a:latin typeface="Bahnschrift SemiCondensed" panose="020B0502040204020203" pitchFamily="34" charset="0"/>
              </a:rPr>
              <a:t> </a:t>
            </a:r>
            <a:r>
              <a:rPr lang="en-US" sz="3200" b="1" dirty="0" err="1">
                <a:solidFill>
                  <a:schemeClr val="accent2">
                    <a:lumMod val="75000"/>
                  </a:schemeClr>
                </a:solidFill>
                <a:latin typeface="Bahnschrift SemiCondensed" panose="020B0502040204020203" pitchFamily="34" charset="0"/>
              </a:rPr>
              <a:t>số</a:t>
            </a:r>
            <a:r>
              <a:rPr lang="en-US" sz="3200" b="1" dirty="0">
                <a:solidFill>
                  <a:schemeClr val="accent2">
                    <a:lumMod val="75000"/>
                  </a:schemeClr>
                </a:solidFill>
                <a:latin typeface="Bahnschrift SemiCondensed" panose="020B0502040204020203" pitchFamily="34" charset="0"/>
              </a:rPr>
              <a:t> 5: </a:t>
            </a:r>
            <a:r>
              <a:rPr lang="en-US" sz="3200" b="1" dirty="0" err="1">
                <a:solidFill>
                  <a:schemeClr val="accent2">
                    <a:lumMod val="75000"/>
                  </a:schemeClr>
                </a:solidFill>
                <a:latin typeface="Bahnschrift SemiCondensed" panose="020B0502040204020203" pitchFamily="34" charset="0"/>
              </a:rPr>
              <a:t>Luôn</a:t>
            </a:r>
            <a:r>
              <a:rPr lang="en-US" sz="3200" b="1" dirty="0">
                <a:solidFill>
                  <a:schemeClr val="accent2">
                    <a:lumMod val="75000"/>
                  </a:schemeClr>
                </a:solidFill>
                <a:latin typeface="Bahnschrift SemiCondensed" panose="020B0502040204020203" pitchFamily="34" charset="0"/>
              </a:rPr>
              <a:t> </a:t>
            </a:r>
            <a:r>
              <a:rPr lang="en-US" sz="3200" b="1" dirty="0" err="1">
                <a:solidFill>
                  <a:schemeClr val="accent2">
                    <a:lumMod val="75000"/>
                  </a:schemeClr>
                </a:solidFill>
                <a:latin typeface="Bahnschrift SemiCondensed" panose="020B0502040204020203" pitchFamily="34" charset="0"/>
              </a:rPr>
              <a:t>lắng</a:t>
            </a:r>
            <a:r>
              <a:rPr lang="en-US" sz="3200" b="1" dirty="0">
                <a:solidFill>
                  <a:schemeClr val="accent2">
                    <a:lumMod val="75000"/>
                  </a:schemeClr>
                </a:solidFill>
                <a:latin typeface="Bahnschrift SemiCondensed" panose="020B0502040204020203" pitchFamily="34" charset="0"/>
              </a:rPr>
              <a:t> </a:t>
            </a:r>
            <a:r>
              <a:rPr lang="en-US" sz="3200" b="1" dirty="0" err="1">
                <a:solidFill>
                  <a:schemeClr val="accent2">
                    <a:lumMod val="75000"/>
                  </a:schemeClr>
                </a:solidFill>
                <a:latin typeface="Bahnschrift SemiCondensed" panose="020B0502040204020203" pitchFamily="34" charset="0"/>
              </a:rPr>
              <a:t>nghe</a:t>
            </a:r>
            <a:r>
              <a:rPr lang="en-US" sz="3200" b="1" dirty="0">
                <a:solidFill>
                  <a:schemeClr val="accent2">
                    <a:lumMod val="75000"/>
                  </a:schemeClr>
                </a:solidFill>
                <a:latin typeface="Bahnschrift SemiCondensed" panose="020B0502040204020203" pitchFamily="34" charset="0"/>
              </a:rPr>
              <a:t> </a:t>
            </a:r>
            <a:r>
              <a:rPr lang="en-US" sz="3200" b="1" dirty="0" err="1">
                <a:solidFill>
                  <a:schemeClr val="accent2">
                    <a:lumMod val="75000"/>
                  </a:schemeClr>
                </a:solidFill>
                <a:latin typeface="Bahnschrift SemiCondensed" panose="020B0502040204020203" pitchFamily="34" charset="0"/>
              </a:rPr>
              <a:t>phản</a:t>
            </a:r>
            <a:r>
              <a:rPr lang="en-US" sz="3200" b="1" dirty="0">
                <a:solidFill>
                  <a:schemeClr val="accent2">
                    <a:lumMod val="75000"/>
                  </a:schemeClr>
                </a:solidFill>
                <a:latin typeface="Bahnschrift SemiCondensed" panose="020B0502040204020203" pitchFamily="34" charset="0"/>
              </a:rPr>
              <a:t> </a:t>
            </a:r>
            <a:r>
              <a:rPr lang="en-US" sz="3200" b="1" dirty="0" err="1">
                <a:solidFill>
                  <a:schemeClr val="accent2">
                    <a:lumMod val="75000"/>
                  </a:schemeClr>
                </a:solidFill>
                <a:latin typeface="Bahnschrift SemiCondensed" panose="020B0502040204020203" pitchFamily="34" charset="0"/>
              </a:rPr>
              <a:t>hồi</a:t>
            </a:r>
            <a:r>
              <a:rPr lang="en-US" sz="3200" b="1" dirty="0">
                <a:solidFill>
                  <a:schemeClr val="accent2">
                    <a:lumMod val="75000"/>
                  </a:schemeClr>
                </a:solidFill>
                <a:latin typeface="Bahnschrift SemiCondensed" panose="020B0502040204020203" pitchFamily="34" charset="0"/>
              </a:rPr>
              <a:t> </a:t>
            </a:r>
            <a:r>
              <a:rPr lang="en-US" sz="3200" b="1" dirty="0" err="1">
                <a:solidFill>
                  <a:schemeClr val="accent2">
                    <a:lumMod val="75000"/>
                  </a:schemeClr>
                </a:solidFill>
                <a:latin typeface="Bahnschrift SemiCondensed" panose="020B0502040204020203" pitchFamily="34" charset="0"/>
              </a:rPr>
              <a:t>từ</a:t>
            </a:r>
            <a:r>
              <a:rPr lang="en-US" sz="3200" b="1" dirty="0">
                <a:solidFill>
                  <a:schemeClr val="accent2">
                    <a:lumMod val="75000"/>
                  </a:schemeClr>
                </a:solidFill>
                <a:latin typeface="Bahnschrift SemiCondensed" panose="020B0502040204020203" pitchFamily="34" charset="0"/>
              </a:rPr>
              <a:t> </a:t>
            </a:r>
            <a:r>
              <a:rPr lang="en-US" sz="3200" b="1" dirty="0" err="1">
                <a:solidFill>
                  <a:schemeClr val="accent2">
                    <a:lumMod val="75000"/>
                  </a:schemeClr>
                </a:solidFill>
                <a:latin typeface="Bahnschrift SemiCondensed" panose="020B0502040204020203" pitchFamily="34" charset="0"/>
              </a:rPr>
              <a:t>khách</a:t>
            </a:r>
            <a:r>
              <a:rPr lang="en-US" sz="3200" b="1" dirty="0">
                <a:solidFill>
                  <a:schemeClr val="accent2">
                    <a:lumMod val="75000"/>
                  </a:schemeClr>
                </a:solidFill>
                <a:latin typeface="Bahnschrift SemiCondensed" panose="020B0502040204020203" pitchFamily="34" charset="0"/>
              </a:rPr>
              <a:t> </a:t>
            </a:r>
            <a:r>
              <a:rPr lang="en-US" sz="3200" b="1" dirty="0" err="1">
                <a:solidFill>
                  <a:schemeClr val="accent2">
                    <a:lumMod val="75000"/>
                  </a:schemeClr>
                </a:solidFill>
                <a:latin typeface="Bahnschrift SemiCondensed" panose="020B0502040204020203" pitchFamily="34" charset="0"/>
              </a:rPr>
              <a:t>hàng</a:t>
            </a:r>
            <a:endParaRPr lang="en-US" sz="3200" b="1" dirty="0">
              <a:solidFill>
                <a:schemeClr val="accent2">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ED903B89-5370-A107-B676-FB4C663BF037}"/>
              </a:ext>
            </a:extLst>
          </p:cNvPr>
          <p:cNvSpPr>
            <a:spLocks noGrp="1"/>
          </p:cNvSpPr>
          <p:nvPr>
            <p:ph idx="1"/>
          </p:nvPr>
        </p:nvSpPr>
        <p:spPr>
          <a:xfrm>
            <a:off x="5057192" y="1825625"/>
            <a:ext cx="6296608" cy="4351338"/>
          </a:xfrm>
        </p:spPr>
        <p:txBody>
          <a:bodyPr>
            <a:normAutofit fontScale="77500" lnSpcReduction="20000"/>
          </a:bodyPr>
          <a:lstStyle/>
          <a:p>
            <a:pPr algn="just">
              <a:lnSpc>
                <a:spcPct val="150000"/>
              </a:lnSpc>
            </a:pPr>
            <a:r>
              <a:rPr lang="vi-VN" dirty="0">
                <a:latin typeface="Arial" panose="020B0604020202020204" pitchFamily="34" charset="0"/>
                <a:cs typeface="Arial" panose="020B0604020202020204" pitchFamily="34" charset="0"/>
              </a:rPr>
              <a:t>Bạn cần lắng nghe phản hồi từ khách hàng một cách nghiêm túc. Bất kể ở đâu nếu được, hãy hỏi ý kiến các khách hàng về tất cả mọi thứ, từ việc thiết kế và phát triển sản phẩm cho tới những cách tiếp thị cụ thể tốt nhất.</a:t>
            </a:r>
            <a:endParaRPr lang="en-US" dirty="0">
              <a:latin typeface="Arial" panose="020B0604020202020204" pitchFamily="34" charset="0"/>
              <a:cs typeface="Arial" panose="020B0604020202020204" pitchFamily="34" charset="0"/>
            </a:endParaRPr>
          </a:p>
          <a:p>
            <a:pPr algn="just">
              <a:lnSpc>
                <a:spcPct val="150000"/>
              </a:lnSpc>
            </a:pPr>
            <a:r>
              <a:rPr lang="en-US" dirty="0" err="1">
                <a:latin typeface="Arial" panose="020B0604020202020204" pitchFamily="34" charset="0"/>
                <a:cs typeface="Arial" panose="020B0604020202020204" pitchFamily="34" charset="0"/>
              </a:rPr>
              <a:t>Viếc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lắng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giúp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chúng</a:t>
            </a:r>
            <a:r>
              <a:rPr lang="en-US" dirty="0">
                <a:latin typeface="Arial" panose="020B0604020202020204" pitchFamily="34" charset="0"/>
                <a:cs typeface="Arial" panose="020B0604020202020204" pitchFamily="34" charset="0"/>
              </a:rPr>
              <a:t> ta </a:t>
            </a:r>
            <a:r>
              <a:rPr lang="en-US" dirty="0" err="1">
                <a:latin typeface="Arial" panose="020B0604020202020204" pitchFamily="34" charset="0"/>
                <a:cs typeface="Arial" panose="020B0604020202020204" pitchFamily="34" charset="0"/>
              </a:rPr>
              <a:t>thấu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dịch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vụ</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tốt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a:t>
            </a:r>
          </a:p>
        </p:txBody>
      </p:sp>
      <p:pic>
        <p:nvPicPr>
          <p:cNvPr id="10242" name="Picture 2" descr="Lắng nghe tiếng nói khách hàng: Bí quyết chinh phục thị trường trong kỷ  nguyên số">
            <a:extLst>
              <a:ext uri="{FF2B5EF4-FFF2-40B4-BE49-F238E27FC236}">
                <a16:creationId xmlns:a16="http://schemas.microsoft.com/office/drawing/2014/main" id="{E0E100E5-1A72-3AE7-B69F-A8C3478FF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688" y="1889449"/>
            <a:ext cx="4618653" cy="3079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860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E5EF1-CFDE-0342-4382-CF1ECD83FD53}"/>
              </a:ext>
            </a:extLst>
          </p:cNvPr>
          <p:cNvSpPr>
            <a:spLocks noGrp="1"/>
          </p:cNvSpPr>
          <p:nvPr>
            <p:ph type="title"/>
          </p:nvPr>
        </p:nvSpPr>
        <p:spPr/>
        <p:txBody>
          <a:bodyPr/>
          <a:lstStyle/>
          <a:p>
            <a:r>
              <a:rPr lang="en-US" b="1" i="0" dirty="0" err="1">
                <a:solidFill>
                  <a:schemeClr val="accent2">
                    <a:lumMod val="75000"/>
                  </a:schemeClr>
                </a:solidFill>
                <a:effectLst/>
                <a:latin typeface="Bahnschrift SemiCondensed" panose="020B0502040204020203" pitchFamily="34" charset="0"/>
              </a:rPr>
              <a:t>Nguyên</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tắc</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số</a:t>
            </a:r>
            <a:r>
              <a:rPr lang="en-US" b="1" i="0" dirty="0">
                <a:solidFill>
                  <a:schemeClr val="accent2">
                    <a:lumMod val="75000"/>
                  </a:schemeClr>
                </a:solidFill>
                <a:effectLst/>
                <a:latin typeface="Bahnschrift SemiCondensed" panose="020B0502040204020203" pitchFamily="34" charset="0"/>
              </a:rPr>
              <a:t> 6: </a:t>
            </a:r>
            <a:r>
              <a:rPr lang="en-US" b="1" i="0" dirty="0" err="1">
                <a:solidFill>
                  <a:schemeClr val="accent2">
                    <a:lumMod val="75000"/>
                  </a:schemeClr>
                </a:solidFill>
                <a:effectLst/>
                <a:latin typeface="Bahnschrift SemiCondensed" panose="020B0502040204020203" pitchFamily="34" charset="0"/>
              </a:rPr>
              <a:t>Khách</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hàng</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luôn</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đúng</a:t>
            </a:r>
            <a:endParaRPr lang="en-US" b="1" dirty="0">
              <a:solidFill>
                <a:schemeClr val="accent2">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A42C85E2-3DCD-AA0D-05D1-EB3233645537}"/>
              </a:ext>
            </a:extLst>
          </p:cNvPr>
          <p:cNvSpPr>
            <a:spLocks noGrp="1"/>
          </p:cNvSpPr>
          <p:nvPr>
            <p:ph idx="1"/>
          </p:nvPr>
        </p:nvSpPr>
        <p:spPr>
          <a:xfrm>
            <a:off x="838200" y="1825625"/>
            <a:ext cx="7092820" cy="4351338"/>
          </a:xfrm>
        </p:spPr>
        <p:txBody>
          <a:bodyPr>
            <a:normAutofit fontScale="92500"/>
          </a:bodyPr>
          <a:lstStyle/>
          <a:p>
            <a:pPr algn="just">
              <a:lnSpc>
                <a:spcPct val="150000"/>
              </a:lnSpc>
            </a:pPr>
            <a:r>
              <a:rPr lang="en-US" b="0" i="0" dirty="0" err="1">
                <a:solidFill>
                  <a:srgbClr val="0F2A51"/>
                </a:solidFill>
                <a:effectLst/>
                <a:latin typeface="Roboto" panose="02000000000000000000" pitchFamily="2" charset="0"/>
              </a:rPr>
              <a:t>Xét</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trên</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khía</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cạnh</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cảm</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xúc</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khách</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hàng</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luôn</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đúng</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điều</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đó</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yêu</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cầu</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chúng</a:t>
            </a:r>
            <a:r>
              <a:rPr lang="en-US" b="0" i="0" dirty="0">
                <a:solidFill>
                  <a:srgbClr val="0F2A51"/>
                </a:solidFill>
                <a:effectLst/>
                <a:latin typeface="Roboto" panose="02000000000000000000" pitchFamily="2" charset="0"/>
              </a:rPr>
              <a:t> ta </a:t>
            </a:r>
            <a:r>
              <a:rPr lang="en-US" b="0" i="0" dirty="0" err="1">
                <a:solidFill>
                  <a:srgbClr val="0F2A51"/>
                </a:solidFill>
                <a:effectLst/>
                <a:latin typeface="Roboto" panose="02000000000000000000" pitchFamily="2" charset="0"/>
              </a:rPr>
              <a:t>luôn</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phải</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lắng</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nghe</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khách</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hàng</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phản</a:t>
            </a:r>
            <a:r>
              <a:rPr lang="en-US" b="0" i="0" dirty="0">
                <a:solidFill>
                  <a:srgbClr val="0F2A51"/>
                </a:solidFill>
                <a:effectLst/>
                <a:latin typeface="Roboto" panose="02000000000000000000" pitchFamily="2" charset="0"/>
              </a:rPr>
              <a:t> </a:t>
            </a:r>
            <a:r>
              <a:rPr lang="en-US" b="0" i="0" dirty="0" err="1">
                <a:solidFill>
                  <a:srgbClr val="0F2A51"/>
                </a:solidFill>
                <a:effectLst/>
                <a:latin typeface="Roboto" panose="02000000000000000000" pitchFamily="2" charset="0"/>
              </a:rPr>
              <a:t>hồi</a:t>
            </a:r>
            <a:r>
              <a:rPr lang="en-US" b="0" i="0" dirty="0">
                <a:solidFill>
                  <a:srgbClr val="0F2A51"/>
                </a:solidFill>
                <a:effectLst/>
                <a:latin typeface="Roboto" panose="02000000000000000000" pitchFamily="2" charset="0"/>
              </a:rPr>
              <a:t>.</a:t>
            </a:r>
          </a:p>
          <a:p>
            <a:pPr algn="just">
              <a:lnSpc>
                <a:spcPct val="150000"/>
              </a:lnSpc>
            </a:pPr>
            <a:r>
              <a:rPr lang="vi-VN" b="0" i="0" dirty="0">
                <a:solidFill>
                  <a:srgbClr val="0F2A51"/>
                </a:solidFill>
                <a:effectLst/>
                <a:latin typeface="Roboto" panose="02000000000000000000" pitchFamily="2" charset="0"/>
              </a:rPr>
              <a:t>Đối với một số tổ chức, nguyên tắc bán hàng này thể hiện nhiều thách thức</a:t>
            </a:r>
            <a:r>
              <a:rPr lang="en-US" b="0" i="0" dirty="0">
                <a:solidFill>
                  <a:srgbClr val="0F2A51"/>
                </a:solidFill>
                <a:effectLst/>
                <a:latin typeface="Roboto" panose="02000000000000000000" pitchFamily="2" charset="0"/>
              </a:rPr>
              <a:t>, </a:t>
            </a:r>
            <a:r>
              <a:rPr lang="vi-VN" b="0" i="0" dirty="0">
                <a:solidFill>
                  <a:srgbClr val="0F2A51"/>
                </a:solidFill>
                <a:effectLst/>
                <a:latin typeface="Roboto" panose="02000000000000000000" pitchFamily="2" charset="0"/>
              </a:rPr>
              <a:t>nó </a:t>
            </a:r>
            <a:r>
              <a:rPr lang="en-US" dirty="0" err="1">
                <a:solidFill>
                  <a:srgbClr val="0F2A51"/>
                </a:solidFill>
                <a:latin typeface="Roboto" panose="02000000000000000000" pitchFamily="2" charset="0"/>
              </a:rPr>
              <a:t>đòi</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hỏi</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một</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quy</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trình</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chăm</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sóc</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khách</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hàng</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tối</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ưu</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và</a:t>
            </a:r>
            <a:r>
              <a:rPr lang="en-US" dirty="0">
                <a:solidFill>
                  <a:srgbClr val="0F2A51"/>
                </a:solidFill>
                <a:latin typeface="Roboto" panose="02000000000000000000" pitchFamily="2" charset="0"/>
              </a:rPr>
              <a:t> </a:t>
            </a:r>
            <a:r>
              <a:rPr lang="vi-VN" b="0" i="0" dirty="0">
                <a:solidFill>
                  <a:srgbClr val="0F2A51"/>
                </a:solidFill>
                <a:effectLst/>
                <a:latin typeface="Roboto" panose="02000000000000000000" pitchFamily="2" charset="0"/>
              </a:rPr>
              <a:t>đòi hỏi một đội ngũ nhân viên chuyên nghiệp. </a:t>
            </a:r>
            <a:endParaRPr lang="en-US" dirty="0"/>
          </a:p>
        </p:txBody>
      </p:sp>
      <p:pic>
        <p:nvPicPr>
          <p:cNvPr id="11266" name="Picture 2" descr="Kỹ năng lắng nghe là gì? Kỹ năng của người thành công - CET">
            <a:extLst>
              <a:ext uri="{FF2B5EF4-FFF2-40B4-BE49-F238E27FC236}">
                <a16:creationId xmlns:a16="http://schemas.microsoft.com/office/drawing/2014/main" id="{4BE5C77E-CA3B-1EA6-7EF9-5849971FE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6361" y="2563326"/>
            <a:ext cx="3806112" cy="2537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110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6EF1-3F86-CFDD-1CD6-C24A78838CC2}"/>
              </a:ext>
            </a:extLst>
          </p:cNvPr>
          <p:cNvSpPr>
            <a:spLocks noGrp="1"/>
          </p:cNvSpPr>
          <p:nvPr>
            <p:ph type="title"/>
          </p:nvPr>
        </p:nvSpPr>
        <p:spPr/>
        <p:txBody>
          <a:bodyPr/>
          <a:lstStyle/>
          <a:p>
            <a:r>
              <a:rPr lang="en-US" b="1" i="0" dirty="0" err="1">
                <a:solidFill>
                  <a:schemeClr val="accent2">
                    <a:lumMod val="75000"/>
                  </a:schemeClr>
                </a:solidFill>
                <a:effectLst/>
                <a:latin typeface="Oswald" panose="00000500000000000000" pitchFamily="2" charset="0"/>
              </a:rPr>
              <a:t>Nguyên</a:t>
            </a:r>
            <a:r>
              <a:rPr lang="en-US" b="1" i="0" dirty="0">
                <a:solidFill>
                  <a:schemeClr val="accent2">
                    <a:lumMod val="75000"/>
                  </a:schemeClr>
                </a:solidFill>
                <a:effectLst/>
                <a:latin typeface="Oswald" panose="00000500000000000000" pitchFamily="2" charset="0"/>
              </a:rPr>
              <a:t> </a:t>
            </a:r>
            <a:r>
              <a:rPr lang="en-US" b="1" i="0" dirty="0" err="1">
                <a:solidFill>
                  <a:schemeClr val="accent2">
                    <a:lumMod val="75000"/>
                  </a:schemeClr>
                </a:solidFill>
                <a:effectLst/>
                <a:latin typeface="Oswald" panose="00000500000000000000" pitchFamily="2" charset="0"/>
              </a:rPr>
              <a:t>tắc</a:t>
            </a:r>
            <a:r>
              <a:rPr lang="en-US" b="1" i="0" dirty="0">
                <a:solidFill>
                  <a:schemeClr val="accent2">
                    <a:lumMod val="75000"/>
                  </a:schemeClr>
                </a:solidFill>
                <a:effectLst/>
                <a:latin typeface="Oswald" panose="00000500000000000000" pitchFamily="2" charset="0"/>
              </a:rPr>
              <a:t> </a:t>
            </a:r>
            <a:r>
              <a:rPr lang="en-US" b="1" i="0" dirty="0" err="1">
                <a:solidFill>
                  <a:schemeClr val="accent2">
                    <a:lumMod val="75000"/>
                  </a:schemeClr>
                </a:solidFill>
                <a:effectLst/>
                <a:latin typeface="Oswald" panose="00000500000000000000" pitchFamily="2" charset="0"/>
              </a:rPr>
              <a:t>số</a:t>
            </a:r>
            <a:r>
              <a:rPr lang="en-US" b="1" i="0" dirty="0">
                <a:solidFill>
                  <a:schemeClr val="accent2">
                    <a:lumMod val="75000"/>
                  </a:schemeClr>
                </a:solidFill>
                <a:effectLst/>
                <a:latin typeface="Oswald" panose="00000500000000000000" pitchFamily="2" charset="0"/>
              </a:rPr>
              <a:t> 7: </a:t>
            </a:r>
            <a:r>
              <a:rPr lang="en-US" b="1" i="0" dirty="0" err="1">
                <a:solidFill>
                  <a:schemeClr val="accent2">
                    <a:lumMod val="75000"/>
                  </a:schemeClr>
                </a:solidFill>
                <a:effectLst/>
                <a:latin typeface="Oswald" panose="00000500000000000000" pitchFamily="2" charset="0"/>
              </a:rPr>
              <a:t>Luôn</a:t>
            </a:r>
            <a:r>
              <a:rPr lang="en-US" b="1" i="0" dirty="0">
                <a:solidFill>
                  <a:schemeClr val="accent2">
                    <a:lumMod val="75000"/>
                  </a:schemeClr>
                </a:solidFill>
                <a:effectLst/>
                <a:latin typeface="Oswald" panose="00000500000000000000" pitchFamily="2" charset="0"/>
              </a:rPr>
              <a:t> </a:t>
            </a:r>
            <a:r>
              <a:rPr lang="en-US" b="1" i="0" dirty="0" err="1">
                <a:solidFill>
                  <a:schemeClr val="accent2">
                    <a:lumMod val="75000"/>
                  </a:schemeClr>
                </a:solidFill>
                <a:effectLst/>
                <a:latin typeface="Oswald" panose="00000500000000000000" pitchFamily="2" charset="0"/>
              </a:rPr>
              <a:t>tạo</a:t>
            </a:r>
            <a:r>
              <a:rPr lang="en-US" b="1" i="0" dirty="0">
                <a:solidFill>
                  <a:schemeClr val="accent2">
                    <a:lumMod val="75000"/>
                  </a:schemeClr>
                </a:solidFill>
                <a:effectLst/>
                <a:latin typeface="Oswald" panose="00000500000000000000" pitchFamily="2" charset="0"/>
              </a:rPr>
              <a:t> </a:t>
            </a:r>
            <a:r>
              <a:rPr lang="en-US" b="1" i="0" dirty="0" err="1">
                <a:solidFill>
                  <a:schemeClr val="accent2">
                    <a:lumMod val="75000"/>
                  </a:schemeClr>
                </a:solidFill>
                <a:effectLst/>
                <a:latin typeface="Oswald" panose="00000500000000000000" pitchFamily="2" charset="0"/>
              </a:rPr>
              <a:t>sự</a:t>
            </a:r>
            <a:r>
              <a:rPr lang="en-US" b="1" i="0" dirty="0">
                <a:solidFill>
                  <a:schemeClr val="accent2">
                    <a:lumMod val="75000"/>
                  </a:schemeClr>
                </a:solidFill>
                <a:effectLst/>
                <a:latin typeface="Oswald" panose="00000500000000000000" pitchFamily="2" charset="0"/>
              </a:rPr>
              <a:t> </a:t>
            </a:r>
            <a:r>
              <a:rPr lang="en-US" b="1" i="0" dirty="0" err="1">
                <a:solidFill>
                  <a:schemeClr val="accent2">
                    <a:lumMod val="75000"/>
                  </a:schemeClr>
                </a:solidFill>
                <a:effectLst/>
                <a:latin typeface="Oswald" panose="00000500000000000000" pitchFamily="2" charset="0"/>
              </a:rPr>
              <a:t>ngạc</a:t>
            </a:r>
            <a:r>
              <a:rPr lang="en-US" b="1" i="0" dirty="0">
                <a:solidFill>
                  <a:schemeClr val="accent2">
                    <a:lumMod val="75000"/>
                  </a:schemeClr>
                </a:solidFill>
                <a:effectLst/>
                <a:latin typeface="Oswald" panose="00000500000000000000" pitchFamily="2" charset="0"/>
              </a:rPr>
              <a:t> </a:t>
            </a:r>
            <a:r>
              <a:rPr lang="en-US" b="1" i="0" dirty="0" err="1">
                <a:solidFill>
                  <a:schemeClr val="accent2">
                    <a:lumMod val="75000"/>
                  </a:schemeClr>
                </a:solidFill>
                <a:effectLst/>
                <a:latin typeface="Oswald" panose="00000500000000000000" pitchFamily="2" charset="0"/>
              </a:rPr>
              <a:t>nhiên</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05AFE5DA-5514-F05A-8E9C-D3DEA13F5D26}"/>
              </a:ext>
            </a:extLst>
          </p:cNvPr>
          <p:cNvSpPr>
            <a:spLocks noGrp="1"/>
          </p:cNvSpPr>
          <p:nvPr>
            <p:ph idx="1"/>
          </p:nvPr>
        </p:nvSpPr>
        <p:spPr>
          <a:xfrm>
            <a:off x="838200" y="1825625"/>
            <a:ext cx="10515600" cy="2139885"/>
          </a:xfrm>
        </p:spPr>
        <p:txBody>
          <a:bodyPr>
            <a:normAutofit fontScale="85000" lnSpcReduction="20000"/>
          </a:bodyPr>
          <a:lstStyle/>
          <a:p>
            <a:pPr algn="just">
              <a:lnSpc>
                <a:spcPct val="150000"/>
              </a:lnSpc>
            </a:pPr>
            <a:r>
              <a:rPr lang="vi-VN" b="0" i="0" dirty="0">
                <a:solidFill>
                  <a:srgbClr val="0F2A51"/>
                </a:solidFill>
                <a:effectLst/>
                <a:latin typeface="Roboto" panose="02000000000000000000" pitchFamily="2" charset="0"/>
              </a:rPr>
              <a:t>Các khách hàng rất thích nhận được những thứ bất thường khiến họ phải thốt lên “Wao! Thật tuyệt vời”.</a:t>
            </a:r>
            <a:endParaRPr lang="en-US" b="0" i="0" dirty="0">
              <a:solidFill>
                <a:srgbClr val="0F2A51"/>
              </a:solidFill>
              <a:effectLst/>
              <a:latin typeface="Roboto" panose="02000000000000000000" pitchFamily="2" charset="0"/>
            </a:endParaRPr>
          </a:p>
          <a:p>
            <a:pPr algn="just">
              <a:lnSpc>
                <a:spcPct val="150000"/>
              </a:lnSpc>
            </a:pPr>
            <a:r>
              <a:rPr lang="en-US" dirty="0" err="1">
                <a:solidFill>
                  <a:srgbClr val="0F2A51"/>
                </a:solidFill>
                <a:latin typeface="Roboto" panose="02000000000000000000" pitchFamily="2" charset="0"/>
              </a:rPr>
              <a:t>Quyết</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định</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mua</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hàng</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phần</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lớn</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từ</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tâm</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lý</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mà</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ra</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điều</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này</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yêu</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cầu</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phải</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tạo</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được</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sự</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hài</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lòng</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và</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bất</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ngờ</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hơn</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sự</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mong</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đợi</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cho</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khách</a:t>
            </a:r>
            <a:r>
              <a:rPr lang="en-US" dirty="0">
                <a:solidFill>
                  <a:srgbClr val="0F2A51"/>
                </a:solidFill>
                <a:latin typeface="Roboto" panose="02000000000000000000" pitchFamily="2" charset="0"/>
              </a:rPr>
              <a:t>.</a:t>
            </a:r>
            <a:endParaRPr lang="en-US" dirty="0"/>
          </a:p>
        </p:txBody>
      </p:sp>
      <p:pic>
        <p:nvPicPr>
          <p:cNvPr id="12290" name="Picture 2" descr="Sự hài lòng của khách hàng là gì? Cách khảo sát sự hài lòng khách hàng">
            <a:extLst>
              <a:ext uri="{FF2B5EF4-FFF2-40B4-BE49-F238E27FC236}">
                <a16:creationId xmlns:a16="http://schemas.microsoft.com/office/drawing/2014/main" id="{CAF574AE-94C2-2318-E141-ED98DB736F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537" y="3850258"/>
            <a:ext cx="4377806" cy="2461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40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0211C-50F4-0794-7B95-A35148A27EAC}"/>
              </a:ext>
            </a:extLst>
          </p:cNvPr>
          <p:cNvSpPr>
            <a:spLocks noGrp="1"/>
          </p:cNvSpPr>
          <p:nvPr>
            <p:ph type="title"/>
          </p:nvPr>
        </p:nvSpPr>
        <p:spPr/>
        <p:txBody>
          <a:bodyPr/>
          <a:lstStyle/>
          <a:p>
            <a:r>
              <a:rPr lang="en-US" b="1" dirty="0" err="1">
                <a:solidFill>
                  <a:schemeClr val="accent2">
                    <a:lumMod val="75000"/>
                  </a:schemeClr>
                </a:solidFill>
                <a:latin typeface="Bahnschrift SemiCondensed" panose="020B0502040204020203" pitchFamily="34" charset="0"/>
              </a:rPr>
              <a:t>Nguyên</a:t>
            </a:r>
            <a:r>
              <a:rPr lang="en-US" b="1" dirty="0">
                <a:solidFill>
                  <a:schemeClr val="accent2">
                    <a:lumMod val="75000"/>
                  </a:schemeClr>
                </a:solidFill>
                <a:latin typeface="Bahnschrift SemiCondensed" panose="020B0502040204020203" pitchFamily="34" charset="0"/>
              </a:rPr>
              <a:t> </a:t>
            </a:r>
            <a:r>
              <a:rPr lang="en-US" b="1" dirty="0" err="1">
                <a:solidFill>
                  <a:schemeClr val="accent2">
                    <a:lumMod val="75000"/>
                  </a:schemeClr>
                </a:solidFill>
                <a:latin typeface="Bahnschrift SemiCondensed" panose="020B0502040204020203" pitchFamily="34" charset="0"/>
              </a:rPr>
              <a:t>tắc</a:t>
            </a:r>
            <a:r>
              <a:rPr lang="en-US" b="1" dirty="0">
                <a:solidFill>
                  <a:schemeClr val="accent2">
                    <a:lumMod val="75000"/>
                  </a:schemeClr>
                </a:solidFill>
                <a:latin typeface="Bahnschrift SemiCondensed" panose="020B0502040204020203" pitchFamily="34" charset="0"/>
              </a:rPr>
              <a:t> </a:t>
            </a:r>
            <a:r>
              <a:rPr lang="en-US" b="1" dirty="0" err="1">
                <a:solidFill>
                  <a:schemeClr val="accent2">
                    <a:lumMod val="75000"/>
                  </a:schemeClr>
                </a:solidFill>
                <a:latin typeface="Bahnschrift SemiCondensed" panose="020B0502040204020203" pitchFamily="34" charset="0"/>
              </a:rPr>
              <a:t>số</a:t>
            </a:r>
            <a:r>
              <a:rPr lang="en-US" b="1" dirty="0">
                <a:solidFill>
                  <a:schemeClr val="accent2">
                    <a:lumMod val="75000"/>
                  </a:schemeClr>
                </a:solidFill>
                <a:latin typeface="Bahnschrift SemiCondensed" panose="020B0502040204020203" pitchFamily="34" charset="0"/>
              </a:rPr>
              <a:t> 8: </a:t>
            </a:r>
            <a:r>
              <a:rPr lang="en-US" b="1" dirty="0" err="1">
                <a:solidFill>
                  <a:schemeClr val="accent2">
                    <a:lumMod val="75000"/>
                  </a:schemeClr>
                </a:solidFill>
                <a:latin typeface="Bahnschrift SemiCondensed" panose="020B0502040204020203" pitchFamily="34" charset="0"/>
              </a:rPr>
              <a:t>Luôn</a:t>
            </a:r>
            <a:r>
              <a:rPr lang="en-US" b="1" dirty="0">
                <a:solidFill>
                  <a:schemeClr val="accent2">
                    <a:lumMod val="75000"/>
                  </a:schemeClr>
                </a:solidFill>
                <a:latin typeface="Bahnschrift SemiCondensed" panose="020B0502040204020203" pitchFamily="34" charset="0"/>
              </a:rPr>
              <a:t> </a:t>
            </a:r>
            <a:r>
              <a:rPr lang="en-US" b="1" dirty="0" err="1">
                <a:solidFill>
                  <a:schemeClr val="accent2">
                    <a:lumMod val="75000"/>
                  </a:schemeClr>
                </a:solidFill>
                <a:latin typeface="Bahnschrift SemiCondensed" panose="020B0502040204020203" pitchFamily="34" charset="0"/>
              </a:rPr>
              <a:t>cải</a:t>
            </a:r>
            <a:r>
              <a:rPr lang="en-US" b="1" dirty="0">
                <a:solidFill>
                  <a:schemeClr val="accent2">
                    <a:lumMod val="75000"/>
                  </a:schemeClr>
                </a:solidFill>
                <a:latin typeface="Bahnschrift SemiCondensed" panose="020B0502040204020203" pitchFamily="34" charset="0"/>
              </a:rPr>
              <a:t> </a:t>
            </a:r>
            <a:r>
              <a:rPr lang="en-US" b="1" dirty="0" err="1">
                <a:solidFill>
                  <a:schemeClr val="accent2">
                    <a:lumMod val="75000"/>
                  </a:schemeClr>
                </a:solidFill>
                <a:latin typeface="Bahnschrift SemiCondensed" panose="020B0502040204020203" pitchFamily="34" charset="0"/>
              </a:rPr>
              <a:t>cách</a:t>
            </a:r>
            <a:r>
              <a:rPr lang="en-US" b="1" dirty="0">
                <a:solidFill>
                  <a:schemeClr val="accent2">
                    <a:lumMod val="75000"/>
                  </a:schemeClr>
                </a:solidFill>
                <a:latin typeface="Bahnschrift SemiCondensed" panose="020B0502040204020203" pitchFamily="34" charset="0"/>
              </a:rPr>
              <a:t> </a:t>
            </a:r>
            <a:r>
              <a:rPr lang="en-US" b="1" dirty="0" err="1">
                <a:solidFill>
                  <a:schemeClr val="accent2">
                    <a:lumMod val="75000"/>
                  </a:schemeClr>
                </a:solidFill>
                <a:latin typeface="Bahnschrift SemiCondensed" panose="020B0502040204020203" pitchFamily="34" charset="0"/>
              </a:rPr>
              <a:t>và</a:t>
            </a:r>
            <a:r>
              <a:rPr lang="en-US" b="1" dirty="0">
                <a:solidFill>
                  <a:schemeClr val="accent2">
                    <a:lumMod val="75000"/>
                  </a:schemeClr>
                </a:solidFill>
                <a:latin typeface="Bahnschrift SemiCondensed" panose="020B0502040204020203" pitchFamily="34" charset="0"/>
              </a:rPr>
              <a:t> </a:t>
            </a:r>
            <a:r>
              <a:rPr lang="en-US" b="1" dirty="0" err="1">
                <a:solidFill>
                  <a:schemeClr val="accent2">
                    <a:lumMod val="75000"/>
                  </a:schemeClr>
                </a:solidFill>
                <a:latin typeface="Bahnschrift SemiCondensed" panose="020B0502040204020203" pitchFamily="34" charset="0"/>
              </a:rPr>
              <a:t>thay</a:t>
            </a:r>
            <a:r>
              <a:rPr lang="en-US" b="1" dirty="0">
                <a:solidFill>
                  <a:schemeClr val="accent2">
                    <a:lumMod val="75000"/>
                  </a:schemeClr>
                </a:solidFill>
                <a:latin typeface="Bahnschrift SemiCondensed" panose="020B0502040204020203" pitchFamily="34" charset="0"/>
              </a:rPr>
              <a:t> </a:t>
            </a:r>
            <a:r>
              <a:rPr lang="en-US" b="1" dirty="0" err="1">
                <a:solidFill>
                  <a:schemeClr val="accent2">
                    <a:lumMod val="75000"/>
                  </a:schemeClr>
                </a:solidFill>
                <a:latin typeface="Bahnschrift SemiCondensed" panose="020B0502040204020203" pitchFamily="34" charset="0"/>
              </a:rPr>
              <a:t>đổi</a:t>
            </a:r>
            <a:endParaRPr lang="en-US" b="1" dirty="0">
              <a:solidFill>
                <a:schemeClr val="accent2">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EDCD67B1-6CA9-C037-A29A-2969678212E8}"/>
              </a:ext>
            </a:extLst>
          </p:cNvPr>
          <p:cNvSpPr>
            <a:spLocks noGrp="1"/>
          </p:cNvSpPr>
          <p:nvPr>
            <p:ph idx="1"/>
          </p:nvPr>
        </p:nvSpPr>
        <p:spPr>
          <a:xfrm>
            <a:off x="4525346" y="1825625"/>
            <a:ext cx="6828453" cy="4351338"/>
          </a:xfrm>
        </p:spPr>
        <p:txBody>
          <a:bodyPr>
            <a:normAutofit fontScale="92500"/>
          </a:bodyPr>
          <a:lstStyle/>
          <a:p>
            <a:pPr algn="just">
              <a:lnSpc>
                <a:spcPct val="150000"/>
              </a:lnSpc>
            </a:pPr>
            <a:r>
              <a:rPr lang="vi-VN" dirty="0"/>
              <a:t>Điều này cần được thực hiện trước khi doanh thu hoặc số lượng khách hàng bắt đầu giảm xuống. </a:t>
            </a:r>
            <a:endParaRPr lang="en-US" dirty="0"/>
          </a:p>
          <a:p>
            <a:pPr algn="just">
              <a:lnSpc>
                <a:spcPct val="150000"/>
              </a:lnSpc>
            </a:pPr>
            <a:r>
              <a:rPr lang="vi-VN" dirty="0"/>
              <a:t>Chỉ bởi vì một hãng bây giờ có một sản phẩm hoặc một dịch vụ tốt cũng không có nghĩa rằng các khách hàng vẫn sẽ coi hãng đó có uy tín trong năm năm tới được.</a:t>
            </a:r>
            <a:endParaRPr lang="en-US" dirty="0"/>
          </a:p>
        </p:txBody>
      </p:sp>
      <p:pic>
        <p:nvPicPr>
          <p:cNvPr id="13314" name="Picture 2" descr="Cải tiến sản phẩm: Phân loại, vai trò, ý tưởng và công cụ cải tiến">
            <a:extLst>
              <a:ext uri="{FF2B5EF4-FFF2-40B4-BE49-F238E27FC236}">
                <a16:creationId xmlns:a16="http://schemas.microsoft.com/office/drawing/2014/main" id="{00F5E97B-15CE-8058-7D61-02BD9533E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04" y="2458244"/>
            <a:ext cx="4629150" cy="308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70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38A34-0494-CDFA-0BFB-E86CBD0B8BA8}"/>
              </a:ext>
            </a:extLst>
          </p:cNvPr>
          <p:cNvSpPr>
            <a:spLocks noGrp="1"/>
          </p:cNvSpPr>
          <p:nvPr>
            <p:ph type="title"/>
          </p:nvPr>
        </p:nvSpPr>
        <p:spPr/>
        <p:txBody>
          <a:bodyPr/>
          <a:lstStyle/>
          <a:p>
            <a:r>
              <a:rPr lang="en-US" b="1" i="0" dirty="0" err="1">
                <a:solidFill>
                  <a:schemeClr val="accent2">
                    <a:lumMod val="75000"/>
                  </a:schemeClr>
                </a:solidFill>
                <a:effectLst/>
                <a:latin typeface="Bahnschrift SemiCondensed" panose="020B0502040204020203" pitchFamily="34" charset="0"/>
              </a:rPr>
              <a:t>Nguyên</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tắc</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số</a:t>
            </a:r>
            <a:r>
              <a:rPr lang="en-US" b="1" i="0" dirty="0">
                <a:solidFill>
                  <a:schemeClr val="accent2">
                    <a:lumMod val="75000"/>
                  </a:schemeClr>
                </a:solidFill>
                <a:effectLst/>
                <a:latin typeface="Bahnschrift SemiCondensed" panose="020B0502040204020203" pitchFamily="34" charset="0"/>
              </a:rPr>
              <a:t> 9: </a:t>
            </a:r>
            <a:r>
              <a:rPr lang="en-US" b="1" i="0" dirty="0" err="1">
                <a:solidFill>
                  <a:schemeClr val="accent2">
                    <a:lumMod val="75000"/>
                  </a:schemeClr>
                </a:solidFill>
                <a:effectLst/>
                <a:latin typeface="Bahnschrift SemiCondensed" panose="020B0502040204020203" pitchFamily="34" charset="0"/>
              </a:rPr>
              <a:t>Phải</a:t>
            </a:r>
            <a:r>
              <a:rPr lang="en-US" b="1" i="0" dirty="0">
                <a:solidFill>
                  <a:schemeClr val="accent2">
                    <a:lumMod val="75000"/>
                  </a:schemeClr>
                </a:solidFill>
                <a:effectLst/>
                <a:latin typeface="Bahnschrift SemiCondensed" panose="020B0502040204020203" pitchFamily="34" charset="0"/>
              </a:rPr>
              <a:t> </a:t>
            </a:r>
            <a:r>
              <a:rPr lang="en-US" b="1" i="0" dirty="0" err="1">
                <a:solidFill>
                  <a:schemeClr val="accent2">
                    <a:lumMod val="75000"/>
                  </a:schemeClr>
                </a:solidFill>
                <a:effectLst/>
                <a:latin typeface="Bahnschrift SemiCondensed" panose="020B0502040204020203" pitchFamily="34" charset="0"/>
              </a:rPr>
              <a:t>đáng</a:t>
            </a:r>
            <a:r>
              <a:rPr lang="en-US" b="1" i="0" dirty="0">
                <a:solidFill>
                  <a:schemeClr val="accent2">
                    <a:lumMod val="75000"/>
                  </a:schemeClr>
                </a:solidFill>
                <a:effectLst/>
                <a:latin typeface="Bahnschrift SemiCondensed" panose="020B0502040204020203" pitchFamily="34" charset="0"/>
              </a:rPr>
              <a:t> tin </a:t>
            </a:r>
            <a:r>
              <a:rPr lang="en-US" b="1" i="0" dirty="0" err="1">
                <a:solidFill>
                  <a:schemeClr val="accent2">
                    <a:lumMod val="75000"/>
                  </a:schemeClr>
                </a:solidFill>
                <a:effectLst/>
                <a:latin typeface="Bahnschrift SemiCondensed" panose="020B0502040204020203" pitchFamily="34" charset="0"/>
              </a:rPr>
              <a:t>cậy</a:t>
            </a:r>
            <a:endParaRPr lang="en-US" b="1" dirty="0">
              <a:solidFill>
                <a:schemeClr val="accent2">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D29E2332-50B4-516D-2900-0884291B7ECA}"/>
              </a:ext>
            </a:extLst>
          </p:cNvPr>
          <p:cNvSpPr>
            <a:spLocks noGrp="1"/>
          </p:cNvSpPr>
          <p:nvPr>
            <p:ph idx="1"/>
          </p:nvPr>
        </p:nvSpPr>
        <p:spPr>
          <a:xfrm>
            <a:off x="838200" y="1825625"/>
            <a:ext cx="6197082" cy="4351338"/>
          </a:xfrm>
        </p:spPr>
        <p:txBody>
          <a:bodyPr>
            <a:normAutofit fontScale="77500" lnSpcReduction="20000"/>
          </a:bodyPr>
          <a:lstStyle/>
          <a:p>
            <a:pPr algn="just">
              <a:lnSpc>
                <a:spcPct val="150000"/>
              </a:lnSpc>
            </a:pPr>
            <a:r>
              <a:rPr lang="vi-VN" b="0" i="0" dirty="0">
                <a:solidFill>
                  <a:srgbClr val="0F2A51"/>
                </a:solidFill>
                <a:effectLst/>
                <a:latin typeface="Roboto" panose="02000000000000000000" pitchFamily="2" charset="0"/>
              </a:rPr>
              <a:t>Đây chính là mấu chốt quan trọng nhất trong việc các tổ chức xây dựng được những mối quan hệ tồn tại lâu dài với khách hàng. </a:t>
            </a:r>
            <a:endParaRPr lang="en-US" b="0" i="0" dirty="0">
              <a:solidFill>
                <a:srgbClr val="0F2A51"/>
              </a:solidFill>
              <a:effectLst/>
              <a:latin typeface="Roboto" panose="02000000000000000000" pitchFamily="2" charset="0"/>
            </a:endParaRPr>
          </a:p>
          <a:p>
            <a:pPr>
              <a:lnSpc>
                <a:spcPct val="150000"/>
              </a:lnSpc>
            </a:pPr>
            <a:r>
              <a:rPr lang="vi-VN" b="0" i="0" dirty="0">
                <a:solidFill>
                  <a:srgbClr val="0F2A51"/>
                </a:solidFill>
                <a:effectLst/>
                <a:latin typeface="Roboto" panose="02000000000000000000" pitchFamily="2" charset="0"/>
              </a:rPr>
              <a:t>Nếu muốn chiến thắng và giữ được khách hàng, các công ty phải chứng minh được rằng các sản phẩm, con người và cả việc truyền thông của họ xứng đáng đạt được mức độ tin tưởng cao như vậy.</a:t>
            </a:r>
            <a:endParaRPr lang="en-US" dirty="0"/>
          </a:p>
        </p:txBody>
      </p:sp>
      <p:pic>
        <p:nvPicPr>
          <p:cNvPr id="14340" name="Picture 4" descr="9 cách làm khách hàng tin tưởng ngay cả khi bạn chưa có thương hiệu -  SUNO.vn Blog">
            <a:extLst>
              <a:ext uri="{FF2B5EF4-FFF2-40B4-BE49-F238E27FC236}">
                <a16:creationId xmlns:a16="http://schemas.microsoft.com/office/drawing/2014/main" id="{A74EABC8-787C-F7A2-D523-CEF783989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3069" y="2133052"/>
            <a:ext cx="4030824" cy="2877001"/>
          </a:xfrm>
          <a:prstGeom prst="rect">
            <a:avLst/>
          </a:prstGeom>
          <a:noFill/>
          <a:effectLst>
            <a:glow rad="2286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53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47FA3-1A6B-5471-48A8-0D57D3A28846}"/>
              </a:ext>
            </a:extLst>
          </p:cNvPr>
          <p:cNvSpPr>
            <a:spLocks noGrp="1"/>
          </p:cNvSpPr>
          <p:nvPr>
            <p:ph type="title"/>
          </p:nvPr>
        </p:nvSpPr>
        <p:spPr/>
        <p:txBody>
          <a:bodyPr>
            <a:normAutofit/>
          </a:bodyPr>
          <a:lstStyle/>
          <a:p>
            <a:r>
              <a:rPr lang="en-US" sz="2800" b="1" i="0" dirty="0" err="1">
                <a:solidFill>
                  <a:schemeClr val="accent2">
                    <a:lumMod val="75000"/>
                  </a:schemeClr>
                </a:solidFill>
                <a:effectLst/>
                <a:latin typeface="Bahnschrift SemiCondensed" panose="020B0502040204020203" pitchFamily="34" charset="0"/>
              </a:rPr>
              <a:t>Nguyên</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tắc</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số</a:t>
            </a:r>
            <a:r>
              <a:rPr lang="en-US" sz="2800" b="1" i="0" dirty="0">
                <a:solidFill>
                  <a:schemeClr val="accent2">
                    <a:lumMod val="75000"/>
                  </a:schemeClr>
                </a:solidFill>
                <a:effectLst/>
                <a:latin typeface="Bahnschrift SemiCondensed" panose="020B0502040204020203" pitchFamily="34" charset="0"/>
              </a:rPr>
              <a:t> 10: </a:t>
            </a:r>
            <a:r>
              <a:rPr lang="en-US" sz="2800" b="1" i="0" dirty="0" err="1">
                <a:solidFill>
                  <a:schemeClr val="accent2">
                    <a:lumMod val="75000"/>
                  </a:schemeClr>
                </a:solidFill>
                <a:effectLst/>
                <a:latin typeface="Bahnschrift SemiCondensed" panose="020B0502040204020203" pitchFamily="34" charset="0"/>
              </a:rPr>
              <a:t>Hãy</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ủng</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hộ</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việc</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từ</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thiện</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bên</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cạnh</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chuyện</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kiếm</a:t>
            </a:r>
            <a:r>
              <a:rPr lang="en-US" sz="2800" b="1" i="0" dirty="0">
                <a:solidFill>
                  <a:schemeClr val="accent2">
                    <a:lumMod val="75000"/>
                  </a:schemeClr>
                </a:solidFill>
                <a:effectLst/>
                <a:latin typeface="Bahnschrift SemiCondensed" panose="020B0502040204020203" pitchFamily="34" charset="0"/>
              </a:rPr>
              <a:t> </a:t>
            </a:r>
            <a:r>
              <a:rPr lang="en-US" sz="2800" b="1" i="0" dirty="0" err="1">
                <a:solidFill>
                  <a:schemeClr val="accent2">
                    <a:lumMod val="75000"/>
                  </a:schemeClr>
                </a:solidFill>
                <a:effectLst/>
                <a:latin typeface="Bahnschrift SemiCondensed" panose="020B0502040204020203" pitchFamily="34" charset="0"/>
              </a:rPr>
              <a:t>tiền</a:t>
            </a:r>
            <a:endParaRPr lang="en-US" sz="2800" b="1" dirty="0">
              <a:solidFill>
                <a:schemeClr val="accent2">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496621C0-1F72-0EEC-A411-24BECF67C7B4}"/>
              </a:ext>
            </a:extLst>
          </p:cNvPr>
          <p:cNvSpPr>
            <a:spLocks noGrp="1"/>
          </p:cNvSpPr>
          <p:nvPr>
            <p:ph idx="1"/>
          </p:nvPr>
        </p:nvSpPr>
        <p:spPr>
          <a:xfrm>
            <a:off x="4693298" y="1825625"/>
            <a:ext cx="6660502" cy="4351338"/>
          </a:xfrm>
        </p:spPr>
        <p:txBody>
          <a:bodyPr>
            <a:normAutofit fontScale="77500" lnSpcReduction="20000"/>
          </a:bodyPr>
          <a:lstStyle/>
          <a:p>
            <a:pPr algn="just">
              <a:lnSpc>
                <a:spcPct val="150000"/>
              </a:lnSpc>
            </a:pPr>
            <a:r>
              <a:rPr lang="vi-VN" b="0" i="0" dirty="0">
                <a:solidFill>
                  <a:srgbClr val="0F2A51"/>
                </a:solidFill>
                <a:effectLst/>
                <a:latin typeface="Roboto" panose="02000000000000000000" pitchFamily="2" charset="0"/>
              </a:rPr>
              <a:t>Ngày càng nhiều những khách hàng bỏ cả một khoản tiền ra cho những nhãn hàng vô danh. </a:t>
            </a:r>
            <a:endParaRPr lang="en-US" b="0" i="0" dirty="0">
              <a:solidFill>
                <a:srgbClr val="0F2A51"/>
              </a:solidFill>
              <a:effectLst/>
              <a:latin typeface="Roboto" panose="02000000000000000000" pitchFamily="2" charset="0"/>
            </a:endParaRPr>
          </a:p>
          <a:p>
            <a:pPr algn="just">
              <a:lnSpc>
                <a:spcPct val="150000"/>
              </a:lnSpc>
            </a:pPr>
            <a:r>
              <a:rPr lang="vi-VN" b="0" i="0" dirty="0">
                <a:solidFill>
                  <a:srgbClr val="0F2A51"/>
                </a:solidFill>
                <a:effectLst/>
                <a:latin typeface="Roboto" panose="02000000000000000000" pitchFamily="2" charset="0"/>
              </a:rPr>
              <a:t>Khi đó, nó dẫn tới việc xây dựng một nhãn hàng nổi tiếng phản ánh được các giá trị khách hàng</a:t>
            </a:r>
            <a:r>
              <a:rPr lang="en-US" b="0" i="0" dirty="0">
                <a:solidFill>
                  <a:srgbClr val="0F2A51"/>
                </a:solidFill>
                <a:effectLst/>
                <a:latin typeface="Roboto" panose="02000000000000000000" pitchFamily="2" charset="0"/>
              </a:rPr>
              <a:t>.</a:t>
            </a:r>
          </a:p>
          <a:p>
            <a:pPr algn="just">
              <a:lnSpc>
                <a:spcPct val="150000"/>
              </a:lnSpc>
            </a:pPr>
            <a:r>
              <a:rPr lang="en-US" dirty="0" err="1">
                <a:solidFill>
                  <a:srgbClr val="0F2A51"/>
                </a:solidFill>
                <a:latin typeface="Roboto" panose="02000000000000000000" pitchFamily="2" charset="0"/>
              </a:rPr>
              <a:t>Việc</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kinh</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doanh</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luôn</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phải</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gắn</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liền</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với</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hoạt</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động</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xã</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hội</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cộng</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đồng</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điều</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này</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tạo</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nên</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giá</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trị</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thương</a:t>
            </a:r>
            <a:r>
              <a:rPr lang="en-US" dirty="0">
                <a:solidFill>
                  <a:srgbClr val="0F2A51"/>
                </a:solidFill>
                <a:latin typeface="Roboto" panose="02000000000000000000" pitchFamily="2" charset="0"/>
              </a:rPr>
              <a:t> </a:t>
            </a:r>
            <a:r>
              <a:rPr lang="en-US" dirty="0" err="1">
                <a:solidFill>
                  <a:srgbClr val="0F2A51"/>
                </a:solidFill>
                <a:latin typeface="Roboto" panose="02000000000000000000" pitchFamily="2" charset="0"/>
              </a:rPr>
              <a:t>hiệu</a:t>
            </a:r>
            <a:r>
              <a:rPr lang="en-US" dirty="0">
                <a:solidFill>
                  <a:srgbClr val="0F2A51"/>
                </a:solidFill>
                <a:latin typeface="Roboto" panose="02000000000000000000" pitchFamily="2" charset="0"/>
              </a:rPr>
              <a:t>.</a:t>
            </a:r>
            <a:endParaRPr lang="en-US" dirty="0"/>
          </a:p>
        </p:txBody>
      </p:sp>
      <p:pic>
        <p:nvPicPr>
          <p:cNvPr id="15362" name="Picture 2" descr="Với cộng đồng xã hội">
            <a:extLst>
              <a:ext uri="{FF2B5EF4-FFF2-40B4-BE49-F238E27FC236}">
                <a16:creationId xmlns:a16="http://schemas.microsoft.com/office/drawing/2014/main" id="{200ED04D-9493-14F6-5688-E3667ACDD6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013" y="2388637"/>
            <a:ext cx="4076667" cy="2294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62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71133-F00F-FE28-EAED-6A86C20848DC}"/>
              </a:ext>
            </a:extLst>
          </p:cNvPr>
          <p:cNvSpPr>
            <a:spLocks noGrp="1"/>
          </p:cNvSpPr>
          <p:nvPr>
            <p:ph type="title"/>
          </p:nvPr>
        </p:nvSpPr>
        <p:spPr/>
        <p:txBody>
          <a:bodyPr/>
          <a:lstStyle/>
          <a:p>
            <a:r>
              <a:rPr lang="en-US" b="1" dirty="0">
                <a:solidFill>
                  <a:schemeClr val="accent2">
                    <a:lumMod val="75000"/>
                  </a:schemeClr>
                </a:solidFill>
              </a:rPr>
              <a:t>7 YẾU TỐ BẤT BIẾN CỦA NGƯỜI BÁN HÀNG</a:t>
            </a:r>
          </a:p>
        </p:txBody>
      </p:sp>
      <p:sp>
        <p:nvSpPr>
          <p:cNvPr id="4" name="Rectangle 1">
            <a:extLst>
              <a:ext uri="{FF2B5EF4-FFF2-40B4-BE49-F238E27FC236}">
                <a16:creationId xmlns:a16="http://schemas.microsoft.com/office/drawing/2014/main" id="{8ECFE263-9545-AEA2-FCF6-A51D2E4A5DC8}"/>
              </a:ext>
            </a:extLst>
          </p:cNvPr>
          <p:cNvSpPr>
            <a:spLocks noGrp="1" noChangeArrowheads="1"/>
          </p:cNvSpPr>
          <p:nvPr>
            <p:ph idx="1"/>
          </p:nvPr>
        </p:nvSpPr>
        <p:spPr bwMode="auto">
          <a:xfrm>
            <a:off x="959498" y="1688623"/>
            <a:ext cx="11444159"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tx1"/>
                </a:solidFill>
                <a:effectLst/>
                <a:latin typeface="Arial" panose="020B0604020202020204" pitchFamily="34" charset="0"/>
              </a:rPr>
              <a:t>Hiểu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rõ</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khách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Đặt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cầu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mong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muốn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đầu</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tx1"/>
                </a:solidFill>
                <a:effectLst/>
                <a:latin typeface="Arial" panose="020B0604020202020204" pitchFamily="34" charset="0"/>
              </a:rPr>
              <a:t>Xây</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dựng</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mối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quan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hệ</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Mối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hệ</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lâu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dài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đáng</a:t>
            </a:r>
            <a:r>
              <a:rPr kumimoji="0" lang="en-US" altLang="en-US" sz="1800" b="0" i="0" u="none" strike="noStrike" cap="none" normalizeH="0" baseline="0" dirty="0">
                <a:ln>
                  <a:noFill/>
                </a:ln>
                <a:solidFill>
                  <a:schemeClr val="tx1"/>
                </a:solidFill>
                <a:effectLst/>
                <a:latin typeface="Arial" panose="020B0604020202020204" pitchFamily="34" charset="0"/>
              </a:rPr>
              <a:t> tin </a:t>
            </a:r>
            <a:r>
              <a:rPr kumimoji="0" lang="en-US" altLang="en-US" sz="1800" b="0" i="0" u="none" strike="noStrike" cap="none" normalizeH="0" baseline="0" dirty="0" err="1">
                <a:ln>
                  <a:noFill/>
                </a:ln>
                <a:solidFill>
                  <a:schemeClr val="tx1"/>
                </a:solidFill>
                <a:effectLst/>
                <a:latin typeface="Arial" panose="020B0604020202020204" pitchFamily="34" charset="0"/>
              </a:rPr>
              <a:t>cậy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thường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mang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lại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tốt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nhất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tx1"/>
                </a:solidFill>
                <a:effectLst/>
                <a:latin typeface="Arial" panose="020B0604020202020204" pitchFamily="34" charset="0"/>
              </a:rPr>
              <a:t>Tạo</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giá</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trị</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thực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sự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phẩm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hoặc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đáp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ứng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vượt</a:t>
            </a:r>
            <a:r>
              <a:rPr kumimoji="0" lang="en-US" altLang="en-US" sz="1800" b="0" i="0" u="none" strike="noStrike" cap="none" normalizeH="0" baseline="0" dirty="0">
                <a:ln>
                  <a:noFill/>
                </a:ln>
                <a:solidFill>
                  <a:schemeClr val="tx1"/>
                </a:solidFill>
                <a:effectLst/>
                <a:latin typeface="Arial" panose="020B0604020202020204" pitchFamily="34" charset="0"/>
              </a:rPr>
              <a:t> qua </a:t>
            </a:r>
            <a:r>
              <a:rPr kumimoji="0" lang="en-US" altLang="en-US" sz="1800" b="0" i="0" u="none" strike="noStrike" cap="none" normalizeH="0" baseline="0" dirty="0" err="1">
                <a:ln>
                  <a:noFill/>
                </a:ln>
                <a:solidFill>
                  <a:schemeClr val="tx1"/>
                </a:solidFill>
                <a:effectLst/>
                <a:latin typeface="Arial" panose="020B0604020202020204" pitchFamily="34" charset="0"/>
              </a:rPr>
              <a:t>kỳ</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vọng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tx1"/>
                </a:solidFill>
                <a:effectLst/>
                <a:latin typeface="Arial" panose="020B0604020202020204" pitchFamily="34" charset="0"/>
              </a:rPr>
              <a:t>Chính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trực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và</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trung</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thực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Luôn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trung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thực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trong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giao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tiếp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giao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tx1"/>
                </a:solidFill>
                <a:effectLst/>
                <a:latin typeface="Arial" panose="020B0604020202020204" pitchFamily="34" charset="0"/>
              </a:rPr>
              <a:t>Khả</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năng</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lắng</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nghe</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tốt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Biết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lắng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giúp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hiểu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rõ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đáp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ứng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tốt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cầu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tx1"/>
                </a:solidFill>
                <a:effectLst/>
                <a:latin typeface="Arial" panose="020B0604020202020204" pitchFamily="34" charset="0"/>
              </a:rPr>
              <a:t>Kiên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nhẫn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và</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bền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bỉ</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đôi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cần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thời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trì</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tx1"/>
                </a:solidFill>
                <a:effectLst/>
                <a:latin typeface="Arial" panose="020B0604020202020204" pitchFamily="34" charset="0"/>
              </a:rPr>
              <a:t>Phản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hồi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và</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điều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chỉnh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liên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tục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Luôn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học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hỏi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từ</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hồi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tiến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6387" name="Picture 3" descr="1.Kĩ năng bán hàng chuyên nghiệp.pptx">
            <a:extLst>
              <a:ext uri="{FF2B5EF4-FFF2-40B4-BE49-F238E27FC236}">
                <a16:creationId xmlns:a16="http://schemas.microsoft.com/office/drawing/2014/main" id="{6172E978-364C-9AAD-EA82-17886D9E8C1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816" b="13469"/>
          <a:stretch/>
        </p:blipFill>
        <p:spPr bwMode="auto">
          <a:xfrm>
            <a:off x="3685592" y="4763018"/>
            <a:ext cx="4627984" cy="1586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03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Vertic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Vertic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arn(inVertical)">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barn(inVertical)">
                                      <p:cBhvr>
                                        <p:cTn id="3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E7FC9DD-B4B8-083E-9110-1B7D650166C5}"/>
              </a:ext>
            </a:extLst>
          </p:cNvPr>
          <p:cNvSpPr>
            <a:spLocks noGrp="1"/>
          </p:cNvSpPr>
          <p:nvPr/>
        </p:nvSpPr>
        <p:spPr>
          <a:xfrm>
            <a:off x="932329" y="323848"/>
            <a:ext cx="82296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uLnTx/>
                <a:uFillTx/>
                <a:latin typeface="Bahnschrift" panose="020B0502040204020203" pitchFamily="34" charset="0"/>
                <a:ea typeface="+mj-ea"/>
                <a:cs typeface="+mj-cs"/>
              </a:rPr>
              <a:t>15 NGUYÊN TẮC VÀNG </a:t>
            </a:r>
            <a:br>
              <a:rPr kumimoji="0" lang="en-US" sz="2800" b="1" i="0" u="none" strike="noStrike" kern="1200" cap="none" spc="0" normalizeH="0" baseline="0" noProof="0" dirty="0">
                <a:ln>
                  <a:noFill/>
                </a:ln>
                <a:solidFill>
                  <a:srgbClr val="FF0000"/>
                </a:solidFill>
                <a:effectLst/>
                <a:uLnTx/>
                <a:uFillTx/>
                <a:latin typeface="Bahnschrift" panose="020B0502040204020203" pitchFamily="34" charset="0"/>
                <a:ea typeface="+mj-ea"/>
                <a:cs typeface="+mj-cs"/>
              </a:rPr>
            </a:br>
            <a:r>
              <a:rPr kumimoji="0" lang="en-US" sz="2800" b="1" i="0" u="none" strike="noStrike" kern="1200" cap="none" spc="0" normalizeH="0" baseline="0" noProof="0" dirty="0">
                <a:ln>
                  <a:noFill/>
                </a:ln>
                <a:solidFill>
                  <a:srgbClr val="FF0000"/>
                </a:solidFill>
                <a:effectLst/>
                <a:uLnTx/>
                <a:uFillTx/>
                <a:latin typeface="Bahnschrift" panose="020B0502040204020203" pitchFamily="34" charset="0"/>
                <a:ea typeface="+mj-ea"/>
                <a:cs typeface="+mj-cs"/>
              </a:rPr>
              <a:t>TRONG BÁN HÀNG CỦA JACKMA</a:t>
            </a:r>
          </a:p>
        </p:txBody>
      </p:sp>
      <p:sp>
        <p:nvSpPr>
          <p:cNvPr id="5" name="Content Placeholder 2">
            <a:extLst>
              <a:ext uri="{FF2B5EF4-FFF2-40B4-BE49-F238E27FC236}">
                <a16:creationId xmlns:a16="http://schemas.microsoft.com/office/drawing/2014/main" id="{22640C1B-A398-E2ED-4CC7-C2CCD31FE735}"/>
              </a:ext>
            </a:extLst>
          </p:cNvPr>
          <p:cNvSpPr>
            <a:spLocks noGrp="1"/>
          </p:cNvSpPr>
          <p:nvPr/>
        </p:nvSpPr>
        <p:spPr>
          <a:xfrm>
            <a:off x="448235" y="1540294"/>
            <a:ext cx="82296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LẠ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LỄ PHÉP</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QUEN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NHIỆT TÌNH</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ĐANG GẤP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PHẢI NHANH</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MUA TỪ </a:t>
            </a:r>
            <a:r>
              <a:rPr kumimoji="0" lang="en-US" sz="1800" b="1" i="0" u="none" strike="noStrike" kern="1200" cap="none" spc="0" normalizeH="0" baseline="0" noProof="0" dirty="0" err="1">
                <a:ln>
                  <a:noFill/>
                </a:ln>
                <a:solidFill>
                  <a:schemeClr val="accent2">
                    <a:lumMod val="75000"/>
                  </a:schemeClr>
                </a:solidFill>
                <a:effectLst/>
                <a:uLnTx/>
                <a:uFillTx/>
                <a:latin typeface="Calibri" panose="020F0502020204030204"/>
                <a:ea typeface="+mn-ea"/>
                <a:cs typeface="+mn-cs"/>
              </a:rPr>
              <a:t>TỪ</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KIÊN NHẪN</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CÓ TIỀN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CHO HỌ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SỰ CAO QUÝ</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ÍT TIỀN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CHO HỌ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SỰ THỰC TẾ</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THEO MỐT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HỌ SỰ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THỜI THƯỢNG</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CHUYÊN NGHIỆP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CHUYÊN NGHIỆP</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HÀO PHÓNG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TRƯỢNG NGHĨA</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KEO KIỆT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HỌ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LỢI ÍCH</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HƯỞNG THỤ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HỌ SỰ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PHỤC VỤ</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HƯ VINH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HỌ SỰ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VINH DỰ</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HAY BẮT BẺ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TỶ MỈ</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HIỀN LÀNH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ĐỒNG CẢM</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KHÁCH DO DỰ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BẢO ĐẢM</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18434" name="Picture 2" descr="Tiết lộ 15 nguyên tắc bán hàng đắt giá của Jack Ma">
            <a:extLst>
              <a:ext uri="{FF2B5EF4-FFF2-40B4-BE49-F238E27FC236}">
                <a16:creationId xmlns:a16="http://schemas.microsoft.com/office/drawing/2014/main" id="{FB6538AB-1CFC-6F6C-8A05-6B5D169149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8941"/>
          <a:stretch/>
        </p:blipFill>
        <p:spPr bwMode="auto">
          <a:xfrm>
            <a:off x="7595222" y="2857498"/>
            <a:ext cx="4148543" cy="1891553"/>
          </a:xfrm>
          <a:prstGeom prst="rect">
            <a:avLst/>
          </a:prstGeom>
          <a:noFill/>
          <a:effectLst>
            <a:glow rad="228600">
              <a:schemeClr val="accent4">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232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320CE-C332-A9B0-F857-03CB967D1B00}"/>
              </a:ext>
            </a:extLst>
          </p:cNvPr>
          <p:cNvSpPr>
            <a:spLocks noGrp="1"/>
          </p:cNvSpPr>
          <p:nvPr>
            <p:ph type="title"/>
          </p:nvPr>
        </p:nvSpPr>
        <p:spPr/>
        <p:txBody>
          <a:bodyPr/>
          <a:lstStyle/>
          <a:p>
            <a:r>
              <a:rPr lang="en-US" b="1" dirty="0">
                <a:solidFill>
                  <a:srgbClr val="002060"/>
                </a:solidFill>
              </a:rPr>
              <a:t>THANKS!</a:t>
            </a:r>
          </a:p>
        </p:txBody>
      </p:sp>
      <p:sp>
        <p:nvSpPr>
          <p:cNvPr id="3" name="Content Placeholder 2">
            <a:extLst>
              <a:ext uri="{FF2B5EF4-FFF2-40B4-BE49-F238E27FC236}">
                <a16:creationId xmlns:a16="http://schemas.microsoft.com/office/drawing/2014/main" id="{8DD61043-31CE-D063-63E6-76D9935BB58A}"/>
              </a:ext>
            </a:extLst>
          </p:cNvPr>
          <p:cNvSpPr>
            <a:spLocks noGrp="1"/>
          </p:cNvSpPr>
          <p:nvPr>
            <p:ph idx="1"/>
          </p:nvPr>
        </p:nvSpPr>
        <p:spPr>
          <a:xfrm>
            <a:off x="3195917" y="4948518"/>
            <a:ext cx="6252882" cy="1554069"/>
          </a:xfrm>
        </p:spPr>
        <p:txBody>
          <a:bodyPr/>
          <a:lstStyle/>
          <a:p>
            <a:pPr marL="0" indent="0" algn="just">
              <a:buNone/>
            </a:pPr>
            <a:r>
              <a:rPr lang="en-US" i="1" dirty="0">
                <a:solidFill>
                  <a:srgbClr val="7030A0"/>
                </a:solidFill>
              </a:rPr>
              <a:t>“</a:t>
            </a:r>
            <a:r>
              <a:rPr lang="en-US" i="1" dirty="0" err="1">
                <a:solidFill>
                  <a:srgbClr val="7030A0"/>
                </a:solidFill>
              </a:rPr>
              <a:t>Khách</a:t>
            </a:r>
            <a:r>
              <a:rPr lang="en-US" i="1" dirty="0">
                <a:solidFill>
                  <a:srgbClr val="7030A0"/>
                </a:solidFill>
              </a:rPr>
              <a:t> </a:t>
            </a:r>
            <a:r>
              <a:rPr lang="en-US" i="1" dirty="0" err="1">
                <a:solidFill>
                  <a:srgbClr val="7030A0"/>
                </a:solidFill>
              </a:rPr>
              <a:t>hàng</a:t>
            </a:r>
            <a:r>
              <a:rPr lang="en-US" i="1" dirty="0">
                <a:solidFill>
                  <a:srgbClr val="7030A0"/>
                </a:solidFill>
              </a:rPr>
              <a:t> </a:t>
            </a:r>
            <a:r>
              <a:rPr lang="en-US" i="1" dirty="0" err="1">
                <a:solidFill>
                  <a:srgbClr val="7030A0"/>
                </a:solidFill>
              </a:rPr>
              <a:t>mua</a:t>
            </a:r>
            <a:r>
              <a:rPr lang="en-US" i="1" dirty="0">
                <a:solidFill>
                  <a:srgbClr val="7030A0"/>
                </a:solidFill>
              </a:rPr>
              <a:t> </a:t>
            </a:r>
            <a:r>
              <a:rPr lang="en-US" i="1" dirty="0" err="1">
                <a:solidFill>
                  <a:srgbClr val="7030A0"/>
                </a:solidFill>
              </a:rPr>
              <a:t>mối</a:t>
            </a:r>
            <a:r>
              <a:rPr lang="en-US" i="1" dirty="0">
                <a:solidFill>
                  <a:srgbClr val="7030A0"/>
                </a:solidFill>
              </a:rPr>
              <a:t> </a:t>
            </a:r>
            <a:r>
              <a:rPr lang="en-US" i="1" dirty="0" err="1">
                <a:solidFill>
                  <a:srgbClr val="7030A0"/>
                </a:solidFill>
              </a:rPr>
              <a:t>quan</a:t>
            </a:r>
            <a:r>
              <a:rPr lang="en-US" i="1" dirty="0">
                <a:solidFill>
                  <a:srgbClr val="7030A0"/>
                </a:solidFill>
              </a:rPr>
              <a:t> </a:t>
            </a:r>
            <a:r>
              <a:rPr lang="en-US" i="1" dirty="0" err="1">
                <a:solidFill>
                  <a:srgbClr val="7030A0"/>
                </a:solidFill>
              </a:rPr>
              <a:t>hệ</a:t>
            </a:r>
            <a:r>
              <a:rPr lang="en-US" i="1" dirty="0">
                <a:solidFill>
                  <a:srgbClr val="7030A0"/>
                </a:solidFill>
              </a:rPr>
              <a:t> </a:t>
            </a:r>
            <a:r>
              <a:rPr lang="en-US" i="1" dirty="0" err="1">
                <a:solidFill>
                  <a:srgbClr val="7030A0"/>
                </a:solidFill>
              </a:rPr>
              <a:t>của</a:t>
            </a:r>
            <a:r>
              <a:rPr lang="en-US" i="1" dirty="0">
                <a:solidFill>
                  <a:srgbClr val="7030A0"/>
                </a:solidFill>
              </a:rPr>
              <a:t> </a:t>
            </a:r>
            <a:r>
              <a:rPr lang="en-US" i="1" dirty="0" err="1">
                <a:solidFill>
                  <a:srgbClr val="7030A0"/>
                </a:solidFill>
              </a:rPr>
              <a:t>bạn</a:t>
            </a:r>
            <a:r>
              <a:rPr lang="en-US" i="1" dirty="0">
                <a:solidFill>
                  <a:srgbClr val="7030A0"/>
                </a:solidFill>
              </a:rPr>
              <a:t> </a:t>
            </a:r>
            <a:r>
              <a:rPr lang="en-US" i="1" dirty="0" err="1">
                <a:solidFill>
                  <a:srgbClr val="7030A0"/>
                </a:solidFill>
              </a:rPr>
              <a:t>trước</a:t>
            </a:r>
            <a:r>
              <a:rPr lang="en-US" i="1" dirty="0">
                <a:solidFill>
                  <a:srgbClr val="7030A0"/>
                </a:solidFill>
              </a:rPr>
              <a:t> </a:t>
            </a:r>
            <a:r>
              <a:rPr lang="en-US" i="1" dirty="0" err="1">
                <a:solidFill>
                  <a:srgbClr val="7030A0"/>
                </a:solidFill>
              </a:rPr>
              <a:t>khi</a:t>
            </a:r>
            <a:r>
              <a:rPr lang="en-US" i="1" dirty="0">
                <a:solidFill>
                  <a:srgbClr val="7030A0"/>
                </a:solidFill>
              </a:rPr>
              <a:t> </a:t>
            </a:r>
            <a:r>
              <a:rPr lang="en-US" i="1" dirty="0" err="1">
                <a:solidFill>
                  <a:srgbClr val="7030A0"/>
                </a:solidFill>
              </a:rPr>
              <a:t>mua</a:t>
            </a:r>
            <a:r>
              <a:rPr lang="en-US" i="1" dirty="0">
                <a:solidFill>
                  <a:srgbClr val="7030A0"/>
                </a:solidFill>
              </a:rPr>
              <a:t> </a:t>
            </a:r>
            <a:r>
              <a:rPr lang="en-US" i="1" dirty="0" err="1">
                <a:solidFill>
                  <a:srgbClr val="7030A0"/>
                </a:solidFill>
              </a:rPr>
              <a:t>hàng</a:t>
            </a:r>
            <a:r>
              <a:rPr lang="en-US" i="1" dirty="0">
                <a:solidFill>
                  <a:srgbClr val="7030A0"/>
                </a:solidFill>
              </a:rPr>
              <a:t> </a:t>
            </a:r>
            <a:r>
              <a:rPr lang="en-US" i="1" dirty="0" err="1">
                <a:solidFill>
                  <a:srgbClr val="C00000"/>
                </a:solidFill>
              </a:rPr>
              <a:t>và</a:t>
            </a:r>
            <a:r>
              <a:rPr lang="en-US" i="1" dirty="0">
                <a:solidFill>
                  <a:srgbClr val="C00000"/>
                </a:solidFill>
              </a:rPr>
              <a:t> </a:t>
            </a:r>
            <a:r>
              <a:rPr lang="en-US" i="1" dirty="0" err="1">
                <a:solidFill>
                  <a:srgbClr val="C00000"/>
                </a:solidFill>
              </a:rPr>
              <a:t>từ</a:t>
            </a:r>
            <a:r>
              <a:rPr lang="en-US" i="1" dirty="0">
                <a:solidFill>
                  <a:srgbClr val="C00000"/>
                </a:solidFill>
              </a:rPr>
              <a:t> </a:t>
            </a:r>
            <a:r>
              <a:rPr lang="en-US" i="1" dirty="0" err="1">
                <a:solidFill>
                  <a:srgbClr val="C00000"/>
                </a:solidFill>
              </a:rPr>
              <a:t>chối</a:t>
            </a:r>
            <a:r>
              <a:rPr lang="en-US" i="1" dirty="0">
                <a:solidFill>
                  <a:srgbClr val="C00000"/>
                </a:solidFill>
              </a:rPr>
              <a:t> </a:t>
            </a:r>
            <a:r>
              <a:rPr lang="en-US" i="1" dirty="0" err="1">
                <a:solidFill>
                  <a:srgbClr val="C00000"/>
                </a:solidFill>
              </a:rPr>
              <a:t>bạn</a:t>
            </a:r>
            <a:r>
              <a:rPr lang="en-US" i="1" dirty="0">
                <a:solidFill>
                  <a:srgbClr val="C00000"/>
                </a:solidFill>
              </a:rPr>
              <a:t> </a:t>
            </a:r>
            <a:r>
              <a:rPr lang="en-US" i="1" dirty="0" err="1">
                <a:solidFill>
                  <a:srgbClr val="C00000"/>
                </a:solidFill>
              </a:rPr>
              <a:t>trước</a:t>
            </a:r>
            <a:r>
              <a:rPr lang="en-US" i="1" dirty="0">
                <a:solidFill>
                  <a:srgbClr val="C00000"/>
                </a:solidFill>
              </a:rPr>
              <a:t> </a:t>
            </a:r>
            <a:r>
              <a:rPr lang="en-US" i="1" dirty="0" err="1">
                <a:solidFill>
                  <a:srgbClr val="C00000"/>
                </a:solidFill>
              </a:rPr>
              <a:t>khi</a:t>
            </a:r>
            <a:r>
              <a:rPr lang="en-US" i="1" dirty="0">
                <a:solidFill>
                  <a:srgbClr val="C00000"/>
                </a:solidFill>
              </a:rPr>
              <a:t> </a:t>
            </a:r>
            <a:r>
              <a:rPr lang="en-US" i="1" dirty="0" err="1">
                <a:solidFill>
                  <a:srgbClr val="C00000"/>
                </a:solidFill>
              </a:rPr>
              <a:t>từ</a:t>
            </a:r>
            <a:r>
              <a:rPr lang="en-US" i="1" dirty="0">
                <a:solidFill>
                  <a:srgbClr val="C00000"/>
                </a:solidFill>
              </a:rPr>
              <a:t> </a:t>
            </a:r>
            <a:r>
              <a:rPr lang="en-US" i="1" dirty="0" err="1">
                <a:solidFill>
                  <a:srgbClr val="C00000"/>
                </a:solidFill>
              </a:rPr>
              <a:t>chối</a:t>
            </a:r>
            <a:r>
              <a:rPr lang="en-US" i="1" dirty="0">
                <a:solidFill>
                  <a:srgbClr val="C00000"/>
                </a:solidFill>
              </a:rPr>
              <a:t> </a:t>
            </a:r>
            <a:r>
              <a:rPr lang="en-US" i="1" dirty="0" err="1">
                <a:solidFill>
                  <a:srgbClr val="C00000"/>
                </a:solidFill>
              </a:rPr>
              <a:t>công</a:t>
            </a:r>
            <a:r>
              <a:rPr lang="en-US" i="1" dirty="0">
                <a:solidFill>
                  <a:srgbClr val="C00000"/>
                </a:solidFill>
              </a:rPr>
              <a:t> ty”</a:t>
            </a:r>
          </a:p>
        </p:txBody>
      </p:sp>
      <p:pic>
        <p:nvPicPr>
          <p:cNvPr id="17410" name="Picture 2" descr="Những câu nó hay truyền động lực - Vũ Ngọc Thọ">
            <a:extLst>
              <a:ext uri="{FF2B5EF4-FFF2-40B4-BE49-F238E27FC236}">
                <a16:creationId xmlns:a16="http://schemas.microsoft.com/office/drawing/2014/main" id="{DC5DEE2B-888D-DB00-9648-F7AA596EF7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103"/>
          <a:stretch/>
        </p:blipFill>
        <p:spPr bwMode="auto">
          <a:xfrm>
            <a:off x="2557929" y="1609165"/>
            <a:ext cx="7076142" cy="3339353"/>
          </a:xfrm>
          <a:prstGeom prst="rect">
            <a:avLst/>
          </a:prstGeom>
          <a:noFill/>
          <a:effectLst>
            <a:glow rad="228600">
              <a:schemeClr val="accent2">
                <a:satMod val="175000"/>
                <a:alpha val="40000"/>
              </a:schemeClr>
            </a:glow>
          </a:effectLst>
          <a:scene3d>
            <a:camera prst="perspectiveRelaxed"/>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8733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1756</Words>
  <Application>Microsoft Office PowerPoint</Application>
  <PresentationFormat>Widescreen</PresentationFormat>
  <Paragraphs>86</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Bahnschrift</vt:lpstr>
      <vt:lpstr>Bahnschrift SemiCondensed</vt:lpstr>
      <vt:lpstr>Calibri</vt:lpstr>
      <vt:lpstr>Calibri Light</vt:lpstr>
      <vt:lpstr>Oswald</vt:lpstr>
      <vt:lpstr>Roboto</vt:lpstr>
      <vt:lpstr>Wingdings</vt:lpstr>
      <vt:lpstr>Office Theme</vt:lpstr>
      <vt:lpstr>NGUYÊN TẮC  BÁN HÀNG BẤT BIẾN MỌI THỜI ĐẠI</vt:lpstr>
      <vt:lpstr>Bán hàng là gì?</vt:lpstr>
      <vt:lpstr>Đặc điểm của bán hàng</vt:lpstr>
      <vt:lpstr>Vai trò của hoạt động bán hàng</vt:lpstr>
      <vt:lpstr>10 NGUYÊN TẮC BẤT BIẾN TRONG BÁN HÀNG</vt:lpstr>
      <vt:lpstr>Nguyên tắc số 1: Cá nhân hóa mong muốn của khách hàng</vt:lpstr>
      <vt:lpstr>Nguyên tắc số 2: Chất lượng dịch vụ online và offline phải giống nhau</vt:lpstr>
      <vt:lpstr>Nguyên tắc số 3: Luôn quan tâm tới khách hàng</vt:lpstr>
      <vt:lpstr>Nguyên tắc số 4: Hãy truyền thông tin quan trọng</vt:lpstr>
      <vt:lpstr>Nguyên tắc số 5: Luôn lắng nghe phản hồi từ khách hàng</vt:lpstr>
      <vt:lpstr>Nguyên tắc số 6: Khách hàng luôn đúng</vt:lpstr>
      <vt:lpstr>Nguyên tắc số 7: Luôn tạo sự ngạc nhiên</vt:lpstr>
      <vt:lpstr>Nguyên tắc số 8: Luôn cải cách và thay đổi</vt:lpstr>
      <vt:lpstr>Nguyên tắc số 9: Phải đáng tin cậy</vt:lpstr>
      <vt:lpstr>Nguyên tắc số 10: Hãy ủng hộ việc từ thiện bên cạnh chuyện kiếm tiền</vt:lpstr>
      <vt:lpstr>7 YẾU TỐ BẤT BIẾN CỦA NGƯỜI BÁN HÀNG</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2</cp:revision>
  <dcterms:created xsi:type="dcterms:W3CDTF">2025-01-16T05:07:47Z</dcterms:created>
  <dcterms:modified xsi:type="dcterms:W3CDTF">2025-01-16T11:31:12Z</dcterms:modified>
</cp:coreProperties>
</file>