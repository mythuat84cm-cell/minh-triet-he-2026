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972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96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25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060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42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063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99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85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85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74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8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3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64" r:id="rId6"/>
    <p:sldLayoutId id="2147483869" r:id="rId7"/>
    <p:sldLayoutId id="2147483865" r:id="rId8"/>
    <p:sldLayoutId id="2147483866" r:id="rId9"/>
    <p:sldLayoutId id="2147483867" r:id="rId10"/>
    <p:sldLayoutId id="21474838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46187E64-7A77-4D13-A5F4-9AEC282BB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!!Arc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A00F90-5806-492F-9DAC-440055799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460" y="1036467"/>
            <a:ext cx="5085580" cy="2387600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  <a:latin typeface="Bahnschrift SemiBold SemiConden" panose="020B0502040204020203" pitchFamily="34" charset="0"/>
              </a:rPr>
              <a:t>CUỘC SỐNG TƯƠI ĐẸP</a:t>
            </a:r>
          </a:p>
        </p:txBody>
      </p:sp>
      <p:sp>
        <p:nvSpPr>
          <p:cNvPr id="79" name="!!Oval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9802" y="832686"/>
            <a:ext cx="1104943" cy="107496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!!Rectangle">
            <a:extLst>
              <a:ext uri="{FF2B5EF4-FFF2-40B4-BE49-F238E27FC236}">
                <a16:creationId xmlns:a16="http://schemas.microsoft.com/office/drawing/2014/main" id="{0DA5DB8B-7E5C-4ABC-8069-A9A8806F3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806" y="4790720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2" name="Picture 51" descr="Diagram&#10;&#10;Description automatically generated">
            <a:extLst>
              <a:ext uri="{FF2B5EF4-FFF2-40B4-BE49-F238E27FC236}">
                <a16:creationId xmlns:a16="http://schemas.microsoft.com/office/drawing/2014/main" id="{9892F172-18A5-494E-B392-9F5C3346A8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37" r="16415" b="2"/>
          <a:stretch/>
        </p:blipFill>
        <p:spPr>
          <a:xfrm>
            <a:off x="6521381" y="773723"/>
            <a:ext cx="5194998" cy="5194998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17078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AA5ED585-FEBB-4DAD-84C0-97BEE6C36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EF6AC352-A720-4DB3-87CA-A33B0607C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1/400 triệu tỷ là xác suất bạn được sinh ra trên thế giới này | Đại Bảo  Tháp Mandala Tây Thiên | Đại Bảo Tháp | Đại Bảo Tháp Tây Thiên">
            <a:extLst>
              <a:ext uri="{FF2B5EF4-FFF2-40B4-BE49-F238E27FC236}">
                <a16:creationId xmlns:a16="http://schemas.microsoft.com/office/drawing/2014/main" id="{560557E2-7833-428B-B4BC-7350932493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24" r="1" b="1"/>
          <a:stretch/>
        </p:blipFill>
        <p:spPr bwMode="auto">
          <a:xfrm>
            <a:off x="798336" y="668337"/>
            <a:ext cx="10467744" cy="5734051"/>
          </a:xfrm>
          <a:custGeom>
            <a:avLst/>
            <a:gdLst/>
            <a:ahLst/>
            <a:cxnLst/>
            <a:rect l="l" t="t" r="r" b="b"/>
            <a:pathLst>
              <a:path w="11668636" h="6391879">
                <a:moveTo>
                  <a:pt x="82200" y="0"/>
                </a:moveTo>
                <a:lnTo>
                  <a:pt x="11586436" y="0"/>
                </a:lnTo>
                <a:cubicBezTo>
                  <a:pt x="11631834" y="0"/>
                  <a:pt x="11668636" y="36802"/>
                  <a:pt x="11668636" y="82200"/>
                </a:cubicBezTo>
                <a:lnTo>
                  <a:pt x="11668636" y="6309679"/>
                </a:lnTo>
                <a:cubicBezTo>
                  <a:pt x="11668636" y="6355077"/>
                  <a:pt x="11631834" y="6391879"/>
                  <a:pt x="11586436" y="6391879"/>
                </a:cubicBezTo>
                <a:lnTo>
                  <a:pt x="82200" y="6391879"/>
                </a:lnTo>
                <a:cubicBezTo>
                  <a:pt x="36802" y="6391879"/>
                  <a:pt x="0" y="6355077"/>
                  <a:pt x="0" y="6309679"/>
                </a:cubicBezTo>
                <a:lnTo>
                  <a:pt x="0" y="82200"/>
                </a:lnTo>
                <a:cubicBezTo>
                  <a:pt x="0" y="36802"/>
                  <a:pt x="36802" y="0"/>
                  <a:pt x="8220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Arc 76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8958979" y="36813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69" y="5694291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E95827-22D0-4600-BA4E-25695254B3C4}"/>
              </a:ext>
            </a:extLst>
          </p:cNvPr>
          <p:cNvSpPr/>
          <p:nvPr/>
        </p:nvSpPr>
        <p:spPr>
          <a:xfrm>
            <a:off x="1242984" y="739174"/>
            <a:ext cx="9464450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1/400 </a:t>
            </a:r>
            <a:r>
              <a:rPr lang="en-US" sz="32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Triệu</a:t>
            </a:r>
            <a:r>
              <a:rPr lang="en-US" sz="32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tỷ</a:t>
            </a:r>
            <a:r>
              <a:rPr lang="en-US" sz="32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cơ</a:t>
            </a:r>
            <a:r>
              <a:rPr lang="en-US" sz="32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hội</a:t>
            </a:r>
            <a:r>
              <a:rPr lang="en-US" sz="32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32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mình</a:t>
            </a:r>
            <a:r>
              <a:rPr lang="en-US" sz="32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mới</a:t>
            </a:r>
            <a:r>
              <a:rPr lang="en-US" sz="32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được</a:t>
            </a:r>
            <a:r>
              <a:rPr lang="en-US" sz="32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sinh</a:t>
            </a:r>
            <a:r>
              <a:rPr lang="en-US" sz="32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ra </a:t>
            </a:r>
            <a:r>
              <a:rPr lang="en-US" sz="32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đời</a:t>
            </a:r>
            <a:endParaRPr lang="en-US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 </a:t>
            </a:r>
            <a:r>
              <a:rPr lang="en-US" sz="320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Bạn</a:t>
            </a:r>
            <a:r>
              <a:rPr 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320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đang</a:t>
            </a:r>
            <a:r>
              <a:rPr 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320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hạnh</a:t>
            </a:r>
            <a:r>
              <a:rPr 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320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phúc</a:t>
            </a:r>
            <a:r>
              <a:rPr 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320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hơn</a:t>
            </a:r>
            <a:r>
              <a:rPr 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320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biết</a:t>
            </a:r>
            <a:r>
              <a:rPr 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bao </a:t>
            </a:r>
            <a:r>
              <a:rPr lang="en-US" sz="320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nhiêu</a:t>
            </a:r>
            <a:r>
              <a:rPr 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sz="320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người</a:t>
            </a:r>
            <a:r>
              <a:rPr lang="en-US" sz="32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</a:t>
            </a:r>
            <a:endParaRPr lang="en-US" sz="32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BC35B0-5793-4D9F-980F-380FEA1CE05C}"/>
              </a:ext>
            </a:extLst>
          </p:cNvPr>
          <p:cNvSpPr/>
          <p:nvPr/>
        </p:nvSpPr>
        <p:spPr>
          <a:xfrm>
            <a:off x="845533" y="5320962"/>
            <a:ext cx="1025934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Vậy</a:t>
            </a:r>
            <a:r>
              <a:rPr lang="en-US" sz="28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tại</a:t>
            </a:r>
            <a:r>
              <a:rPr lang="en-US" sz="28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sao</a:t>
            </a:r>
            <a:r>
              <a:rPr lang="en-US" sz="28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bạn</a:t>
            </a:r>
            <a:r>
              <a:rPr lang="en-US" sz="28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phải</a:t>
            </a:r>
            <a:r>
              <a:rPr lang="en-US" sz="28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than </a:t>
            </a:r>
            <a:r>
              <a:rPr lang="en-US" sz="28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trách</a:t>
            </a:r>
            <a:r>
              <a:rPr lang="en-US" sz="28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người</a:t>
            </a:r>
            <a:r>
              <a:rPr lang="en-US" sz="28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khác</a:t>
            </a:r>
            <a:r>
              <a:rPr lang="en-US" sz="28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than </a:t>
            </a:r>
            <a:r>
              <a:rPr lang="en-US" sz="28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trách</a:t>
            </a:r>
            <a:r>
              <a:rPr lang="en-US" sz="28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cuộc</a:t>
            </a:r>
            <a:r>
              <a:rPr lang="en-US" sz="28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đời</a:t>
            </a:r>
            <a:endParaRPr lang="en-US" sz="2800" b="0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369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B8E11-3F5A-46CD-9934-84C714D6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56" y="486184"/>
            <a:ext cx="5397237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BẠN NÓI MÌNH HỌC HÀNH VẤT VÃ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6C673-2FE2-4ECC-9CFB-6B857908F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63" y="2992846"/>
            <a:ext cx="700893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“Bao </a:t>
            </a:r>
            <a:r>
              <a:rPr lang="en-US" sz="2400" dirty="0" err="1">
                <a:solidFill>
                  <a:srgbClr val="002060"/>
                </a:solidFill>
              </a:rPr>
              <a:t>nhiêu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đứa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trẻ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không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có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mái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trường</a:t>
            </a:r>
            <a:r>
              <a:rPr lang="en-US" sz="2400" dirty="0">
                <a:solidFill>
                  <a:srgbClr val="002060"/>
                </a:solidFill>
              </a:rPr>
              <a:t>”</a:t>
            </a:r>
          </a:p>
        </p:txBody>
      </p:sp>
      <p:pic>
        <p:nvPicPr>
          <p:cNvPr id="3076" name="Picture 4" descr="Giáo viên tuyệt đối không được tổ chức dạy thêm, học thêm tại nhà hoặc các  địa điểm thuê/ mượn">
            <a:extLst>
              <a:ext uri="{FF2B5EF4-FFF2-40B4-BE49-F238E27FC236}">
                <a16:creationId xmlns:a16="http://schemas.microsoft.com/office/drawing/2014/main" id="{37F3E0DE-73F7-486A-8DD6-3EA570E56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98100" y="598677"/>
            <a:ext cx="4355847" cy="2733294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Thày giáo “không chuyên” và lớp học dưới gầm cầu New Dehli - Thế giới -  Việt Giải Trí">
            <a:extLst>
              <a:ext uri="{FF2B5EF4-FFF2-40B4-BE49-F238E27FC236}">
                <a16:creationId xmlns:a16="http://schemas.microsoft.com/office/drawing/2014/main" id="{B7E3F4F0-CFF8-4573-ABAC-01E72D04E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98100" y="3526029"/>
            <a:ext cx="4321411" cy="2733293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Arc 76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504802" flipH="1">
            <a:off x="6443172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44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74">
            <a:extLst>
              <a:ext uri="{FF2B5EF4-FFF2-40B4-BE49-F238E27FC236}">
                <a16:creationId xmlns:a16="http://schemas.microsoft.com/office/drawing/2014/main" id="{8E0919AE-B384-4D4A-9837-F629B1CF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5A425-0AEC-4E55-A54A-0CE5BE0D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BÁN NÓI MÌNH KHỔ</a:t>
            </a:r>
          </a:p>
        </p:txBody>
      </p:sp>
      <p:sp>
        <p:nvSpPr>
          <p:cNvPr id="4105" name="Oval 76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8049" y="1533388"/>
            <a:ext cx="754056" cy="73360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12415-D9E9-42FE-BAB6-D96AB4161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71561"/>
            <a:ext cx="3611610" cy="2257256"/>
          </a:xfrm>
          <a:custGeom>
            <a:avLst/>
            <a:gdLst/>
            <a:ahLst/>
            <a:cxnLst/>
            <a:rect l="l" t="t" r="r" b="b"/>
            <a:pathLst>
              <a:path w="4252881" h="4252881">
                <a:moveTo>
                  <a:pt x="95137" y="0"/>
                </a:moveTo>
                <a:lnTo>
                  <a:pt x="4157744" y="0"/>
                </a:lnTo>
                <a:cubicBezTo>
                  <a:pt x="4210287" y="0"/>
                  <a:pt x="4252881" y="42594"/>
                  <a:pt x="4252881" y="95137"/>
                </a:cubicBezTo>
                <a:lnTo>
                  <a:pt x="4252881" y="4157744"/>
                </a:lnTo>
                <a:cubicBezTo>
                  <a:pt x="4252881" y="4210287"/>
                  <a:pt x="4210287" y="4252881"/>
                  <a:pt x="4157744" y="4252881"/>
                </a:cubicBezTo>
                <a:lnTo>
                  <a:pt x="95137" y="4252881"/>
                </a:lnTo>
                <a:cubicBezTo>
                  <a:pt x="42594" y="4252881"/>
                  <a:pt x="0" y="4210287"/>
                  <a:pt x="0" y="4157744"/>
                </a:cubicBezTo>
                <a:lnTo>
                  <a:pt x="0" y="95137"/>
                </a:lnTo>
                <a:cubicBezTo>
                  <a:pt x="0" y="42594"/>
                  <a:pt x="42594" y="0"/>
                  <a:pt x="95137" y="0"/>
                </a:cubicBezTo>
                <a:close/>
              </a:path>
            </a:pathLst>
          </a:custGeom>
        </p:spPr>
      </p:pic>
      <p:pic>
        <p:nvPicPr>
          <p:cNvPr id="4102" name="Picture 6" descr="Thế giới tiến gần tới mục tiêu chấm dứt nghèo đói vào năm 2030 - Tuổi Trẻ  Online">
            <a:extLst>
              <a:ext uri="{FF2B5EF4-FFF2-40B4-BE49-F238E27FC236}">
                <a16:creationId xmlns:a16="http://schemas.microsoft.com/office/drawing/2014/main" id="{19D242CB-D131-495F-BCCC-D6971BF46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5796" y="3736439"/>
            <a:ext cx="3637009" cy="2036725"/>
          </a:xfrm>
          <a:custGeom>
            <a:avLst/>
            <a:gdLst/>
            <a:ahLst/>
            <a:cxnLst/>
            <a:rect l="l" t="t" r="r" b="b"/>
            <a:pathLst>
              <a:path w="4252881" h="4252881">
                <a:moveTo>
                  <a:pt x="95137" y="0"/>
                </a:moveTo>
                <a:lnTo>
                  <a:pt x="4157744" y="0"/>
                </a:lnTo>
                <a:cubicBezTo>
                  <a:pt x="4210287" y="0"/>
                  <a:pt x="4252881" y="42594"/>
                  <a:pt x="4252881" y="95137"/>
                </a:cubicBezTo>
                <a:lnTo>
                  <a:pt x="4252881" y="4157744"/>
                </a:lnTo>
                <a:cubicBezTo>
                  <a:pt x="4252881" y="4210287"/>
                  <a:pt x="4210287" y="4252881"/>
                  <a:pt x="4157744" y="4252881"/>
                </a:cubicBezTo>
                <a:lnTo>
                  <a:pt x="95137" y="4252881"/>
                </a:lnTo>
                <a:cubicBezTo>
                  <a:pt x="42594" y="4252881"/>
                  <a:pt x="0" y="4210287"/>
                  <a:pt x="0" y="4157744"/>
                </a:cubicBezTo>
                <a:lnTo>
                  <a:pt x="0" y="95137"/>
                </a:lnTo>
                <a:cubicBezTo>
                  <a:pt x="0" y="42594"/>
                  <a:pt x="42594" y="0"/>
                  <a:pt x="9513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107D50C9-F568-423A-A839-B49874AAE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86024" y="4442435"/>
            <a:ext cx="624734" cy="62473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A1DC3-E7F8-49A7-8AE5-A043D1832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105" y="2415343"/>
            <a:ext cx="74212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2060"/>
                </a:solidFill>
              </a:rPr>
              <a:t>Hãy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xem</a:t>
            </a:r>
            <a:r>
              <a:rPr lang="en-US" sz="2400" dirty="0">
                <a:solidFill>
                  <a:srgbClr val="002060"/>
                </a:solidFill>
              </a:rPr>
              <a:t> bao </a:t>
            </a:r>
            <a:r>
              <a:rPr lang="en-US" sz="2400" dirty="0" err="1">
                <a:solidFill>
                  <a:srgbClr val="002060"/>
                </a:solidFill>
              </a:rPr>
              <a:t>người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không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có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cơm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để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ăn</a:t>
            </a:r>
            <a:r>
              <a:rPr lang="en-US" sz="2400" dirty="0">
                <a:solidFill>
                  <a:srgbClr val="002060"/>
                </a:solidFill>
              </a:rPr>
              <a:t> qua </a:t>
            </a:r>
            <a:r>
              <a:rPr lang="en-US" sz="2400" dirty="0" err="1">
                <a:solidFill>
                  <a:srgbClr val="002060"/>
                </a:solidFill>
              </a:rPr>
              <a:t>ngày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87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1E6037-5420-4337-B5BF-B27DCD5CE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7075"/>
            <a:ext cx="5120561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BẠN NÓI MÌNH LAO ĐỘNG KHỔ SỞ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FB879-D14C-4546-A6D7-D0437125C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428999"/>
            <a:ext cx="5092194" cy="274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2060"/>
                </a:solidFill>
              </a:rPr>
              <a:t>Có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biết</a:t>
            </a:r>
            <a:r>
              <a:rPr lang="en-US" sz="2400" dirty="0">
                <a:solidFill>
                  <a:srgbClr val="002060"/>
                </a:solidFill>
              </a:rPr>
              <a:t> bao </a:t>
            </a:r>
            <a:r>
              <a:rPr lang="en-US" sz="2400" dirty="0" err="1">
                <a:solidFill>
                  <a:srgbClr val="002060"/>
                </a:solidFill>
              </a:rPr>
              <a:t>người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đang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ngày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đêm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bán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mặt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cho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đất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bán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lưng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cho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trời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4" name="Picture 4" descr="Người đoạt giải Nobel Hòa bình kêu gọi chống lại nạn bóc lột trẻ em |  DoanhnhanPlus.vn">
            <a:extLst>
              <a:ext uri="{FF2B5EF4-FFF2-40B4-BE49-F238E27FC236}">
                <a16:creationId xmlns:a16="http://schemas.microsoft.com/office/drawing/2014/main" id="{C627FD2E-342A-4A1A-8553-A44472BC83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6" r="-3" b="7276"/>
          <a:stretch/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Arc 76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2" name="Picture 2" descr="Lưu ý về chuyển người lao động đi làm việc khác so với hợp đồng từ năm 2021  | Tin tức mới nhất 24h - Đọc Báo Lao Động online - Laodong.vn">
            <a:extLst>
              <a:ext uri="{FF2B5EF4-FFF2-40B4-BE49-F238E27FC236}">
                <a16:creationId xmlns:a16="http://schemas.microsoft.com/office/drawing/2014/main" id="{30C5E216-90D4-42F6-947A-C7F7FCD89B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r="4339" b="1"/>
          <a:stretch/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15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7891482-C38A-4F0C-8183-0121632F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05E99-1777-4BA5-9F7C-F9373E52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129" y="486184"/>
            <a:ext cx="6118403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BẠN BUỒN CHÁN CUỘC ĐỜI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97EF3-1AD8-473F-8E3C-A0AEDB885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582418"/>
            <a:ext cx="4100921" cy="254257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53BC7-B0B0-4E7D-94E9-4901E5D35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9399" y="2772337"/>
            <a:ext cx="6118403" cy="166714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err="1">
                <a:solidFill>
                  <a:srgbClr val="002060"/>
                </a:solidFill>
              </a:rPr>
              <a:t>Bạn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hãy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nhớ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có</a:t>
            </a:r>
            <a:r>
              <a:rPr lang="en-US" sz="2400" dirty="0">
                <a:solidFill>
                  <a:srgbClr val="002060"/>
                </a:solidFill>
              </a:rPr>
              <a:t> bao </a:t>
            </a:r>
            <a:r>
              <a:rPr lang="en-US" sz="2400" dirty="0" err="1">
                <a:solidFill>
                  <a:srgbClr val="002060"/>
                </a:solidFill>
              </a:rPr>
              <a:t>người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không</a:t>
            </a:r>
            <a:r>
              <a:rPr lang="en-US" sz="2400" dirty="0">
                <a:solidFill>
                  <a:srgbClr val="002060"/>
                </a:solidFill>
              </a:rPr>
              <a:t> bao </a:t>
            </a:r>
            <a:r>
              <a:rPr lang="en-US" sz="2400" dirty="0" err="1">
                <a:solidFill>
                  <a:srgbClr val="002060"/>
                </a:solidFill>
              </a:rPr>
              <a:t>giờ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còn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được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sống</a:t>
            </a:r>
            <a:r>
              <a:rPr lang="en-US" sz="2400" dirty="0">
                <a:solidFill>
                  <a:srgbClr val="002060"/>
                </a:solidFill>
              </a:rPr>
              <a:t>, </a:t>
            </a:r>
            <a:r>
              <a:rPr lang="en-US" sz="2400" dirty="0" err="1">
                <a:solidFill>
                  <a:srgbClr val="002060"/>
                </a:solidFill>
              </a:rPr>
              <a:t>được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bước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đi</a:t>
            </a:r>
            <a:r>
              <a:rPr lang="en-US" sz="2400" dirty="0">
                <a:solidFill>
                  <a:srgbClr val="002060"/>
                </a:solidFill>
              </a:rPr>
              <a:t>, </a:t>
            </a:r>
            <a:r>
              <a:rPr lang="en-US" sz="2400" dirty="0" err="1">
                <a:solidFill>
                  <a:srgbClr val="002060"/>
                </a:solidFill>
              </a:rPr>
              <a:t>được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làm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việc</a:t>
            </a:r>
            <a:r>
              <a:rPr lang="en-US" sz="2400" dirty="0">
                <a:solidFill>
                  <a:srgbClr val="002060"/>
                </a:solidFill>
              </a:rPr>
              <a:t>, </a:t>
            </a:r>
            <a:r>
              <a:rPr lang="en-US" sz="2400" dirty="0" err="1">
                <a:solidFill>
                  <a:srgbClr val="002060"/>
                </a:solidFill>
              </a:rPr>
              <a:t>được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nhìn</a:t>
            </a:r>
            <a:r>
              <a:rPr lang="en-US" sz="2400" dirty="0">
                <a:solidFill>
                  <a:srgbClr val="002060"/>
                </a:solidFill>
              </a:rPr>
              <a:t>…</a:t>
            </a:r>
          </a:p>
        </p:txBody>
      </p:sp>
      <p:pic>
        <p:nvPicPr>
          <p:cNvPr id="6146" name="Picture 2" descr="Các loại trầm cảm thường gặp và cách nhận diện | VTV.VN">
            <a:extLst>
              <a:ext uri="{FF2B5EF4-FFF2-40B4-BE49-F238E27FC236}">
                <a16:creationId xmlns:a16="http://schemas.microsoft.com/office/drawing/2014/main" id="{25C61DF8-F46D-459A-B2E6-8BA85B07D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3654" y="3543300"/>
            <a:ext cx="3750732" cy="2813049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Arc 72">
            <a:extLst>
              <a:ext uri="{FF2B5EF4-FFF2-40B4-BE49-F238E27FC236}">
                <a16:creationId xmlns:a16="http://schemas.microsoft.com/office/drawing/2014/main" id="{DA4B6E73-2318-4814-8EB1-306D53723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64111">
            <a:off x="-991925" y="5644752"/>
            <a:ext cx="2987899" cy="2987899"/>
          </a:xfrm>
          <a:prstGeom prst="arc">
            <a:avLst>
              <a:gd name="adj1" fmla="val 16200000"/>
              <a:gd name="adj2" fmla="val 21581479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162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C4B347-5EFA-467A-9C30-123478B2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61" y="367075"/>
            <a:ext cx="5282901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BẠN NÓI </a:t>
            </a:r>
            <a:br>
              <a:rPr lang="en-US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</a:br>
            <a:r>
              <a:rPr lang="en-US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MÌNH QUÁ NGHÈO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686BC-6059-410F-9DB4-483D4C96D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428999"/>
            <a:ext cx="5092194" cy="274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2060"/>
                </a:solidFill>
              </a:rPr>
              <a:t>Hãy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nhìn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cuộc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đời</a:t>
            </a:r>
            <a:r>
              <a:rPr lang="en-US" sz="2400" dirty="0">
                <a:solidFill>
                  <a:srgbClr val="002060"/>
                </a:solidFill>
              </a:rPr>
              <a:t> bao </a:t>
            </a:r>
            <a:r>
              <a:rPr lang="en-US" sz="2400" dirty="0" err="1">
                <a:solidFill>
                  <a:srgbClr val="002060"/>
                </a:solidFill>
              </a:rPr>
              <a:t>người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không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có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đủ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bửa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ăn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172" name="Picture 4" descr="BND211 – Cảnh sống đói khổ quê nhà « ĐỌC VUI VÀ SUY NGHĨ">
            <a:extLst>
              <a:ext uri="{FF2B5EF4-FFF2-40B4-BE49-F238E27FC236}">
                <a16:creationId xmlns:a16="http://schemas.microsoft.com/office/drawing/2014/main" id="{53F7FBD7-243A-445D-8E3D-0CC872AE1A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2" r="1" b="1"/>
          <a:stretch/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Arc 76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170" name="Picture 2" descr="Trọn bộ 222 stt chán đời về cuộc sống mà bạn nên đọc ít nhất một lần - Elead">
            <a:extLst>
              <a:ext uri="{FF2B5EF4-FFF2-40B4-BE49-F238E27FC236}">
                <a16:creationId xmlns:a16="http://schemas.microsoft.com/office/drawing/2014/main" id="{94EC093D-B69A-4C13-B9FD-EDDA8FE8BA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9" r="27145" b="-4"/>
          <a:stretch/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632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2C43F1-D87B-4CC0-8D39-4B6E0745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56" y="486184"/>
            <a:ext cx="5397237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BẠN THAN </a:t>
            </a:r>
            <a:br>
              <a:rPr lang="en-US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</a:br>
            <a:r>
              <a:rPr lang="en-US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XÃ HỘI BẤT CÔNG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6195D-8FEA-450C-8679-C969D39FB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56" y="3246614"/>
            <a:ext cx="5397237" cy="3051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2060"/>
                </a:solidFill>
              </a:rPr>
              <a:t>Nhưng</a:t>
            </a:r>
            <a:r>
              <a:rPr lang="en-US" sz="2400" dirty="0">
                <a:solidFill>
                  <a:srgbClr val="002060"/>
                </a:solidFill>
              </a:rPr>
              <a:t> bao </a:t>
            </a:r>
            <a:r>
              <a:rPr lang="en-US" sz="2400" dirty="0" err="1">
                <a:solidFill>
                  <a:srgbClr val="002060"/>
                </a:solidFill>
              </a:rPr>
              <a:t>người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chưa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có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nỗi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mái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nhà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che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mưa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che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nắng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8196" name="Picture 4" descr="Giấc mơ” có thực của cụ Mơ">
            <a:extLst>
              <a:ext uri="{FF2B5EF4-FFF2-40B4-BE49-F238E27FC236}">
                <a16:creationId xmlns:a16="http://schemas.microsoft.com/office/drawing/2014/main" id="{690A5D8C-84D6-472A-B24C-661E37D25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98100" y="684033"/>
            <a:ext cx="4555700" cy="2562581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194" name="Picture 2" descr="Tình trạng nghèo đói gia tăng trên toàn thế giới">
            <a:extLst>
              <a:ext uri="{FF2B5EF4-FFF2-40B4-BE49-F238E27FC236}">
                <a16:creationId xmlns:a16="http://schemas.microsoft.com/office/drawing/2014/main" id="{9C15D4E0-53E4-4C30-9D04-29C7925F3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98100" y="3588606"/>
            <a:ext cx="4555700" cy="2608138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Arc 76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504802" flipH="1">
            <a:off x="6443172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27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A00AC0-361C-48D3-BBB7-4539157DF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7075"/>
            <a:ext cx="5120561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BẠN THAN CUỘC ĐỜI BẤT HẠNH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80274-7F1C-4240-B776-F2F3DF4AF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007909"/>
            <a:ext cx="5973416" cy="3169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2060"/>
                </a:solidFill>
              </a:rPr>
              <a:t>Nhưng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có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biết</a:t>
            </a:r>
            <a:r>
              <a:rPr lang="en-US" sz="2400" dirty="0">
                <a:solidFill>
                  <a:srgbClr val="002060"/>
                </a:solidFill>
              </a:rPr>
              <a:t> bao </a:t>
            </a:r>
            <a:r>
              <a:rPr lang="en-US" sz="2400" dirty="0" err="1">
                <a:solidFill>
                  <a:srgbClr val="002060"/>
                </a:solidFill>
              </a:rPr>
              <a:t>nhiêu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đưa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trẻ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mồ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côi</a:t>
            </a:r>
            <a:r>
              <a:rPr lang="en-US" sz="2400" dirty="0">
                <a:solidFill>
                  <a:srgbClr val="002060"/>
                </a:solidFill>
              </a:rPr>
              <a:t>, bao </a:t>
            </a:r>
            <a:r>
              <a:rPr lang="en-US" sz="2400" dirty="0" err="1">
                <a:solidFill>
                  <a:srgbClr val="002060"/>
                </a:solidFill>
              </a:rPr>
              <a:t>đứa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trẻ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phải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làm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lũ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ngoài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đời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18" name="Picture 2" descr="5 chị em mồ côi sống khốn khổ trong căn nhà lá sắp sập">
            <a:extLst>
              <a:ext uri="{FF2B5EF4-FFF2-40B4-BE49-F238E27FC236}">
                <a16:creationId xmlns:a16="http://schemas.microsoft.com/office/drawing/2014/main" id="{77C2DF85-4504-46BE-8F88-6125A0D3D5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8" r="18338" b="-1"/>
          <a:stretch/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Arc 76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20" name="Picture 4" descr="Bài Thơ Trẻ Mồ Côi đầy xúc động của Dương Tuấn">
            <a:extLst>
              <a:ext uri="{FF2B5EF4-FFF2-40B4-BE49-F238E27FC236}">
                <a16:creationId xmlns:a16="http://schemas.microsoft.com/office/drawing/2014/main" id="{A15EE66D-15C0-4C5A-8B42-93F7BAF1B9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94" b="1"/>
          <a:stretch/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18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F98F-69D1-D582-48F2-B5410A497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545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SemiBold SemiConden" panose="020B0502040204020203" pitchFamily="34" charset="0"/>
              </a:rPr>
              <a:t>BẠN NÓI MÌNH ĐI XE NÁT QUÁ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28E30-1BF3-CEB0-B016-0A9C34087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5298" y="3134308"/>
            <a:ext cx="4776831" cy="236887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“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quanh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trăm</a:t>
            </a:r>
            <a:r>
              <a:rPr lang="en-US" dirty="0"/>
              <a:t> km”</a:t>
            </a:r>
          </a:p>
        </p:txBody>
      </p:sp>
      <p:pic>
        <p:nvPicPr>
          <p:cNvPr id="1026" name="Picture 2" descr="Xung đột và khí hậu khiến hàng chục triệu người châu Phi phải di dời">
            <a:extLst>
              <a:ext uri="{FF2B5EF4-FFF2-40B4-BE49-F238E27FC236}">
                <a16:creationId xmlns:a16="http://schemas.microsoft.com/office/drawing/2014/main" id="{2BD85187-2F5C-4C24-FF1A-B3D59A732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93" y="1406225"/>
            <a:ext cx="3877287" cy="25816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hững siêu 'xe mù' làm náo loạn Sài Gòn">
            <a:extLst>
              <a:ext uri="{FF2B5EF4-FFF2-40B4-BE49-F238E27FC236}">
                <a16:creationId xmlns:a16="http://schemas.microsoft.com/office/drawing/2014/main" id="{CDA1AAE3-6B20-2D15-6B25-6B109BE1D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93" y="4160939"/>
            <a:ext cx="3877287" cy="25848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888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7C5AB-E2C5-173E-4953-F5D859C25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Bahnschrift SemiBold SemiConden" panose="020B0502040204020203" pitchFamily="34" charset="0"/>
              </a:rPr>
              <a:t>BẠN THAN ĐIỆN THOẠI MÌNH BÈO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F571A-51F9-F713-C692-40AF3C9FE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8428" y="2776755"/>
            <a:ext cx="3297572" cy="326094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“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 </a:t>
            </a:r>
            <a:r>
              <a:rPr lang="en-US" dirty="0" err="1"/>
              <a:t>củ</a:t>
            </a:r>
            <a:r>
              <a:rPr lang="en-US" dirty="0"/>
              <a:t> </a:t>
            </a:r>
            <a:r>
              <a:rPr lang="en-US" dirty="0" err="1"/>
              <a:t>khoai</a:t>
            </a:r>
            <a:r>
              <a:rPr lang="en-US" dirty="0"/>
              <a:t>”</a:t>
            </a:r>
          </a:p>
        </p:txBody>
      </p:sp>
      <p:pic>
        <p:nvPicPr>
          <p:cNvPr id="2050" name="Picture 2" descr="Điện thoại Nokia 3210 4G TA-1615 Đen (Grunge Black)">
            <a:extLst>
              <a:ext uri="{FF2B5EF4-FFF2-40B4-BE49-F238E27FC236}">
                <a16:creationId xmlns:a16="http://schemas.microsoft.com/office/drawing/2014/main" id="{06681461-647A-D622-16B5-B67AC042CD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44"/>
          <a:stretch/>
        </p:blipFill>
        <p:spPr bwMode="auto">
          <a:xfrm>
            <a:off x="7311879" y="2228132"/>
            <a:ext cx="2528407" cy="3457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95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28883-5839-4F69-9183-9B66A328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C81972-5B57-550A-0A58-9BFFF80D6B2D}"/>
              </a:ext>
            </a:extLst>
          </p:cNvPr>
          <p:cNvGrpSpPr/>
          <p:nvPr/>
        </p:nvGrpSpPr>
        <p:grpSpPr>
          <a:xfrm>
            <a:off x="3131755" y="1344501"/>
            <a:ext cx="7085376" cy="4421275"/>
            <a:chOff x="4114522" y="1575237"/>
            <a:chExt cx="7085376" cy="4421275"/>
          </a:xfrm>
        </p:grpSpPr>
        <p:pic>
          <p:nvPicPr>
            <p:cNvPr id="3074" name="Picture 2" descr="Chỉ cần làm 2 điều đơn giản này, bạn sẽ có cuộc sống tươi đẹp">
              <a:extLst>
                <a:ext uri="{FF2B5EF4-FFF2-40B4-BE49-F238E27FC236}">
                  <a16:creationId xmlns:a16="http://schemas.microsoft.com/office/drawing/2014/main" id="{9D8D9D34-B30D-EB01-2B7A-C4C8F989DC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522" y="1575237"/>
              <a:ext cx="7085376" cy="442127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65000" dist="50800" dir="12900000" kx="195000" ky="145000" algn="tl" rotWithShape="0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360000"/>
              </a:camera>
              <a:lightRig rig="twoPt" dir="t">
                <a:rot lat="0" lon="0" rev="7200000"/>
              </a:lightRig>
            </a:scene3d>
            <a:sp3d contourW="12700">
              <a:bevelT w="25400" h="19050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A7F94D6-E5AB-843D-E24E-F9F097FC588C}"/>
                </a:ext>
              </a:extLst>
            </p:cNvPr>
            <p:cNvSpPr/>
            <p:nvPr/>
          </p:nvSpPr>
          <p:spPr>
            <a:xfrm>
              <a:off x="4691641" y="3498041"/>
              <a:ext cx="6311703" cy="107721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i="1" cap="none" spc="0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“</a:t>
              </a:r>
              <a:r>
                <a:rPr lang="en-US" sz="3200" b="0" i="1" cap="none" spc="0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Hạnh</a:t>
              </a:r>
              <a:r>
                <a:rPr lang="en-US" sz="3200" b="0" i="1" cap="none" spc="0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 </a:t>
              </a:r>
              <a:r>
                <a:rPr lang="en-US" sz="3200" b="0" i="1" cap="none" spc="0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phúc</a:t>
              </a:r>
              <a:r>
                <a:rPr lang="en-US" sz="3200" b="0" i="1" cap="none" spc="0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 </a:t>
              </a:r>
              <a:r>
                <a:rPr lang="en-US" sz="3200" b="0" i="1" cap="none" spc="0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là</a:t>
              </a:r>
              <a:r>
                <a:rPr lang="en-US" sz="3200" b="0" i="1" cap="none" spc="0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 </a:t>
              </a:r>
              <a:r>
                <a:rPr lang="en-US" sz="3200" b="0" i="1" cap="none" spc="0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được</a:t>
              </a:r>
              <a:r>
                <a:rPr lang="en-US" sz="3200" b="0" i="1" cap="none" spc="0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 </a:t>
              </a:r>
              <a:r>
                <a:rPr lang="en-US" sz="3200" b="0" i="1" cap="none" spc="0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sống</a:t>
              </a:r>
              <a:r>
                <a:rPr lang="en-US" sz="3200" b="0" i="1" cap="none" spc="0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 </a:t>
              </a:r>
              <a:r>
                <a:rPr lang="en-US" sz="3200" b="0" i="1" cap="none" spc="0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với</a:t>
              </a:r>
              <a:r>
                <a:rPr lang="en-US" sz="3200" b="0" i="1" cap="none" spc="0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 </a:t>
              </a:r>
              <a:r>
                <a:rPr lang="en-US" sz="3200" b="0" i="1" cap="none" spc="0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chính</a:t>
              </a:r>
              <a:r>
                <a:rPr lang="en-US" sz="3200" b="0" i="1" cap="none" spc="0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 </a:t>
              </a:r>
              <a:r>
                <a:rPr lang="en-US" sz="3200" b="0" i="1" cap="none" spc="0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mình</a:t>
              </a:r>
              <a:r>
                <a:rPr lang="en-US" sz="3200" b="0" i="1" cap="none" spc="0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 </a:t>
              </a:r>
              <a:r>
                <a:rPr lang="en-US" sz="3200" b="0" i="1" cap="none" spc="0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tron</a:t>
              </a:r>
              <a:r>
                <a:rPr lang="en-US" sz="3200" i="1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g</a:t>
              </a:r>
              <a:r>
                <a:rPr lang="en-US" sz="3200" i="1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 </a:t>
              </a:r>
              <a:r>
                <a:rPr lang="en-US" sz="3200" i="1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hiện</a:t>
              </a:r>
              <a:r>
                <a:rPr lang="en-US" sz="3200" i="1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 </a:t>
              </a:r>
              <a:r>
                <a:rPr lang="en-US" sz="3200" i="1" dirty="0" err="1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tại</a:t>
              </a:r>
              <a:r>
                <a:rPr lang="en-US" sz="3200" i="1" dirty="0">
                  <a:ln w="0"/>
                  <a:solidFill>
                    <a:srgbClr val="FFFF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Bahnschrift SemiBold SemiConden" panose="020B0502040204020203" pitchFamily="34" charset="0"/>
                </a:rPr>
                <a:t>”</a:t>
              </a:r>
              <a:endParaRPr lang="en-US" sz="3200" b="0" i="1" cap="none" spc="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0986028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4176</TotalTime>
  <Words>248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Avenir Next LT Pro</vt:lpstr>
      <vt:lpstr>Bahnschrift SemiBold SemiConden</vt:lpstr>
      <vt:lpstr>Calibri</vt:lpstr>
      <vt:lpstr>Tw Cen MT</vt:lpstr>
      <vt:lpstr>ShapesVTI</vt:lpstr>
      <vt:lpstr>CUỘC SỐNG TƯƠI ĐẸP</vt:lpstr>
      <vt:lpstr>PowerPoint Presentation</vt:lpstr>
      <vt:lpstr>BẠN NÓI MÌNH HỌC HÀNH VẤT VÃ</vt:lpstr>
      <vt:lpstr>BÁN NÓI MÌNH KHỔ</vt:lpstr>
      <vt:lpstr>BẠN NÓI MÌNH LAO ĐỘNG KHỔ SỞ</vt:lpstr>
      <vt:lpstr>BẠN BUỒN CHÁN CUỘC ĐỜI</vt:lpstr>
      <vt:lpstr>BẠN NÓI  MÌNH QUÁ NGHÈO</vt:lpstr>
      <vt:lpstr>BẠN THAN  XÃ HỘI BẤT CÔNG</vt:lpstr>
      <vt:lpstr>BẠN THAN CUỘC ĐỜI BẤT HẠNH</vt:lpstr>
      <vt:lpstr>BẠN NÓI MÌNH ĐI XE NÁT QUÁ</vt:lpstr>
      <vt:lpstr>BẠN THAN ĐIỆN THOẠI MÌNH BÈO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CUỘC SỐNG TƯƠI ĐẸP</dc:title>
  <dc:creator>Le Van Thien</dc:creator>
  <cp:lastModifiedBy>Administrator</cp:lastModifiedBy>
  <cp:revision>8</cp:revision>
  <dcterms:created xsi:type="dcterms:W3CDTF">2021-09-16T03:06:27Z</dcterms:created>
  <dcterms:modified xsi:type="dcterms:W3CDTF">2025-01-20T03:12:02Z</dcterms:modified>
</cp:coreProperties>
</file>