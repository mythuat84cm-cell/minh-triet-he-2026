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5864" r:id="rId4"/>
    <p:sldId id="5865" r:id="rId5"/>
    <p:sldId id="5866" r:id="rId6"/>
    <p:sldId id="5867" r:id="rId7"/>
    <p:sldId id="5868" r:id="rId8"/>
    <p:sldId id="5869" r:id="rId9"/>
    <p:sldId id="5870" r:id="rId10"/>
    <p:sldId id="5871" r:id="rId11"/>
    <p:sldId id="5872" r:id="rId12"/>
    <p:sldId id="5875" r:id="rId13"/>
    <p:sldId id="5873" r:id="rId14"/>
    <p:sldId id="58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8A381-A992-467D-94C0-93A348594F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E062B2-4F0A-4156-948C-C74E5BD78C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9A25F-F0DF-43C9-A1A9-21C6DF373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09D9F-D603-466E-BC29-2EF00F77C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78D2F5-3334-4ACF-ACED-B35D0680F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922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5E0A3-FF9D-4D49-AF5A-8EB9628D1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EFCE9-742E-4729-9104-9750EF227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AC446-3E54-469E-A653-5639442AB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46EE9-1DD6-4A03-A8AA-95E8A1BAC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E09B0-CFB3-4198-8BA7-B27337495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758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5EA7B-6114-47BF-9603-9958CB697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84101-9D97-442C-B9AE-AA7035410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B9E7A-844B-4549-8643-46554970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0842C-5402-42D2-A0D0-540D15BB0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7EE0C-83B7-4ED1-9CA7-4EC1256A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72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090D5-5D54-46CF-AC35-989605BE5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9663E3-3BCF-4928-9182-5284E6B3E5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F2160-9010-4517-B550-905DE3B60F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DC707C-1E48-46FD-BBC9-437CE276B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41AC-7B98-4A54-B31C-A0D0C0D60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A2B882-003F-4759-AEE3-762490AFE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545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59390-176F-4512-9904-09CD8EF40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ECC7B-6B64-4A84-BFC3-55220F7FF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83EA50-6F20-47E5-B6AF-95C474C249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CFF198-BADD-43CE-AA76-F25C55342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7A8896-6069-4A44-81B4-890EDEC22C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3BB1F3-6B34-45D3-A1E1-479EDA3D5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FB636-D74D-445B-B923-8304DB08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A58D0-8F1A-401C-B612-6ADCA3E88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67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89AFB-D9B2-4B8D-82AD-075DD3834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179FB3-F44C-4C66-82DE-537B9F88F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7334FF-3D89-4218-A67E-AA3BE0CD3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3B0E5-A34A-48B6-95D3-7DCCA864E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096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C0B7FA-960A-45D5-AEBC-98A108A4D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85AE6-3E48-46B0-89E1-7D8B2A25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39477-37D7-4A86-8C26-9148B6D54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23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31AE-8956-466C-ABF6-19198A4DF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F2DF7E-1783-4F82-9255-9BF6DB3BA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E8A53D-C3BF-412A-BFEE-BEE3FB8D6F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F4D4EA-6DC2-402A-976F-496A33795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DBA2A-2ACF-47E5-B699-71490448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6E3ACF-ECAA-45FB-8D9C-E349342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561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5CA9D-AAB0-426E-9EB7-0EC098C13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2DCE36-BF1D-4D50-A86F-1BDDE1C5A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84C4AD-4567-495D-8FCD-7F8F2F8F5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888AB-8DAD-44BE-9926-EF6832036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C71A56-520A-4D4C-832E-422018A58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4A8468-E030-40C3-825A-BA7A42E42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85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129EE-6456-428C-AD65-E547336D0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95F97-E3D8-40C7-A351-1EA9DA110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E414B-99CB-43C8-B3F2-DB3E74ADB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5DDCD-98E8-44E3-A7AB-29FF3ECDC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C8D2E-1CC8-4618-99FD-4C626D7F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403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608BDA-9AFA-41E4-8CDB-102A07DD0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A4EED6-BB8F-4B79-9C20-D5ACE6CF6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442F8-A1A3-4AE2-BDB6-AB5A1FE9F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01A1D-F339-4BE1-9441-19DA26994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A17F72-A907-45F4-988C-222BA05DB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1578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32A79-D1D6-499B-8CC8-C9F674EAF1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CB7BB-6FF6-4475-A3DC-0CABD8129D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6B64B-A84E-4C49-BDE5-B72332759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9A06C-7AD9-42FA-9347-20710DA4F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2B9B8-978B-4227-BF1B-9D45F2975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06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D7748-5371-4144-BC20-983ED991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35D49-324C-4287-84C1-2E0F5A0EB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15CB8-E7AD-4156-A713-08F0B0159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0DDAF-4B24-4B78-8C1A-6F6759774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FF5FE-19C4-45BC-B74D-C6CB8F7EB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6017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7E07B-4C39-4637-B5E5-1E74024B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E3143-19EE-424E-B87F-5D156908C8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6E320-41E4-49CC-BE51-0CBCBF2F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6F603-C97F-4479-974C-382B1652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A9F27C-8E37-4E16-853E-79001D88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225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15E93-E083-4B51-B618-F697527D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62CC68-B5E7-4567-AEAE-1A23C4EE66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BDAA7-4C6D-4301-B8A3-9A12579D1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59986-CA7A-455E-8A5C-21F84AE64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3A396C-E07B-4CB5-BF27-C1BA45F1C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E8BD8-3C46-4D8F-84CA-A5DBCB887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406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1BB09-2779-4688-A4A9-7B3E9169E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D2F143-AAF4-4855-BE44-D92811630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7427D-53A2-4FD3-B64D-2D5574CD9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4F732F-4C58-48B6-B4E6-DEB02B203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B2D19-429C-4309-8401-3C32B15D42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12AA70-06A2-4F1C-AE69-019898B9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32AD15-8081-4046-8213-C7EEA7598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6BBCCE-2667-4C66-9F03-BC5F3B00C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338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4358-FE28-408A-9F99-D0AA57580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39C6C-241A-4269-A622-90039D108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28153D-3CB8-45AC-98AD-01AA9106C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69508A-FBFD-4F82-BFC9-21852CE9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210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3D5A4A-8900-44A7-9070-736F5D077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79B22F-DC80-4944-BB5A-133A1A1F6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B8A450-A8DE-4B89-A851-6C2411C82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02952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266DA-26D5-4B4F-B7F4-CFDF12BE2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F639B-04D9-453D-93A7-D7F8B5257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47B960-A568-4124-ADE8-C812959FD7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F2A1B-C28C-4075-8C2D-2B6DBB7B3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98CF8-552A-4FAB-AD9A-3084B66B7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95FA8D-28FC-4794-8E1A-CB248ACC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21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F9E06-8233-49AE-906D-DEE72BF4D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61BD9D-6CAC-465F-8EB3-6C4A46803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278663-8287-427F-84FA-11FC9B49F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B4F40-8C95-4785-8F6A-711D7732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46B6B-9139-43FB-9468-30DB4F5F4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8EC69-AD0A-4D4D-8CB9-5DF8B159D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6261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71DB-C115-4402-B6DA-A4D961A2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1ABE4F-C270-4DF1-9BA9-F1620A9552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60156-9FB4-4CE6-BBC1-74A0F2C8C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849F25-C28F-48DD-BD7E-ED82803B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A0919-4535-4BCA-B88C-45322B06D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8382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9BE42B-4401-4218-AFC1-9A815C65A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5A3D83-13AF-4C42-A7BA-B292C709E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142B2-69CE-40ED-A926-6831C467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8E4FF-172C-4E63-AB97-CCBBCFC80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CEE1E-A7D9-4DBB-82E4-FFC32F31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57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A230C9-9816-4B6E-A8F5-A3963F4BC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710559-FFCE-40FF-B3C1-BE13D3DBA4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96C0F-2561-4D19-9FBA-D635E7DD4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9CD61E-FEBD-4223-A3B8-4FB3A7E783EE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841AD-A3FB-4C07-85F2-78440F3931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E0BBB-31FC-49D4-94D5-23E7F9BEE2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8916D4-52FE-47A2-8786-79827CD20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9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EA494F-C326-4EE2-9C91-36B685AA6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1EABB-A48E-413C-9CCE-CFE465F36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981A72-ED73-48A2-9381-796CF1DD67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DB9320-C7D6-40CD-8141-88EA316DD093}" type="datetimeFigureOut">
              <a:rPr lang="en-US" smtClean="0"/>
              <a:t>1/20/2025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F0483-274F-43E7-8F56-060F31FAC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9BBBA-E8FD-44F2-9C6B-7741C62561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AB102-ABF1-47B8-B619-FD06820F9E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7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Nếu 3 nhân vật này không mất sớm, thời Tam Quốc có thể sẽ không kéo">
            <a:extLst>
              <a:ext uri="{FF2B5EF4-FFF2-40B4-BE49-F238E27FC236}">
                <a16:creationId xmlns:a16="http://schemas.microsoft.com/office/drawing/2014/main" id="{392AA80C-CAB1-4000-A8B1-7D7D17EA4B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7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D38A241E-0395-41E5-8607-BAA2799A4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-1" y="4892040"/>
            <a:ext cx="12191999" cy="1965960"/>
          </a:xfrm>
          <a:prstGeom prst="rect">
            <a:avLst/>
          </a:prstGeom>
          <a:solidFill>
            <a:schemeClr val="bg1">
              <a:alpha val="72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FDA6BD-4C19-4DAF-B4D4-9D8A94160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9264" y="5154168"/>
            <a:ext cx="6973204" cy="1261872"/>
          </a:xfrm>
        </p:spPr>
        <p:txBody>
          <a:bodyPr anchor="ctr">
            <a:normAutofit/>
          </a:bodyPr>
          <a:lstStyle/>
          <a:p>
            <a:pPr algn="l"/>
            <a:r>
              <a:rPr lang="en-US" sz="3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BÀI HỌC TỪ TAM QUỐC </a:t>
            </a:r>
            <a:br>
              <a:rPr lang="en-US" sz="3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37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ỨNG DỤNG TRONG KINH DOANH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A8B8B2-7839-4D79-8B81-7BC031B717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8200" y="5154168"/>
            <a:ext cx="2892986" cy="1261872"/>
          </a:xfrm>
        </p:spPr>
        <p:txBody>
          <a:bodyPr anchor="ctr">
            <a:normAutofit/>
          </a:bodyPr>
          <a:lstStyle/>
          <a:p>
            <a:pPr algn="l"/>
            <a:endParaRPr lang="en-US" sz="2000">
              <a:solidFill>
                <a:schemeClr val="tx2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E352288-84AD-4CA8-BCD5-76C29D34E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138160" y="5325066"/>
            <a:ext cx="0" cy="9144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B2B9643-4278-BE48-6411-24C2E4564E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410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FC55E-6CCF-4757-8D02-EA15C6884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681" y="166342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TAM QUỐC DIỄN NGHĨA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53A45-658A-4C89-A23B-A075F07B3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681" y="1755453"/>
            <a:ext cx="5355215" cy="3498574"/>
          </a:xfrm>
        </p:spPr>
        <p:txBody>
          <a:bodyPr/>
          <a:lstStyle/>
          <a:p>
            <a:r>
              <a:rPr lang="en-US" dirty="0" err="1"/>
              <a:t>Tiểu</a:t>
            </a:r>
            <a:r>
              <a:rPr lang="en-US" dirty="0"/>
              <a:t> </a:t>
            </a:r>
            <a:r>
              <a:rPr lang="en-US" dirty="0" err="1"/>
              <a:t>thuyết</a:t>
            </a:r>
            <a:r>
              <a:rPr lang="en-US" dirty="0"/>
              <a:t> </a:t>
            </a:r>
            <a:r>
              <a:rPr lang="en-US" dirty="0" err="1"/>
              <a:t>lịch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TRUNG HOA</a:t>
            </a:r>
          </a:p>
          <a:p>
            <a:r>
              <a:rPr lang="en-US" dirty="0" err="1"/>
              <a:t>Tứ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</a:p>
          <a:p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giả</a:t>
            </a:r>
            <a:r>
              <a:rPr lang="en-US" dirty="0"/>
              <a:t> LA QUÁN TRUNG</a:t>
            </a:r>
          </a:p>
          <a:p>
            <a:r>
              <a:rPr lang="en-US" dirty="0"/>
              <a:t>Ra </a:t>
            </a:r>
            <a:r>
              <a:rPr lang="en-US" dirty="0" err="1"/>
              <a:t>đời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kỷ</a:t>
            </a:r>
            <a:r>
              <a:rPr lang="en-US" dirty="0"/>
              <a:t> 14</a:t>
            </a:r>
          </a:p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loạn</a:t>
            </a:r>
            <a:r>
              <a:rPr lang="en-US" dirty="0"/>
              <a:t> TRUNG HOA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năm</a:t>
            </a:r>
            <a:r>
              <a:rPr lang="en-US" dirty="0"/>
              <a:t> 190-280</a:t>
            </a:r>
          </a:p>
        </p:txBody>
      </p:sp>
      <p:pic>
        <p:nvPicPr>
          <p:cNvPr id="2050" name="Picture 2" descr="Image result for tam quoc dien nghia">
            <a:extLst>
              <a:ext uri="{FF2B5EF4-FFF2-40B4-BE49-F238E27FC236}">
                <a16:creationId xmlns:a16="http://schemas.microsoft.com/office/drawing/2014/main" id="{A05D88EF-A716-45DB-AEEC-9B265BD8A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7923" y="1182774"/>
            <a:ext cx="5435877" cy="4071253"/>
          </a:xfrm>
          <a:prstGeom prst="rect">
            <a:avLst/>
          </a:prstGeom>
          <a:ln>
            <a:noFill/>
          </a:ln>
          <a:effectLst>
            <a:glow rad="228600">
              <a:schemeClr val="accent4">
                <a:satMod val="175000"/>
                <a:alpha val="40000"/>
              </a:schemeClr>
            </a:glow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4B7F134-AE17-40DB-BC00-C10168D3FF21}"/>
              </a:ext>
            </a:extLst>
          </p:cNvPr>
          <p:cNvSpPr/>
          <p:nvPr/>
        </p:nvSpPr>
        <p:spPr>
          <a:xfrm>
            <a:off x="1238170" y="5774256"/>
            <a:ext cx="996131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SỰ THÀNH CÔNG KHÔNG DÀNH CHO NG</a:t>
            </a:r>
            <a:r>
              <a:rPr kumimoji="0" lang="vi-VN" sz="28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Ư</a:t>
            </a:r>
            <a:r>
              <a:rPr kumimoji="0" lang="en-US" sz="2800" b="1" i="0" u="none" strike="noStrike" kern="1200" cap="none" spc="0" normalizeH="0" baseline="0" noProof="0" dirty="0">
                <a:ln w="0"/>
                <a:solidFill>
                  <a:srgbClr val="C00000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ỜI NGỒI CHỜ</a:t>
            </a:r>
          </a:p>
        </p:txBody>
      </p:sp>
    </p:spTree>
    <p:extLst>
      <p:ext uri="{BB962C8B-B14F-4D97-AF65-F5344CB8AC3E}">
        <p14:creationId xmlns:p14="http://schemas.microsoft.com/office/powerpoint/2010/main" val="353551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 result for lưu bị gia cát lượng">
            <a:extLst>
              <a:ext uri="{FF2B5EF4-FFF2-40B4-BE49-F238E27FC236}">
                <a16:creationId xmlns:a16="http://schemas.microsoft.com/office/drawing/2014/main" id="{89C277BF-F0BE-4ED8-9151-601AA5CF07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0C8A81-5ADA-47B1-8149-2A298230B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300" b="1" dirty="0">
                <a:solidFill>
                  <a:srgbClr val="C00000"/>
                </a:solidFill>
              </a:rPr>
              <a:t>Gia </a:t>
            </a:r>
            <a:r>
              <a:rPr lang="en-US" sz="2300" b="1" dirty="0" err="1">
                <a:solidFill>
                  <a:srgbClr val="C00000"/>
                </a:solidFill>
              </a:rPr>
              <a:t>Cát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Lượng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chưa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từng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hỏi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Lưu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Bị</a:t>
            </a:r>
            <a:r>
              <a:rPr lang="en-US" sz="2300" b="1" dirty="0">
                <a:solidFill>
                  <a:srgbClr val="C00000"/>
                </a:solidFill>
              </a:rPr>
              <a:t>: </a:t>
            </a:r>
            <a:br>
              <a:rPr lang="en-US" sz="2300" b="1" dirty="0">
                <a:solidFill>
                  <a:srgbClr val="C00000"/>
                </a:solidFill>
              </a:rPr>
            </a:br>
            <a:r>
              <a:rPr lang="en-US" sz="2300" b="1" dirty="0">
                <a:solidFill>
                  <a:srgbClr val="C00000"/>
                </a:solidFill>
              </a:rPr>
              <a:t>“ </a:t>
            </a:r>
            <a:r>
              <a:rPr lang="en-US" sz="2300" b="1" dirty="0" err="1">
                <a:solidFill>
                  <a:srgbClr val="C00000"/>
                </a:solidFill>
              </a:rPr>
              <a:t>Tại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sao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cung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tên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của</a:t>
            </a:r>
            <a:r>
              <a:rPr lang="en-US" sz="2300" b="1" dirty="0">
                <a:solidFill>
                  <a:srgbClr val="C00000"/>
                </a:solidFill>
              </a:rPr>
              <a:t> ta </a:t>
            </a:r>
            <a:r>
              <a:rPr lang="en-US" sz="2300" b="1" dirty="0" err="1">
                <a:solidFill>
                  <a:srgbClr val="C00000"/>
                </a:solidFill>
              </a:rPr>
              <a:t>ít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như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vậy</a:t>
            </a:r>
            <a:r>
              <a:rPr lang="en-US" sz="2300" b="1" dirty="0">
                <a:solidFill>
                  <a:srgbClr val="C00000"/>
                </a:solidFill>
              </a:rPr>
              <a:t>”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B7D7227-C73E-002E-527A-E934165919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88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 result for lưu bị quan vũ">
            <a:extLst>
              <a:ext uri="{FF2B5EF4-FFF2-40B4-BE49-F238E27FC236}">
                <a16:creationId xmlns:a16="http://schemas.microsoft.com/office/drawing/2014/main" id="{84A69962-3518-47B0-92D6-1CB79391460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34" b="1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D22E2-7A1B-4109-9DCF-D8D77C7A4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500" b="1" dirty="0">
                <a:solidFill>
                  <a:srgbClr val="C00000"/>
                </a:solidFill>
              </a:rPr>
              <a:t>Quan </a:t>
            </a:r>
            <a:r>
              <a:rPr lang="en-US" sz="2500" b="1" dirty="0" err="1">
                <a:solidFill>
                  <a:srgbClr val="C00000"/>
                </a:solidFill>
              </a:rPr>
              <a:t>Vũ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chưa</a:t>
            </a:r>
            <a:r>
              <a:rPr lang="en-US" sz="2500" b="1" dirty="0">
                <a:solidFill>
                  <a:srgbClr val="C00000"/>
                </a:solidFill>
              </a:rPr>
              <a:t> bao </a:t>
            </a:r>
            <a:r>
              <a:rPr lang="en-US" sz="2500" b="1" dirty="0" err="1">
                <a:solidFill>
                  <a:srgbClr val="C00000"/>
                </a:solidFill>
              </a:rPr>
              <a:t>giờ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hỏi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Lưu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Bị</a:t>
            </a:r>
            <a:r>
              <a:rPr lang="en-US" sz="2500" b="1" dirty="0">
                <a:solidFill>
                  <a:srgbClr val="C00000"/>
                </a:solidFill>
              </a:rPr>
              <a:t>: “</a:t>
            </a:r>
            <a:r>
              <a:rPr lang="en-US" sz="2500" b="1" dirty="0" err="1">
                <a:solidFill>
                  <a:srgbClr val="C00000"/>
                </a:solidFill>
              </a:rPr>
              <a:t>Tại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sao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binh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lính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của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chúng</a:t>
            </a:r>
            <a:r>
              <a:rPr lang="en-US" sz="2500" b="1" dirty="0">
                <a:solidFill>
                  <a:srgbClr val="C00000"/>
                </a:solidFill>
              </a:rPr>
              <a:t> ta </a:t>
            </a:r>
            <a:r>
              <a:rPr lang="en-US" sz="2500" b="1" dirty="0" err="1">
                <a:solidFill>
                  <a:srgbClr val="C00000"/>
                </a:solidFill>
              </a:rPr>
              <a:t>thiếu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thốn</a:t>
            </a:r>
            <a:r>
              <a:rPr lang="en-US" sz="2500" b="1" dirty="0">
                <a:solidFill>
                  <a:srgbClr val="C00000"/>
                </a:solidFill>
              </a:rPr>
              <a:t> </a:t>
            </a:r>
            <a:r>
              <a:rPr lang="en-US" sz="2500" b="1" dirty="0" err="1">
                <a:solidFill>
                  <a:srgbClr val="C00000"/>
                </a:solidFill>
              </a:rPr>
              <a:t>thế</a:t>
            </a:r>
            <a:r>
              <a:rPr lang="en-US" sz="2500" b="1" dirty="0">
                <a:solidFill>
                  <a:srgbClr val="C00000"/>
                </a:solidFill>
              </a:rPr>
              <a:t>?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FCD41CE-CC80-B361-EDB1-EB698648F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918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 result for truong phi">
            <a:extLst>
              <a:ext uri="{FF2B5EF4-FFF2-40B4-BE49-F238E27FC236}">
                <a16:creationId xmlns:a16="http://schemas.microsoft.com/office/drawing/2014/main" id="{C73172A6-3A31-4E44-9838-21D86469569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67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FE4ABC-BA84-45BE-B52E-AD925C458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300" b="1" dirty="0" err="1">
                <a:solidFill>
                  <a:srgbClr val="C00000"/>
                </a:solidFill>
              </a:rPr>
              <a:t>Trương</a:t>
            </a:r>
            <a:r>
              <a:rPr lang="en-US" sz="2300" b="1" dirty="0">
                <a:solidFill>
                  <a:srgbClr val="C00000"/>
                </a:solidFill>
              </a:rPr>
              <a:t> phi </a:t>
            </a:r>
            <a:r>
              <a:rPr lang="en-US" sz="2300" b="1" dirty="0" err="1">
                <a:solidFill>
                  <a:srgbClr val="C00000"/>
                </a:solidFill>
              </a:rPr>
              <a:t>chưa</a:t>
            </a:r>
            <a:r>
              <a:rPr lang="en-US" sz="2300" b="1" dirty="0">
                <a:solidFill>
                  <a:srgbClr val="C00000"/>
                </a:solidFill>
              </a:rPr>
              <a:t> bao </a:t>
            </a:r>
            <a:r>
              <a:rPr lang="en-US" sz="2300" b="1" dirty="0" err="1">
                <a:solidFill>
                  <a:srgbClr val="C00000"/>
                </a:solidFill>
              </a:rPr>
              <a:t>giờ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hỏi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Lưu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Bị</a:t>
            </a:r>
            <a:r>
              <a:rPr lang="en-US" sz="2300" b="1" dirty="0">
                <a:solidFill>
                  <a:srgbClr val="C00000"/>
                </a:solidFill>
              </a:rPr>
              <a:t>: </a:t>
            </a:r>
            <a:br>
              <a:rPr lang="en-US" sz="2300" b="1" dirty="0">
                <a:solidFill>
                  <a:srgbClr val="C00000"/>
                </a:solidFill>
              </a:rPr>
            </a:br>
            <a:r>
              <a:rPr lang="en-US" sz="2300" b="1" dirty="0">
                <a:solidFill>
                  <a:srgbClr val="C00000"/>
                </a:solidFill>
              </a:rPr>
              <a:t>“Khi </a:t>
            </a:r>
            <a:r>
              <a:rPr lang="en-US" sz="2300" b="1" dirty="0" err="1">
                <a:solidFill>
                  <a:srgbClr val="C00000"/>
                </a:solidFill>
              </a:rPr>
              <a:t>bị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quân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địch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vây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hãm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dưới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thành</a:t>
            </a:r>
            <a:r>
              <a:rPr lang="en-US" sz="2300" b="1" dirty="0">
                <a:solidFill>
                  <a:srgbClr val="C00000"/>
                </a:solidFill>
              </a:rPr>
              <a:t>, </a:t>
            </a:r>
            <a:r>
              <a:rPr lang="en-US" sz="2300" b="1" dirty="0" err="1">
                <a:solidFill>
                  <a:srgbClr val="C00000"/>
                </a:solidFill>
              </a:rPr>
              <a:t>chúng</a:t>
            </a:r>
            <a:r>
              <a:rPr lang="en-US" sz="2300" b="1" dirty="0">
                <a:solidFill>
                  <a:srgbClr val="C00000"/>
                </a:solidFill>
              </a:rPr>
              <a:t> ta </a:t>
            </a:r>
            <a:r>
              <a:rPr lang="en-US" sz="2300" b="1" dirty="0" err="1">
                <a:solidFill>
                  <a:srgbClr val="C00000"/>
                </a:solidFill>
              </a:rPr>
              <a:t>phải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làm</a:t>
            </a:r>
            <a:r>
              <a:rPr lang="en-US" sz="2300" b="1" dirty="0">
                <a:solidFill>
                  <a:srgbClr val="C00000"/>
                </a:solidFill>
              </a:rPr>
              <a:t> </a:t>
            </a:r>
            <a:r>
              <a:rPr lang="en-US" sz="2300" b="1" dirty="0" err="1">
                <a:solidFill>
                  <a:srgbClr val="C00000"/>
                </a:solidFill>
              </a:rPr>
              <a:t>sao</a:t>
            </a:r>
            <a:r>
              <a:rPr lang="en-US" sz="2300" b="1" dirty="0">
                <a:solidFill>
                  <a:srgbClr val="C00000"/>
                </a:solidFill>
              </a:rPr>
              <a:t>?”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3A27B269-C2AC-C590-CFB8-493F02820A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021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 result for tam quốc diễn nghĩa">
            <a:extLst>
              <a:ext uri="{FF2B5EF4-FFF2-40B4-BE49-F238E27FC236}">
                <a16:creationId xmlns:a16="http://schemas.microsoft.com/office/drawing/2014/main" id="{CC0B2722-535A-488F-9838-1B36D61027B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03" b="20497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F9E131-67A1-449E-AA7D-C4AAE7E71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i="1" dirty="0" err="1">
                <a:solidFill>
                  <a:srgbClr val="C00000"/>
                </a:solidFill>
              </a:rPr>
              <a:t>Thế</a:t>
            </a:r>
            <a:r>
              <a:rPr lang="en-US" sz="3600" b="1" i="1" dirty="0">
                <a:solidFill>
                  <a:srgbClr val="C00000"/>
                </a:solidFill>
              </a:rPr>
              <a:t> </a:t>
            </a:r>
            <a:r>
              <a:rPr lang="en-US" sz="3600" b="1" i="1" dirty="0" err="1">
                <a:solidFill>
                  <a:srgbClr val="C00000"/>
                </a:solidFill>
              </a:rPr>
              <a:t>nhưng</a:t>
            </a:r>
            <a:r>
              <a:rPr lang="en-US" sz="3600" b="1" i="1" dirty="0">
                <a:solidFill>
                  <a:srgbClr val="C00000"/>
                </a:solidFill>
              </a:rPr>
              <a:t> …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52B5F0D5-4E28-659A-B1B5-BDBFB0370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96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 result for thuyền cỏ mượn tên">
            <a:extLst>
              <a:ext uri="{FF2B5EF4-FFF2-40B4-BE49-F238E27FC236}">
                <a16:creationId xmlns:a16="http://schemas.microsoft.com/office/drawing/2014/main" id="{EE27C4A3-88A6-4AB6-BAFE-F1DA47E50C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" b="1365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F17B7D-49F6-413B-8D5B-D81E1C0F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 err="1">
                <a:solidFill>
                  <a:srgbClr val="C00000"/>
                </a:solidFill>
              </a:rPr>
              <a:t>Đã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từng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có</a:t>
            </a:r>
            <a:r>
              <a:rPr lang="en-US" sz="3600" b="1" dirty="0">
                <a:solidFill>
                  <a:srgbClr val="C00000"/>
                </a:solidFill>
              </a:rPr>
              <a:t> </a:t>
            </a:r>
            <a:r>
              <a:rPr lang="en-US" sz="3600" b="1" dirty="0" err="1">
                <a:solidFill>
                  <a:srgbClr val="C00000"/>
                </a:solidFill>
              </a:rPr>
              <a:t>tích</a:t>
            </a:r>
            <a:r>
              <a:rPr lang="en-US" sz="3600" b="1" dirty="0">
                <a:solidFill>
                  <a:srgbClr val="C00000"/>
                </a:solidFill>
              </a:rPr>
              <a:t> GIA CÁT L</a:t>
            </a:r>
            <a:r>
              <a:rPr lang="vi-VN" sz="3600" b="1" dirty="0">
                <a:solidFill>
                  <a:srgbClr val="C00000"/>
                </a:solidFill>
              </a:rPr>
              <a:t>Ư</a:t>
            </a:r>
            <a:r>
              <a:rPr lang="en-US" sz="3600" b="1" dirty="0">
                <a:solidFill>
                  <a:srgbClr val="C00000"/>
                </a:solidFill>
              </a:rPr>
              <a:t>ỢNG -  </a:t>
            </a:r>
            <a:r>
              <a:rPr lang="en-US" sz="3600" b="1" dirty="0" err="1">
                <a:solidFill>
                  <a:srgbClr val="0070C0"/>
                </a:solidFill>
              </a:rPr>
              <a:t>Thuyền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cỏ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mượn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tên</a:t>
            </a:r>
            <a:endParaRPr lang="en-US" sz="3600" b="1" dirty="0">
              <a:solidFill>
                <a:srgbClr val="0070C0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D7DA7B0-3DA4-86FA-EC7F-E43C5FC16E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014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 result for qua 5 ải chém 6 tướng">
            <a:extLst>
              <a:ext uri="{FF2B5EF4-FFF2-40B4-BE49-F238E27FC236}">
                <a16:creationId xmlns:a16="http://schemas.microsoft.com/office/drawing/2014/main" id="{04AD62EF-61B7-4A2C-B86D-398BD50E76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603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EEF3DC-7917-4532-BAA9-0369AA6ED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QUAN VÂN TRƯỜNG – </a:t>
            </a:r>
            <a:r>
              <a:rPr lang="en-US" sz="3600" b="1" dirty="0">
                <a:solidFill>
                  <a:srgbClr val="0070C0"/>
                </a:solidFill>
              </a:rPr>
              <a:t>Qua 5 </a:t>
            </a:r>
            <a:r>
              <a:rPr lang="en-US" sz="3600" b="1" dirty="0" err="1">
                <a:solidFill>
                  <a:srgbClr val="0070C0"/>
                </a:solidFill>
              </a:rPr>
              <a:t>ải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chém</a:t>
            </a:r>
            <a:r>
              <a:rPr lang="en-US" sz="3600" b="1" dirty="0">
                <a:solidFill>
                  <a:srgbClr val="0070C0"/>
                </a:solidFill>
              </a:rPr>
              <a:t> 6 </a:t>
            </a:r>
            <a:r>
              <a:rPr lang="en-US" sz="3600" b="1" dirty="0" err="1">
                <a:solidFill>
                  <a:srgbClr val="0070C0"/>
                </a:solidFill>
              </a:rPr>
              <a:t>tướng</a:t>
            </a:r>
            <a:endParaRPr lang="en-US" sz="3600" b="1" dirty="0">
              <a:solidFill>
                <a:srgbClr val="0070C0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DD52CC3A-046A-1585-1CF1-7BE3A15B0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53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mage result for trương phi">
            <a:extLst>
              <a:ext uri="{FF2B5EF4-FFF2-40B4-BE49-F238E27FC236}">
                <a16:creationId xmlns:a16="http://schemas.microsoft.com/office/drawing/2014/main" id="{D074B902-36CE-4ABD-8380-9F1B900A13F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4" b="18795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F7C5D8-61A5-4391-9CAA-1B61CC6D9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TRƯƠNG PHI – </a:t>
            </a:r>
            <a:r>
              <a:rPr lang="en-US" sz="3600" b="1" dirty="0" err="1">
                <a:solidFill>
                  <a:srgbClr val="0070C0"/>
                </a:solidFill>
              </a:rPr>
              <a:t>Chặt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đứt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cầu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gỗ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hù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dọa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binh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Tào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Tháo</a:t>
            </a:r>
            <a:endParaRPr lang="en-US" sz="3600" b="1" dirty="0">
              <a:solidFill>
                <a:srgbClr val="0070C0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475383F-8BA2-BA58-B4E2-44E43D980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362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mage result for trieu tu long">
            <a:extLst>
              <a:ext uri="{FF2B5EF4-FFF2-40B4-BE49-F238E27FC236}">
                <a16:creationId xmlns:a16="http://schemas.microsoft.com/office/drawing/2014/main" id="{1C4826FC-F786-4416-9537-231A6A3486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r="1" b="1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EEC79B-1CBE-4609-8A71-D3FD25E7C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TRIỆU TỬ LONG – </a:t>
            </a:r>
            <a:r>
              <a:rPr lang="en-US" sz="3600" b="1" dirty="0" err="1">
                <a:solidFill>
                  <a:srgbClr val="0070C0"/>
                </a:solidFill>
              </a:rPr>
              <a:t>Xông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pha</a:t>
            </a:r>
            <a:r>
              <a:rPr lang="en-US" sz="3600" b="1" dirty="0">
                <a:solidFill>
                  <a:srgbClr val="0070C0"/>
                </a:solidFill>
              </a:rPr>
              <a:t> TRƯỜNG BẢN </a:t>
            </a:r>
            <a:r>
              <a:rPr lang="en-US" sz="3600" b="1" dirty="0" err="1">
                <a:solidFill>
                  <a:srgbClr val="0070C0"/>
                </a:solidFill>
              </a:rPr>
              <a:t>cứu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Ấu</a:t>
            </a:r>
            <a:r>
              <a:rPr lang="en-US" sz="3600" b="1" dirty="0">
                <a:solidFill>
                  <a:srgbClr val="0070C0"/>
                </a:solidFill>
              </a:rPr>
              <a:t> </a:t>
            </a:r>
            <a:r>
              <a:rPr lang="en-US" sz="3600" b="1" dirty="0" err="1">
                <a:solidFill>
                  <a:srgbClr val="0070C0"/>
                </a:solidFill>
              </a:rPr>
              <a:t>Chúa</a:t>
            </a:r>
            <a:endParaRPr lang="en-US" sz="3600" b="1" dirty="0">
              <a:solidFill>
                <a:srgbClr val="0070C0"/>
              </a:solidFill>
            </a:endParaRP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6EA7A55E-C9FF-B659-8CD9-9F13AD4EF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9051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7DB4A-FADC-12E4-9423-585110FB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32454-2C64-5F33-199E-8FBBB9633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Tổng hợp câu nói hay của Gia Cát Lượng - Khổng Minh • LEVUSHOP">
            <a:extLst>
              <a:ext uri="{FF2B5EF4-FFF2-40B4-BE49-F238E27FC236}">
                <a16:creationId xmlns:a16="http://schemas.microsoft.com/office/drawing/2014/main" id="{D0799150-DD2F-C1ED-68C1-56A1180EE9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6AF8A11-2D51-3899-94FC-3614B4CCB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619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5">
            <a:extLst>
              <a:ext uri="{FF2B5EF4-FFF2-40B4-BE49-F238E27FC236}">
                <a16:creationId xmlns:a16="http://schemas.microsoft.com/office/drawing/2014/main" id="{07322A9E-F1EC-405E-8971-BA906EFFC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5" name="Freeform 6">
            <a:extLst>
              <a:ext uri="{FF2B5EF4-FFF2-40B4-BE49-F238E27FC236}">
                <a16:creationId xmlns:a16="http://schemas.microsoft.com/office/drawing/2014/main" id="{A5704422-1118-4FD1-95AD-29A064EB8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7" name="Freeform 7">
            <a:extLst>
              <a:ext uri="{FF2B5EF4-FFF2-40B4-BE49-F238E27FC236}">
                <a16:creationId xmlns:a16="http://schemas.microsoft.com/office/drawing/2014/main" id="{A88B2AAA-B805-498E-A9E6-98B88585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51351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9" name="Freeform 8">
            <a:extLst>
              <a:ext uri="{FF2B5EF4-FFF2-40B4-BE49-F238E27FC236}">
                <a16:creationId xmlns:a16="http://schemas.microsoft.com/office/drawing/2014/main" id="{9B8051E0-19D7-43E1-BFD9-E6DBFEB3A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Freeform 9">
            <a:extLst>
              <a:ext uri="{FF2B5EF4-FFF2-40B4-BE49-F238E27FC236}">
                <a16:creationId xmlns:a16="http://schemas.microsoft.com/office/drawing/2014/main" id="{4EDB2B02-86A2-46F5-A4BE-B7D9B10411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3" name="Freeform 10">
            <a:extLst>
              <a:ext uri="{FF2B5EF4-FFF2-40B4-BE49-F238E27FC236}">
                <a16:creationId xmlns:a16="http://schemas.microsoft.com/office/drawing/2014/main" id="{43954639-FB5D-41F4-9560-6F6DFE778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5" name="Freeform 12">
            <a:extLst>
              <a:ext uri="{FF2B5EF4-FFF2-40B4-BE49-F238E27FC236}">
                <a16:creationId xmlns:a16="http://schemas.microsoft.com/office/drawing/2014/main" id="{E898931C-0323-41FA-A036-20F818B1F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7" name="Freeform 14">
            <a:extLst>
              <a:ext uri="{FF2B5EF4-FFF2-40B4-BE49-F238E27FC236}">
                <a16:creationId xmlns:a16="http://schemas.microsoft.com/office/drawing/2014/main" id="{89AFE9DD-0792-4B98-B4EB-97ACA17E6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9" name="Freeform 16">
            <a:extLst>
              <a:ext uri="{FF2B5EF4-FFF2-40B4-BE49-F238E27FC236}">
                <a16:creationId xmlns:a16="http://schemas.microsoft.com/office/drawing/2014/main" id="{3981F5C4-9AE1-404E-AF44-A4E6DB374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1" name="Freeform 11">
            <a:extLst>
              <a:ext uri="{FF2B5EF4-FFF2-40B4-BE49-F238E27FC236}">
                <a16:creationId xmlns:a16="http://schemas.microsoft.com/office/drawing/2014/main" id="{763C1781-8726-4FAC-8C45-FF40376BE4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3" name="Freeform 21">
            <a:extLst>
              <a:ext uri="{FF2B5EF4-FFF2-40B4-BE49-F238E27FC236}">
                <a16:creationId xmlns:a16="http://schemas.microsoft.com/office/drawing/2014/main" id="{301491B5-56C7-43DC-A3D9-861EECCA0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BDA98F-7275-4576-9028-ADFDC9319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2900" y="1780905"/>
            <a:ext cx="3756748" cy="408576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b="1" dirty="0">
                <a:solidFill>
                  <a:srgbClr val="0070C0"/>
                </a:solidFill>
              </a:rPr>
              <a:t>Trong </a:t>
            </a:r>
            <a:r>
              <a:rPr lang="en-US" sz="4000" b="1" dirty="0" err="1">
                <a:solidFill>
                  <a:srgbClr val="0070C0"/>
                </a:solidFill>
              </a:rPr>
              <a:t>quan</a:t>
            </a:r>
            <a:r>
              <a:rPr lang="en-US" sz="4000" b="1" dirty="0">
                <a:solidFill>
                  <a:srgbClr val="0070C0"/>
                </a:solidFill>
              </a:rPr>
              <a:t> </a:t>
            </a:r>
            <a:r>
              <a:rPr lang="en-US" sz="4000" b="1" dirty="0" err="1">
                <a:solidFill>
                  <a:srgbClr val="0070C0"/>
                </a:solidFill>
              </a:rPr>
              <a:t>lệnh</a:t>
            </a:r>
            <a:r>
              <a:rPr lang="en-US" sz="4000" b="1" dirty="0">
                <a:solidFill>
                  <a:srgbClr val="0070C0"/>
                </a:solidFill>
              </a:rPr>
              <a:t> </a:t>
            </a:r>
            <a:r>
              <a:rPr lang="en-US" sz="4000" b="1" dirty="0" err="1">
                <a:solidFill>
                  <a:srgbClr val="0070C0"/>
                </a:solidFill>
              </a:rPr>
              <a:t>chỉ</a:t>
            </a:r>
            <a:r>
              <a:rPr lang="en-US" sz="4000" b="1" dirty="0">
                <a:solidFill>
                  <a:srgbClr val="0070C0"/>
                </a:solidFill>
              </a:rPr>
              <a:t> </a:t>
            </a:r>
            <a:r>
              <a:rPr lang="en-US" sz="4000" b="1" dirty="0" err="1">
                <a:solidFill>
                  <a:srgbClr val="0070C0"/>
                </a:solidFill>
              </a:rPr>
              <a:t>có</a:t>
            </a:r>
            <a:br>
              <a:rPr lang="en-US" sz="4000" b="1" dirty="0">
                <a:solidFill>
                  <a:srgbClr val="0070C0"/>
                </a:solidFill>
              </a:rPr>
            </a:br>
            <a:r>
              <a:rPr lang="en-US" sz="4000" b="1" dirty="0">
                <a:solidFill>
                  <a:srgbClr val="0070C0"/>
                </a:solidFill>
              </a:rPr>
              <a:t> 4 </a:t>
            </a:r>
            <a:r>
              <a:rPr lang="en-US" sz="4000" b="1" dirty="0" err="1">
                <a:solidFill>
                  <a:srgbClr val="0070C0"/>
                </a:solidFill>
              </a:rPr>
              <a:t>chữ</a:t>
            </a:r>
            <a:r>
              <a:rPr lang="en-US" sz="4000" b="1" dirty="0">
                <a:solidFill>
                  <a:srgbClr val="0070C0"/>
                </a:solidFill>
              </a:rPr>
              <a:t> </a:t>
            </a:r>
            <a:br>
              <a:rPr lang="en-US" sz="4000" b="1" dirty="0">
                <a:solidFill>
                  <a:srgbClr val="0070C0"/>
                </a:solidFill>
              </a:rPr>
            </a:br>
            <a:r>
              <a:rPr lang="en-US" sz="4000" b="1" dirty="0">
                <a:solidFill>
                  <a:srgbClr val="C00000"/>
                </a:solidFill>
              </a:rPr>
              <a:t>“ĐÁNH</a:t>
            </a:r>
            <a:br>
              <a:rPr lang="en-US" sz="4000" b="1" dirty="0">
                <a:solidFill>
                  <a:srgbClr val="C00000"/>
                </a:solidFill>
              </a:rPr>
            </a:br>
            <a:r>
              <a:rPr lang="en-US" sz="4000" b="1" dirty="0">
                <a:solidFill>
                  <a:srgbClr val="C00000"/>
                </a:solidFill>
              </a:rPr>
              <a:t> HẠ </a:t>
            </a:r>
            <a:br>
              <a:rPr lang="en-US" sz="4000" b="1" dirty="0">
                <a:solidFill>
                  <a:srgbClr val="C00000"/>
                </a:solidFill>
              </a:rPr>
            </a:br>
            <a:r>
              <a:rPr lang="en-US" sz="4000" b="1" dirty="0">
                <a:solidFill>
                  <a:srgbClr val="C00000"/>
                </a:solidFill>
              </a:rPr>
              <a:t>THÀNH</a:t>
            </a:r>
            <a:br>
              <a:rPr lang="en-US" sz="4000" b="1" dirty="0">
                <a:solidFill>
                  <a:srgbClr val="C00000"/>
                </a:solidFill>
              </a:rPr>
            </a:br>
            <a:r>
              <a:rPr lang="en-US" sz="4000" b="1" dirty="0">
                <a:solidFill>
                  <a:srgbClr val="C00000"/>
                </a:solidFill>
              </a:rPr>
              <a:t> TRÌ”</a:t>
            </a:r>
          </a:p>
        </p:txBody>
      </p:sp>
      <p:sp>
        <p:nvSpPr>
          <p:cNvPr id="95" name="Freeform 22">
            <a:extLst>
              <a:ext uri="{FF2B5EF4-FFF2-40B4-BE49-F238E27FC236}">
                <a16:creationId xmlns:a16="http://schemas.microsoft.com/office/drawing/2014/main" id="{237E2353-22DF-46E0-A200-FB30F8F39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7" name="Freeform 23">
            <a:extLst>
              <a:ext uri="{FF2B5EF4-FFF2-40B4-BE49-F238E27FC236}">
                <a16:creationId xmlns:a16="http://schemas.microsoft.com/office/drawing/2014/main" id="{DD6138DB-057B-45F7-A5F4-E7BFDA20D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79A54AB1-B64F-4843-BFAB-81CB74E66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11268" name="Picture 4" descr="Image result for đánh hạ thành trì">
            <a:extLst>
              <a:ext uri="{FF2B5EF4-FFF2-40B4-BE49-F238E27FC236}">
                <a16:creationId xmlns:a16="http://schemas.microsoft.com/office/drawing/2014/main" id="{14580734-81E6-4EB4-85A9-88333C1EED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5" r="12523" b="-1"/>
          <a:stretch/>
        </p:blipFill>
        <p:spPr bwMode="auto">
          <a:xfrm>
            <a:off x="921910" y="465243"/>
            <a:ext cx="7761924" cy="5343065"/>
          </a:xfrm>
          <a:custGeom>
            <a:avLst/>
            <a:gdLst/>
            <a:ahLst/>
            <a:cxnLst/>
            <a:rect l="l" t="t" r="r" b="b"/>
            <a:pathLst>
              <a:path w="7761924" h="5343065">
                <a:moveTo>
                  <a:pt x="3025687" y="76"/>
                </a:moveTo>
                <a:cubicBezTo>
                  <a:pt x="3140786" y="756"/>
                  <a:pt x="3256631" y="6055"/>
                  <a:pt x="3372722" y="16088"/>
                </a:cubicBezTo>
                <a:cubicBezTo>
                  <a:pt x="5230178" y="176616"/>
                  <a:pt x="7761924" y="1424594"/>
                  <a:pt x="7761924" y="3316816"/>
                </a:cubicBezTo>
                <a:cubicBezTo>
                  <a:pt x="7646022" y="5237647"/>
                  <a:pt x="4988715" y="5423921"/>
                  <a:pt x="3701109" y="5320611"/>
                </a:cubicBezTo>
                <a:cubicBezTo>
                  <a:pt x="2413504" y="5217301"/>
                  <a:pt x="351800" y="4486992"/>
                  <a:pt x="36290" y="2696959"/>
                </a:cubicBezTo>
                <a:cubicBezTo>
                  <a:pt x="-259500" y="1018804"/>
                  <a:pt x="1299198" y="-10133"/>
                  <a:pt x="3025687" y="7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684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Tam quốc diễn nghĩa: 6 quân sư, tướng lĩnh tài ba này không mất sớm, lịch  sử có thể sẽ đi theo một hướng khác">
            <a:extLst>
              <a:ext uri="{FF2B5EF4-FFF2-40B4-BE49-F238E27FC236}">
                <a16:creationId xmlns:a16="http://schemas.microsoft.com/office/drawing/2014/main" id="{97D0F30A-9617-4E9F-B772-2FD178411A8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2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7" name="Rectangle 136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277881-DF9B-42D2-8926-209DBDA37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</a:rPr>
              <a:t>TỐC CHIẾN TỐC THẮNG</a:t>
            </a:r>
          </a:p>
        </p:txBody>
      </p: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8D98F57D-A5E1-0CB3-2A82-1FBAD4FF92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1186" y="126290"/>
            <a:ext cx="806373" cy="694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627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198</Words>
  <Application>Microsoft Office PowerPoint</Application>
  <PresentationFormat>Widescreen</PresentationFormat>
  <Paragraphs>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Rockwell</vt:lpstr>
      <vt:lpstr>Times New Roman</vt:lpstr>
      <vt:lpstr>Office Theme</vt:lpstr>
      <vt:lpstr>1_Office Theme</vt:lpstr>
      <vt:lpstr>BÀI HỌC TỪ TAM QUỐC  ỨNG DỤNG TRONG KINH DOANH</vt:lpstr>
      <vt:lpstr>TAM QUỐC DIỄN NGHĨA</vt:lpstr>
      <vt:lpstr>Gia Cát Lượng chưa từng hỏi Lưu Bị:  “ Tại sao cung tên của ta ít như vậy”</vt:lpstr>
      <vt:lpstr>Quan Vũ chưa bao giờ hỏi Lưu Bị: “Tại sao binh lính của chúng ta thiếu thốn thế?</vt:lpstr>
      <vt:lpstr>Trương phi chưa bao giờ hỏi Lưu Bị:  “Khi bị quân địch vây hãm dưới thành, chúng ta phải làm sao?”</vt:lpstr>
      <vt:lpstr>Thế nhưng …</vt:lpstr>
      <vt:lpstr>Đã từng có tích GIA CÁT LƯỢNG -  Thuyền cỏ mượn tên</vt:lpstr>
      <vt:lpstr>QUAN VÂN TRƯỜNG – Qua 5 ải chém 6 tướng</vt:lpstr>
      <vt:lpstr>TRƯƠNG PHI – Chặt đứt cầu gỗ hù dọa binh Tào Tháo</vt:lpstr>
      <vt:lpstr>TRIỆU TỬ LONG – Xông pha TRƯỜNG BẢN cứu Ấu Chúa</vt:lpstr>
      <vt:lpstr>PowerPoint Presentation</vt:lpstr>
      <vt:lpstr>Trong quan lệnh chỉ có  4 chữ  “ĐÁNH  HẠ  THÀNH  TRÌ”</vt:lpstr>
      <vt:lpstr>TỐC CHIẾN TỐC THẮNG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HỌC TỪ TAM QUỐC  ỨNG DỤNG TRONG KINH DOANH</dc:title>
  <dc:creator>Le Van</dc:creator>
  <cp:lastModifiedBy>Administrator</cp:lastModifiedBy>
  <cp:revision>3</cp:revision>
  <dcterms:created xsi:type="dcterms:W3CDTF">2020-11-17T14:51:13Z</dcterms:created>
  <dcterms:modified xsi:type="dcterms:W3CDTF">2025-01-20T03:24:41Z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fead094-560e-463c-bb19-c3c75b05d1f6_Enabled">
    <vt:lpwstr>true</vt:lpwstr>
  </property>
  <property fmtid="{D5CDD505-2E9C-101B-9397-08002B2CF9AE}" pid="3" name="MSIP_Label_efead094-560e-463c-bb19-c3c75b05d1f6_SetDate">
    <vt:lpwstr>2022-12-01T06:54:18Z</vt:lpwstr>
  </property>
  <property fmtid="{D5CDD505-2E9C-101B-9397-08002B2CF9AE}" pid="4" name="MSIP_Label_efead094-560e-463c-bb19-c3c75b05d1f6_Method">
    <vt:lpwstr>Standard</vt:lpwstr>
  </property>
  <property fmtid="{D5CDD505-2E9C-101B-9397-08002B2CF9AE}" pid="5" name="MSIP_Label_efead094-560e-463c-bb19-c3c75b05d1f6_Name">
    <vt:lpwstr>Restricted(PRU)</vt:lpwstr>
  </property>
  <property fmtid="{D5CDD505-2E9C-101B-9397-08002B2CF9AE}" pid="6" name="MSIP_Label_efead094-560e-463c-bb19-c3c75b05d1f6_SiteId">
    <vt:lpwstr>7007305e-2664-4e6b-b9a4-c4d5ccfd1524</vt:lpwstr>
  </property>
  <property fmtid="{D5CDD505-2E9C-101B-9397-08002B2CF9AE}" pid="7" name="MSIP_Label_efead094-560e-463c-bb19-c3c75b05d1f6_ActionId">
    <vt:lpwstr>f9c1b00a-22c2-4fba-8132-93603493fcc7</vt:lpwstr>
  </property>
  <property fmtid="{D5CDD505-2E9C-101B-9397-08002B2CF9AE}" pid="8" name="MSIP_Label_efead094-560e-463c-bb19-c3c75b05d1f6_ContentBits">
    <vt:lpwstr>0</vt:lpwstr>
  </property>
</Properties>
</file>