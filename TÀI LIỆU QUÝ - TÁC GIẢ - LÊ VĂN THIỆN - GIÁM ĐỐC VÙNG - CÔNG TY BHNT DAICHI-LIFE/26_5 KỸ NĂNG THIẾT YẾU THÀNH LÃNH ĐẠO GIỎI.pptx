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D9F22A-9E81-4A61-9BEF-7BF2C79659B2}" type="doc">
      <dgm:prSet loTypeId="urn:microsoft.com/office/officeart/2009/3/layout/SnapshotPictureList" loCatId="picture" qsTypeId="urn:microsoft.com/office/officeart/2005/8/quickstyle/simple1" qsCatId="simple" csTypeId="urn:microsoft.com/office/officeart/2005/8/colors/colorful4" csCatId="colorful"/>
      <dgm:spPr/>
    </dgm:pt>
    <dgm:pt modelId="{67F27922-E220-4974-8A3B-2D3CEA514E2F}">
      <dgm:prSet phldrT="[Text]" phldr="1"/>
      <dgm:spPr/>
      <dgm:t>
        <a:bodyPr/>
        <a:lstStyle/>
        <a:p>
          <a:endParaRPr lang="en-US"/>
        </a:p>
      </dgm:t>
    </dgm:pt>
    <dgm:pt modelId="{09AE7047-5BAA-4216-A353-2EE329525A8F}" type="parTrans" cxnId="{FF4EDA58-ADDC-46CF-989D-ED871BA69C9E}">
      <dgm:prSet/>
      <dgm:spPr/>
      <dgm:t>
        <a:bodyPr/>
        <a:lstStyle/>
        <a:p>
          <a:endParaRPr lang="en-US"/>
        </a:p>
      </dgm:t>
    </dgm:pt>
    <dgm:pt modelId="{76C49FBD-21C1-476D-BDE8-E00D92D9AA73}" type="sibTrans" cxnId="{FF4EDA58-ADDC-46CF-989D-ED871BA69C9E}">
      <dgm:prSet/>
      <dgm:spPr/>
      <dgm:t>
        <a:bodyPr/>
        <a:lstStyle/>
        <a:p>
          <a:endParaRPr lang="en-US"/>
        </a:p>
      </dgm:t>
    </dgm:pt>
    <dgm:pt modelId="{05AB2194-BB21-49C1-B596-3965BAC17AA5}" type="pres">
      <dgm:prSet presAssocID="{85D9F22A-9E81-4A61-9BEF-7BF2C79659B2}" presName="Name0" presStyleCnt="0">
        <dgm:presLayoutVars>
          <dgm:chMax/>
          <dgm:chPref/>
          <dgm:dir/>
          <dgm:animLvl val="lvl"/>
        </dgm:presLayoutVars>
      </dgm:prSet>
      <dgm:spPr/>
    </dgm:pt>
    <dgm:pt modelId="{8F1F2A22-154A-4E98-B18A-416E86E2EE7C}" type="pres">
      <dgm:prSet presAssocID="{67F27922-E220-4974-8A3B-2D3CEA514E2F}" presName="composite" presStyleCnt="0"/>
      <dgm:spPr/>
    </dgm:pt>
    <dgm:pt modelId="{3A0185B9-7C3E-4652-9514-9949164CEAF3}" type="pres">
      <dgm:prSet presAssocID="{67F27922-E220-4974-8A3B-2D3CEA514E2F}" presName="ParentAccentShape" presStyleLbl="trBgShp" presStyleIdx="0" presStyleCnt="1"/>
      <dgm:spPr/>
    </dgm:pt>
    <dgm:pt modelId="{0009A4E8-2834-4D5B-B8D1-3C941C3FE6F0}" type="pres">
      <dgm:prSet presAssocID="{67F27922-E220-4974-8A3B-2D3CEA514E2F}" presName="ParentText" presStyleLbl="revTx" presStyleIdx="0" presStyleCnt="2">
        <dgm:presLayoutVars>
          <dgm:chMax val="1"/>
          <dgm:chPref val="1"/>
          <dgm:bulletEnabled val="1"/>
        </dgm:presLayoutVars>
      </dgm:prSet>
      <dgm:spPr/>
    </dgm:pt>
    <dgm:pt modelId="{189C63E4-F01C-45E4-BC7A-97EC3E027154}" type="pres">
      <dgm:prSet presAssocID="{67F27922-E220-4974-8A3B-2D3CEA514E2F}" presName="ChildText" presStyleLbl="revTx" presStyleIdx="1" presStyleCnt="2">
        <dgm:presLayoutVars>
          <dgm:chMax val="0"/>
          <dgm:chPref val="0"/>
        </dgm:presLayoutVars>
      </dgm:prSet>
      <dgm:spPr/>
    </dgm:pt>
    <dgm:pt modelId="{A99E28F8-9CEB-4AC6-9394-97E5EC387B9E}" type="pres">
      <dgm:prSet presAssocID="{67F27922-E220-4974-8A3B-2D3CEA514E2F}" presName="ChildAccentShape" presStyleLbl="trBgShp" presStyleIdx="0" presStyleCnt="1"/>
      <dgm:spPr/>
    </dgm:pt>
    <dgm:pt modelId="{B6B879CE-5C3D-45DF-935D-6A2052275A36}" type="pres">
      <dgm:prSet presAssocID="{67F27922-E220-4974-8A3B-2D3CEA514E2F}" presName="Image" presStyleLbl="align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l="-16000" r="-16000"/>
          </a:stretch>
        </a:blipFill>
        <a:effectLst>
          <a:outerShdw blurRad="152400" dist="317500" dir="5400000" sx="90000" sy="-19000" rotWithShape="0">
            <a:prstClr val="black">
              <a:alpha val="15000"/>
            </a:prstClr>
          </a:outerShdw>
        </a:effectLst>
      </dgm:spPr>
      <dgm:extLst>
        <a:ext uri="{E40237B7-FDA0-4F09-8148-C483321AD2D9}">
          <dgm14:cNvPr xmlns:dgm14="http://schemas.microsoft.com/office/drawing/2010/diagram" id="0" name="" descr="Khám Phá Bí Quyết Thành Công Để Trở Thành Lãnh Đạo Giỏi">
            <a:extLst>
              <a:ext uri="{FF2B5EF4-FFF2-40B4-BE49-F238E27FC236}">
                <a16:creationId xmlns:a16="http://schemas.microsoft.com/office/drawing/2014/main" id="{657D5B93-40C7-75C9-B115-F23760BB4700}"/>
              </a:ext>
            </a:extLst>
          </dgm14:cNvPr>
        </a:ext>
      </dgm:extLst>
    </dgm:pt>
  </dgm:ptLst>
  <dgm:cxnLst>
    <dgm:cxn modelId="{631B9E3C-FBDF-4B6A-B87A-F69D60135484}" type="presOf" srcId="{67F27922-E220-4974-8A3B-2D3CEA514E2F}" destId="{0009A4E8-2834-4D5B-B8D1-3C941C3FE6F0}" srcOrd="0" destOrd="0" presId="urn:microsoft.com/office/officeart/2009/3/layout/SnapshotPictureList"/>
    <dgm:cxn modelId="{FF4EDA58-ADDC-46CF-989D-ED871BA69C9E}" srcId="{85D9F22A-9E81-4A61-9BEF-7BF2C79659B2}" destId="{67F27922-E220-4974-8A3B-2D3CEA514E2F}" srcOrd="0" destOrd="0" parTransId="{09AE7047-5BAA-4216-A353-2EE329525A8F}" sibTransId="{76C49FBD-21C1-476D-BDE8-E00D92D9AA73}"/>
    <dgm:cxn modelId="{80CA79ED-20B2-4927-842A-5C245912403A}" type="presOf" srcId="{85D9F22A-9E81-4A61-9BEF-7BF2C79659B2}" destId="{05AB2194-BB21-49C1-B596-3965BAC17AA5}" srcOrd="0" destOrd="0" presId="urn:microsoft.com/office/officeart/2009/3/layout/SnapshotPictureList"/>
    <dgm:cxn modelId="{03842E61-9938-408B-AB0C-1369808948B8}" type="presParOf" srcId="{05AB2194-BB21-49C1-B596-3965BAC17AA5}" destId="{8F1F2A22-154A-4E98-B18A-416E86E2EE7C}" srcOrd="0" destOrd="0" presId="urn:microsoft.com/office/officeart/2009/3/layout/SnapshotPictureList"/>
    <dgm:cxn modelId="{EE4955F4-2124-406F-847E-332C4388E509}" type="presParOf" srcId="{8F1F2A22-154A-4E98-B18A-416E86E2EE7C}" destId="{3A0185B9-7C3E-4652-9514-9949164CEAF3}" srcOrd="0" destOrd="0" presId="urn:microsoft.com/office/officeart/2009/3/layout/SnapshotPictureList"/>
    <dgm:cxn modelId="{A83343DE-32C6-48F9-BA27-5B78A350CD19}" type="presParOf" srcId="{8F1F2A22-154A-4E98-B18A-416E86E2EE7C}" destId="{0009A4E8-2834-4D5B-B8D1-3C941C3FE6F0}" srcOrd="1" destOrd="0" presId="urn:microsoft.com/office/officeart/2009/3/layout/SnapshotPictureList"/>
    <dgm:cxn modelId="{55DB54F4-EB8F-4523-9687-FB95AF14AB08}" type="presParOf" srcId="{8F1F2A22-154A-4E98-B18A-416E86E2EE7C}" destId="{189C63E4-F01C-45E4-BC7A-97EC3E027154}" srcOrd="2" destOrd="0" presId="urn:microsoft.com/office/officeart/2009/3/layout/SnapshotPictureList"/>
    <dgm:cxn modelId="{BF604B67-47EB-4E7C-BFF5-F8B1612773CA}" type="presParOf" srcId="{8F1F2A22-154A-4E98-B18A-416E86E2EE7C}" destId="{A99E28F8-9CEB-4AC6-9394-97E5EC387B9E}" srcOrd="3" destOrd="0" presId="urn:microsoft.com/office/officeart/2009/3/layout/SnapshotPictureList"/>
    <dgm:cxn modelId="{388E172B-4939-422C-9274-2D57B59B7A7A}" type="presParOf" srcId="{8F1F2A22-154A-4E98-B18A-416E86E2EE7C}" destId="{B6B879CE-5C3D-45DF-935D-6A2052275A36}" srcOrd="4" destOrd="0" presId="urn:microsoft.com/office/officeart/2009/3/layout/Snapshot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0185B9-7C3E-4652-9514-9949164CEAF3}">
      <dsp:nvSpPr>
        <dsp:cNvPr id="0" name=""/>
        <dsp:cNvSpPr/>
      </dsp:nvSpPr>
      <dsp:spPr>
        <a:xfrm>
          <a:off x="163482" y="479336"/>
          <a:ext cx="4251917" cy="3025712"/>
        </a:xfrm>
        <a:prstGeom prst="frame">
          <a:avLst>
            <a:gd name="adj1" fmla="val 5450"/>
          </a:avLst>
        </a:prstGeom>
        <a:solidFill>
          <a:schemeClr val="accent4">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B879CE-5C3D-45DF-935D-6A2052275A36}">
      <dsp:nvSpPr>
        <dsp:cNvPr id="0" name=""/>
        <dsp:cNvSpPr/>
      </dsp:nvSpPr>
      <dsp:spPr>
        <a:xfrm>
          <a:off x="0" y="116793"/>
          <a:ext cx="4088435" cy="286205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6000" r="-16000"/>
          </a:stretch>
        </a:blipFill>
        <a:ln w="12700" cap="flat" cmpd="sng" algn="ctr">
          <a:solidFill>
            <a:schemeClr val="lt1">
              <a:hueOff val="0"/>
              <a:satOff val="0"/>
              <a:lumOff val="0"/>
              <a:alphaOff val="0"/>
            </a:schemeClr>
          </a:solidFill>
          <a:prstDash val="solid"/>
          <a:miter lim="800000"/>
        </a:ln>
        <a:effectLst>
          <a:outerShdw blurRad="152400" dist="317500" dir="5400000" sx="90000" sy="-19000" rotWithShape="0">
            <a:prstClr val="black">
              <a:alpha val="15000"/>
            </a:prstClr>
          </a:outerShdw>
        </a:effectLst>
      </dsp:spPr>
      <dsp:style>
        <a:lnRef idx="2">
          <a:scrgbClr r="0" g="0" b="0"/>
        </a:lnRef>
        <a:fillRef idx="1">
          <a:scrgbClr r="0" g="0" b="0"/>
        </a:fillRef>
        <a:effectRef idx="0">
          <a:scrgbClr r="0" g="0" b="0"/>
        </a:effectRef>
        <a:fontRef idx="minor"/>
      </dsp:style>
    </dsp:sp>
    <dsp:sp modelId="{0009A4E8-2834-4D5B-B8D1-3C941C3FE6F0}">
      <dsp:nvSpPr>
        <dsp:cNvPr id="0" name=""/>
        <dsp:cNvSpPr/>
      </dsp:nvSpPr>
      <dsp:spPr>
        <a:xfrm>
          <a:off x="329712" y="2979869"/>
          <a:ext cx="3922205" cy="359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60" tIns="60960" rIns="162560" bIns="60960" numCol="1" spcCol="1270" anchor="ctr" anchorCtr="0">
          <a:noAutofit/>
        </a:bodyPr>
        <a:lstStyle/>
        <a:p>
          <a:pPr marL="0" lvl="0" indent="0" algn="l" defTabSz="711200">
            <a:lnSpc>
              <a:spcPct val="90000"/>
            </a:lnSpc>
            <a:spcBef>
              <a:spcPct val="0"/>
            </a:spcBef>
            <a:spcAft>
              <a:spcPct val="35000"/>
            </a:spcAft>
            <a:buNone/>
          </a:pPr>
          <a:endParaRPr lang="en-US" sz="1600" kern="1200"/>
        </a:p>
      </dsp:txBody>
      <dsp:txXfrm>
        <a:off x="329712" y="2979869"/>
        <a:ext cx="3922205" cy="359155"/>
      </dsp:txXfrm>
    </dsp:sp>
    <dsp:sp modelId="{189C63E4-F01C-45E4-BC7A-97EC3E027154}">
      <dsp:nvSpPr>
        <dsp:cNvPr id="0" name=""/>
        <dsp:cNvSpPr/>
      </dsp:nvSpPr>
      <dsp:spPr>
        <a:xfrm>
          <a:off x="4588499" y="479336"/>
          <a:ext cx="1943930" cy="3025712"/>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D4B3A-37C9-9791-7D17-1409DA245E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AEDBE4-C575-6DB7-5D58-EDA074C3D2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DA516A-646E-6F41-04CE-9137758D0077}"/>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5" name="Footer Placeholder 4">
            <a:extLst>
              <a:ext uri="{FF2B5EF4-FFF2-40B4-BE49-F238E27FC236}">
                <a16:creationId xmlns:a16="http://schemas.microsoft.com/office/drawing/2014/main" id="{2C4EA5D9-1CCB-BE48-C997-3D7D6EA740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8E3A2A-6B05-0BCF-C7FB-9BA83AADF534}"/>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3607109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51098-8E0B-28D7-B788-CD309158DC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4A6964-82C2-DB5B-E962-F7AAEFF81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F3EEF8-BB0E-DEF3-F429-1F4AEADE6DE6}"/>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5" name="Footer Placeholder 4">
            <a:extLst>
              <a:ext uri="{FF2B5EF4-FFF2-40B4-BE49-F238E27FC236}">
                <a16:creationId xmlns:a16="http://schemas.microsoft.com/office/drawing/2014/main" id="{BB876594-D43D-A9A5-4D03-6DA77A009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D06E8-1E2F-87B4-D700-EF0311EC7C07}"/>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1223727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3CF3-949E-6B53-4F26-3B9BA9D818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7F93CC-4238-AC44-076E-311685CBFD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46D1C2-3A3B-C92A-253F-213E3D4742EC}"/>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5" name="Footer Placeholder 4">
            <a:extLst>
              <a:ext uri="{FF2B5EF4-FFF2-40B4-BE49-F238E27FC236}">
                <a16:creationId xmlns:a16="http://schemas.microsoft.com/office/drawing/2014/main" id="{9F516945-F347-22B9-E083-FB331BA9BC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9C0CB-62BD-53AE-D786-AF5906224C4C}"/>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3212233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5B7C9-7F5D-6732-7269-06096220C5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328468-B8D6-146E-5923-8F97FC0018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8C69F5-7D47-AA79-F144-06F06B2C18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7D6E91-AD66-3B58-6000-D863F0D6CD2F}"/>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6" name="Footer Placeholder 5">
            <a:extLst>
              <a:ext uri="{FF2B5EF4-FFF2-40B4-BE49-F238E27FC236}">
                <a16:creationId xmlns:a16="http://schemas.microsoft.com/office/drawing/2014/main" id="{7238DD30-B5DC-8660-F66B-DE61F969B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BBB72-658B-78F7-186D-547F6F4296ED}"/>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4261938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5EE97-971D-B2B4-CA29-9CC314A087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EA69DD-3048-4876-1481-901FA80AF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F8BD28-0A70-BE34-7024-B06D34C5DC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C4F135-BF94-95FD-04F1-F89FA98D07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BADFA1-9198-C213-BC94-01FC545F89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6E5132-C77F-B103-CA37-4886CB16880A}"/>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8" name="Footer Placeholder 7">
            <a:extLst>
              <a:ext uri="{FF2B5EF4-FFF2-40B4-BE49-F238E27FC236}">
                <a16:creationId xmlns:a16="http://schemas.microsoft.com/office/drawing/2014/main" id="{D2FA6B00-5A75-5393-E0D0-E1CD05FEFC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51AD43-87FA-DC83-463F-51AAE5753320}"/>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2408415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AA03F-8FD6-71D8-BD4F-D8B64C954D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779DB9-F913-DF71-793B-FB61221A3002}"/>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4" name="Footer Placeholder 3">
            <a:extLst>
              <a:ext uri="{FF2B5EF4-FFF2-40B4-BE49-F238E27FC236}">
                <a16:creationId xmlns:a16="http://schemas.microsoft.com/office/drawing/2014/main" id="{08BF2AC3-2F6F-6C42-7AC7-EDD74A6D59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3E9D2F-F2E6-8235-2C75-1F1977C65F98}"/>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1658992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7E0445-0A6B-A987-710E-E385DB99DC01}"/>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3" name="Footer Placeholder 2">
            <a:extLst>
              <a:ext uri="{FF2B5EF4-FFF2-40B4-BE49-F238E27FC236}">
                <a16:creationId xmlns:a16="http://schemas.microsoft.com/office/drawing/2014/main" id="{3961CDC3-3992-ADAA-E814-2489B4E3D2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6CA0B8-EBBA-D03D-968A-7D22CFEB23FE}"/>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3780210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9D5FD-816F-F84D-4300-59C5EA407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183CC2-CC73-7549-D06A-081126C712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6E64D4-9BDE-4D2E-DBFB-1C036ACA83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AECFD6-63F4-883D-D4DF-262657F1164D}"/>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6" name="Footer Placeholder 5">
            <a:extLst>
              <a:ext uri="{FF2B5EF4-FFF2-40B4-BE49-F238E27FC236}">
                <a16:creationId xmlns:a16="http://schemas.microsoft.com/office/drawing/2014/main" id="{2B167B27-6A45-6D84-B045-69A613B395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85F5D5-B75D-B378-686F-83A215441697}"/>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216554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A4A49-FC69-D84F-47BA-F84915EEE1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A0AF0F-B25D-B6DB-43C7-91D97F40E6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48B915-11AB-04D3-5BED-946D93E25B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0F8A43-18FC-66F5-C81B-2EB134D0A153}"/>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6" name="Footer Placeholder 5">
            <a:extLst>
              <a:ext uri="{FF2B5EF4-FFF2-40B4-BE49-F238E27FC236}">
                <a16:creationId xmlns:a16="http://schemas.microsoft.com/office/drawing/2014/main" id="{B7343225-496D-3637-78FC-34CF69E49C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5F130-4BE7-5258-C46B-79775DD1029F}"/>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3888822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1A560-9C50-386E-98BD-257E83EB75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34D20F-6778-942C-6129-1084F629C0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DB9B16-68E8-C79D-56F4-BA125A6826A8}"/>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5" name="Footer Placeholder 4">
            <a:extLst>
              <a:ext uri="{FF2B5EF4-FFF2-40B4-BE49-F238E27FC236}">
                <a16:creationId xmlns:a16="http://schemas.microsoft.com/office/drawing/2014/main" id="{6A844690-74A6-1240-47C4-9EA2684DC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A2C49E-36ED-D872-EBB7-43CE9FD101BC}"/>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1009168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7F3138-12AB-95BB-DFC4-1E5871AB05E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298668-64E5-8C51-C39A-A628776CCC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42B3B-ED62-C78E-CFFB-1D442BBC575B}"/>
              </a:ext>
            </a:extLst>
          </p:cNvPr>
          <p:cNvSpPr>
            <a:spLocks noGrp="1"/>
          </p:cNvSpPr>
          <p:nvPr>
            <p:ph type="dt" sz="half" idx="10"/>
          </p:nvPr>
        </p:nvSpPr>
        <p:spPr/>
        <p:txBody>
          <a:bodyPr/>
          <a:lstStyle/>
          <a:p>
            <a:fld id="{B5B9DEBB-9064-4DAD-B9B3-5BCCB9288204}" type="datetimeFigureOut">
              <a:rPr lang="en-US" smtClean="0"/>
              <a:t>12/19/2024</a:t>
            </a:fld>
            <a:endParaRPr lang="en-US"/>
          </a:p>
        </p:txBody>
      </p:sp>
      <p:sp>
        <p:nvSpPr>
          <p:cNvPr id="5" name="Footer Placeholder 4">
            <a:extLst>
              <a:ext uri="{FF2B5EF4-FFF2-40B4-BE49-F238E27FC236}">
                <a16:creationId xmlns:a16="http://schemas.microsoft.com/office/drawing/2014/main" id="{14AC49E1-1B08-BC27-11D0-27881498A2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E13D50-5A2D-ACD0-534F-F3198209E743}"/>
              </a:ext>
            </a:extLst>
          </p:cNvPr>
          <p:cNvSpPr>
            <a:spLocks noGrp="1"/>
          </p:cNvSpPr>
          <p:nvPr>
            <p:ph type="sldNum" sz="quarter" idx="12"/>
          </p:nvPr>
        </p:nvSpPr>
        <p:spPr/>
        <p:txBody>
          <a:bodyPr/>
          <a:lstStyle/>
          <a:p>
            <a:fld id="{505CE3D8-020D-462B-9D37-ECC1FDBDC774}" type="slidenum">
              <a:rPr lang="en-US" smtClean="0"/>
              <a:t>‹#›</a:t>
            </a:fld>
            <a:endParaRPr lang="en-US"/>
          </a:p>
        </p:txBody>
      </p:sp>
    </p:spTree>
    <p:extLst>
      <p:ext uri="{BB962C8B-B14F-4D97-AF65-F5344CB8AC3E}">
        <p14:creationId xmlns:p14="http://schemas.microsoft.com/office/powerpoint/2010/main" val="3473731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5B6098-114D-F126-26C8-67AC0D21F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FFFF1A-564F-B97C-630A-9719C3B507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35E830-5FFD-86F4-1E8A-43438A7495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9DEBB-9064-4DAD-B9B3-5BCCB9288204}" type="datetimeFigureOut">
              <a:rPr lang="en-US" smtClean="0"/>
              <a:t>12/19/2024</a:t>
            </a:fld>
            <a:endParaRPr lang="en-US"/>
          </a:p>
        </p:txBody>
      </p:sp>
      <p:sp>
        <p:nvSpPr>
          <p:cNvPr id="5" name="Footer Placeholder 4">
            <a:extLst>
              <a:ext uri="{FF2B5EF4-FFF2-40B4-BE49-F238E27FC236}">
                <a16:creationId xmlns:a16="http://schemas.microsoft.com/office/drawing/2014/main" id="{26C4FB4F-7975-9FF3-6ED0-4CF52071E7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319D46-6C8F-F428-43C1-C5E145A9D1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CE3D8-020D-462B-9D37-ECC1FDBDC774}" type="slidenum">
              <a:rPr lang="en-US" smtClean="0"/>
              <a:t>‹#›</a:t>
            </a:fld>
            <a:endParaRPr lang="en-US"/>
          </a:p>
        </p:txBody>
      </p:sp>
    </p:spTree>
    <p:extLst>
      <p:ext uri="{BB962C8B-B14F-4D97-AF65-F5344CB8AC3E}">
        <p14:creationId xmlns:p14="http://schemas.microsoft.com/office/powerpoint/2010/main" val="2277385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647FA-144B-6F71-E349-B699F5898E04}"/>
              </a:ext>
            </a:extLst>
          </p:cNvPr>
          <p:cNvSpPr>
            <a:spLocks noGrp="1"/>
          </p:cNvSpPr>
          <p:nvPr>
            <p:ph type="ctrTitle"/>
          </p:nvPr>
        </p:nvSpPr>
        <p:spPr>
          <a:xfrm>
            <a:off x="2002172" y="2900493"/>
            <a:ext cx="9144000" cy="2387600"/>
          </a:xfrm>
        </p:spPr>
        <p:txBody>
          <a:bodyPr>
            <a:normAutofit/>
          </a:bodyPr>
          <a:lstStyle/>
          <a:p>
            <a:r>
              <a:rPr lang="en-US" sz="4000" b="1" i="0" dirty="0">
                <a:solidFill>
                  <a:schemeClr val="accent6">
                    <a:lumMod val="50000"/>
                  </a:schemeClr>
                </a:solidFill>
                <a:effectLst/>
                <a:latin typeface="Arial" panose="020B0604020202020204" pitchFamily="34" charset="0"/>
                <a:cs typeface="Arial" panose="020B0604020202020204" pitchFamily="34" charset="0"/>
              </a:rPr>
              <a:t>5 KỸ NĂNG THIẾT YẾU </a:t>
            </a:r>
            <a:br>
              <a:rPr lang="en-US" sz="4000" b="1" i="0" dirty="0">
                <a:solidFill>
                  <a:schemeClr val="accent6">
                    <a:lumMod val="50000"/>
                  </a:schemeClr>
                </a:solidFill>
                <a:effectLst/>
                <a:latin typeface="Arial" panose="020B0604020202020204" pitchFamily="34" charset="0"/>
                <a:cs typeface="Arial" panose="020B0604020202020204" pitchFamily="34" charset="0"/>
              </a:rPr>
            </a:br>
            <a:r>
              <a:rPr lang="en-US" sz="4000" b="1" i="0" dirty="0">
                <a:solidFill>
                  <a:schemeClr val="accent6">
                    <a:lumMod val="50000"/>
                  </a:schemeClr>
                </a:solidFill>
                <a:effectLst/>
                <a:latin typeface="Arial" panose="020B0604020202020204" pitchFamily="34" charset="0"/>
                <a:cs typeface="Arial" panose="020B0604020202020204" pitchFamily="34" charset="0"/>
              </a:rPr>
              <a:t>ĐỂ TRỞ THÀNH NHÀ LÃNH GIỎI</a:t>
            </a:r>
            <a:endParaRPr lang="en-US" sz="4000" b="1" dirty="0">
              <a:solidFill>
                <a:schemeClr val="accent6">
                  <a:lumMod val="50000"/>
                </a:schemeClr>
              </a:solidFill>
              <a:latin typeface="Arial" panose="020B0604020202020204" pitchFamily="34" charset="0"/>
              <a:cs typeface="Arial" panose="020B0604020202020204" pitchFamily="34" charset="0"/>
            </a:endParaRPr>
          </a:p>
        </p:txBody>
      </p:sp>
      <p:graphicFrame>
        <p:nvGraphicFramePr>
          <p:cNvPr id="4" name="Diagram 3">
            <a:extLst>
              <a:ext uri="{FF2B5EF4-FFF2-40B4-BE49-F238E27FC236}">
                <a16:creationId xmlns:a16="http://schemas.microsoft.com/office/drawing/2014/main" id="{6977243C-EC38-603F-7752-B8BE4C4571AB}"/>
              </a:ext>
            </a:extLst>
          </p:cNvPr>
          <p:cNvGraphicFramePr/>
          <p:nvPr>
            <p:extLst>
              <p:ext uri="{D42A27DB-BD31-4B8C-83A1-F6EECF244321}">
                <p14:modId xmlns:p14="http://schemas.microsoft.com/office/powerpoint/2010/main" val="1742863293"/>
              </p:ext>
            </p:extLst>
          </p:nvPr>
        </p:nvGraphicFramePr>
        <p:xfrm>
          <a:off x="4145735" y="222134"/>
          <a:ext cx="6869011" cy="3621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3310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0E4F9-EA47-FBEF-C6A0-4DDCA4404ECD}"/>
              </a:ext>
            </a:extLst>
          </p:cNvPr>
          <p:cNvSpPr>
            <a:spLocks noGrp="1"/>
          </p:cNvSpPr>
          <p:nvPr>
            <p:ph type="title"/>
          </p:nvPr>
        </p:nvSpPr>
        <p:spPr/>
        <p:txBody>
          <a:bodyPr/>
          <a:lstStyle/>
          <a:p>
            <a:pPr marL="571500" indent="-571500">
              <a:buFont typeface="Wingdings" panose="05000000000000000000" pitchFamily="2" charset="2"/>
              <a:buChar char="v"/>
            </a:pPr>
            <a:r>
              <a:rPr lang="en-US" b="1" dirty="0">
                <a:solidFill>
                  <a:schemeClr val="accent6">
                    <a:lumMod val="50000"/>
                  </a:schemeClr>
                </a:solidFill>
              </a:rPr>
              <a:t>ĐẶT VẤN ĐỀ</a:t>
            </a:r>
          </a:p>
        </p:txBody>
      </p:sp>
      <p:sp>
        <p:nvSpPr>
          <p:cNvPr id="5" name="TextBox 4">
            <a:extLst>
              <a:ext uri="{FF2B5EF4-FFF2-40B4-BE49-F238E27FC236}">
                <a16:creationId xmlns:a16="http://schemas.microsoft.com/office/drawing/2014/main" id="{71E97649-AE68-A1F8-38C2-925FEF5F6D85}"/>
              </a:ext>
            </a:extLst>
          </p:cNvPr>
          <p:cNvSpPr txBox="1"/>
          <p:nvPr/>
        </p:nvSpPr>
        <p:spPr>
          <a:xfrm>
            <a:off x="1274406" y="1424714"/>
            <a:ext cx="10079394" cy="2308324"/>
          </a:xfrm>
          <a:prstGeom prst="rect">
            <a:avLst/>
          </a:prstGeom>
          <a:noFill/>
        </p:spPr>
        <p:txBody>
          <a:bodyPr wrap="square">
            <a:spAutoFit/>
          </a:bodyPr>
          <a:lstStyle/>
          <a:p>
            <a:pPr marL="285750" indent="-285750" algn="just">
              <a:buFont typeface="Wingdings" panose="05000000000000000000" pitchFamily="2" charset="2"/>
              <a:buChar char="ü"/>
            </a:pPr>
            <a:r>
              <a:rPr lang="vi-VN" b="0" i="0" dirty="0">
                <a:solidFill>
                  <a:srgbClr val="080809"/>
                </a:solidFill>
                <a:effectLst/>
                <a:latin typeface="inherit"/>
              </a:rPr>
              <a:t>Khi nền kinh tế ngày càng biến động và nhiều doanh nghiệp bắt đầu áp dụng cơ cấu làm việc linh hoạt hơn. Đây là thời điểm thích hợp để các nhà lãnh đạo nhìn lại và phát triển các kỹ năng của mình một cách toàn diện.</a:t>
            </a:r>
          </a:p>
          <a:p>
            <a:pPr marL="285750" indent="-285750" algn="just">
              <a:buFont typeface="Wingdings" panose="05000000000000000000" pitchFamily="2" charset="2"/>
              <a:buChar char="ü"/>
            </a:pPr>
            <a:r>
              <a:rPr lang="vi-VN" b="0" i="0" dirty="0">
                <a:solidFill>
                  <a:srgbClr val="080809"/>
                </a:solidFill>
                <a:effectLst/>
                <a:latin typeface="inherit"/>
              </a:rPr>
              <a:t>Môi trường làm việc đang thay đổi một cách nhanh chóng, do đó khả năng lãnh đạo tập trung vào con người là quan trọng hơn bao giờ hết. Cho dù bạn làm ở vị trí nào, khả năng lãnh đạo giúp mọi người phát huy hết tiềm năng của mình là mấu chốt của việc đi đến thành công.</a:t>
            </a:r>
          </a:p>
          <a:p>
            <a:pPr marL="285750" indent="-285750" algn="just">
              <a:buFont typeface="Wingdings" panose="05000000000000000000" pitchFamily="2" charset="2"/>
              <a:buChar char="ü"/>
            </a:pPr>
            <a:r>
              <a:rPr lang="vi-VN" b="0" i="0" dirty="0">
                <a:solidFill>
                  <a:srgbClr val="080809"/>
                </a:solidFill>
                <a:effectLst/>
                <a:latin typeface="inherit"/>
              </a:rPr>
              <a:t>Để trở thành một nhà lãnh đạo giỏi đòi hỏi bạn phải hoàn được được nhiều kỹ năng khác nhau. Dưới đây là 5 kỹ năng quan trọng dành cho các nhà lãnh đạo.</a:t>
            </a:r>
          </a:p>
        </p:txBody>
      </p:sp>
      <p:pic>
        <p:nvPicPr>
          <p:cNvPr id="2050" name="Picture 2" descr="Làm thế nào để trở thành nhà lãnh đạo thu hút? - Munkas Agency">
            <a:extLst>
              <a:ext uri="{FF2B5EF4-FFF2-40B4-BE49-F238E27FC236}">
                <a16:creationId xmlns:a16="http://schemas.microsoft.com/office/drawing/2014/main" id="{FE081DB5-5140-0509-139A-4B7754AC08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8246" y="3917255"/>
            <a:ext cx="5551714" cy="2575620"/>
          </a:xfrm>
          <a:prstGeom prst="rect">
            <a:avLst/>
          </a:prstGeom>
          <a:noFill/>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67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F92DA-0094-B03F-7ECA-101A0FA86754}"/>
              </a:ext>
            </a:extLst>
          </p:cNvPr>
          <p:cNvSpPr>
            <a:spLocks noGrp="1"/>
          </p:cNvSpPr>
          <p:nvPr>
            <p:ph type="title"/>
          </p:nvPr>
        </p:nvSpPr>
        <p:spPr/>
        <p:txBody>
          <a:bodyPr>
            <a:normAutofit/>
          </a:bodyPr>
          <a:lstStyle/>
          <a:p>
            <a:r>
              <a:rPr lang="vi-VN" sz="3600" b="1" i="0" dirty="0">
                <a:solidFill>
                  <a:schemeClr val="accent6">
                    <a:lumMod val="50000"/>
                  </a:schemeClr>
                </a:solidFill>
                <a:effectLst/>
                <a:latin typeface="Arial" panose="020B0604020202020204" pitchFamily="34" charset="0"/>
                <a:cs typeface="Arial" panose="020B0604020202020204" pitchFamily="34" charset="0"/>
              </a:rPr>
              <a:t>1. THÚC ĐẨY ĐỘNG LỰC CHO NGƯỜI KHÁC</a:t>
            </a:r>
            <a:endParaRPr lang="en-US" sz="3600" b="1"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E94EDF9-925D-B6A2-3027-FC0BC68ACCEB}"/>
              </a:ext>
            </a:extLst>
          </p:cNvPr>
          <p:cNvSpPr>
            <a:spLocks noGrp="1"/>
          </p:cNvSpPr>
          <p:nvPr>
            <p:ph idx="1"/>
          </p:nvPr>
        </p:nvSpPr>
        <p:spPr>
          <a:xfrm>
            <a:off x="838200" y="1778972"/>
            <a:ext cx="5795865" cy="4351338"/>
          </a:xfrm>
        </p:spPr>
        <p:txBody>
          <a:bodyPr>
            <a:normAutofit/>
          </a:bodyPr>
          <a:lstStyle/>
          <a:p>
            <a:pPr algn="just">
              <a:buFont typeface="Wingdings" panose="05000000000000000000" pitchFamily="2" charset="2"/>
              <a:buChar char="ü"/>
            </a:pPr>
            <a:r>
              <a:rPr lang="vi-VN" sz="1800" b="0" i="0" dirty="0">
                <a:solidFill>
                  <a:srgbClr val="080809"/>
                </a:solidFill>
                <a:effectLst/>
                <a:latin typeface="inherit"/>
              </a:rPr>
              <a:t>Thúc đẩy động lực là một phần trong việc truyền cảm hứng để mọi người có thể trở thành một phiên bản tốt nhất của chính họ. Vậy bằng cách nào để bạn có thể thúc đẩy động lực cho người khác tốt hơn?</a:t>
            </a:r>
          </a:p>
          <a:p>
            <a:pPr algn="just">
              <a:buFont typeface="Wingdings" panose="05000000000000000000" pitchFamily="2" charset="2"/>
              <a:buChar char="ü"/>
            </a:pPr>
            <a:r>
              <a:rPr lang="vi-VN" sz="1800" b="0" i="0" dirty="0">
                <a:solidFill>
                  <a:srgbClr val="080809"/>
                </a:solidFill>
                <a:effectLst/>
                <a:latin typeface="inherit"/>
              </a:rPr>
              <a:t>Hãy đảm bảo rằng mọi người đều viết rõ ý nghĩa công việc của mình quan trọng, có thể đóng góp vào tầm nhìn của công ty như thế nào. Làm rõ những gì mà bạn muốn họ thực hiện và trao cho họ quyền tự quyết cách hoàn thành công việc được giao. Hơn hết là đánh giá và khen thưởng khi họ hoàn thành công việc một cách xuất sắc.</a:t>
            </a:r>
          </a:p>
          <a:p>
            <a:pPr algn="just">
              <a:buFont typeface="Wingdings" panose="05000000000000000000" pitchFamily="2" charset="2"/>
              <a:buChar char="ü"/>
            </a:pPr>
            <a:endParaRPr lang="en-US" sz="1800" dirty="0"/>
          </a:p>
        </p:txBody>
      </p:sp>
      <p:pic>
        <p:nvPicPr>
          <p:cNvPr id="3074" name="Picture 2" descr="Sếp bạn là người “lãnh đạo bằng cơ bắp hay sống hòa đồng với mọi người”? -  Thư viện Quản trị Nhân Sự">
            <a:extLst>
              <a:ext uri="{FF2B5EF4-FFF2-40B4-BE49-F238E27FC236}">
                <a16:creationId xmlns:a16="http://schemas.microsoft.com/office/drawing/2014/main" id="{1FF8DDAB-C08B-34B9-1F6D-FC8CE489E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3563" y="1912775"/>
            <a:ext cx="4623008" cy="2889380"/>
          </a:xfrm>
          <a:prstGeom prst="rect">
            <a:avLst/>
          </a:prstGeom>
          <a:noFill/>
          <a:effectLst>
            <a:glow rad="139700">
              <a:schemeClr val="accent6">
                <a:satMod val="175000"/>
                <a:alpha val="40000"/>
              </a:schemeClr>
            </a:glow>
          </a:effectLst>
          <a:scene3d>
            <a:camera prst="isometricOffAxis2Lef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02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A3C9D-E6BB-35FD-F381-ACA4566F579F}"/>
              </a:ext>
            </a:extLst>
          </p:cNvPr>
          <p:cNvSpPr>
            <a:spLocks noGrp="1"/>
          </p:cNvSpPr>
          <p:nvPr>
            <p:ph type="title"/>
          </p:nvPr>
        </p:nvSpPr>
        <p:spPr/>
        <p:txBody>
          <a:bodyPr/>
          <a:lstStyle/>
          <a:p>
            <a:r>
              <a:rPr lang="vi-VN" b="1" i="0" dirty="0">
                <a:solidFill>
                  <a:schemeClr val="accent6">
                    <a:lumMod val="50000"/>
                  </a:schemeClr>
                </a:solidFill>
                <a:effectLst/>
                <a:latin typeface="Arial" panose="020B0604020202020204" pitchFamily="34" charset="0"/>
                <a:cs typeface="Arial" panose="020B0604020202020204" pitchFamily="34" charset="0"/>
              </a:rPr>
              <a:t>2. TƯ DUY CHIẾN LƯỢC</a:t>
            </a:r>
            <a:endParaRPr lang="en-US" b="1"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479D5DB-D0B8-927F-0AE7-66E3AFB006AD}"/>
              </a:ext>
            </a:extLst>
          </p:cNvPr>
          <p:cNvSpPr>
            <a:spLocks noGrp="1"/>
          </p:cNvSpPr>
          <p:nvPr>
            <p:ph idx="1"/>
          </p:nvPr>
        </p:nvSpPr>
        <p:spPr>
          <a:xfrm>
            <a:off x="4926562" y="1825625"/>
            <a:ext cx="6427237" cy="4351338"/>
          </a:xfrm>
        </p:spPr>
        <p:txBody>
          <a:bodyPr>
            <a:normAutofit/>
          </a:bodyPr>
          <a:lstStyle/>
          <a:p>
            <a:pPr algn="just">
              <a:buFont typeface="Wingdings" panose="05000000000000000000" pitchFamily="2" charset="2"/>
              <a:buChar char="ü"/>
            </a:pPr>
            <a:r>
              <a:rPr lang="vi-VN" sz="1800" b="0" i="0" dirty="0">
                <a:solidFill>
                  <a:srgbClr val="080809"/>
                </a:solidFill>
                <a:effectLst/>
                <a:latin typeface="inherit"/>
              </a:rPr>
              <a:t>Tư duy chiến lược đòi hỏi nhà lãnh đạo phải có một cách nhìn bao quát để có thể giải quyết những vấn đề trong kinh doanh và vạch ra kế hoạch cho tương lai. Sử dụng tư duy chiến lược để thu thập dữ liệu và đưa ra giải pháp cho những câu hỏi chiến lược cấp bách nhất, chẳng hạn như "doanh nghiệp sẽ phát triển như thế nào trong 3-5 năm tới?"</a:t>
            </a:r>
          </a:p>
          <a:p>
            <a:pPr algn="just">
              <a:buFont typeface="Wingdings" panose="05000000000000000000" pitchFamily="2" charset="2"/>
              <a:buChar char="ü"/>
            </a:pPr>
            <a:r>
              <a:rPr lang="vi-VN" sz="1800" b="0" i="0" dirty="0">
                <a:solidFill>
                  <a:srgbClr val="080809"/>
                </a:solidFill>
                <a:effectLst/>
                <a:latin typeface="inherit"/>
              </a:rPr>
              <a:t>Ngoài ra, hãy lưu ý sự khác biệt giữa “cấp bách” và “quan trọng”. Công việc mang tính cấp bách có thể tốn nhiều thời gian và sức lực, và có rất ít khoảng trống cho các nhiệm vụ quan trọng, theo góc nhìn toàn cảnh nhưng không khẩn cấp. Và hãy thường xuyên nhắc nhở bản thân về các ưu tiên và quản lý thời gian hợp lý.</a:t>
            </a:r>
          </a:p>
          <a:p>
            <a:pPr algn="just">
              <a:buFont typeface="Wingdings" panose="05000000000000000000" pitchFamily="2" charset="2"/>
              <a:buChar char="ü"/>
            </a:pPr>
            <a:endParaRPr lang="en-US" sz="1800" dirty="0"/>
          </a:p>
        </p:txBody>
      </p:sp>
      <p:pic>
        <p:nvPicPr>
          <p:cNvPr id="4098" name="Picture 2" descr="OlymWorld | incorporated MEGA GURU™ learning | Danh ngôn">
            <a:extLst>
              <a:ext uri="{FF2B5EF4-FFF2-40B4-BE49-F238E27FC236}">
                <a16:creationId xmlns:a16="http://schemas.microsoft.com/office/drawing/2014/main" id="{41B21A4C-09C5-937E-B5A3-4E6D142719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51"/>
          <a:stretch/>
        </p:blipFill>
        <p:spPr bwMode="auto">
          <a:xfrm>
            <a:off x="922175" y="1825625"/>
            <a:ext cx="3333750" cy="3031995"/>
          </a:xfrm>
          <a:prstGeom prst="rect">
            <a:avLst/>
          </a:prstGeom>
          <a:noFill/>
          <a:effectLst>
            <a:glow rad="228600">
              <a:schemeClr val="accent1">
                <a:satMod val="175000"/>
                <a:alpha val="40000"/>
              </a:schemeClr>
            </a:glow>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07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D4260-BAC2-8EF6-3FD0-41F2428A0525}"/>
              </a:ext>
            </a:extLst>
          </p:cNvPr>
          <p:cNvSpPr>
            <a:spLocks noGrp="1"/>
          </p:cNvSpPr>
          <p:nvPr>
            <p:ph type="title"/>
          </p:nvPr>
        </p:nvSpPr>
        <p:spPr/>
        <p:txBody>
          <a:bodyPr/>
          <a:lstStyle/>
          <a:p>
            <a:r>
              <a:rPr lang="en-US" b="1" i="0" dirty="0">
                <a:solidFill>
                  <a:schemeClr val="accent6">
                    <a:lumMod val="50000"/>
                  </a:schemeClr>
                </a:solidFill>
                <a:effectLst/>
                <a:latin typeface="Arial" panose="020B0604020202020204" pitchFamily="34" charset="0"/>
                <a:cs typeface="Arial" panose="020B0604020202020204" pitchFamily="34" charset="0"/>
              </a:rPr>
              <a:t>3. XÂY DỰNG TÍNH GẮN KẾT</a:t>
            </a:r>
            <a:endParaRPr lang="en-US" b="1"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01962CE-114C-D962-894D-935F1731DD1B}"/>
              </a:ext>
            </a:extLst>
          </p:cNvPr>
          <p:cNvSpPr>
            <a:spLocks noGrp="1"/>
          </p:cNvSpPr>
          <p:nvPr>
            <p:ph idx="1"/>
          </p:nvPr>
        </p:nvSpPr>
        <p:spPr>
          <a:xfrm>
            <a:off x="838200" y="1825625"/>
            <a:ext cx="5777204" cy="4351338"/>
          </a:xfrm>
        </p:spPr>
        <p:txBody>
          <a:bodyPr>
            <a:normAutofit/>
          </a:bodyPr>
          <a:lstStyle/>
          <a:p>
            <a:pPr algn="just">
              <a:buFont typeface="Wingdings" panose="05000000000000000000" pitchFamily="2" charset="2"/>
              <a:buChar char="ü"/>
            </a:pPr>
            <a:r>
              <a:rPr lang="vi-VN" sz="1800" b="0" i="0" dirty="0">
                <a:solidFill>
                  <a:srgbClr val="080809"/>
                </a:solidFill>
                <a:effectLst/>
                <a:latin typeface="inherit"/>
              </a:rPr>
              <a:t>Nhà lãnh đạo giỏi cũng giống như một huấn luyện viên bóng đá. Họ lựa chọn những thành viên tốt có thể thực hiện nhiều vai trò khác nhau và tạo thành một đội hình gắn kết. Mỗi cá nhân có những kỹ năng, trải nghiệm, động lực và phong cách làm việc khác nhau. Và hãy tận dụng điều đó thay vì bảo họ phải có cùng một lối cư xử.</a:t>
            </a:r>
            <a:endParaRPr lang="en-US" sz="1800" b="0" i="0" dirty="0">
              <a:solidFill>
                <a:srgbClr val="080809"/>
              </a:solidFill>
              <a:effectLst/>
              <a:latin typeface="inherit"/>
            </a:endParaRPr>
          </a:p>
          <a:p>
            <a:pPr algn="just">
              <a:buFont typeface="Wingdings" panose="05000000000000000000" pitchFamily="2" charset="2"/>
              <a:buChar char="ü"/>
            </a:pPr>
            <a:endParaRPr lang="vi-VN" sz="1800" b="0" i="0" dirty="0">
              <a:solidFill>
                <a:srgbClr val="080809"/>
              </a:solidFill>
              <a:effectLst/>
              <a:latin typeface="inherit"/>
            </a:endParaRPr>
          </a:p>
          <a:p>
            <a:pPr algn="just">
              <a:buFont typeface="Wingdings" panose="05000000000000000000" pitchFamily="2" charset="2"/>
              <a:buChar char="ü"/>
            </a:pPr>
            <a:r>
              <a:rPr lang="vi-VN" sz="1800" b="0" i="0" dirty="0">
                <a:solidFill>
                  <a:srgbClr val="080809"/>
                </a:solidFill>
                <a:effectLst/>
                <a:latin typeface="inherit"/>
              </a:rPr>
              <a:t>Sự kết nối giữa người với người thể hiện qua việc lắng nghe lẫn nhau, đối xử và tôn trọng cũng như hỗ trợ lẫn nhau. Ngoài ra hãy góp ý và dành lời khen cho nhau khi hoàn thành tốt công việc.</a:t>
            </a:r>
          </a:p>
          <a:p>
            <a:pPr algn="just">
              <a:buFont typeface="Wingdings" panose="05000000000000000000" pitchFamily="2" charset="2"/>
              <a:buChar char="ü"/>
            </a:pPr>
            <a:endParaRPr lang="en-US" sz="1800" dirty="0"/>
          </a:p>
        </p:txBody>
      </p:sp>
      <p:pic>
        <p:nvPicPr>
          <p:cNvPr id="5" name="Picture 4">
            <a:extLst>
              <a:ext uri="{FF2B5EF4-FFF2-40B4-BE49-F238E27FC236}">
                <a16:creationId xmlns:a16="http://schemas.microsoft.com/office/drawing/2014/main" id="{C02BC0A8-DBAF-2E3D-964B-F67236D7F0DA}"/>
              </a:ext>
            </a:extLst>
          </p:cNvPr>
          <p:cNvPicPr>
            <a:picLocks noChangeAspect="1"/>
          </p:cNvPicPr>
          <p:nvPr/>
        </p:nvPicPr>
        <p:blipFill rotWithShape="1">
          <a:blip r:embed="rId2"/>
          <a:srcRect r="7635"/>
          <a:stretch/>
        </p:blipFill>
        <p:spPr>
          <a:xfrm>
            <a:off x="6867332" y="1825625"/>
            <a:ext cx="5029200" cy="3174449"/>
          </a:xfrm>
          <a:prstGeom prst="roundRect">
            <a:avLst>
              <a:gd name="adj" fmla="val 16667"/>
            </a:avLst>
          </a:prstGeom>
          <a:ln>
            <a:noFill/>
          </a:ln>
          <a:effectLst>
            <a:glow rad="228600">
              <a:schemeClr val="accent4">
                <a:satMod val="175000"/>
                <a:alpha val="40000"/>
              </a:schemeClr>
            </a:glow>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43064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077D-E093-3477-C69E-FAF7AC05E61E}"/>
              </a:ext>
            </a:extLst>
          </p:cNvPr>
          <p:cNvSpPr>
            <a:spLocks noGrp="1"/>
          </p:cNvSpPr>
          <p:nvPr>
            <p:ph type="title"/>
          </p:nvPr>
        </p:nvSpPr>
        <p:spPr/>
        <p:txBody>
          <a:bodyPr/>
          <a:lstStyle/>
          <a:p>
            <a:r>
              <a:rPr lang="en-US" b="1" i="0" dirty="0">
                <a:solidFill>
                  <a:schemeClr val="accent6">
                    <a:lumMod val="50000"/>
                  </a:schemeClr>
                </a:solidFill>
                <a:effectLst/>
                <a:latin typeface="Arial" panose="020B0604020202020204" pitchFamily="34" charset="0"/>
                <a:cs typeface="Arial" panose="020B0604020202020204" pitchFamily="34" charset="0"/>
              </a:rPr>
              <a:t>4. THÁI ĐỘ TÍCH CỰC</a:t>
            </a:r>
            <a:endParaRPr lang="en-US" b="1"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2239C5D-DF3C-2A8A-625E-1B0320F645BB}"/>
              </a:ext>
            </a:extLst>
          </p:cNvPr>
          <p:cNvSpPr>
            <a:spLocks noGrp="1"/>
          </p:cNvSpPr>
          <p:nvPr>
            <p:ph idx="1"/>
          </p:nvPr>
        </p:nvSpPr>
        <p:spPr>
          <a:xfrm>
            <a:off x="709128" y="1690688"/>
            <a:ext cx="10644672" cy="4351338"/>
          </a:xfrm>
        </p:spPr>
        <p:txBody>
          <a:bodyPr>
            <a:normAutofit lnSpcReduction="10000"/>
          </a:bodyPr>
          <a:lstStyle/>
          <a:p>
            <a:pPr algn="just">
              <a:buFont typeface="Wingdings" panose="05000000000000000000" pitchFamily="2" charset="2"/>
              <a:buChar char="ü"/>
            </a:pPr>
            <a:r>
              <a:rPr lang="vi-VN" sz="1800" b="0" i="0" dirty="0">
                <a:solidFill>
                  <a:srgbClr val="080809"/>
                </a:solidFill>
                <a:effectLst/>
                <a:latin typeface="inherit"/>
              </a:rPr>
              <a:t>Nếu bạn thể hiện thái độ tiêu cực như “cái này quá tệ, không thể làm được đâu, tại sao tôi phải quan tâm” thì nhân viên của bạn sẽ nhanh chóng bị ảnh hưởng bởi nó. Do đó, hãy thể hiện một thái độ tích cực.</a:t>
            </a:r>
            <a:endParaRPr lang="en-US" sz="1800" b="0" i="0" dirty="0">
              <a:solidFill>
                <a:srgbClr val="080809"/>
              </a:solidFill>
              <a:effectLst/>
              <a:latin typeface="inherit"/>
            </a:endParaRPr>
          </a:p>
          <a:p>
            <a:pPr algn="just">
              <a:buFont typeface="Wingdings" panose="05000000000000000000" pitchFamily="2" charset="2"/>
              <a:buChar char="ü"/>
            </a:pPr>
            <a:endParaRPr lang="en-US" sz="1800" dirty="0">
              <a:solidFill>
                <a:srgbClr val="080809"/>
              </a:solidFill>
              <a:latin typeface="inherit"/>
            </a:endParaRPr>
          </a:p>
          <a:p>
            <a:pPr algn="just">
              <a:buFont typeface="Wingdings" panose="05000000000000000000" pitchFamily="2" charset="2"/>
              <a:buChar char="ü"/>
            </a:pPr>
            <a:endParaRPr lang="en-US" sz="1800" b="0" i="0" dirty="0">
              <a:solidFill>
                <a:srgbClr val="080809"/>
              </a:solidFill>
              <a:effectLst/>
              <a:latin typeface="inherit"/>
            </a:endParaRPr>
          </a:p>
          <a:p>
            <a:pPr algn="just">
              <a:buFont typeface="Wingdings" panose="05000000000000000000" pitchFamily="2" charset="2"/>
              <a:buChar char="ü"/>
            </a:pPr>
            <a:endParaRPr lang="en-US" sz="1800" dirty="0">
              <a:solidFill>
                <a:srgbClr val="080809"/>
              </a:solidFill>
              <a:latin typeface="inherit"/>
            </a:endParaRPr>
          </a:p>
          <a:p>
            <a:pPr algn="just">
              <a:buFont typeface="Wingdings" panose="05000000000000000000" pitchFamily="2" charset="2"/>
              <a:buChar char="ü"/>
            </a:pPr>
            <a:endParaRPr lang="en-US" sz="1800" b="0" i="0" dirty="0">
              <a:solidFill>
                <a:srgbClr val="080809"/>
              </a:solidFill>
              <a:effectLst/>
              <a:latin typeface="inherit"/>
            </a:endParaRPr>
          </a:p>
          <a:p>
            <a:pPr algn="just">
              <a:buFont typeface="Wingdings" panose="05000000000000000000" pitchFamily="2" charset="2"/>
              <a:buChar char="ü"/>
            </a:pPr>
            <a:endParaRPr lang="en-US" sz="1800" dirty="0">
              <a:solidFill>
                <a:srgbClr val="080809"/>
              </a:solidFill>
              <a:latin typeface="inherit"/>
            </a:endParaRPr>
          </a:p>
          <a:p>
            <a:pPr algn="just">
              <a:buFont typeface="Wingdings" panose="05000000000000000000" pitchFamily="2" charset="2"/>
              <a:buChar char="ü"/>
            </a:pPr>
            <a:endParaRPr lang="en-US" sz="1800" b="0" i="0" dirty="0">
              <a:solidFill>
                <a:srgbClr val="080809"/>
              </a:solidFill>
              <a:effectLst/>
              <a:latin typeface="inherit"/>
            </a:endParaRPr>
          </a:p>
          <a:p>
            <a:pPr algn="just">
              <a:buFont typeface="Wingdings" panose="05000000000000000000" pitchFamily="2" charset="2"/>
              <a:buChar char="ü"/>
            </a:pPr>
            <a:endParaRPr lang="en-US" sz="1800" dirty="0">
              <a:solidFill>
                <a:srgbClr val="080809"/>
              </a:solidFill>
              <a:latin typeface="inherit"/>
            </a:endParaRPr>
          </a:p>
          <a:p>
            <a:pPr algn="just">
              <a:buFont typeface="Wingdings" panose="05000000000000000000" pitchFamily="2" charset="2"/>
              <a:buChar char="ü"/>
            </a:pPr>
            <a:endParaRPr lang="vi-VN" sz="1800" b="0" i="0" dirty="0">
              <a:solidFill>
                <a:srgbClr val="080809"/>
              </a:solidFill>
              <a:effectLst/>
              <a:latin typeface="inherit"/>
            </a:endParaRPr>
          </a:p>
          <a:p>
            <a:pPr algn="just">
              <a:buFont typeface="Wingdings" panose="05000000000000000000" pitchFamily="2" charset="2"/>
              <a:buChar char="ü"/>
            </a:pPr>
            <a:r>
              <a:rPr lang="vi-VN" sz="1800" b="0" i="0" dirty="0">
                <a:solidFill>
                  <a:srgbClr val="080809"/>
                </a:solidFill>
                <a:effectLst/>
                <a:latin typeface="inherit"/>
              </a:rPr>
              <a:t>Luôn thận trọng suy nghĩ về lời nói hoặc câu viết của bạn. Hãy sử dụng ngôn từ tích cực, dành lời khen cho những thành công lớn và nhỏ. Thường xuyên nhấn mạnh thành công có thể bắt đầu từ những điều nhỏ nhặt nhất. Và hạn chế việc phàn nàn trước đội ngũ của mình.</a:t>
            </a:r>
          </a:p>
          <a:p>
            <a:pPr algn="just">
              <a:buFont typeface="Wingdings" panose="05000000000000000000" pitchFamily="2" charset="2"/>
              <a:buChar char="ü"/>
            </a:pPr>
            <a:endParaRPr lang="en-US" sz="1800" dirty="0"/>
          </a:p>
        </p:txBody>
      </p:sp>
      <p:pic>
        <p:nvPicPr>
          <p:cNvPr id="6148" name="Picture 4" descr="345 Câu nói Hay trong Kinh Doanh của các doanh nhân thành đạt, rất đáng để  suy ngẫm! - Web Học Thuật">
            <a:extLst>
              <a:ext uri="{FF2B5EF4-FFF2-40B4-BE49-F238E27FC236}">
                <a16:creationId xmlns:a16="http://schemas.microsoft.com/office/drawing/2014/main" id="{688A1B51-2D48-3E8A-4184-C12A9D694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9494" y="2272217"/>
            <a:ext cx="3790269" cy="2555501"/>
          </a:xfrm>
          <a:prstGeom prst="snip2DiagRect">
            <a:avLst/>
          </a:prstGeom>
          <a:solidFill>
            <a:srgbClr val="FFFFFF">
              <a:shade val="85000"/>
            </a:srgbClr>
          </a:solidFill>
          <a:ln w="88900" cap="sq">
            <a:solidFill>
              <a:srgbClr val="FFFFFF"/>
            </a:solidFill>
            <a:miter lim="800000"/>
          </a:ln>
          <a:effectLst>
            <a:glow rad="139700">
              <a:schemeClr val="accent4">
                <a:satMod val="175000"/>
                <a:alpha val="40000"/>
              </a:schemeClr>
            </a:glow>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60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barn(inVertical)">
                                      <p:cBhvr>
                                        <p:cTn id="1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9B307-345C-A168-3F8F-12DC45118E12}"/>
              </a:ext>
            </a:extLst>
          </p:cNvPr>
          <p:cNvSpPr>
            <a:spLocks noGrp="1"/>
          </p:cNvSpPr>
          <p:nvPr>
            <p:ph type="title"/>
          </p:nvPr>
        </p:nvSpPr>
        <p:spPr/>
        <p:txBody>
          <a:bodyPr/>
          <a:lstStyle/>
          <a:p>
            <a:r>
              <a:rPr lang="en-US" b="1" i="0" dirty="0">
                <a:solidFill>
                  <a:schemeClr val="accent6">
                    <a:lumMod val="50000"/>
                  </a:schemeClr>
                </a:solidFill>
                <a:effectLst/>
                <a:latin typeface="Arial" panose="020B0604020202020204" pitchFamily="34" charset="0"/>
                <a:cs typeface="Arial" panose="020B0604020202020204" pitchFamily="34" charset="0"/>
              </a:rPr>
              <a:t>5. CHÂN THÀNH</a:t>
            </a:r>
            <a:endParaRPr lang="en-US" b="1" dirty="0">
              <a:solidFill>
                <a:schemeClr val="accent6">
                  <a:lumMod val="50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1CB682F-E9D2-FC46-FBD4-1E81B8E966FF}"/>
              </a:ext>
            </a:extLst>
          </p:cNvPr>
          <p:cNvSpPr>
            <a:spLocks noGrp="1"/>
          </p:cNvSpPr>
          <p:nvPr>
            <p:ph idx="1"/>
          </p:nvPr>
        </p:nvSpPr>
        <p:spPr/>
        <p:txBody>
          <a:bodyPr>
            <a:normAutofit/>
          </a:bodyPr>
          <a:lstStyle/>
          <a:p>
            <a:pPr marL="0" indent="0" algn="just">
              <a:buNone/>
            </a:pPr>
            <a:r>
              <a:rPr lang="vi-VN" sz="2000" b="0" i="0" dirty="0">
                <a:solidFill>
                  <a:srgbClr val="080809"/>
                </a:solidFill>
                <a:effectLst/>
                <a:latin typeface="Segoe UI Historic" panose="020B0502040204020203" pitchFamily="34" charset="0"/>
              </a:rPr>
              <a:t>Chân thành là yếu tố quan trọng để xây dựng lòng tin. Đồng thời cũng hiểu rõ về những ưu điểm và nhược điểm của mình. Thay vì che dấu và thể hiện một tính cách khác sau giờ làm việc, hãy mở lòng hơn với những nhược điểm đó và sống đúng với bản thân hơn.</a:t>
            </a:r>
            <a:endParaRPr lang="en-US" sz="2000" dirty="0"/>
          </a:p>
        </p:txBody>
      </p:sp>
      <p:pic>
        <p:nvPicPr>
          <p:cNvPr id="4" name="Picture 3">
            <a:extLst>
              <a:ext uri="{FF2B5EF4-FFF2-40B4-BE49-F238E27FC236}">
                <a16:creationId xmlns:a16="http://schemas.microsoft.com/office/drawing/2014/main" id="{580A9E56-05EF-FABA-F486-066347E22944}"/>
              </a:ext>
            </a:extLst>
          </p:cNvPr>
          <p:cNvPicPr>
            <a:picLocks noChangeAspect="1"/>
          </p:cNvPicPr>
          <p:nvPr/>
        </p:nvPicPr>
        <p:blipFill>
          <a:blip r:embed="rId2"/>
          <a:stretch>
            <a:fillRect/>
          </a:stretch>
        </p:blipFill>
        <p:spPr>
          <a:xfrm>
            <a:off x="5637906" y="3205600"/>
            <a:ext cx="4187229" cy="2441188"/>
          </a:xfrm>
          <a:prstGeom prst="rect">
            <a:avLst/>
          </a:prstGeom>
          <a:effectLst>
            <a:glow rad="101600">
              <a:schemeClr val="accent4">
                <a:satMod val="175000"/>
                <a:alpha val="40000"/>
              </a:schemeClr>
            </a:glow>
          </a:effectLst>
        </p:spPr>
      </p:pic>
    </p:spTree>
    <p:extLst>
      <p:ext uri="{BB962C8B-B14F-4D97-AF65-F5344CB8AC3E}">
        <p14:creationId xmlns:p14="http://schemas.microsoft.com/office/powerpoint/2010/main" val="4097697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7462-4555-5CE6-7AB0-E7ADF0B32C6E}"/>
              </a:ext>
            </a:extLst>
          </p:cNvPr>
          <p:cNvSpPr>
            <a:spLocks noGrp="1"/>
          </p:cNvSpPr>
          <p:nvPr>
            <p:ph type="title"/>
          </p:nvPr>
        </p:nvSpPr>
        <p:spPr/>
        <p:txBody>
          <a:bodyPr/>
          <a:lstStyle/>
          <a:p>
            <a:r>
              <a:rPr lang="en-US" b="1" dirty="0">
                <a:solidFill>
                  <a:schemeClr val="accent6">
                    <a:lumMod val="50000"/>
                  </a:schemeClr>
                </a:solidFill>
              </a:rPr>
              <a:t>THANKS!</a:t>
            </a:r>
          </a:p>
        </p:txBody>
      </p:sp>
      <p:sp>
        <p:nvSpPr>
          <p:cNvPr id="3" name="Content Placeholder 2">
            <a:extLst>
              <a:ext uri="{FF2B5EF4-FFF2-40B4-BE49-F238E27FC236}">
                <a16:creationId xmlns:a16="http://schemas.microsoft.com/office/drawing/2014/main" id="{A074B30A-B89D-70C4-2A2C-3D79B1682727}"/>
              </a:ext>
            </a:extLst>
          </p:cNvPr>
          <p:cNvSpPr>
            <a:spLocks noGrp="1"/>
          </p:cNvSpPr>
          <p:nvPr>
            <p:ph idx="1"/>
          </p:nvPr>
        </p:nvSpPr>
        <p:spPr/>
        <p:txBody>
          <a:bodyPr/>
          <a:lstStyle/>
          <a:p>
            <a:endParaRPr lang="en-US"/>
          </a:p>
        </p:txBody>
      </p:sp>
      <p:pic>
        <p:nvPicPr>
          <p:cNvPr id="7170" name="Picture 2" descr="40+ câu nói hay về kinh doanh, khởi nghiệp đầy ý nghĩa">
            <a:extLst>
              <a:ext uri="{FF2B5EF4-FFF2-40B4-BE49-F238E27FC236}">
                <a16:creationId xmlns:a16="http://schemas.microsoft.com/office/drawing/2014/main" id="{98A2FA15-7CCE-53AE-1256-8560E5FD0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2644" y="1690688"/>
            <a:ext cx="6563405" cy="4372230"/>
          </a:xfrm>
          <a:prstGeom prst="rect">
            <a:avLst/>
          </a:prstGeom>
          <a:solidFill>
            <a:srgbClr val="FFFFFF">
              <a:shade val="85000"/>
            </a:srgbClr>
          </a:solidFill>
          <a:ln w="190500" cap="sq">
            <a:solidFill>
              <a:srgbClr val="FFFFFF"/>
            </a:solidFill>
            <a:miter lim="800000"/>
          </a:ln>
          <a:effectLst>
            <a:glow rad="139700">
              <a:schemeClr val="accent4">
                <a:satMod val="175000"/>
                <a:alpha val="40000"/>
              </a:schemeClr>
            </a:glow>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5820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779</Words>
  <Application>Microsoft Office PowerPoint</Application>
  <PresentationFormat>Widescreen</PresentationFormat>
  <Paragraphs>29</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inherit</vt:lpstr>
      <vt:lpstr>Segoe UI Historic</vt:lpstr>
      <vt:lpstr>Wingdings</vt:lpstr>
      <vt:lpstr>Office Theme</vt:lpstr>
      <vt:lpstr>5 KỸ NĂNG THIẾT YẾU  ĐỂ TRỞ THÀNH NHÀ LÃNH GIỎI</vt:lpstr>
      <vt:lpstr>ĐẶT VẤN ĐỀ</vt:lpstr>
      <vt:lpstr>1. THÚC ĐẨY ĐỘNG LỰC CHO NGƯỜI KHÁC</vt:lpstr>
      <vt:lpstr>2. TƯ DUY CHIẾN LƯỢC</vt:lpstr>
      <vt:lpstr>3. XÂY DỰNG TÍNH GẮN KẾT</vt:lpstr>
      <vt:lpstr>4. THÁI ĐỘ TÍCH CỰC</vt:lpstr>
      <vt:lpstr>5. CHÂN THÀNH</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KỸ NĂNG THIẾT YẾU  ĐỂ TRỞ THÀNH NHÀ LÃNH GIỎI</dc:title>
  <dc:creator>Administrator</dc:creator>
  <cp:lastModifiedBy>Administrator</cp:lastModifiedBy>
  <cp:revision>1</cp:revision>
  <dcterms:created xsi:type="dcterms:W3CDTF">2024-12-19T09:06:51Z</dcterms:created>
  <dcterms:modified xsi:type="dcterms:W3CDTF">2024-12-19T09:07:12Z</dcterms:modified>
</cp:coreProperties>
</file>